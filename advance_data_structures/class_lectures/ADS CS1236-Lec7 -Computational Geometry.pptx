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56" r:id="rId4"/>
    <p:sldId id="265" r:id="rId5"/>
    <p:sldId id="383" r:id="rId6"/>
    <p:sldId id="384" r:id="rId7"/>
    <p:sldId id="385" r:id="rId8"/>
    <p:sldId id="258" r:id="rId9"/>
    <p:sldId id="259" r:id="rId10"/>
    <p:sldId id="260" r:id="rId11"/>
    <p:sldId id="261" r:id="rId12"/>
    <p:sldId id="387" r:id="rId13"/>
    <p:sldId id="357" r:id="rId14"/>
    <p:sldId id="358" r:id="rId15"/>
    <p:sldId id="359" r:id="rId16"/>
    <p:sldId id="360" r:id="rId17"/>
    <p:sldId id="362" r:id="rId18"/>
    <p:sldId id="363" r:id="rId19"/>
    <p:sldId id="364" r:id="rId20"/>
    <p:sldId id="365" r:id="rId21"/>
    <p:sldId id="369" r:id="rId22"/>
    <p:sldId id="368" r:id="rId23"/>
    <p:sldId id="367" r:id="rId24"/>
    <p:sldId id="366" r:id="rId25"/>
    <p:sldId id="371" r:id="rId26"/>
    <p:sldId id="370" r:id="rId27"/>
    <p:sldId id="372" r:id="rId28"/>
    <p:sldId id="373" r:id="rId29"/>
    <p:sldId id="374" r:id="rId30"/>
    <p:sldId id="388" r:id="rId31"/>
    <p:sldId id="389" r:id="rId32"/>
    <p:sldId id="390" r:id="rId33"/>
    <p:sldId id="263" r:id="rId34"/>
    <p:sldId id="262" r:id="rId35"/>
    <p:sldId id="375" r:id="rId36"/>
    <p:sldId id="378" r:id="rId37"/>
    <p:sldId id="377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0" r:id="rId48"/>
    <p:sldId id="401" r:id="rId49"/>
    <p:sldId id="402" r:id="rId50"/>
    <p:sldId id="403" r:id="rId51"/>
    <p:sldId id="404" r:id="rId52"/>
    <p:sldId id="405" r:id="rId53"/>
    <p:sldId id="406" r:id="rId54"/>
    <p:sldId id="407" r:id="rId55"/>
    <p:sldId id="408" r:id="rId56"/>
    <p:sldId id="409" r:id="rId57"/>
    <p:sldId id="410" r:id="rId58"/>
    <p:sldId id="411" r:id="rId59"/>
    <p:sldId id="412" r:id="rId60"/>
    <p:sldId id="413" r:id="rId61"/>
    <p:sldId id="414" r:id="rId62"/>
    <p:sldId id="266" r:id="rId63"/>
    <p:sldId id="267" r:id="rId64"/>
    <p:sldId id="268" r:id="rId65"/>
    <p:sldId id="269" r:id="rId66"/>
    <p:sldId id="270" r:id="rId67"/>
    <p:sldId id="271" r:id="rId68"/>
    <p:sldId id="272" r:id="rId69"/>
    <p:sldId id="273" r:id="rId70"/>
    <p:sldId id="274" r:id="rId71"/>
    <p:sldId id="275" r:id="rId72"/>
    <p:sldId id="276" r:id="rId73"/>
    <p:sldId id="277" r:id="rId74"/>
    <p:sldId id="278" r:id="rId75"/>
    <p:sldId id="279" r:id="rId76"/>
    <p:sldId id="280" r:id="rId77"/>
    <p:sldId id="281" r:id="rId78"/>
    <p:sldId id="282" r:id="rId79"/>
    <p:sldId id="283" r:id="rId80"/>
    <p:sldId id="284" r:id="rId81"/>
    <p:sldId id="285" r:id="rId82"/>
    <p:sldId id="286" r:id="rId83"/>
    <p:sldId id="287" r:id="rId84"/>
    <p:sldId id="288" r:id="rId85"/>
    <p:sldId id="289" r:id="rId86"/>
    <p:sldId id="290" r:id="rId87"/>
    <p:sldId id="291" r:id="rId88"/>
    <p:sldId id="292" r:id="rId89"/>
    <p:sldId id="293" r:id="rId90"/>
    <p:sldId id="294" r:id="rId91"/>
    <p:sldId id="295" r:id="rId92"/>
    <p:sldId id="296" r:id="rId93"/>
    <p:sldId id="297" r:id="rId94"/>
    <p:sldId id="298" r:id="rId95"/>
    <p:sldId id="299" r:id="rId96"/>
    <p:sldId id="300" r:id="rId97"/>
    <p:sldId id="301" r:id="rId98"/>
    <p:sldId id="302" r:id="rId99"/>
    <p:sldId id="303" r:id="rId100"/>
    <p:sldId id="415" r:id="rId101"/>
    <p:sldId id="416" r:id="rId102"/>
    <p:sldId id="418" r:id="rId103"/>
    <p:sldId id="417" r:id="rId104"/>
    <p:sldId id="425" r:id="rId105"/>
    <p:sldId id="426" r:id="rId106"/>
    <p:sldId id="427" r:id="rId107"/>
    <p:sldId id="428" r:id="rId108"/>
    <p:sldId id="429" r:id="rId109"/>
    <p:sldId id="308" r:id="rId110"/>
    <p:sldId id="431" r:id="rId111"/>
    <p:sldId id="304" r:id="rId112"/>
    <p:sldId id="432" r:id="rId113"/>
    <p:sldId id="433" r:id="rId114"/>
    <p:sldId id="434" r:id="rId115"/>
    <p:sldId id="435" r:id="rId116"/>
    <p:sldId id="436" r:id="rId117"/>
    <p:sldId id="419" r:id="rId118"/>
    <p:sldId id="420" r:id="rId119"/>
    <p:sldId id="309" r:id="rId120"/>
    <p:sldId id="310" r:id="rId121"/>
    <p:sldId id="311" r:id="rId122"/>
    <p:sldId id="312" r:id="rId123"/>
    <p:sldId id="313" r:id="rId124"/>
    <p:sldId id="314" r:id="rId125"/>
    <p:sldId id="315" r:id="rId126"/>
    <p:sldId id="316" r:id="rId127"/>
    <p:sldId id="317" r:id="rId128"/>
    <p:sldId id="318" r:id="rId129"/>
    <p:sldId id="319" r:id="rId130"/>
    <p:sldId id="320" r:id="rId131"/>
    <p:sldId id="321" r:id="rId132"/>
    <p:sldId id="322" r:id="rId133"/>
    <p:sldId id="323" r:id="rId134"/>
    <p:sldId id="324" r:id="rId135"/>
    <p:sldId id="325" r:id="rId136"/>
    <p:sldId id="326" r:id="rId137"/>
    <p:sldId id="327" r:id="rId138"/>
    <p:sldId id="328" r:id="rId139"/>
    <p:sldId id="329" r:id="rId140"/>
    <p:sldId id="330" r:id="rId141"/>
    <p:sldId id="331" r:id="rId142"/>
    <p:sldId id="332" r:id="rId143"/>
    <p:sldId id="437" r:id="rId14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5860" y="3506152"/>
            <a:ext cx="85344" cy="853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131C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131C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0884" y="1256728"/>
            <a:ext cx="2028825" cy="419100"/>
          </a:xfrm>
          <a:custGeom>
            <a:avLst/>
            <a:gdLst/>
            <a:ahLst/>
            <a:cxnLst/>
            <a:rect l="l" t="t" r="r" b="b"/>
            <a:pathLst>
              <a:path w="2028825" h="419100">
                <a:moveTo>
                  <a:pt x="246888" y="92964"/>
                </a:moveTo>
                <a:lnTo>
                  <a:pt x="236220" y="48768"/>
                </a:lnTo>
                <a:lnTo>
                  <a:pt x="210312" y="18288"/>
                </a:lnTo>
                <a:lnTo>
                  <a:pt x="170688" y="3048"/>
                </a:lnTo>
                <a:lnTo>
                  <a:pt x="149352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149352" y="38100"/>
                </a:lnTo>
                <a:lnTo>
                  <a:pt x="158496" y="39624"/>
                </a:lnTo>
                <a:lnTo>
                  <a:pt x="164592" y="39624"/>
                </a:lnTo>
                <a:lnTo>
                  <a:pt x="179832" y="47244"/>
                </a:lnTo>
                <a:lnTo>
                  <a:pt x="192024" y="59436"/>
                </a:lnTo>
                <a:lnTo>
                  <a:pt x="199644" y="76200"/>
                </a:lnTo>
                <a:lnTo>
                  <a:pt x="202692" y="94488"/>
                </a:lnTo>
                <a:lnTo>
                  <a:pt x="202692" y="177437"/>
                </a:lnTo>
                <a:lnTo>
                  <a:pt x="204216" y="176784"/>
                </a:lnTo>
                <a:lnTo>
                  <a:pt x="219456" y="164592"/>
                </a:lnTo>
                <a:lnTo>
                  <a:pt x="231648" y="149352"/>
                </a:lnTo>
                <a:lnTo>
                  <a:pt x="239268" y="132588"/>
                </a:lnTo>
                <a:lnTo>
                  <a:pt x="243840" y="114300"/>
                </a:lnTo>
                <a:lnTo>
                  <a:pt x="246888" y="92964"/>
                </a:lnTo>
                <a:close/>
              </a:path>
              <a:path w="2028825" h="419100">
                <a:moveTo>
                  <a:pt x="202692" y="177437"/>
                </a:moveTo>
                <a:lnTo>
                  <a:pt x="202692" y="94488"/>
                </a:lnTo>
                <a:lnTo>
                  <a:pt x="201168" y="108204"/>
                </a:lnTo>
                <a:lnTo>
                  <a:pt x="198120" y="120396"/>
                </a:lnTo>
                <a:lnTo>
                  <a:pt x="161544" y="150876"/>
                </a:lnTo>
                <a:lnTo>
                  <a:pt x="126492" y="155448"/>
                </a:lnTo>
                <a:lnTo>
                  <a:pt x="44196" y="155448"/>
                </a:lnTo>
                <a:lnTo>
                  <a:pt x="44196" y="193548"/>
                </a:lnTo>
                <a:lnTo>
                  <a:pt x="126492" y="193548"/>
                </a:lnTo>
                <a:lnTo>
                  <a:pt x="156972" y="190500"/>
                </a:lnTo>
                <a:lnTo>
                  <a:pt x="182880" y="185928"/>
                </a:lnTo>
                <a:lnTo>
                  <a:pt x="202692" y="177437"/>
                </a:lnTo>
                <a:close/>
              </a:path>
              <a:path w="2028825" h="419100">
                <a:moveTo>
                  <a:pt x="426720" y="97536"/>
                </a:moveTo>
                <a:lnTo>
                  <a:pt x="405384" y="88392"/>
                </a:lnTo>
                <a:lnTo>
                  <a:pt x="385572" y="85344"/>
                </a:lnTo>
                <a:lnTo>
                  <a:pt x="371856" y="86868"/>
                </a:lnTo>
                <a:lnTo>
                  <a:pt x="341376" y="114300"/>
                </a:lnTo>
                <a:lnTo>
                  <a:pt x="335280" y="124968"/>
                </a:lnTo>
                <a:lnTo>
                  <a:pt x="335280" y="89916"/>
                </a:lnTo>
                <a:lnTo>
                  <a:pt x="300228" y="89916"/>
                </a:lnTo>
                <a:lnTo>
                  <a:pt x="300228" y="327660"/>
                </a:lnTo>
                <a:lnTo>
                  <a:pt x="341376" y="327660"/>
                </a:lnTo>
                <a:lnTo>
                  <a:pt x="341376" y="202692"/>
                </a:lnTo>
                <a:lnTo>
                  <a:pt x="342900" y="178308"/>
                </a:lnTo>
                <a:lnTo>
                  <a:pt x="361188" y="134112"/>
                </a:lnTo>
                <a:lnTo>
                  <a:pt x="384048" y="126492"/>
                </a:lnTo>
                <a:lnTo>
                  <a:pt x="397764" y="128016"/>
                </a:lnTo>
                <a:lnTo>
                  <a:pt x="411480" y="134112"/>
                </a:lnTo>
                <a:lnTo>
                  <a:pt x="426720" y="97536"/>
                </a:lnTo>
                <a:close/>
              </a:path>
              <a:path w="2028825" h="419100">
                <a:moveTo>
                  <a:pt x="656844" y="204216"/>
                </a:moveTo>
                <a:lnTo>
                  <a:pt x="647700" y="155448"/>
                </a:lnTo>
                <a:lnTo>
                  <a:pt x="624840" y="117348"/>
                </a:lnTo>
                <a:lnTo>
                  <a:pt x="589788" y="92964"/>
                </a:lnTo>
                <a:lnTo>
                  <a:pt x="545592" y="85344"/>
                </a:lnTo>
                <a:lnTo>
                  <a:pt x="524256" y="86868"/>
                </a:lnTo>
                <a:lnTo>
                  <a:pt x="487680" y="99060"/>
                </a:lnTo>
                <a:lnTo>
                  <a:pt x="455676" y="129540"/>
                </a:lnTo>
                <a:lnTo>
                  <a:pt x="437388" y="176784"/>
                </a:lnTo>
                <a:lnTo>
                  <a:pt x="435864" y="208788"/>
                </a:lnTo>
                <a:lnTo>
                  <a:pt x="437388" y="236220"/>
                </a:lnTo>
                <a:lnTo>
                  <a:pt x="443484" y="260604"/>
                </a:lnTo>
                <a:lnTo>
                  <a:pt x="452628" y="281940"/>
                </a:lnTo>
                <a:lnTo>
                  <a:pt x="466344" y="300228"/>
                </a:lnTo>
                <a:lnTo>
                  <a:pt x="477012" y="309829"/>
                </a:lnTo>
                <a:lnTo>
                  <a:pt x="477012" y="187452"/>
                </a:lnTo>
                <a:lnTo>
                  <a:pt x="481584" y="169164"/>
                </a:lnTo>
                <a:lnTo>
                  <a:pt x="505968" y="131064"/>
                </a:lnTo>
                <a:lnTo>
                  <a:pt x="531876" y="118872"/>
                </a:lnTo>
                <a:lnTo>
                  <a:pt x="559308" y="118872"/>
                </a:lnTo>
                <a:lnTo>
                  <a:pt x="595884" y="140208"/>
                </a:lnTo>
                <a:lnTo>
                  <a:pt x="614172" y="185928"/>
                </a:lnTo>
                <a:lnTo>
                  <a:pt x="615696" y="207264"/>
                </a:lnTo>
                <a:lnTo>
                  <a:pt x="615696" y="309372"/>
                </a:lnTo>
                <a:lnTo>
                  <a:pt x="626364" y="300228"/>
                </a:lnTo>
                <a:lnTo>
                  <a:pt x="649224" y="262128"/>
                </a:lnTo>
                <a:lnTo>
                  <a:pt x="655320" y="227076"/>
                </a:lnTo>
                <a:lnTo>
                  <a:pt x="656844" y="204216"/>
                </a:lnTo>
                <a:close/>
              </a:path>
              <a:path w="2028825" h="419100">
                <a:moveTo>
                  <a:pt x="615696" y="309372"/>
                </a:moveTo>
                <a:lnTo>
                  <a:pt x="615696" y="207264"/>
                </a:lnTo>
                <a:lnTo>
                  <a:pt x="614172" y="228600"/>
                </a:lnTo>
                <a:lnTo>
                  <a:pt x="609600" y="246888"/>
                </a:lnTo>
                <a:lnTo>
                  <a:pt x="585216" y="284988"/>
                </a:lnTo>
                <a:lnTo>
                  <a:pt x="545592" y="298704"/>
                </a:lnTo>
                <a:lnTo>
                  <a:pt x="531876" y="297180"/>
                </a:lnTo>
                <a:lnTo>
                  <a:pt x="495300" y="275844"/>
                </a:lnTo>
                <a:lnTo>
                  <a:pt x="477012" y="228600"/>
                </a:lnTo>
                <a:lnTo>
                  <a:pt x="477012" y="309829"/>
                </a:lnTo>
                <a:lnTo>
                  <a:pt x="481584" y="313944"/>
                </a:lnTo>
                <a:lnTo>
                  <a:pt x="501396" y="323088"/>
                </a:lnTo>
                <a:lnTo>
                  <a:pt x="522732" y="329184"/>
                </a:lnTo>
                <a:lnTo>
                  <a:pt x="545592" y="332232"/>
                </a:lnTo>
                <a:lnTo>
                  <a:pt x="560832" y="330708"/>
                </a:lnTo>
                <a:lnTo>
                  <a:pt x="576072" y="327660"/>
                </a:lnTo>
                <a:lnTo>
                  <a:pt x="589788" y="323088"/>
                </a:lnTo>
                <a:lnTo>
                  <a:pt x="601980" y="316992"/>
                </a:lnTo>
                <a:lnTo>
                  <a:pt x="615696" y="309372"/>
                </a:lnTo>
                <a:close/>
              </a:path>
              <a:path w="2028825" h="419100">
                <a:moveTo>
                  <a:pt x="911352" y="205740"/>
                </a:moveTo>
                <a:lnTo>
                  <a:pt x="899160" y="144780"/>
                </a:lnTo>
                <a:lnTo>
                  <a:pt x="874776" y="108204"/>
                </a:lnTo>
                <a:lnTo>
                  <a:pt x="838200" y="88392"/>
                </a:lnTo>
                <a:lnTo>
                  <a:pt x="824484" y="85344"/>
                </a:lnTo>
                <a:lnTo>
                  <a:pt x="810768" y="85344"/>
                </a:lnTo>
                <a:lnTo>
                  <a:pt x="789432" y="86868"/>
                </a:lnTo>
                <a:lnTo>
                  <a:pt x="771144" y="94488"/>
                </a:lnTo>
                <a:lnTo>
                  <a:pt x="755904" y="105156"/>
                </a:lnTo>
                <a:lnTo>
                  <a:pt x="742188" y="121920"/>
                </a:lnTo>
                <a:lnTo>
                  <a:pt x="742188" y="89916"/>
                </a:lnTo>
                <a:lnTo>
                  <a:pt x="704088" y="89916"/>
                </a:lnTo>
                <a:lnTo>
                  <a:pt x="704088" y="419100"/>
                </a:lnTo>
                <a:lnTo>
                  <a:pt x="740664" y="419100"/>
                </a:lnTo>
                <a:lnTo>
                  <a:pt x="740664" y="187452"/>
                </a:lnTo>
                <a:lnTo>
                  <a:pt x="745236" y="169164"/>
                </a:lnTo>
                <a:lnTo>
                  <a:pt x="769620" y="129540"/>
                </a:lnTo>
                <a:lnTo>
                  <a:pt x="806196" y="117348"/>
                </a:lnTo>
                <a:lnTo>
                  <a:pt x="818388" y="117348"/>
                </a:lnTo>
                <a:lnTo>
                  <a:pt x="850392" y="138684"/>
                </a:lnTo>
                <a:lnTo>
                  <a:pt x="868680" y="185928"/>
                </a:lnTo>
                <a:lnTo>
                  <a:pt x="870204" y="205740"/>
                </a:lnTo>
                <a:lnTo>
                  <a:pt x="870204" y="308800"/>
                </a:lnTo>
                <a:lnTo>
                  <a:pt x="871728" y="307848"/>
                </a:lnTo>
                <a:lnTo>
                  <a:pt x="897636" y="271272"/>
                </a:lnTo>
                <a:lnTo>
                  <a:pt x="909828" y="224028"/>
                </a:lnTo>
                <a:lnTo>
                  <a:pt x="911352" y="205740"/>
                </a:lnTo>
                <a:close/>
              </a:path>
              <a:path w="2028825" h="419100">
                <a:moveTo>
                  <a:pt x="870204" y="308800"/>
                </a:moveTo>
                <a:lnTo>
                  <a:pt x="870204" y="205740"/>
                </a:lnTo>
                <a:lnTo>
                  <a:pt x="868680" y="228600"/>
                </a:lnTo>
                <a:lnTo>
                  <a:pt x="864108" y="246888"/>
                </a:lnTo>
                <a:lnTo>
                  <a:pt x="839724" y="284988"/>
                </a:lnTo>
                <a:lnTo>
                  <a:pt x="803148" y="298704"/>
                </a:lnTo>
                <a:lnTo>
                  <a:pt x="790956" y="297180"/>
                </a:lnTo>
                <a:lnTo>
                  <a:pt x="758952" y="275844"/>
                </a:lnTo>
                <a:lnTo>
                  <a:pt x="740664" y="230124"/>
                </a:lnTo>
                <a:lnTo>
                  <a:pt x="740664" y="419100"/>
                </a:lnTo>
                <a:lnTo>
                  <a:pt x="745236" y="419100"/>
                </a:lnTo>
                <a:lnTo>
                  <a:pt x="745236" y="301752"/>
                </a:lnTo>
                <a:lnTo>
                  <a:pt x="755904" y="313944"/>
                </a:lnTo>
                <a:lnTo>
                  <a:pt x="771144" y="323088"/>
                </a:lnTo>
                <a:lnTo>
                  <a:pt x="787908" y="329184"/>
                </a:lnTo>
                <a:lnTo>
                  <a:pt x="806196" y="332232"/>
                </a:lnTo>
                <a:lnTo>
                  <a:pt x="819912" y="330708"/>
                </a:lnTo>
                <a:lnTo>
                  <a:pt x="833628" y="327660"/>
                </a:lnTo>
                <a:lnTo>
                  <a:pt x="847344" y="323088"/>
                </a:lnTo>
                <a:lnTo>
                  <a:pt x="870204" y="308800"/>
                </a:lnTo>
                <a:close/>
              </a:path>
              <a:path w="2028825" h="419100">
                <a:moveTo>
                  <a:pt x="1165860" y="208788"/>
                </a:moveTo>
                <a:lnTo>
                  <a:pt x="1158240" y="155448"/>
                </a:lnTo>
                <a:lnTo>
                  <a:pt x="1135380" y="117348"/>
                </a:lnTo>
                <a:lnTo>
                  <a:pt x="1100328" y="92964"/>
                </a:lnTo>
                <a:lnTo>
                  <a:pt x="1056132" y="85344"/>
                </a:lnTo>
                <a:lnTo>
                  <a:pt x="1031748" y="86868"/>
                </a:lnTo>
                <a:lnTo>
                  <a:pt x="992124" y="103632"/>
                </a:lnTo>
                <a:lnTo>
                  <a:pt x="961644" y="135636"/>
                </a:lnTo>
                <a:lnTo>
                  <a:pt x="946404" y="181356"/>
                </a:lnTo>
                <a:lnTo>
                  <a:pt x="944880" y="210312"/>
                </a:lnTo>
                <a:lnTo>
                  <a:pt x="946404" y="237744"/>
                </a:lnTo>
                <a:lnTo>
                  <a:pt x="952500" y="260604"/>
                </a:lnTo>
                <a:lnTo>
                  <a:pt x="961644" y="281940"/>
                </a:lnTo>
                <a:lnTo>
                  <a:pt x="975360" y="300228"/>
                </a:lnTo>
                <a:lnTo>
                  <a:pt x="986028" y="308956"/>
                </a:lnTo>
                <a:lnTo>
                  <a:pt x="986028" y="219456"/>
                </a:lnTo>
                <a:lnTo>
                  <a:pt x="987552" y="219456"/>
                </a:lnTo>
                <a:lnTo>
                  <a:pt x="987552" y="185928"/>
                </a:lnTo>
                <a:lnTo>
                  <a:pt x="989076" y="170688"/>
                </a:lnTo>
                <a:lnTo>
                  <a:pt x="1008888" y="137160"/>
                </a:lnTo>
                <a:lnTo>
                  <a:pt x="1042416" y="118872"/>
                </a:lnTo>
                <a:lnTo>
                  <a:pt x="1056132" y="118872"/>
                </a:lnTo>
                <a:lnTo>
                  <a:pt x="1097280" y="131064"/>
                </a:lnTo>
                <a:lnTo>
                  <a:pt x="1121664" y="172212"/>
                </a:lnTo>
                <a:lnTo>
                  <a:pt x="1124712" y="185928"/>
                </a:lnTo>
                <a:lnTo>
                  <a:pt x="1124712" y="219456"/>
                </a:lnTo>
                <a:lnTo>
                  <a:pt x="1164336" y="219456"/>
                </a:lnTo>
                <a:lnTo>
                  <a:pt x="1164336" y="211836"/>
                </a:lnTo>
                <a:lnTo>
                  <a:pt x="1165860" y="208788"/>
                </a:lnTo>
                <a:close/>
              </a:path>
              <a:path w="2028825" h="419100">
                <a:moveTo>
                  <a:pt x="1164336" y="256032"/>
                </a:moveTo>
                <a:lnTo>
                  <a:pt x="1123188" y="249936"/>
                </a:lnTo>
                <a:lnTo>
                  <a:pt x="1118616" y="260604"/>
                </a:lnTo>
                <a:lnTo>
                  <a:pt x="1112520" y="271272"/>
                </a:lnTo>
                <a:lnTo>
                  <a:pt x="1104900" y="280416"/>
                </a:lnTo>
                <a:lnTo>
                  <a:pt x="1097280" y="286512"/>
                </a:lnTo>
                <a:lnTo>
                  <a:pt x="1080516" y="295656"/>
                </a:lnTo>
                <a:lnTo>
                  <a:pt x="1059180" y="298704"/>
                </a:lnTo>
                <a:lnTo>
                  <a:pt x="1043940" y="297180"/>
                </a:lnTo>
                <a:lnTo>
                  <a:pt x="1007364" y="277368"/>
                </a:lnTo>
                <a:lnTo>
                  <a:pt x="987552" y="236220"/>
                </a:lnTo>
                <a:lnTo>
                  <a:pt x="986028" y="219456"/>
                </a:lnTo>
                <a:lnTo>
                  <a:pt x="986028" y="308956"/>
                </a:lnTo>
                <a:lnTo>
                  <a:pt x="992124" y="313944"/>
                </a:lnTo>
                <a:lnTo>
                  <a:pt x="1011936" y="323088"/>
                </a:lnTo>
                <a:lnTo>
                  <a:pt x="1033272" y="329184"/>
                </a:lnTo>
                <a:lnTo>
                  <a:pt x="1057656" y="332232"/>
                </a:lnTo>
                <a:lnTo>
                  <a:pt x="1078992" y="330708"/>
                </a:lnTo>
                <a:lnTo>
                  <a:pt x="1127760" y="310896"/>
                </a:lnTo>
                <a:lnTo>
                  <a:pt x="1158240" y="272796"/>
                </a:lnTo>
                <a:lnTo>
                  <a:pt x="1164336" y="256032"/>
                </a:lnTo>
                <a:close/>
              </a:path>
              <a:path w="2028825" h="419100">
                <a:moveTo>
                  <a:pt x="1124712" y="219456"/>
                </a:moveTo>
                <a:lnTo>
                  <a:pt x="1124712" y="185928"/>
                </a:lnTo>
                <a:lnTo>
                  <a:pt x="987552" y="185928"/>
                </a:lnTo>
                <a:lnTo>
                  <a:pt x="987552" y="219456"/>
                </a:lnTo>
                <a:lnTo>
                  <a:pt x="1124712" y="219456"/>
                </a:lnTo>
                <a:close/>
              </a:path>
              <a:path w="2028825" h="419100">
                <a:moveTo>
                  <a:pt x="1342644" y="97536"/>
                </a:moveTo>
                <a:lnTo>
                  <a:pt x="1321308" y="88392"/>
                </a:lnTo>
                <a:lnTo>
                  <a:pt x="1301496" y="85344"/>
                </a:lnTo>
                <a:lnTo>
                  <a:pt x="1287780" y="86868"/>
                </a:lnTo>
                <a:lnTo>
                  <a:pt x="1257300" y="114300"/>
                </a:lnTo>
                <a:lnTo>
                  <a:pt x="1251204" y="124968"/>
                </a:lnTo>
                <a:lnTo>
                  <a:pt x="1251204" y="89916"/>
                </a:lnTo>
                <a:lnTo>
                  <a:pt x="1216152" y="89916"/>
                </a:lnTo>
                <a:lnTo>
                  <a:pt x="1216152" y="327660"/>
                </a:lnTo>
                <a:lnTo>
                  <a:pt x="1257300" y="327660"/>
                </a:lnTo>
                <a:lnTo>
                  <a:pt x="1257300" y="202692"/>
                </a:lnTo>
                <a:lnTo>
                  <a:pt x="1258824" y="178308"/>
                </a:lnTo>
                <a:lnTo>
                  <a:pt x="1277112" y="134112"/>
                </a:lnTo>
                <a:lnTo>
                  <a:pt x="1299972" y="126492"/>
                </a:lnTo>
                <a:lnTo>
                  <a:pt x="1313688" y="128016"/>
                </a:lnTo>
                <a:lnTo>
                  <a:pt x="1327404" y="134112"/>
                </a:lnTo>
                <a:lnTo>
                  <a:pt x="1342644" y="97536"/>
                </a:lnTo>
                <a:close/>
              </a:path>
              <a:path w="2028825" h="419100">
                <a:moveTo>
                  <a:pt x="1373124" y="121920"/>
                </a:moveTo>
                <a:lnTo>
                  <a:pt x="1373124" y="89916"/>
                </a:lnTo>
                <a:lnTo>
                  <a:pt x="1344168" y="89916"/>
                </a:lnTo>
                <a:lnTo>
                  <a:pt x="1344168" y="121920"/>
                </a:lnTo>
                <a:lnTo>
                  <a:pt x="1373124" y="121920"/>
                </a:lnTo>
                <a:close/>
              </a:path>
              <a:path w="2028825" h="419100">
                <a:moveTo>
                  <a:pt x="1459992" y="327660"/>
                </a:moveTo>
                <a:lnTo>
                  <a:pt x="1453896" y="292608"/>
                </a:lnTo>
                <a:lnTo>
                  <a:pt x="1443228" y="292608"/>
                </a:lnTo>
                <a:lnTo>
                  <a:pt x="1435608" y="294132"/>
                </a:lnTo>
                <a:lnTo>
                  <a:pt x="1427988" y="292608"/>
                </a:lnTo>
                <a:lnTo>
                  <a:pt x="1421892" y="291084"/>
                </a:lnTo>
                <a:lnTo>
                  <a:pt x="1415796" y="283464"/>
                </a:lnTo>
                <a:lnTo>
                  <a:pt x="1414272" y="278892"/>
                </a:lnTo>
                <a:lnTo>
                  <a:pt x="1414272" y="6096"/>
                </a:lnTo>
                <a:lnTo>
                  <a:pt x="1373124" y="30480"/>
                </a:lnTo>
                <a:lnTo>
                  <a:pt x="1373124" y="288036"/>
                </a:lnTo>
                <a:lnTo>
                  <a:pt x="1374648" y="298704"/>
                </a:lnTo>
                <a:lnTo>
                  <a:pt x="1409700" y="329184"/>
                </a:lnTo>
                <a:lnTo>
                  <a:pt x="1427988" y="332232"/>
                </a:lnTo>
                <a:lnTo>
                  <a:pt x="1443228" y="330708"/>
                </a:lnTo>
                <a:lnTo>
                  <a:pt x="1459992" y="327660"/>
                </a:lnTo>
                <a:close/>
              </a:path>
              <a:path w="2028825" h="419100">
                <a:moveTo>
                  <a:pt x="1453896" y="121920"/>
                </a:moveTo>
                <a:lnTo>
                  <a:pt x="1453896" y="89916"/>
                </a:lnTo>
                <a:lnTo>
                  <a:pt x="1414272" y="89916"/>
                </a:lnTo>
                <a:lnTo>
                  <a:pt x="1414272" y="121920"/>
                </a:lnTo>
                <a:lnTo>
                  <a:pt x="1453896" y="121920"/>
                </a:lnTo>
                <a:close/>
              </a:path>
              <a:path w="2028825" h="419100">
                <a:moveTo>
                  <a:pt x="1534668" y="45720"/>
                </a:moveTo>
                <a:lnTo>
                  <a:pt x="1534668" y="0"/>
                </a:lnTo>
                <a:lnTo>
                  <a:pt x="1493520" y="0"/>
                </a:lnTo>
                <a:lnTo>
                  <a:pt x="1493520" y="45720"/>
                </a:lnTo>
                <a:lnTo>
                  <a:pt x="1534668" y="45720"/>
                </a:lnTo>
                <a:close/>
              </a:path>
              <a:path w="2028825" h="419100">
                <a:moveTo>
                  <a:pt x="1534668" y="327660"/>
                </a:moveTo>
                <a:lnTo>
                  <a:pt x="1534668" y="89916"/>
                </a:lnTo>
                <a:lnTo>
                  <a:pt x="1493520" y="89916"/>
                </a:lnTo>
                <a:lnTo>
                  <a:pt x="1493520" y="327660"/>
                </a:lnTo>
                <a:lnTo>
                  <a:pt x="1534668" y="327660"/>
                </a:lnTo>
                <a:close/>
              </a:path>
              <a:path w="2028825" h="419100">
                <a:moveTo>
                  <a:pt x="1799844" y="208788"/>
                </a:moveTo>
                <a:lnTo>
                  <a:pt x="1792224" y="155448"/>
                </a:lnTo>
                <a:lnTo>
                  <a:pt x="1769364" y="117348"/>
                </a:lnTo>
                <a:lnTo>
                  <a:pt x="1734312" y="92964"/>
                </a:lnTo>
                <a:lnTo>
                  <a:pt x="1690116" y="85344"/>
                </a:lnTo>
                <a:lnTo>
                  <a:pt x="1665732" y="86868"/>
                </a:lnTo>
                <a:lnTo>
                  <a:pt x="1626108" y="103632"/>
                </a:lnTo>
                <a:lnTo>
                  <a:pt x="1595628" y="135636"/>
                </a:lnTo>
                <a:lnTo>
                  <a:pt x="1580388" y="181356"/>
                </a:lnTo>
                <a:lnTo>
                  <a:pt x="1578864" y="210312"/>
                </a:lnTo>
                <a:lnTo>
                  <a:pt x="1580388" y="237744"/>
                </a:lnTo>
                <a:lnTo>
                  <a:pt x="1586484" y="260604"/>
                </a:lnTo>
                <a:lnTo>
                  <a:pt x="1595628" y="281940"/>
                </a:lnTo>
                <a:lnTo>
                  <a:pt x="1609344" y="300228"/>
                </a:lnTo>
                <a:lnTo>
                  <a:pt x="1620012" y="308956"/>
                </a:lnTo>
                <a:lnTo>
                  <a:pt x="1620012" y="219456"/>
                </a:lnTo>
                <a:lnTo>
                  <a:pt x="1621536" y="219456"/>
                </a:lnTo>
                <a:lnTo>
                  <a:pt x="1621536" y="185928"/>
                </a:lnTo>
                <a:lnTo>
                  <a:pt x="1623060" y="170688"/>
                </a:lnTo>
                <a:lnTo>
                  <a:pt x="1642872" y="137160"/>
                </a:lnTo>
                <a:lnTo>
                  <a:pt x="1676400" y="118872"/>
                </a:lnTo>
                <a:lnTo>
                  <a:pt x="1690116" y="118872"/>
                </a:lnTo>
                <a:lnTo>
                  <a:pt x="1731264" y="131064"/>
                </a:lnTo>
                <a:lnTo>
                  <a:pt x="1755648" y="172212"/>
                </a:lnTo>
                <a:lnTo>
                  <a:pt x="1758696" y="185928"/>
                </a:lnTo>
                <a:lnTo>
                  <a:pt x="1758696" y="219456"/>
                </a:lnTo>
                <a:lnTo>
                  <a:pt x="1798320" y="219456"/>
                </a:lnTo>
                <a:lnTo>
                  <a:pt x="1798320" y="211836"/>
                </a:lnTo>
                <a:lnTo>
                  <a:pt x="1799844" y="208788"/>
                </a:lnTo>
                <a:close/>
              </a:path>
              <a:path w="2028825" h="419100">
                <a:moveTo>
                  <a:pt x="1798320" y="256032"/>
                </a:moveTo>
                <a:lnTo>
                  <a:pt x="1757172" y="249936"/>
                </a:lnTo>
                <a:lnTo>
                  <a:pt x="1752600" y="260604"/>
                </a:lnTo>
                <a:lnTo>
                  <a:pt x="1746504" y="271272"/>
                </a:lnTo>
                <a:lnTo>
                  <a:pt x="1738884" y="280416"/>
                </a:lnTo>
                <a:lnTo>
                  <a:pt x="1731264" y="286512"/>
                </a:lnTo>
                <a:lnTo>
                  <a:pt x="1714500" y="295656"/>
                </a:lnTo>
                <a:lnTo>
                  <a:pt x="1693164" y="298704"/>
                </a:lnTo>
                <a:lnTo>
                  <a:pt x="1677924" y="297180"/>
                </a:lnTo>
                <a:lnTo>
                  <a:pt x="1641348" y="277368"/>
                </a:lnTo>
                <a:lnTo>
                  <a:pt x="1621536" y="236220"/>
                </a:lnTo>
                <a:lnTo>
                  <a:pt x="1620012" y="219456"/>
                </a:lnTo>
                <a:lnTo>
                  <a:pt x="1620012" y="308956"/>
                </a:lnTo>
                <a:lnTo>
                  <a:pt x="1626108" y="313944"/>
                </a:lnTo>
                <a:lnTo>
                  <a:pt x="1645920" y="323088"/>
                </a:lnTo>
                <a:lnTo>
                  <a:pt x="1667256" y="329184"/>
                </a:lnTo>
                <a:lnTo>
                  <a:pt x="1691640" y="332232"/>
                </a:lnTo>
                <a:lnTo>
                  <a:pt x="1712976" y="330708"/>
                </a:lnTo>
                <a:lnTo>
                  <a:pt x="1761744" y="310896"/>
                </a:lnTo>
                <a:lnTo>
                  <a:pt x="1792224" y="272796"/>
                </a:lnTo>
                <a:lnTo>
                  <a:pt x="1798320" y="256032"/>
                </a:lnTo>
                <a:close/>
              </a:path>
              <a:path w="2028825" h="419100">
                <a:moveTo>
                  <a:pt x="1758696" y="219456"/>
                </a:moveTo>
                <a:lnTo>
                  <a:pt x="1758696" y="185928"/>
                </a:lnTo>
                <a:lnTo>
                  <a:pt x="1621536" y="185928"/>
                </a:lnTo>
                <a:lnTo>
                  <a:pt x="1621536" y="219456"/>
                </a:lnTo>
                <a:lnTo>
                  <a:pt x="1758696" y="219456"/>
                </a:lnTo>
                <a:close/>
              </a:path>
              <a:path w="2028825" h="419100">
                <a:moveTo>
                  <a:pt x="1987296" y="319102"/>
                </a:moveTo>
                <a:lnTo>
                  <a:pt x="1987296" y="260604"/>
                </a:lnTo>
                <a:lnTo>
                  <a:pt x="1985772" y="268224"/>
                </a:lnTo>
                <a:lnTo>
                  <a:pt x="1982724" y="274320"/>
                </a:lnTo>
                <a:lnTo>
                  <a:pt x="1946148" y="297180"/>
                </a:lnTo>
                <a:lnTo>
                  <a:pt x="1933956" y="298704"/>
                </a:lnTo>
                <a:lnTo>
                  <a:pt x="1920240" y="297180"/>
                </a:lnTo>
                <a:lnTo>
                  <a:pt x="1880616" y="269748"/>
                </a:lnTo>
                <a:lnTo>
                  <a:pt x="1874520" y="249936"/>
                </a:lnTo>
                <a:lnTo>
                  <a:pt x="1833372" y="256032"/>
                </a:lnTo>
                <a:lnTo>
                  <a:pt x="1851660" y="301752"/>
                </a:lnTo>
                <a:lnTo>
                  <a:pt x="1892808" y="326136"/>
                </a:lnTo>
                <a:lnTo>
                  <a:pt x="1932432" y="332232"/>
                </a:lnTo>
                <a:lnTo>
                  <a:pt x="1959864" y="329184"/>
                </a:lnTo>
                <a:lnTo>
                  <a:pt x="1982724" y="321564"/>
                </a:lnTo>
                <a:lnTo>
                  <a:pt x="1987296" y="319102"/>
                </a:lnTo>
                <a:close/>
              </a:path>
              <a:path w="2028825" h="419100">
                <a:moveTo>
                  <a:pt x="2019300" y="153924"/>
                </a:moveTo>
                <a:lnTo>
                  <a:pt x="2005584" y="115824"/>
                </a:lnTo>
                <a:lnTo>
                  <a:pt x="1973580" y="92964"/>
                </a:lnTo>
                <a:lnTo>
                  <a:pt x="1924812" y="85344"/>
                </a:lnTo>
                <a:lnTo>
                  <a:pt x="1908048" y="85344"/>
                </a:lnTo>
                <a:lnTo>
                  <a:pt x="1865376" y="100584"/>
                </a:lnTo>
                <a:lnTo>
                  <a:pt x="1840992" y="137160"/>
                </a:lnTo>
                <a:lnTo>
                  <a:pt x="1839468" y="152400"/>
                </a:lnTo>
                <a:lnTo>
                  <a:pt x="1840992" y="169164"/>
                </a:lnTo>
                <a:lnTo>
                  <a:pt x="1847088" y="184404"/>
                </a:lnTo>
                <a:lnTo>
                  <a:pt x="1859280" y="198120"/>
                </a:lnTo>
                <a:lnTo>
                  <a:pt x="1874520" y="207264"/>
                </a:lnTo>
                <a:lnTo>
                  <a:pt x="1880616" y="209876"/>
                </a:lnTo>
                <a:lnTo>
                  <a:pt x="1880616" y="147828"/>
                </a:lnTo>
                <a:lnTo>
                  <a:pt x="1882140" y="137160"/>
                </a:lnTo>
                <a:lnTo>
                  <a:pt x="1891284" y="126492"/>
                </a:lnTo>
                <a:lnTo>
                  <a:pt x="1897380" y="123444"/>
                </a:lnTo>
                <a:lnTo>
                  <a:pt x="1906524" y="120396"/>
                </a:lnTo>
                <a:lnTo>
                  <a:pt x="1915668" y="118872"/>
                </a:lnTo>
                <a:lnTo>
                  <a:pt x="1927860" y="118872"/>
                </a:lnTo>
                <a:lnTo>
                  <a:pt x="1947672" y="120396"/>
                </a:lnTo>
                <a:lnTo>
                  <a:pt x="1962912" y="129540"/>
                </a:lnTo>
                <a:lnTo>
                  <a:pt x="1972056" y="141732"/>
                </a:lnTo>
                <a:lnTo>
                  <a:pt x="1978152" y="160020"/>
                </a:lnTo>
                <a:lnTo>
                  <a:pt x="2019300" y="153924"/>
                </a:lnTo>
                <a:close/>
              </a:path>
              <a:path w="2028825" h="419100">
                <a:moveTo>
                  <a:pt x="2028444" y="256032"/>
                </a:moveTo>
                <a:lnTo>
                  <a:pt x="2005584" y="210312"/>
                </a:lnTo>
                <a:lnTo>
                  <a:pt x="1979676" y="198120"/>
                </a:lnTo>
                <a:lnTo>
                  <a:pt x="1967484" y="193548"/>
                </a:lnTo>
                <a:lnTo>
                  <a:pt x="1950720" y="187452"/>
                </a:lnTo>
                <a:lnTo>
                  <a:pt x="1920240" y="179832"/>
                </a:lnTo>
                <a:lnTo>
                  <a:pt x="1909572" y="176784"/>
                </a:lnTo>
                <a:lnTo>
                  <a:pt x="1903476" y="173736"/>
                </a:lnTo>
                <a:lnTo>
                  <a:pt x="1898904" y="172212"/>
                </a:lnTo>
                <a:lnTo>
                  <a:pt x="1889760" y="167640"/>
                </a:lnTo>
                <a:lnTo>
                  <a:pt x="1880616" y="155448"/>
                </a:lnTo>
                <a:lnTo>
                  <a:pt x="1880616" y="209876"/>
                </a:lnTo>
                <a:lnTo>
                  <a:pt x="1885188" y="211836"/>
                </a:lnTo>
                <a:lnTo>
                  <a:pt x="1898904" y="216408"/>
                </a:lnTo>
                <a:lnTo>
                  <a:pt x="1914144" y="220980"/>
                </a:lnTo>
                <a:lnTo>
                  <a:pt x="1933956" y="227076"/>
                </a:lnTo>
                <a:lnTo>
                  <a:pt x="1947672" y="230124"/>
                </a:lnTo>
                <a:lnTo>
                  <a:pt x="1959864" y="233172"/>
                </a:lnTo>
                <a:lnTo>
                  <a:pt x="1967484" y="237744"/>
                </a:lnTo>
                <a:lnTo>
                  <a:pt x="1973580" y="239268"/>
                </a:lnTo>
                <a:lnTo>
                  <a:pt x="1979676" y="243840"/>
                </a:lnTo>
                <a:lnTo>
                  <a:pt x="1982724" y="248412"/>
                </a:lnTo>
                <a:lnTo>
                  <a:pt x="1985772" y="254508"/>
                </a:lnTo>
                <a:lnTo>
                  <a:pt x="1987296" y="260604"/>
                </a:lnTo>
                <a:lnTo>
                  <a:pt x="1987296" y="319102"/>
                </a:lnTo>
                <a:lnTo>
                  <a:pt x="2002536" y="310896"/>
                </a:lnTo>
                <a:lnTo>
                  <a:pt x="2016252" y="294132"/>
                </a:lnTo>
                <a:lnTo>
                  <a:pt x="2025396" y="275844"/>
                </a:lnTo>
                <a:lnTo>
                  <a:pt x="2028444" y="256032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427156" y="1256728"/>
            <a:ext cx="1544320" cy="332740"/>
          </a:xfrm>
          <a:custGeom>
            <a:avLst/>
            <a:gdLst/>
            <a:ahLst/>
            <a:cxnLst/>
            <a:rect l="l" t="t" r="r" b="b"/>
            <a:pathLst>
              <a:path w="1544320" h="332740">
                <a:moveTo>
                  <a:pt x="301752" y="0"/>
                </a:moveTo>
                <a:lnTo>
                  <a:pt x="257556" y="0"/>
                </a:lnTo>
                <a:lnTo>
                  <a:pt x="167640" y="237744"/>
                </a:lnTo>
                <a:lnTo>
                  <a:pt x="149352" y="291084"/>
                </a:lnTo>
                <a:lnTo>
                  <a:pt x="141732" y="265176"/>
                </a:lnTo>
                <a:lnTo>
                  <a:pt x="132588" y="237744"/>
                </a:lnTo>
                <a:lnTo>
                  <a:pt x="47244" y="0"/>
                </a:lnTo>
                <a:lnTo>
                  <a:pt x="0" y="0"/>
                </a:lnTo>
                <a:lnTo>
                  <a:pt x="126492" y="327660"/>
                </a:lnTo>
                <a:lnTo>
                  <a:pt x="172212" y="327660"/>
                </a:lnTo>
                <a:lnTo>
                  <a:pt x="301752" y="0"/>
                </a:lnTo>
                <a:close/>
              </a:path>
              <a:path w="1544320" h="332740">
                <a:moveTo>
                  <a:pt x="537972" y="204216"/>
                </a:moveTo>
                <a:lnTo>
                  <a:pt x="528828" y="155448"/>
                </a:lnTo>
                <a:lnTo>
                  <a:pt x="505968" y="117348"/>
                </a:lnTo>
                <a:lnTo>
                  <a:pt x="470916" y="92964"/>
                </a:lnTo>
                <a:lnTo>
                  <a:pt x="426720" y="85344"/>
                </a:lnTo>
                <a:lnTo>
                  <a:pt x="405384" y="86868"/>
                </a:lnTo>
                <a:lnTo>
                  <a:pt x="368808" y="99060"/>
                </a:lnTo>
                <a:lnTo>
                  <a:pt x="336804" y="129540"/>
                </a:lnTo>
                <a:lnTo>
                  <a:pt x="318516" y="176784"/>
                </a:lnTo>
                <a:lnTo>
                  <a:pt x="316992" y="208788"/>
                </a:lnTo>
                <a:lnTo>
                  <a:pt x="318516" y="236220"/>
                </a:lnTo>
                <a:lnTo>
                  <a:pt x="324612" y="260604"/>
                </a:lnTo>
                <a:lnTo>
                  <a:pt x="333756" y="281940"/>
                </a:lnTo>
                <a:lnTo>
                  <a:pt x="347472" y="300228"/>
                </a:lnTo>
                <a:lnTo>
                  <a:pt x="358140" y="309829"/>
                </a:lnTo>
                <a:lnTo>
                  <a:pt x="358140" y="187452"/>
                </a:lnTo>
                <a:lnTo>
                  <a:pt x="362712" y="169164"/>
                </a:lnTo>
                <a:lnTo>
                  <a:pt x="387096" y="131064"/>
                </a:lnTo>
                <a:lnTo>
                  <a:pt x="413004" y="118872"/>
                </a:lnTo>
                <a:lnTo>
                  <a:pt x="440436" y="118872"/>
                </a:lnTo>
                <a:lnTo>
                  <a:pt x="477012" y="140208"/>
                </a:lnTo>
                <a:lnTo>
                  <a:pt x="495300" y="185928"/>
                </a:lnTo>
                <a:lnTo>
                  <a:pt x="496824" y="207264"/>
                </a:lnTo>
                <a:lnTo>
                  <a:pt x="496824" y="309372"/>
                </a:lnTo>
                <a:lnTo>
                  <a:pt x="507492" y="300228"/>
                </a:lnTo>
                <a:lnTo>
                  <a:pt x="530352" y="262128"/>
                </a:lnTo>
                <a:lnTo>
                  <a:pt x="536448" y="227076"/>
                </a:lnTo>
                <a:lnTo>
                  <a:pt x="537972" y="204216"/>
                </a:lnTo>
                <a:close/>
              </a:path>
              <a:path w="1544320" h="332740">
                <a:moveTo>
                  <a:pt x="496824" y="309372"/>
                </a:moveTo>
                <a:lnTo>
                  <a:pt x="496824" y="207264"/>
                </a:lnTo>
                <a:lnTo>
                  <a:pt x="495300" y="228600"/>
                </a:lnTo>
                <a:lnTo>
                  <a:pt x="490728" y="246888"/>
                </a:lnTo>
                <a:lnTo>
                  <a:pt x="466344" y="284988"/>
                </a:lnTo>
                <a:lnTo>
                  <a:pt x="426720" y="298704"/>
                </a:lnTo>
                <a:lnTo>
                  <a:pt x="413004" y="297180"/>
                </a:lnTo>
                <a:lnTo>
                  <a:pt x="376428" y="275844"/>
                </a:lnTo>
                <a:lnTo>
                  <a:pt x="358140" y="228600"/>
                </a:lnTo>
                <a:lnTo>
                  <a:pt x="358140" y="309829"/>
                </a:lnTo>
                <a:lnTo>
                  <a:pt x="362712" y="313944"/>
                </a:lnTo>
                <a:lnTo>
                  <a:pt x="382524" y="323088"/>
                </a:lnTo>
                <a:lnTo>
                  <a:pt x="403860" y="329184"/>
                </a:lnTo>
                <a:lnTo>
                  <a:pt x="426720" y="332232"/>
                </a:lnTo>
                <a:lnTo>
                  <a:pt x="441960" y="330708"/>
                </a:lnTo>
                <a:lnTo>
                  <a:pt x="457200" y="327660"/>
                </a:lnTo>
                <a:lnTo>
                  <a:pt x="470916" y="323088"/>
                </a:lnTo>
                <a:lnTo>
                  <a:pt x="483108" y="316992"/>
                </a:lnTo>
                <a:lnTo>
                  <a:pt x="496824" y="309372"/>
                </a:lnTo>
                <a:close/>
              </a:path>
              <a:path w="1544320" h="332740">
                <a:moveTo>
                  <a:pt x="714756" y="97536"/>
                </a:moveTo>
                <a:lnTo>
                  <a:pt x="693420" y="88392"/>
                </a:lnTo>
                <a:lnTo>
                  <a:pt x="673608" y="85344"/>
                </a:lnTo>
                <a:lnTo>
                  <a:pt x="659892" y="86868"/>
                </a:lnTo>
                <a:lnTo>
                  <a:pt x="629412" y="114300"/>
                </a:lnTo>
                <a:lnTo>
                  <a:pt x="623316" y="124968"/>
                </a:lnTo>
                <a:lnTo>
                  <a:pt x="623316" y="89916"/>
                </a:lnTo>
                <a:lnTo>
                  <a:pt x="588264" y="89916"/>
                </a:lnTo>
                <a:lnTo>
                  <a:pt x="588264" y="327660"/>
                </a:lnTo>
                <a:lnTo>
                  <a:pt x="629412" y="327660"/>
                </a:lnTo>
                <a:lnTo>
                  <a:pt x="629412" y="202692"/>
                </a:lnTo>
                <a:lnTo>
                  <a:pt x="630936" y="178308"/>
                </a:lnTo>
                <a:lnTo>
                  <a:pt x="649224" y="134112"/>
                </a:lnTo>
                <a:lnTo>
                  <a:pt x="672084" y="126492"/>
                </a:lnTo>
                <a:lnTo>
                  <a:pt x="685800" y="128016"/>
                </a:lnTo>
                <a:lnTo>
                  <a:pt x="699516" y="134112"/>
                </a:lnTo>
                <a:lnTo>
                  <a:pt x="714756" y="97536"/>
                </a:lnTo>
                <a:close/>
              </a:path>
              <a:path w="1544320" h="332740">
                <a:moveTo>
                  <a:pt x="943356" y="204216"/>
                </a:moveTo>
                <a:lnTo>
                  <a:pt x="934212" y="155448"/>
                </a:lnTo>
                <a:lnTo>
                  <a:pt x="911352" y="117348"/>
                </a:lnTo>
                <a:lnTo>
                  <a:pt x="876300" y="92964"/>
                </a:lnTo>
                <a:lnTo>
                  <a:pt x="832104" y="85344"/>
                </a:lnTo>
                <a:lnTo>
                  <a:pt x="810768" y="86868"/>
                </a:lnTo>
                <a:lnTo>
                  <a:pt x="774192" y="99060"/>
                </a:lnTo>
                <a:lnTo>
                  <a:pt x="742188" y="129540"/>
                </a:lnTo>
                <a:lnTo>
                  <a:pt x="723900" y="176784"/>
                </a:lnTo>
                <a:lnTo>
                  <a:pt x="722376" y="208788"/>
                </a:lnTo>
                <a:lnTo>
                  <a:pt x="723900" y="236220"/>
                </a:lnTo>
                <a:lnTo>
                  <a:pt x="729996" y="260604"/>
                </a:lnTo>
                <a:lnTo>
                  <a:pt x="739140" y="281940"/>
                </a:lnTo>
                <a:lnTo>
                  <a:pt x="752856" y="300228"/>
                </a:lnTo>
                <a:lnTo>
                  <a:pt x="763524" y="309829"/>
                </a:lnTo>
                <a:lnTo>
                  <a:pt x="763524" y="187452"/>
                </a:lnTo>
                <a:lnTo>
                  <a:pt x="768096" y="169164"/>
                </a:lnTo>
                <a:lnTo>
                  <a:pt x="792480" y="131064"/>
                </a:lnTo>
                <a:lnTo>
                  <a:pt x="818388" y="118872"/>
                </a:lnTo>
                <a:lnTo>
                  <a:pt x="845820" y="118872"/>
                </a:lnTo>
                <a:lnTo>
                  <a:pt x="882396" y="140208"/>
                </a:lnTo>
                <a:lnTo>
                  <a:pt x="900684" y="185928"/>
                </a:lnTo>
                <a:lnTo>
                  <a:pt x="902208" y="207264"/>
                </a:lnTo>
                <a:lnTo>
                  <a:pt x="902208" y="309372"/>
                </a:lnTo>
                <a:lnTo>
                  <a:pt x="912876" y="300228"/>
                </a:lnTo>
                <a:lnTo>
                  <a:pt x="935736" y="262128"/>
                </a:lnTo>
                <a:lnTo>
                  <a:pt x="941832" y="227076"/>
                </a:lnTo>
                <a:lnTo>
                  <a:pt x="943356" y="204216"/>
                </a:lnTo>
                <a:close/>
              </a:path>
              <a:path w="1544320" h="332740">
                <a:moveTo>
                  <a:pt x="902208" y="309372"/>
                </a:moveTo>
                <a:lnTo>
                  <a:pt x="902208" y="207264"/>
                </a:lnTo>
                <a:lnTo>
                  <a:pt x="900684" y="228600"/>
                </a:lnTo>
                <a:lnTo>
                  <a:pt x="896112" y="246888"/>
                </a:lnTo>
                <a:lnTo>
                  <a:pt x="871728" y="284988"/>
                </a:lnTo>
                <a:lnTo>
                  <a:pt x="832104" y="298704"/>
                </a:lnTo>
                <a:lnTo>
                  <a:pt x="818388" y="297180"/>
                </a:lnTo>
                <a:lnTo>
                  <a:pt x="781812" y="275844"/>
                </a:lnTo>
                <a:lnTo>
                  <a:pt x="763524" y="228600"/>
                </a:lnTo>
                <a:lnTo>
                  <a:pt x="763524" y="309829"/>
                </a:lnTo>
                <a:lnTo>
                  <a:pt x="768096" y="313944"/>
                </a:lnTo>
                <a:lnTo>
                  <a:pt x="787908" y="323088"/>
                </a:lnTo>
                <a:lnTo>
                  <a:pt x="809244" y="329184"/>
                </a:lnTo>
                <a:lnTo>
                  <a:pt x="832104" y="332232"/>
                </a:lnTo>
                <a:lnTo>
                  <a:pt x="847344" y="330708"/>
                </a:lnTo>
                <a:lnTo>
                  <a:pt x="862584" y="327660"/>
                </a:lnTo>
                <a:lnTo>
                  <a:pt x="876300" y="323088"/>
                </a:lnTo>
                <a:lnTo>
                  <a:pt x="888492" y="316992"/>
                </a:lnTo>
                <a:lnTo>
                  <a:pt x="902208" y="309372"/>
                </a:lnTo>
                <a:close/>
              </a:path>
              <a:path w="1544320" h="332740">
                <a:moveTo>
                  <a:pt x="1184148" y="327660"/>
                </a:moveTo>
                <a:lnTo>
                  <a:pt x="1184148" y="181356"/>
                </a:lnTo>
                <a:lnTo>
                  <a:pt x="1182624" y="169164"/>
                </a:lnTo>
                <a:lnTo>
                  <a:pt x="1182624" y="149352"/>
                </a:lnTo>
                <a:lnTo>
                  <a:pt x="1168908" y="112776"/>
                </a:lnTo>
                <a:lnTo>
                  <a:pt x="1124712" y="86868"/>
                </a:lnTo>
                <a:lnTo>
                  <a:pt x="1103376" y="85344"/>
                </a:lnTo>
                <a:lnTo>
                  <a:pt x="1080516" y="86868"/>
                </a:lnTo>
                <a:lnTo>
                  <a:pt x="1060704" y="94488"/>
                </a:lnTo>
                <a:lnTo>
                  <a:pt x="1043940" y="106680"/>
                </a:lnTo>
                <a:lnTo>
                  <a:pt x="1030224" y="123444"/>
                </a:lnTo>
                <a:lnTo>
                  <a:pt x="1030224" y="89916"/>
                </a:lnTo>
                <a:lnTo>
                  <a:pt x="993648" y="89916"/>
                </a:lnTo>
                <a:lnTo>
                  <a:pt x="993648" y="327660"/>
                </a:lnTo>
                <a:lnTo>
                  <a:pt x="1034796" y="327660"/>
                </a:lnTo>
                <a:lnTo>
                  <a:pt x="1034796" y="176784"/>
                </a:lnTo>
                <a:lnTo>
                  <a:pt x="1037844" y="160020"/>
                </a:lnTo>
                <a:lnTo>
                  <a:pt x="1043940" y="146304"/>
                </a:lnTo>
                <a:lnTo>
                  <a:pt x="1051560" y="135636"/>
                </a:lnTo>
                <a:lnTo>
                  <a:pt x="1062228" y="129540"/>
                </a:lnTo>
                <a:lnTo>
                  <a:pt x="1071372" y="123444"/>
                </a:lnTo>
                <a:lnTo>
                  <a:pt x="1083564" y="120396"/>
                </a:lnTo>
                <a:lnTo>
                  <a:pt x="1094232" y="120396"/>
                </a:lnTo>
                <a:lnTo>
                  <a:pt x="1130808" y="135636"/>
                </a:lnTo>
                <a:lnTo>
                  <a:pt x="1141476" y="161544"/>
                </a:lnTo>
                <a:lnTo>
                  <a:pt x="1141476" y="172212"/>
                </a:lnTo>
                <a:lnTo>
                  <a:pt x="1143000" y="182880"/>
                </a:lnTo>
                <a:lnTo>
                  <a:pt x="1143000" y="327660"/>
                </a:lnTo>
                <a:lnTo>
                  <a:pt x="1184148" y="327660"/>
                </a:lnTo>
                <a:close/>
              </a:path>
              <a:path w="1544320" h="332740">
                <a:moveTo>
                  <a:pt x="1452372" y="204216"/>
                </a:moveTo>
                <a:lnTo>
                  <a:pt x="1443228" y="155448"/>
                </a:lnTo>
                <a:lnTo>
                  <a:pt x="1420368" y="117348"/>
                </a:lnTo>
                <a:lnTo>
                  <a:pt x="1385316" y="92964"/>
                </a:lnTo>
                <a:lnTo>
                  <a:pt x="1341120" y="85344"/>
                </a:lnTo>
                <a:lnTo>
                  <a:pt x="1319784" y="86868"/>
                </a:lnTo>
                <a:lnTo>
                  <a:pt x="1283208" y="99060"/>
                </a:lnTo>
                <a:lnTo>
                  <a:pt x="1251204" y="129540"/>
                </a:lnTo>
                <a:lnTo>
                  <a:pt x="1232916" y="176784"/>
                </a:lnTo>
                <a:lnTo>
                  <a:pt x="1231392" y="208788"/>
                </a:lnTo>
                <a:lnTo>
                  <a:pt x="1232916" y="236220"/>
                </a:lnTo>
                <a:lnTo>
                  <a:pt x="1239012" y="260604"/>
                </a:lnTo>
                <a:lnTo>
                  <a:pt x="1248156" y="281940"/>
                </a:lnTo>
                <a:lnTo>
                  <a:pt x="1261872" y="300228"/>
                </a:lnTo>
                <a:lnTo>
                  <a:pt x="1272540" y="309829"/>
                </a:lnTo>
                <a:lnTo>
                  <a:pt x="1272540" y="187452"/>
                </a:lnTo>
                <a:lnTo>
                  <a:pt x="1277112" y="169164"/>
                </a:lnTo>
                <a:lnTo>
                  <a:pt x="1301496" y="131064"/>
                </a:lnTo>
                <a:lnTo>
                  <a:pt x="1327404" y="118872"/>
                </a:lnTo>
                <a:lnTo>
                  <a:pt x="1354836" y="118872"/>
                </a:lnTo>
                <a:lnTo>
                  <a:pt x="1391412" y="140208"/>
                </a:lnTo>
                <a:lnTo>
                  <a:pt x="1409700" y="185928"/>
                </a:lnTo>
                <a:lnTo>
                  <a:pt x="1411224" y="207264"/>
                </a:lnTo>
                <a:lnTo>
                  <a:pt x="1411224" y="309372"/>
                </a:lnTo>
                <a:lnTo>
                  <a:pt x="1421892" y="300228"/>
                </a:lnTo>
                <a:lnTo>
                  <a:pt x="1444752" y="262128"/>
                </a:lnTo>
                <a:lnTo>
                  <a:pt x="1450848" y="227076"/>
                </a:lnTo>
                <a:lnTo>
                  <a:pt x="1452372" y="204216"/>
                </a:lnTo>
                <a:close/>
              </a:path>
              <a:path w="1544320" h="332740">
                <a:moveTo>
                  <a:pt x="1411224" y="309372"/>
                </a:moveTo>
                <a:lnTo>
                  <a:pt x="1411224" y="207264"/>
                </a:lnTo>
                <a:lnTo>
                  <a:pt x="1409700" y="228600"/>
                </a:lnTo>
                <a:lnTo>
                  <a:pt x="1405128" y="246888"/>
                </a:lnTo>
                <a:lnTo>
                  <a:pt x="1380744" y="284988"/>
                </a:lnTo>
                <a:lnTo>
                  <a:pt x="1341120" y="298704"/>
                </a:lnTo>
                <a:lnTo>
                  <a:pt x="1327404" y="297180"/>
                </a:lnTo>
                <a:lnTo>
                  <a:pt x="1290828" y="275844"/>
                </a:lnTo>
                <a:lnTo>
                  <a:pt x="1272540" y="228600"/>
                </a:lnTo>
                <a:lnTo>
                  <a:pt x="1272540" y="309829"/>
                </a:lnTo>
                <a:lnTo>
                  <a:pt x="1277112" y="313944"/>
                </a:lnTo>
                <a:lnTo>
                  <a:pt x="1296924" y="323088"/>
                </a:lnTo>
                <a:lnTo>
                  <a:pt x="1318260" y="329184"/>
                </a:lnTo>
                <a:lnTo>
                  <a:pt x="1341120" y="332232"/>
                </a:lnTo>
                <a:lnTo>
                  <a:pt x="1356360" y="330708"/>
                </a:lnTo>
                <a:lnTo>
                  <a:pt x="1371600" y="327660"/>
                </a:lnTo>
                <a:lnTo>
                  <a:pt x="1385316" y="323088"/>
                </a:lnTo>
                <a:lnTo>
                  <a:pt x="1397508" y="316992"/>
                </a:lnTo>
                <a:lnTo>
                  <a:pt x="1411224" y="309372"/>
                </a:lnTo>
                <a:close/>
              </a:path>
              <a:path w="1544320" h="332740">
                <a:moveTo>
                  <a:pt x="1543812" y="45720"/>
                </a:moveTo>
                <a:lnTo>
                  <a:pt x="1543812" y="0"/>
                </a:lnTo>
                <a:lnTo>
                  <a:pt x="1502664" y="0"/>
                </a:lnTo>
                <a:lnTo>
                  <a:pt x="1502664" y="45720"/>
                </a:lnTo>
                <a:lnTo>
                  <a:pt x="1543812" y="45720"/>
                </a:lnTo>
                <a:close/>
              </a:path>
              <a:path w="1544320" h="332740">
                <a:moveTo>
                  <a:pt x="1543812" y="327660"/>
                </a:moveTo>
                <a:lnTo>
                  <a:pt x="1543812" y="89916"/>
                </a:lnTo>
                <a:lnTo>
                  <a:pt x="1502664" y="89916"/>
                </a:lnTo>
                <a:lnTo>
                  <a:pt x="1502664" y="327660"/>
                </a:lnTo>
                <a:lnTo>
                  <a:pt x="1543812" y="327660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62992" y="1256728"/>
            <a:ext cx="1659889" cy="424180"/>
          </a:xfrm>
          <a:custGeom>
            <a:avLst/>
            <a:gdLst/>
            <a:ahLst/>
            <a:cxnLst/>
            <a:rect l="l" t="t" r="r" b="b"/>
            <a:pathLst>
              <a:path w="1659890" h="424180">
                <a:moveTo>
                  <a:pt x="269748" y="161544"/>
                </a:moveTo>
                <a:lnTo>
                  <a:pt x="262128" y="100584"/>
                </a:lnTo>
                <a:lnTo>
                  <a:pt x="240792" y="51816"/>
                </a:lnTo>
                <a:lnTo>
                  <a:pt x="195072" y="13716"/>
                </a:lnTo>
                <a:lnTo>
                  <a:pt x="158496" y="1524"/>
                </a:lnTo>
                <a:lnTo>
                  <a:pt x="14478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129540" y="38100"/>
                </a:lnTo>
                <a:lnTo>
                  <a:pt x="167640" y="44196"/>
                </a:lnTo>
                <a:lnTo>
                  <a:pt x="199644" y="68580"/>
                </a:lnTo>
                <a:lnTo>
                  <a:pt x="220980" y="115824"/>
                </a:lnTo>
                <a:lnTo>
                  <a:pt x="225552" y="160020"/>
                </a:lnTo>
                <a:lnTo>
                  <a:pt x="225552" y="290745"/>
                </a:lnTo>
                <a:lnTo>
                  <a:pt x="237744" y="275844"/>
                </a:lnTo>
                <a:lnTo>
                  <a:pt x="249936" y="254508"/>
                </a:lnTo>
                <a:lnTo>
                  <a:pt x="260604" y="227076"/>
                </a:lnTo>
                <a:lnTo>
                  <a:pt x="266700" y="196596"/>
                </a:lnTo>
                <a:lnTo>
                  <a:pt x="269748" y="161544"/>
                </a:lnTo>
                <a:close/>
              </a:path>
              <a:path w="1659890" h="424180">
                <a:moveTo>
                  <a:pt x="225552" y="290745"/>
                </a:moveTo>
                <a:lnTo>
                  <a:pt x="225552" y="160020"/>
                </a:lnTo>
                <a:lnTo>
                  <a:pt x="222504" y="195072"/>
                </a:lnTo>
                <a:lnTo>
                  <a:pt x="216408" y="224028"/>
                </a:lnTo>
                <a:lnTo>
                  <a:pt x="192024" y="265176"/>
                </a:lnTo>
                <a:lnTo>
                  <a:pt x="153924" y="284988"/>
                </a:lnTo>
                <a:lnTo>
                  <a:pt x="141732" y="288036"/>
                </a:lnTo>
                <a:lnTo>
                  <a:pt x="128016" y="288036"/>
                </a:lnTo>
                <a:lnTo>
                  <a:pt x="112776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117348" y="327660"/>
                </a:lnTo>
                <a:lnTo>
                  <a:pt x="169164" y="321564"/>
                </a:lnTo>
                <a:lnTo>
                  <a:pt x="208788" y="304800"/>
                </a:lnTo>
                <a:lnTo>
                  <a:pt x="224028" y="292608"/>
                </a:lnTo>
                <a:lnTo>
                  <a:pt x="225552" y="290745"/>
                </a:lnTo>
                <a:close/>
              </a:path>
              <a:path w="1659890" h="424180">
                <a:moveTo>
                  <a:pt x="365760" y="45720"/>
                </a:moveTo>
                <a:lnTo>
                  <a:pt x="365760" y="0"/>
                </a:lnTo>
                <a:lnTo>
                  <a:pt x="324612" y="0"/>
                </a:lnTo>
                <a:lnTo>
                  <a:pt x="324612" y="45720"/>
                </a:lnTo>
                <a:lnTo>
                  <a:pt x="365760" y="45720"/>
                </a:lnTo>
                <a:close/>
              </a:path>
              <a:path w="1659890" h="424180">
                <a:moveTo>
                  <a:pt x="365760" y="327660"/>
                </a:moveTo>
                <a:lnTo>
                  <a:pt x="365760" y="89916"/>
                </a:lnTo>
                <a:lnTo>
                  <a:pt x="324612" y="89916"/>
                </a:lnTo>
                <a:lnTo>
                  <a:pt x="324612" y="327660"/>
                </a:lnTo>
                <a:lnTo>
                  <a:pt x="365760" y="327660"/>
                </a:lnTo>
                <a:close/>
              </a:path>
              <a:path w="1659890" h="424180">
                <a:moveTo>
                  <a:pt x="577596" y="208788"/>
                </a:moveTo>
                <a:lnTo>
                  <a:pt x="577596" y="166116"/>
                </a:lnTo>
                <a:lnTo>
                  <a:pt x="576072" y="169164"/>
                </a:lnTo>
                <a:lnTo>
                  <a:pt x="576072" y="176784"/>
                </a:lnTo>
                <a:lnTo>
                  <a:pt x="563880" y="179832"/>
                </a:lnTo>
                <a:lnTo>
                  <a:pt x="547116" y="184404"/>
                </a:lnTo>
                <a:lnTo>
                  <a:pt x="527304" y="187452"/>
                </a:lnTo>
                <a:lnTo>
                  <a:pt x="504444" y="190500"/>
                </a:lnTo>
                <a:lnTo>
                  <a:pt x="483108" y="193548"/>
                </a:lnTo>
                <a:lnTo>
                  <a:pt x="438912" y="208788"/>
                </a:lnTo>
                <a:lnTo>
                  <a:pt x="413004" y="246888"/>
                </a:lnTo>
                <a:lnTo>
                  <a:pt x="411480" y="263652"/>
                </a:lnTo>
                <a:lnTo>
                  <a:pt x="411480" y="277368"/>
                </a:lnTo>
                <a:lnTo>
                  <a:pt x="431292" y="312420"/>
                </a:lnTo>
                <a:lnTo>
                  <a:pt x="454152" y="325120"/>
                </a:lnTo>
                <a:lnTo>
                  <a:pt x="454152" y="252984"/>
                </a:lnTo>
                <a:lnTo>
                  <a:pt x="458724" y="243840"/>
                </a:lnTo>
                <a:lnTo>
                  <a:pt x="466344" y="236220"/>
                </a:lnTo>
                <a:lnTo>
                  <a:pt x="481584" y="228600"/>
                </a:lnTo>
                <a:lnTo>
                  <a:pt x="489204" y="227076"/>
                </a:lnTo>
                <a:lnTo>
                  <a:pt x="498348" y="225552"/>
                </a:lnTo>
                <a:lnTo>
                  <a:pt x="510540" y="222504"/>
                </a:lnTo>
                <a:lnTo>
                  <a:pt x="531876" y="219456"/>
                </a:lnTo>
                <a:lnTo>
                  <a:pt x="548640" y="216408"/>
                </a:lnTo>
                <a:lnTo>
                  <a:pt x="563880" y="211836"/>
                </a:lnTo>
                <a:lnTo>
                  <a:pt x="577596" y="208788"/>
                </a:lnTo>
                <a:close/>
              </a:path>
              <a:path w="1659890" h="424180">
                <a:moveTo>
                  <a:pt x="629412" y="327660"/>
                </a:moveTo>
                <a:lnTo>
                  <a:pt x="623316" y="312420"/>
                </a:lnTo>
                <a:lnTo>
                  <a:pt x="618744" y="297180"/>
                </a:lnTo>
                <a:lnTo>
                  <a:pt x="617220" y="288036"/>
                </a:lnTo>
                <a:lnTo>
                  <a:pt x="617220" y="173736"/>
                </a:lnTo>
                <a:lnTo>
                  <a:pt x="615696" y="161544"/>
                </a:lnTo>
                <a:lnTo>
                  <a:pt x="615696" y="143256"/>
                </a:lnTo>
                <a:lnTo>
                  <a:pt x="614172" y="137160"/>
                </a:lnTo>
                <a:lnTo>
                  <a:pt x="589788" y="100584"/>
                </a:lnTo>
                <a:lnTo>
                  <a:pt x="551688" y="86868"/>
                </a:lnTo>
                <a:lnTo>
                  <a:pt x="524256" y="85344"/>
                </a:lnTo>
                <a:lnTo>
                  <a:pt x="495300" y="86868"/>
                </a:lnTo>
                <a:lnTo>
                  <a:pt x="449580" y="103632"/>
                </a:lnTo>
                <a:lnTo>
                  <a:pt x="423672" y="135636"/>
                </a:lnTo>
                <a:lnTo>
                  <a:pt x="417576" y="158496"/>
                </a:lnTo>
                <a:lnTo>
                  <a:pt x="458724" y="164592"/>
                </a:lnTo>
                <a:lnTo>
                  <a:pt x="461772" y="152400"/>
                </a:lnTo>
                <a:lnTo>
                  <a:pt x="466344" y="141732"/>
                </a:lnTo>
                <a:lnTo>
                  <a:pt x="505968" y="118872"/>
                </a:lnTo>
                <a:lnTo>
                  <a:pt x="533400" y="118872"/>
                </a:lnTo>
                <a:lnTo>
                  <a:pt x="569976" y="137160"/>
                </a:lnTo>
                <a:lnTo>
                  <a:pt x="577596" y="166116"/>
                </a:lnTo>
                <a:lnTo>
                  <a:pt x="577596" y="300736"/>
                </a:lnTo>
                <a:lnTo>
                  <a:pt x="580644" y="298704"/>
                </a:lnTo>
                <a:lnTo>
                  <a:pt x="582168" y="313944"/>
                </a:lnTo>
                <a:lnTo>
                  <a:pt x="588264" y="327660"/>
                </a:lnTo>
                <a:lnTo>
                  <a:pt x="629412" y="327660"/>
                </a:lnTo>
                <a:close/>
              </a:path>
              <a:path w="1659890" h="424180">
                <a:moveTo>
                  <a:pt x="577596" y="300736"/>
                </a:moveTo>
                <a:lnTo>
                  <a:pt x="577596" y="208788"/>
                </a:lnTo>
                <a:lnTo>
                  <a:pt x="576072" y="222504"/>
                </a:lnTo>
                <a:lnTo>
                  <a:pt x="576072" y="234696"/>
                </a:lnTo>
                <a:lnTo>
                  <a:pt x="574548" y="245364"/>
                </a:lnTo>
                <a:lnTo>
                  <a:pt x="544068" y="289560"/>
                </a:lnTo>
                <a:lnTo>
                  <a:pt x="501396" y="300228"/>
                </a:lnTo>
                <a:lnTo>
                  <a:pt x="481584" y="297180"/>
                </a:lnTo>
                <a:lnTo>
                  <a:pt x="466344" y="289560"/>
                </a:lnTo>
                <a:lnTo>
                  <a:pt x="460248" y="283464"/>
                </a:lnTo>
                <a:lnTo>
                  <a:pt x="457200" y="277368"/>
                </a:lnTo>
                <a:lnTo>
                  <a:pt x="454152" y="269748"/>
                </a:lnTo>
                <a:lnTo>
                  <a:pt x="454152" y="325120"/>
                </a:lnTo>
                <a:lnTo>
                  <a:pt x="457200" y="326136"/>
                </a:lnTo>
                <a:lnTo>
                  <a:pt x="473964" y="330708"/>
                </a:lnTo>
                <a:lnTo>
                  <a:pt x="492252" y="332232"/>
                </a:lnTo>
                <a:lnTo>
                  <a:pt x="515112" y="329184"/>
                </a:lnTo>
                <a:lnTo>
                  <a:pt x="536448" y="324612"/>
                </a:lnTo>
                <a:lnTo>
                  <a:pt x="557784" y="313944"/>
                </a:lnTo>
                <a:lnTo>
                  <a:pt x="577596" y="300736"/>
                </a:lnTo>
                <a:close/>
              </a:path>
              <a:path w="1659890" h="424180">
                <a:moveTo>
                  <a:pt x="870204" y="320040"/>
                </a:moveTo>
                <a:lnTo>
                  <a:pt x="870204" y="89916"/>
                </a:lnTo>
                <a:lnTo>
                  <a:pt x="833628" y="89916"/>
                </a:lnTo>
                <a:lnTo>
                  <a:pt x="833628" y="120396"/>
                </a:lnTo>
                <a:lnTo>
                  <a:pt x="819912" y="105156"/>
                </a:lnTo>
                <a:lnTo>
                  <a:pt x="803148" y="92964"/>
                </a:lnTo>
                <a:lnTo>
                  <a:pt x="784860" y="86868"/>
                </a:lnTo>
                <a:lnTo>
                  <a:pt x="765048" y="85344"/>
                </a:lnTo>
                <a:lnTo>
                  <a:pt x="749808" y="85344"/>
                </a:lnTo>
                <a:lnTo>
                  <a:pt x="710184" y="100584"/>
                </a:lnTo>
                <a:lnTo>
                  <a:pt x="681228" y="131064"/>
                </a:lnTo>
                <a:lnTo>
                  <a:pt x="664464" y="175260"/>
                </a:lnTo>
                <a:lnTo>
                  <a:pt x="661416" y="207264"/>
                </a:lnTo>
                <a:lnTo>
                  <a:pt x="664464" y="231648"/>
                </a:lnTo>
                <a:lnTo>
                  <a:pt x="669036" y="252984"/>
                </a:lnTo>
                <a:lnTo>
                  <a:pt x="676656" y="272796"/>
                </a:lnTo>
                <a:lnTo>
                  <a:pt x="688848" y="291084"/>
                </a:lnTo>
                <a:lnTo>
                  <a:pt x="702564" y="306171"/>
                </a:lnTo>
                <a:lnTo>
                  <a:pt x="702564" y="204216"/>
                </a:lnTo>
                <a:lnTo>
                  <a:pt x="704088" y="184404"/>
                </a:lnTo>
                <a:lnTo>
                  <a:pt x="722376" y="140208"/>
                </a:lnTo>
                <a:lnTo>
                  <a:pt x="754380" y="118872"/>
                </a:lnTo>
                <a:lnTo>
                  <a:pt x="780288" y="118872"/>
                </a:lnTo>
                <a:lnTo>
                  <a:pt x="813816" y="140208"/>
                </a:lnTo>
                <a:lnTo>
                  <a:pt x="832104" y="185928"/>
                </a:lnTo>
                <a:lnTo>
                  <a:pt x="832104" y="404513"/>
                </a:lnTo>
                <a:lnTo>
                  <a:pt x="835152" y="402336"/>
                </a:lnTo>
                <a:lnTo>
                  <a:pt x="864108" y="359664"/>
                </a:lnTo>
                <a:lnTo>
                  <a:pt x="868680" y="341376"/>
                </a:lnTo>
                <a:lnTo>
                  <a:pt x="870204" y="320040"/>
                </a:lnTo>
                <a:close/>
              </a:path>
              <a:path w="1659890" h="424180">
                <a:moveTo>
                  <a:pt x="829056" y="406690"/>
                </a:moveTo>
                <a:lnTo>
                  <a:pt x="829056" y="329184"/>
                </a:lnTo>
                <a:lnTo>
                  <a:pt x="827532" y="339852"/>
                </a:lnTo>
                <a:lnTo>
                  <a:pt x="827532" y="347472"/>
                </a:lnTo>
                <a:lnTo>
                  <a:pt x="819912" y="365760"/>
                </a:lnTo>
                <a:lnTo>
                  <a:pt x="806196" y="377952"/>
                </a:lnTo>
                <a:lnTo>
                  <a:pt x="798576" y="384048"/>
                </a:lnTo>
                <a:lnTo>
                  <a:pt x="789432" y="387096"/>
                </a:lnTo>
                <a:lnTo>
                  <a:pt x="765048" y="390144"/>
                </a:lnTo>
                <a:lnTo>
                  <a:pt x="742188" y="387096"/>
                </a:lnTo>
                <a:lnTo>
                  <a:pt x="723900" y="377952"/>
                </a:lnTo>
                <a:lnTo>
                  <a:pt x="714756" y="367284"/>
                </a:lnTo>
                <a:lnTo>
                  <a:pt x="710184" y="352044"/>
                </a:lnTo>
                <a:lnTo>
                  <a:pt x="669036" y="345948"/>
                </a:lnTo>
                <a:lnTo>
                  <a:pt x="684276" y="393192"/>
                </a:lnTo>
                <a:lnTo>
                  <a:pt x="725424" y="417576"/>
                </a:lnTo>
                <a:lnTo>
                  <a:pt x="763524" y="423672"/>
                </a:lnTo>
                <a:lnTo>
                  <a:pt x="780288" y="422148"/>
                </a:lnTo>
                <a:lnTo>
                  <a:pt x="797052" y="419100"/>
                </a:lnTo>
                <a:lnTo>
                  <a:pt x="810768" y="416052"/>
                </a:lnTo>
                <a:lnTo>
                  <a:pt x="824484" y="409956"/>
                </a:lnTo>
                <a:lnTo>
                  <a:pt x="829056" y="406690"/>
                </a:lnTo>
                <a:close/>
              </a:path>
              <a:path w="1659890" h="424180">
                <a:moveTo>
                  <a:pt x="832104" y="404513"/>
                </a:moveTo>
                <a:lnTo>
                  <a:pt x="832104" y="227076"/>
                </a:lnTo>
                <a:lnTo>
                  <a:pt x="827532" y="245364"/>
                </a:lnTo>
                <a:lnTo>
                  <a:pt x="822960" y="260604"/>
                </a:lnTo>
                <a:lnTo>
                  <a:pt x="794004" y="288036"/>
                </a:lnTo>
                <a:lnTo>
                  <a:pt x="768096" y="294132"/>
                </a:lnTo>
                <a:lnTo>
                  <a:pt x="754380" y="292608"/>
                </a:lnTo>
                <a:lnTo>
                  <a:pt x="713232" y="260604"/>
                </a:lnTo>
                <a:lnTo>
                  <a:pt x="702564" y="204216"/>
                </a:lnTo>
                <a:lnTo>
                  <a:pt x="702564" y="306171"/>
                </a:lnTo>
                <a:lnTo>
                  <a:pt x="704088" y="307848"/>
                </a:lnTo>
                <a:lnTo>
                  <a:pt x="720852" y="318516"/>
                </a:lnTo>
                <a:lnTo>
                  <a:pt x="740664" y="324612"/>
                </a:lnTo>
                <a:lnTo>
                  <a:pt x="763524" y="327660"/>
                </a:lnTo>
                <a:lnTo>
                  <a:pt x="783336" y="324612"/>
                </a:lnTo>
                <a:lnTo>
                  <a:pt x="800100" y="320040"/>
                </a:lnTo>
                <a:lnTo>
                  <a:pt x="815340" y="310896"/>
                </a:lnTo>
                <a:lnTo>
                  <a:pt x="829056" y="298704"/>
                </a:lnTo>
                <a:lnTo>
                  <a:pt x="829056" y="406690"/>
                </a:lnTo>
                <a:lnTo>
                  <a:pt x="832104" y="404513"/>
                </a:lnTo>
                <a:close/>
              </a:path>
              <a:path w="1659890" h="424180">
                <a:moveTo>
                  <a:pt x="1060704" y="97536"/>
                </a:moveTo>
                <a:lnTo>
                  <a:pt x="1039368" y="88392"/>
                </a:lnTo>
                <a:lnTo>
                  <a:pt x="1019556" y="85344"/>
                </a:lnTo>
                <a:lnTo>
                  <a:pt x="1005840" y="86868"/>
                </a:lnTo>
                <a:lnTo>
                  <a:pt x="975360" y="114300"/>
                </a:lnTo>
                <a:lnTo>
                  <a:pt x="969264" y="124968"/>
                </a:lnTo>
                <a:lnTo>
                  <a:pt x="969264" y="89916"/>
                </a:lnTo>
                <a:lnTo>
                  <a:pt x="934212" y="89916"/>
                </a:lnTo>
                <a:lnTo>
                  <a:pt x="934212" y="327660"/>
                </a:lnTo>
                <a:lnTo>
                  <a:pt x="975360" y="327660"/>
                </a:lnTo>
                <a:lnTo>
                  <a:pt x="975360" y="202692"/>
                </a:lnTo>
                <a:lnTo>
                  <a:pt x="976884" y="178308"/>
                </a:lnTo>
                <a:lnTo>
                  <a:pt x="995172" y="134112"/>
                </a:lnTo>
                <a:lnTo>
                  <a:pt x="1018032" y="126492"/>
                </a:lnTo>
                <a:lnTo>
                  <a:pt x="1031748" y="128016"/>
                </a:lnTo>
                <a:lnTo>
                  <a:pt x="1045464" y="134112"/>
                </a:lnTo>
                <a:lnTo>
                  <a:pt x="1060704" y="97536"/>
                </a:lnTo>
                <a:close/>
              </a:path>
              <a:path w="1659890" h="424180">
                <a:moveTo>
                  <a:pt x="1239012" y="208788"/>
                </a:moveTo>
                <a:lnTo>
                  <a:pt x="1239012" y="166116"/>
                </a:lnTo>
                <a:lnTo>
                  <a:pt x="1237488" y="169164"/>
                </a:lnTo>
                <a:lnTo>
                  <a:pt x="1237488" y="176784"/>
                </a:lnTo>
                <a:lnTo>
                  <a:pt x="1225296" y="179832"/>
                </a:lnTo>
                <a:lnTo>
                  <a:pt x="1208532" y="184404"/>
                </a:lnTo>
                <a:lnTo>
                  <a:pt x="1188720" y="187452"/>
                </a:lnTo>
                <a:lnTo>
                  <a:pt x="1165860" y="190500"/>
                </a:lnTo>
                <a:lnTo>
                  <a:pt x="1144524" y="193548"/>
                </a:lnTo>
                <a:lnTo>
                  <a:pt x="1100328" y="208788"/>
                </a:lnTo>
                <a:lnTo>
                  <a:pt x="1074420" y="246888"/>
                </a:lnTo>
                <a:lnTo>
                  <a:pt x="1072896" y="263652"/>
                </a:lnTo>
                <a:lnTo>
                  <a:pt x="1072896" y="277368"/>
                </a:lnTo>
                <a:lnTo>
                  <a:pt x="1092708" y="312420"/>
                </a:lnTo>
                <a:lnTo>
                  <a:pt x="1115568" y="325120"/>
                </a:lnTo>
                <a:lnTo>
                  <a:pt x="1115568" y="252984"/>
                </a:lnTo>
                <a:lnTo>
                  <a:pt x="1120140" y="243840"/>
                </a:lnTo>
                <a:lnTo>
                  <a:pt x="1127760" y="236220"/>
                </a:lnTo>
                <a:lnTo>
                  <a:pt x="1143000" y="228600"/>
                </a:lnTo>
                <a:lnTo>
                  <a:pt x="1150620" y="227076"/>
                </a:lnTo>
                <a:lnTo>
                  <a:pt x="1159764" y="225552"/>
                </a:lnTo>
                <a:lnTo>
                  <a:pt x="1171956" y="222504"/>
                </a:lnTo>
                <a:lnTo>
                  <a:pt x="1193292" y="219456"/>
                </a:lnTo>
                <a:lnTo>
                  <a:pt x="1210056" y="216408"/>
                </a:lnTo>
                <a:lnTo>
                  <a:pt x="1225296" y="211836"/>
                </a:lnTo>
                <a:lnTo>
                  <a:pt x="1239012" y="208788"/>
                </a:lnTo>
                <a:close/>
              </a:path>
              <a:path w="1659890" h="424180">
                <a:moveTo>
                  <a:pt x="1290828" y="327660"/>
                </a:moveTo>
                <a:lnTo>
                  <a:pt x="1284732" y="312420"/>
                </a:lnTo>
                <a:lnTo>
                  <a:pt x="1280160" y="297180"/>
                </a:lnTo>
                <a:lnTo>
                  <a:pt x="1278636" y="288036"/>
                </a:lnTo>
                <a:lnTo>
                  <a:pt x="1278636" y="173736"/>
                </a:lnTo>
                <a:lnTo>
                  <a:pt x="1277112" y="161544"/>
                </a:lnTo>
                <a:lnTo>
                  <a:pt x="1277112" y="143256"/>
                </a:lnTo>
                <a:lnTo>
                  <a:pt x="1275588" y="137160"/>
                </a:lnTo>
                <a:lnTo>
                  <a:pt x="1251204" y="100584"/>
                </a:lnTo>
                <a:lnTo>
                  <a:pt x="1213104" y="86868"/>
                </a:lnTo>
                <a:lnTo>
                  <a:pt x="1185672" y="85344"/>
                </a:lnTo>
                <a:lnTo>
                  <a:pt x="1156716" y="86868"/>
                </a:lnTo>
                <a:lnTo>
                  <a:pt x="1110996" y="103632"/>
                </a:lnTo>
                <a:lnTo>
                  <a:pt x="1085088" y="135636"/>
                </a:lnTo>
                <a:lnTo>
                  <a:pt x="1078992" y="158496"/>
                </a:lnTo>
                <a:lnTo>
                  <a:pt x="1120140" y="164592"/>
                </a:lnTo>
                <a:lnTo>
                  <a:pt x="1123188" y="152400"/>
                </a:lnTo>
                <a:lnTo>
                  <a:pt x="1127760" y="141732"/>
                </a:lnTo>
                <a:lnTo>
                  <a:pt x="1167384" y="118872"/>
                </a:lnTo>
                <a:lnTo>
                  <a:pt x="1194816" y="118872"/>
                </a:lnTo>
                <a:lnTo>
                  <a:pt x="1231392" y="137160"/>
                </a:lnTo>
                <a:lnTo>
                  <a:pt x="1239012" y="166116"/>
                </a:lnTo>
                <a:lnTo>
                  <a:pt x="1239012" y="300736"/>
                </a:lnTo>
                <a:lnTo>
                  <a:pt x="1242060" y="298704"/>
                </a:lnTo>
                <a:lnTo>
                  <a:pt x="1243584" y="313944"/>
                </a:lnTo>
                <a:lnTo>
                  <a:pt x="1249680" y="327660"/>
                </a:lnTo>
                <a:lnTo>
                  <a:pt x="1290828" y="327660"/>
                </a:lnTo>
                <a:close/>
              </a:path>
              <a:path w="1659890" h="424180">
                <a:moveTo>
                  <a:pt x="1239012" y="300736"/>
                </a:moveTo>
                <a:lnTo>
                  <a:pt x="1239012" y="208788"/>
                </a:lnTo>
                <a:lnTo>
                  <a:pt x="1237488" y="222504"/>
                </a:lnTo>
                <a:lnTo>
                  <a:pt x="1237488" y="234696"/>
                </a:lnTo>
                <a:lnTo>
                  <a:pt x="1235964" y="245364"/>
                </a:lnTo>
                <a:lnTo>
                  <a:pt x="1205484" y="289560"/>
                </a:lnTo>
                <a:lnTo>
                  <a:pt x="1162812" y="300228"/>
                </a:lnTo>
                <a:lnTo>
                  <a:pt x="1143000" y="297180"/>
                </a:lnTo>
                <a:lnTo>
                  <a:pt x="1127760" y="289560"/>
                </a:lnTo>
                <a:lnTo>
                  <a:pt x="1121664" y="283464"/>
                </a:lnTo>
                <a:lnTo>
                  <a:pt x="1118616" y="277368"/>
                </a:lnTo>
                <a:lnTo>
                  <a:pt x="1115568" y="269748"/>
                </a:lnTo>
                <a:lnTo>
                  <a:pt x="1115568" y="325120"/>
                </a:lnTo>
                <a:lnTo>
                  <a:pt x="1118616" y="326136"/>
                </a:lnTo>
                <a:lnTo>
                  <a:pt x="1135380" y="330708"/>
                </a:lnTo>
                <a:lnTo>
                  <a:pt x="1153668" y="332232"/>
                </a:lnTo>
                <a:lnTo>
                  <a:pt x="1176528" y="329184"/>
                </a:lnTo>
                <a:lnTo>
                  <a:pt x="1197864" y="324612"/>
                </a:lnTo>
                <a:lnTo>
                  <a:pt x="1219200" y="313944"/>
                </a:lnTo>
                <a:lnTo>
                  <a:pt x="1239012" y="300736"/>
                </a:lnTo>
                <a:close/>
              </a:path>
              <a:path w="1659890" h="424180">
                <a:moveTo>
                  <a:pt x="1659636" y="327660"/>
                </a:moveTo>
                <a:lnTo>
                  <a:pt x="1659636" y="144780"/>
                </a:lnTo>
                <a:lnTo>
                  <a:pt x="1655064" y="129540"/>
                </a:lnTo>
                <a:lnTo>
                  <a:pt x="1630680" y="96012"/>
                </a:lnTo>
                <a:lnTo>
                  <a:pt x="1603248" y="85344"/>
                </a:lnTo>
                <a:lnTo>
                  <a:pt x="1586484" y="85344"/>
                </a:lnTo>
                <a:lnTo>
                  <a:pt x="1565148" y="86868"/>
                </a:lnTo>
                <a:lnTo>
                  <a:pt x="1545336" y="94488"/>
                </a:lnTo>
                <a:lnTo>
                  <a:pt x="1528572" y="108204"/>
                </a:lnTo>
                <a:lnTo>
                  <a:pt x="1513332" y="126492"/>
                </a:lnTo>
                <a:lnTo>
                  <a:pt x="1504188" y="108204"/>
                </a:lnTo>
                <a:lnTo>
                  <a:pt x="1490472" y="96012"/>
                </a:lnTo>
                <a:lnTo>
                  <a:pt x="1470660" y="86868"/>
                </a:lnTo>
                <a:lnTo>
                  <a:pt x="1446276" y="85344"/>
                </a:lnTo>
                <a:lnTo>
                  <a:pt x="1424940" y="86868"/>
                </a:lnTo>
                <a:lnTo>
                  <a:pt x="1405128" y="96012"/>
                </a:lnTo>
                <a:lnTo>
                  <a:pt x="1388364" y="108204"/>
                </a:lnTo>
                <a:lnTo>
                  <a:pt x="1374648" y="123444"/>
                </a:lnTo>
                <a:lnTo>
                  <a:pt x="1374648" y="89916"/>
                </a:lnTo>
                <a:lnTo>
                  <a:pt x="1338072" y="89916"/>
                </a:lnTo>
                <a:lnTo>
                  <a:pt x="1338072" y="327660"/>
                </a:lnTo>
                <a:lnTo>
                  <a:pt x="1379220" y="327660"/>
                </a:lnTo>
                <a:lnTo>
                  <a:pt x="1379220" y="204216"/>
                </a:lnTo>
                <a:lnTo>
                  <a:pt x="1380744" y="188976"/>
                </a:lnTo>
                <a:lnTo>
                  <a:pt x="1380744" y="175260"/>
                </a:lnTo>
                <a:lnTo>
                  <a:pt x="1383792" y="164592"/>
                </a:lnTo>
                <a:lnTo>
                  <a:pt x="1385316" y="155448"/>
                </a:lnTo>
                <a:lnTo>
                  <a:pt x="1394460" y="140208"/>
                </a:lnTo>
                <a:lnTo>
                  <a:pt x="1406652" y="128016"/>
                </a:lnTo>
                <a:lnTo>
                  <a:pt x="1421892" y="121920"/>
                </a:lnTo>
                <a:lnTo>
                  <a:pt x="1437132" y="120396"/>
                </a:lnTo>
                <a:lnTo>
                  <a:pt x="1447800" y="120396"/>
                </a:lnTo>
                <a:lnTo>
                  <a:pt x="1476756" y="149352"/>
                </a:lnTo>
                <a:lnTo>
                  <a:pt x="1478280" y="160020"/>
                </a:lnTo>
                <a:lnTo>
                  <a:pt x="1478280" y="327660"/>
                </a:lnTo>
                <a:lnTo>
                  <a:pt x="1519428" y="327660"/>
                </a:lnTo>
                <a:lnTo>
                  <a:pt x="1519428" y="188976"/>
                </a:lnTo>
                <a:lnTo>
                  <a:pt x="1520952" y="172212"/>
                </a:lnTo>
                <a:lnTo>
                  <a:pt x="1536192" y="135636"/>
                </a:lnTo>
                <a:lnTo>
                  <a:pt x="1565148" y="120396"/>
                </a:lnTo>
                <a:lnTo>
                  <a:pt x="1577340" y="120396"/>
                </a:lnTo>
                <a:lnTo>
                  <a:pt x="1615440" y="143256"/>
                </a:lnTo>
                <a:lnTo>
                  <a:pt x="1618488" y="156972"/>
                </a:lnTo>
                <a:lnTo>
                  <a:pt x="1618488" y="327660"/>
                </a:lnTo>
                <a:lnTo>
                  <a:pt x="1659636" y="327660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131C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4576" y="3664140"/>
            <a:ext cx="1849246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131C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83520" y="6754938"/>
            <a:ext cx="2500629" cy="436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4717" y="6754938"/>
            <a:ext cx="374015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eeksforgeeks.org/convex-polygon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orientation-3-ordered-points/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orientation-3-ordered-points/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56.png"/><Relationship Id="rId4" Type="http://schemas.openxmlformats.org/officeDocument/2006/relationships/image" Target="../media/image7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971800" y="3733800"/>
            <a:ext cx="6425565" cy="100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93345" algn="ctr">
              <a:lnSpc>
                <a:spcPct val="120400"/>
              </a:lnSpc>
              <a:spcBef>
                <a:spcPts val="100"/>
              </a:spcBef>
            </a:pPr>
            <a:r>
              <a:rPr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Convex </a:t>
            </a:r>
            <a:r>
              <a:rPr sz="2800" b="1" spc="-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Hull</a:t>
            </a:r>
            <a:endParaRPr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MT"/>
              <a:cs typeface="Arial MT"/>
            </a:endParaRPr>
          </a:p>
          <a:p>
            <a:pPr marL="12065" marR="5080" algn="ctr">
              <a:lnSpc>
                <a:spcPts val="4040"/>
              </a:lnSpc>
              <a:spcBef>
                <a:spcPts val="95"/>
              </a:spcBef>
            </a:pPr>
            <a:r>
              <a:rPr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Line</a:t>
            </a:r>
            <a:r>
              <a:rPr sz="2800" b="1" spc="-4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Segment</a:t>
            </a:r>
            <a:r>
              <a:rPr sz="2800" b="1" spc="-3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Intersection </a:t>
            </a:r>
            <a:r>
              <a:rPr sz="2800" b="1" spc="-76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MT"/>
                <a:cs typeface="Arial MT"/>
              </a:rPr>
              <a:t> </a:t>
            </a:r>
            <a:endParaRPr lang="en-IN" sz="2800" b="1" spc="-76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MT"/>
              <a:cs typeface="Arial 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E64B0-875E-4F60-FCED-84313AC67A72}"/>
              </a:ext>
            </a:extLst>
          </p:cNvPr>
          <p:cNvSpPr/>
          <p:nvPr/>
        </p:nvSpPr>
        <p:spPr>
          <a:xfrm>
            <a:off x="685800" y="609600"/>
            <a:ext cx="7663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Computational Geometry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383" y="381000"/>
            <a:ext cx="4352544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63" y="2086800"/>
            <a:ext cx="8754437" cy="28866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00200"/>
              </a:lnSpc>
              <a:spcBef>
                <a:spcPts val="90"/>
              </a:spcBef>
              <a:buChar char="•"/>
              <a:tabLst>
                <a:tab pos="354965" algn="l"/>
                <a:tab pos="35623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Algorithms about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points,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lines,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planes, 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polygons, triangles, rectangles and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other </a:t>
            </a:r>
            <a:r>
              <a:rPr sz="2400" spc="-7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geometric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objects.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623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Applications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in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many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fields</a:t>
            </a:r>
          </a:p>
          <a:p>
            <a:pPr marL="756285" marR="375920" lvl="1" indent="-287020">
              <a:lnSpc>
                <a:spcPts val="2870"/>
              </a:lnSpc>
              <a:spcBef>
                <a:spcPts val="685"/>
              </a:spcBef>
              <a:buChar char="–"/>
              <a:tabLst>
                <a:tab pos="756920" algn="l"/>
              </a:tabLst>
            </a:pPr>
            <a:r>
              <a:rPr sz="2400" spc="-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robotics,</a:t>
            </a:r>
            <a:r>
              <a:rPr sz="2400" spc="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graphics,</a:t>
            </a:r>
            <a:r>
              <a:rPr sz="2400" spc="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CAD/CAM,</a:t>
            </a:r>
            <a:r>
              <a:rPr sz="2400" spc="1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geographic </a:t>
            </a:r>
            <a:r>
              <a:rPr sz="2400" spc="-655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systems,</a:t>
            </a:r>
          </a:p>
          <a:p>
            <a:pPr marL="355600" indent="-343535">
              <a:lnSpc>
                <a:spcPct val="100000"/>
              </a:lnSpc>
              <a:spcBef>
                <a:spcPts val="585"/>
              </a:spcBef>
              <a:buChar char="•"/>
              <a:tabLst>
                <a:tab pos="354965" algn="l"/>
                <a:tab pos="35623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have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done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some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already</a:t>
            </a:r>
          </a:p>
          <a:p>
            <a:pPr marL="7562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56920" algn="l"/>
              </a:tabLst>
            </a:pPr>
            <a:r>
              <a:rPr sz="2000" spc="-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Euclidian</a:t>
            </a:r>
            <a:r>
              <a:rPr sz="2000" spc="-1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traveling</a:t>
            </a:r>
            <a:r>
              <a:rPr sz="2000" spc="-1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salesman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000" spc="-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Nearest</a:t>
            </a:r>
            <a:r>
              <a:rPr sz="2000" spc="-2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neighbors</a:t>
            </a:r>
            <a:endParaRPr sz="2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C11A25-55AC-A94C-9B6A-03DFC9D773F0}"/>
              </a:ext>
            </a:extLst>
          </p:cNvPr>
          <p:cNvSpPr txBox="1"/>
          <p:nvPr/>
        </p:nvSpPr>
        <p:spPr>
          <a:xfrm>
            <a:off x="457200" y="1447800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convex hull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the smallest convex polygon that contains a given set of points.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is a useful concept in computational geometry and has applications in various fields such as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computer graphics, image processing, and collision detection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9EB12-4FC1-402A-08FF-BBD6EB5C7560}"/>
              </a:ext>
            </a:extLst>
          </p:cNvPr>
          <p:cNvSpPr/>
          <p:nvPr/>
        </p:nvSpPr>
        <p:spPr>
          <a:xfrm>
            <a:off x="167949" y="14868"/>
            <a:ext cx="50131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Convex Hull – 2D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1C748-04E0-C15A-A8FB-B3446956784A}"/>
              </a:ext>
            </a:extLst>
          </p:cNvPr>
          <p:cNvSpPr txBox="1"/>
          <p:nvPr/>
        </p:nvSpPr>
        <p:spPr>
          <a:xfrm>
            <a:off x="609600" y="28956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 </a:t>
            </a:r>
            <a:r>
              <a:rPr lang="en-US" b="1" i="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convex polygon</a:t>
            </a:r>
            <a:r>
              <a:rPr lang="en-US" b="1" i="0" dirty="0">
                <a:solidFill>
                  <a:srgbClr val="2732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is a polygon in which all interior angles are less than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180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degrees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 A convex hull can be constructed for any set of points, regardless of their arrangement.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25AF0-F8BF-075E-E4AF-803D11E04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889917"/>
            <a:ext cx="65913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4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47702" y="2865516"/>
            <a:ext cx="5591842" cy="2787539"/>
            <a:chOff x="2845700" y="2191807"/>
            <a:chExt cx="6777990" cy="33788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0" y="4679420"/>
              <a:ext cx="227858" cy="227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60" y="5342360"/>
              <a:ext cx="227858" cy="2278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1244" y="2210857"/>
              <a:ext cx="2630170" cy="40640"/>
            </a:xfrm>
            <a:custGeom>
              <a:avLst/>
              <a:gdLst/>
              <a:ahLst/>
              <a:cxnLst/>
              <a:rect l="l" t="t" r="r" b="b"/>
              <a:pathLst>
                <a:path w="2630170" h="40639">
                  <a:moveTo>
                    <a:pt x="0" y="0"/>
                  </a:moveTo>
                  <a:lnTo>
                    <a:pt x="2629794" y="4046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5309" y="2210857"/>
              <a:ext cx="1408430" cy="788035"/>
            </a:xfrm>
            <a:custGeom>
              <a:avLst/>
              <a:gdLst/>
              <a:ahLst/>
              <a:cxnLst/>
              <a:rect l="l" t="t" r="r" b="b"/>
              <a:pathLst>
                <a:path w="1408429" h="788035">
                  <a:moveTo>
                    <a:pt x="1408075" y="0"/>
                  </a:moveTo>
                  <a:lnTo>
                    <a:pt x="0" y="78743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4039" y="2299068"/>
            <a:ext cx="2886551" cy="611562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31433" marR="25146">
              <a:lnSpc>
                <a:spcPct val="100800"/>
              </a:lnSpc>
              <a:spcBef>
                <a:spcPts val="62"/>
              </a:spcBef>
            </a:pPr>
            <a:r>
              <a:rPr sz="1980" b="1" spc="-17" dirty="0">
                <a:latin typeface="Calibri"/>
                <a:cs typeface="Calibri"/>
              </a:rPr>
              <a:t>Convex </a:t>
            </a:r>
            <a:r>
              <a:rPr sz="1980" b="1" spc="-8" dirty="0">
                <a:latin typeface="Calibri"/>
                <a:cs typeface="Calibri"/>
              </a:rPr>
              <a:t>polygon: </a:t>
            </a:r>
            <a:r>
              <a:rPr sz="1980" spc="-4" dirty="0">
                <a:latin typeface="Calibri"/>
                <a:cs typeface="Calibri"/>
              </a:rPr>
              <a:t>all </a:t>
            </a:r>
            <a:r>
              <a:rPr sz="1980" spc="-8" dirty="0">
                <a:latin typeface="Calibri"/>
                <a:cs typeface="Calibri"/>
              </a:rPr>
              <a:t>interior </a:t>
            </a:r>
            <a:r>
              <a:rPr sz="1980" spc="-43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angles</a:t>
            </a:r>
            <a:r>
              <a:rPr sz="1980" spc="-12" dirty="0">
                <a:latin typeface="Calibri"/>
                <a:cs typeface="Calibri"/>
              </a:rPr>
              <a:t> are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less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than </a:t>
            </a:r>
            <a:r>
              <a:rPr sz="1980" spc="-4" dirty="0">
                <a:latin typeface="Cambria Math"/>
                <a:cs typeface="Cambria Math"/>
              </a:rPr>
              <a:t>180</a:t>
            </a:r>
            <a:r>
              <a:rPr sz="2228" spc="-6" baseline="27777" dirty="0">
                <a:latin typeface="Cambria Math"/>
                <a:cs typeface="Cambria Math"/>
              </a:rPr>
              <a:t>∘</a:t>
            </a:r>
            <a:endParaRPr sz="2228" baseline="2777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62504" y="2299068"/>
            <a:ext cx="3563398" cy="613550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10478" marR="4191">
              <a:lnSpc>
                <a:spcPct val="100800"/>
              </a:lnSpc>
              <a:spcBef>
                <a:spcPts val="62"/>
              </a:spcBef>
            </a:pPr>
            <a:r>
              <a:rPr sz="1980" b="1" spc="-8" dirty="0">
                <a:solidFill>
                  <a:srgbClr val="ED7D31"/>
                </a:solidFill>
                <a:latin typeface="Calibri"/>
                <a:cs typeface="Calibri"/>
              </a:rPr>
              <a:t>Equivalently: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line 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drawn </a:t>
            </a:r>
            <a:r>
              <a:rPr sz="1980" spc="-8" dirty="0">
                <a:solidFill>
                  <a:srgbClr val="ED7D31"/>
                </a:solidFill>
                <a:latin typeface="Calibri"/>
                <a:cs typeface="Calibri"/>
              </a:rPr>
              <a:t>through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polygon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will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 intersect exactly</a:t>
            </a:r>
            <a:r>
              <a:rPr sz="1980" spc="-8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twice</a:t>
            </a:r>
            <a:endParaRPr sz="198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12620" y="3158861"/>
            <a:ext cx="5169599" cy="1739789"/>
            <a:chOff x="2439540" y="2547377"/>
            <a:chExt cx="6266180" cy="2108835"/>
          </a:xfrm>
        </p:grpSpPr>
        <p:sp>
          <p:nvSpPr>
            <p:cNvPr id="23" name="object 23"/>
            <p:cNvSpPr/>
            <p:nvPr/>
          </p:nvSpPr>
          <p:spPr>
            <a:xfrm>
              <a:off x="2477640" y="2585477"/>
              <a:ext cx="6189980" cy="1223010"/>
            </a:xfrm>
            <a:custGeom>
              <a:avLst/>
              <a:gdLst/>
              <a:ahLst/>
              <a:cxnLst/>
              <a:rect l="l" t="t" r="r" b="b"/>
              <a:pathLst>
                <a:path w="6189980" h="1223010">
                  <a:moveTo>
                    <a:pt x="0" y="1222445"/>
                  </a:moveTo>
                  <a:lnTo>
                    <a:pt x="6189738" y="0"/>
                  </a:lnTo>
                </a:path>
              </a:pathLst>
            </a:custGeom>
            <a:ln w="762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69629" y="5979902"/>
            <a:ext cx="7719822" cy="604188"/>
          </a:xfrm>
          <a:prstGeom prst="rect">
            <a:avLst/>
          </a:prstGeom>
        </p:spPr>
        <p:txBody>
          <a:bodyPr vert="horz" wrap="square" lIns="0" tIns="14145" rIns="0" bIns="0" rtlCol="0">
            <a:spAutoFit/>
          </a:bodyPr>
          <a:lstStyle/>
          <a:p>
            <a:pPr marL="447913" marR="4191" indent="-437960">
              <a:lnSpc>
                <a:spcPts val="2318"/>
              </a:lnSpc>
              <a:spcBef>
                <a:spcPts val="111"/>
              </a:spcBef>
            </a:pPr>
            <a:r>
              <a:rPr sz="1980" b="1" spc="-8" dirty="0">
                <a:latin typeface="Calibri"/>
                <a:cs typeface="Calibri"/>
              </a:rPr>
              <a:t>Problem: </a:t>
            </a:r>
            <a:r>
              <a:rPr sz="1980" spc="-4" dirty="0">
                <a:latin typeface="Calibri"/>
                <a:cs typeface="Calibri"/>
              </a:rPr>
              <a:t>given</a:t>
            </a:r>
            <a:r>
              <a:rPr sz="1980" dirty="0">
                <a:latin typeface="Calibri"/>
                <a:cs typeface="Calibri"/>
              </a:rPr>
              <a:t> a </a:t>
            </a:r>
            <a:r>
              <a:rPr sz="1980" spc="-4" dirty="0">
                <a:latin typeface="Calibri"/>
                <a:cs typeface="Calibri"/>
              </a:rPr>
              <a:t>set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𝑛</a:t>
            </a:r>
            <a:r>
              <a:rPr sz="1980" spc="41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points,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find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smallest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polygon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such </a:t>
            </a:r>
            <a:r>
              <a:rPr sz="1980" spc="-8" dirty="0">
                <a:latin typeface="Calibri"/>
                <a:cs typeface="Calibri"/>
              </a:rPr>
              <a:t>that </a:t>
            </a:r>
            <a:r>
              <a:rPr sz="1980" spc="-433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every</a:t>
            </a:r>
            <a:r>
              <a:rPr sz="1980" spc="-8" dirty="0">
                <a:latin typeface="Calibri"/>
                <a:cs typeface="Calibri"/>
              </a:rPr>
              <a:t> point </a:t>
            </a:r>
            <a:r>
              <a:rPr sz="1980" spc="-4" dirty="0">
                <a:latin typeface="Calibri"/>
                <a:cs typeface="Calibri"/>
              </a:rPr>
              <a:t>is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either</a:t>
            </a:r>
            <a:r>
              <a:rPr sz="1980" spc="-4" dirty="0">
                <a:latin typeface="Calibri"/>
                <a:cs typeface="Calibri"/>
              </a:rPr>
              <a:t> on the</a:t>
            </a:r>
            <a:r>
              <a:rPr sz="1980" dirty="0">
                <a:latin typeface="Calibri"/>
                <a:cs typeface="Calibri"/>
              </a:rPr>
              <a:t> boundary</a:t>
            </a:r>
            <a:r>
              <a:rPr sz="1980" spc="-4" dirty="0">
                <a:latin typeface="Calibri"/>
                <a:cs typeface="Calibri"/>
              </a:rPr>
              <a:t> or 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interior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polygon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</a:t>
            </a:fld>
            <a:endParaRPr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AD96FF-DBC4-B426-99AE-D8B141558748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0856" y="371857"/>
            <a:ext cx="4806029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pc="-4" dirty="0"/>
              <a:t>The</a:t>
            </a:r>
            <a:r>
              <a:rPr spc="-17" dirty="0"/>
              <a:t> </a:t>
            </a:r>
            <a:r>
              <a:rPr spc="-29" dirty="0"/>
              <a:t>Convex</a:t>
            </a:r>
            <a:r>
              <a:rPr spc="-8" dirty="0"/>
              <a:t> </a:t>
            </a:r>
            <a:r>
              <a:rPr spc="-4" dirty="0"/>
              <a:t>Hull</a:t>
            </a:r>
            <a:r>
              <a:rPr spc="-17" dirty="0"/>
              <a:t> </a:t>
            </a:r>
            <a:r>
              <a:rPr spc="-12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47702" y="2865516"/>
            <a:ext cx="5591842" cy="2787539"/>
            <a:chOff x="2845700" y="2191807"/>
            <a:chExt cx="6777990" cy="33788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0" y="4679420"/>
              <a:ext cx="227858" cy="227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60" y="5342360"/>
              <a:ext cx="227858" cy="2278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8" name="object 18"/>
            <p:cNvSpPr/>
            <p:nvPr/>
          </p:nvSpPr>
          <p:spPr>
            <a:xfrm>
              <a:off x="4467315" y="2324787"/>
              <a:ext cx="38100" cy="1356360"/>
            </a:xfrm>
            <a:custGeom>
              <a:avLst/>
              <a:gdLst/>
              <a:ahLst/>
              <a:cxnLst/>
              <a:rect l="l" t="t" r="r" b="b"/>
              <a:pathLst>
                <a:path w="38100" h="1356360">
                  <a:moveTo>
                    <a:pt x="0" y="0"/>
                  </a:moveTo>
                  <a:lnTo>
                    <a:pt x="37510" y="135615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5309" y="2210857"/>
              <a:ext cx="1408430" cy="788035"/>
            </a:xfrm>
            <a:custGeom>
              <a:avLst/>
              <a:gdLst/>
              <a:ahLst/>
              <a:cxnLst/>
              <a:rect l="l" t="t" r="r" b="b"/>
              <a:pathLst>
                <a:path w="1408429" h="788035">
                  <a:moveTo>
                    <a:pt x="1408075" y="0"/>
                  </a:moveTo>
                  <a:lnTo>
                    <a:pt x="0" y="78743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4039" y="2299068"/>
            <a:ext cx="2886551" cy="611562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31433" marR="25146">
              <a:lnSpc>
                <a:spcPct val="100800"/>
              </a:lnSpc>
              <a:spcBef>
                <a:spcPts val="62"/>
              </a:spcBef>
            </a:pPr>
            <a:r>
              <a:rPr sz="1980" b="1" spc="-17" dirty="0">
                <a:latin typeface="Calibri"/>
                <a:cs typeface="Calibri"/>
              </a:rPr>
              <a:t>Convex </a:t>
            </a:r>
            <a:r>
              <a:rPr sz="1980" b="1" spc="-8" dirty="0">
                <a:latin typeface="Calibri"/>
                <a:cs typeface="Calibri"/>
              </a:rPr>
              <a:t>polygon: </a:t>
            </a:r>
            <a:r>
              <a:rPr sz="1980" spc="-4" dirty="0">
                <a:latin typeface="Calibri"/>
                <a:cs typeface="Calibri"/>
              </a:rPr>
              <a:t>all </a:t>
            </a:r>
            <a:r>
              <a:rPr sz="1980" spc="-8" dirty="0">
                <a:latin typeface="Calibri"/>
                <a:cs typeface="Calibri"/>
              </a:rPr>
              <a:t>interior </a:t>
            </a:r>
            <a:r>
              <a:rPr sz="1980" spc="-43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angles</a:t>
            </a:r>
            <a:r>
              <a:rPr sz="1980" spc="-12" dirty="0">
                <a:latin typeface="Calibri"/>
                <a:cs typeface="Calibri"/>
              </a:rPr>
              <a:t> are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less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than </a:t>
            </a:r>
            <a:r>
              <a:rPr sz="1980" spc="-4" dirty="0">
                <a:latin typeface="Cambria Math"/>
                <a:cs typeface="Cambria Math"/>
              </a:rPr>
              <a:t>180</a:t>
            </a:r>
            <a:r>
              <a:rPr sz="2228" spc="-6" baseline="27777" dirty="0">
                <a:latin typeface="Cambria Math"/>
                <a:cs typeface="Cambria Math"/>
              </a:rPr>
              <a:t>∘</a:t>
            </a:r>
            <a:endParaRPr sz="2228" baseline="27777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12620" y="3031820"/>
            <a:ext cx="5169599" cy="1345834"/>
            <a:chOff x="2439540" y="2393388"/>
            <a:chExt cx="6266180" cy="1631314"/>
          </a:xfrm>
        </p:grpSpPr>
        <p:sp>
          <p:nvSpPr>
            <p:cNvPr id="22" name="object 22"/>
            <p:cNvSpPr/>
            <p:nvPr/>
          </p:nvSpPr>
          <p:spPr>
            <a:xfrm>
              <a:off x="2477640" y="2585477"/>
              <a:ext cx="6189980" cy="1223010"/>
            </a:xfrm>
            <a:custGeom>
              <a:avLst/>
              <a:gdLst/>
              <a:ahLst/>
              <a:cxnLst/>
              <a:rect l="l" t="t" r="r" b="b"/>
              <a:pathLst>
                <a:path w="6189980" h="1223010">
                  <a:moveTo>
                    <a:pt x="0" y="1222445"/>
                  </a:moveTo>
                  <a:lnTo>
                    <a:pt x="6189738" y="0"/>
                  </a:lnTo>
                </a:path>
              </a:pathLst>
            </a:custGeom>
            <a:ln w="762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3" name="object 23"/>
            <p:cNvSpPr/>
            <p:nvPr/>
          </p:nvSpPr>
          <p:spPr>
            <a:xfrm>
              <a:off x="4618754" y="3298385"/>
              <a:ext cx="1475105" cy="496570"/>
            </a:xfrm>
            <a:custGeom>
              <a:avLst/>
              <a:gdLst/>
              <a:ahLst/>
              <a:cxnLst/>
              <a:rect l="l" t="t" r="r" b="b"/>
              <a:pathLst>
                <a:path w="1475104" h="496570">
                  <a:moveTo>
                    <a:pt x="1475065" y="0"/>
                  </a:moveTo>
                  <a:lnTo>
                    <a:pt x="0" y="496483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8309" y="2412438"/>
              <a:ext cx="923290" cy="805815"/>
            </a:xfrm>
            <a:custGeom>
              <a:avLst/>
              <a:gdLst/>
              <a:ahLst/>
              <a:cxnLst/>
              <a:rect l="l" t="t" r="r" b="b"/>
              <a:pathLst>
                <a:path w="923290" h="805814">
                  <a:moveTo>
                    <a:pt x="922729" y="0"/>
                  </a:moveTo>
                  <a:lnTo>
                    <a:pt x="0" y="805386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8108" y="3628688"/>
              <a:ext cx="375920" cy="376555"/>
            </a:xfrm>
            <a:custGeom>
              <a:avLst/>
              <a:gdLst/>
              <a:ahLst/>
              <a:cxnLst/>
              <a:rect l="l" t="t" r="r" b="b"/>
              <a:pathLst>
                <a:path w="375920" h="376554">
                  <a:moveTo>
                    <a:pt x="375907" y="184178"/>
                  </a:moveTo>
                  <a:lnTo>
                    <a:pt x="370988" y="234635"/>
                  </a:lnTo>
                  <a:lnTo>
                    <a:pt x="353654" y="280173"/>
                  </a:lnTo>
                  <a:lnTo>
                    <a:pt x="325632" y="318960"/>
                  </a:lnTo>
                  <a:lnTo>
                    <a:pt x="288648" y="349163"/>
                  </a:lnTo>
                  <a:lnTo>
                    <a:pt x="244431" y="368949"/>
                  </a:lnTo>
                  <a:lnTo>
                    <a:pt x="194707" y="376485"/>
                  </a:lnTo>
                  <a:lnTo>
                    <a:pt x="144500" y="370489"/>
                  </a:lnTo>
                  <a:lnTo>
                    <a:pt x="98921" y="352087"/>
                  </a:lnTo>
                  <a:lnTo>
                    <a:pt x="59825" y="323056"/>
                  </a:lnTo>
                  <a:lnTo>
                    <a:pt x="29069" y="285175"/>
                  </a:lnTo>
                  <a:lnTo>
                    <a:pt x="8509" y="240221"/>
                  </a:lnTo>
                  <a:lnTo>
                    <a:pt x="0" y="189971"/>
                  </a:lnTo>
                  <a:lnTo>
                    <a:pt x="3889" y="144217"/>
                  </a:lnTo>
                  <a:lnTo>
                    <a:pt x="18119" y="102142"/>
                  </a:lnTo>
                  <a:lnTo>
                    <a:pt x="41495" y="65213"/>
                  </a:lnTo>
                  <a:lnTo>
                    <a:pt x="72823" y="34901"/>
                  </a:lnTo>
                  <a:lnTo>
                    <a:pt x="110908" y="12674"/>
                  </a:lnTo>
                  <a:lnTo>
                    <a:pt x="154554" y="0"/>
                  </a:lnTo>
                </a:path>
              </a:pathLst>
            </a:custGeom>
            <a:ln w="3809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6" name="object 26"/>
            <p:cNvSpPr/>
            <p:nvPr/>
          </p:nvSpPr>
          <p:spPr>
            <a:xfrm>
              <a:off x="6035718" y="3178368"/>
              <a:ext cx="379730" cy="315595"/>
            </a:xfrm>
            <a:custGeom>
              <a:avLst/>
              <a:gdLst/>
              <a:ahLst/>
              <a:cxnLst/>
              <a:rect l="l" t="t" r="r" b="b"/>
              <a:pathLst>
                <a:path w="379729" h="315595">
                  <a:moveTo>
                    <a:pt x="328957" y="0"/>
                  </a:moveTo>
                  <a:lnTo>
                    <a:pt x="358293" y="40760"/>
                  </a:lnTo>
                  <a:lnTo>
                    <a:pt x="375027" y="86190"/>
                  </a:lnTo>
                  <a:lnTo>
                    <a:pt x="379265" y="133772"/>
                  </a:lnTo>
                  <a:lnTo>
                    <a:pt x="371109" y="180986"/>
                  </a:lnTo>
                  <a:lnTo>
                    <a:pt x="350665" y="225315"/>
                  </a:lnTo>
                  <a:lnTo>
                    <a:pt x="318036" y="264239"/>
                  </a:lnTo>
                  <a:lnTo>
                    <a:pt x="276178" y="293440"/>
                  </a:lnTo>
                  <a:lnTo>
                    <a:pt x="229690" y="310327"/>
                  </a:lnTo>
                  <a:lnTo>
                    <a:pt x="181137" y="314976"/>
                  </a:lnTo>
                  <a:lnTo>
                    <a:pt x="133088" y="307465"/>
                  </a:lnTo>
                  <a:lnTo>
                    <a:pt x="88107" y="287868"/>
                  </a:lnTo>
                  <a:lnTo>
                    <a:pt x="48763" y="256261"/>
                  </a:lnTo>
                  <a:lnTo>
                    <a:pt x="16391" y="209377"/>
                  </a:lnTo>
                  <a:lnTo>
                    <a:pt x="6089" y="182887"/>
                  </a:lnTo>
                  <a:lnTo>
                    <a:pt x="0" y="154965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62504" y="2299068"/>
            <a:ext cx="3563398" cy="613550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10478" marR="4191">
              <a:lnSpc>
                <a:spcPct val="100800"/>
              </a:lnSpc>
              <a:spcBef>
                <a:spcPts val="62"/>
              </a:spcBef>
            </a:pPr>
            <a:r>
              <a:rPr sz="1980" b="1" spc="-8" dirty="0">
                <a:solidFill>
                  <a:srgbClr val="ED7D31"/>
                </a:solidFill>
                <a:latin typeface="Calibri"/>
                <a:cs typeface="Calibri"/>
              </a:rPr>
              <a:t>Equivalently: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line 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drawn </a:t>
            </a:r>
            <a:r>
              <a:rPr sz="1980" spc="-8" dirty="0">
                <a:solidFill>
                  <a:srgbClr val="ED7D31"/>
                </a:solidFill>
                <a:latin typeface="Calibri"/>
                <a:cs typeface="Calibri"/>
              </a:rPr>
              <a:t>through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polygon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will</a:t>
            </a:r>
            <a:r>
              <a:rPr sz="1980" spc="-12" dirty="0">
                <a:solidFill>
                  <a:srgbClr val="ED7D31"/>
                </a:solidFill>
                <a:latin typeface="Calibri"/>
                <a:cs typeface="Calibri"/>
              </a:rPr>
              <a:t> intersect exactly</a:t>
            </a:r>
            <a:r>
              <a:rPr sz="1980" spc="-8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ED7D31"/>
                </a:solidFill>
                <a:latin typeface="Calibri"/>
                <a:cs typeface="Calibri"/>
              </a:rPr>
              <a:t>twice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41042" y="2604173"/>
            <a:ext cx="1482566" cy="36606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2310" b="1" spc="-4" dirty="0">
                <a:solidFill>
                  <a:srgbClr val="7030A0"/>
                </a:solidFill>
                <a:latin typeface="Calibri"/>
                <a:cs typeface="Calibri"/>
              </a:rPr>
              <a:t>Not</a:t>
            </a:r>
            <a:r>
              <a:rPr sz="2310" b="1" spc="-37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310" b="1" spc="-21" dirty="0">
                <a:solidFill>
                  <a:srgbClr val="7030A0"/>
                </a:solidFill>
                <a:latin typeface="Calibri"/>
                <a:cs typeface="Calibri"/>
              </a:rPr>
              <a:t>convex!</a:t>
            </a:r>
            <a:endParaRPr sz="231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66296" y="3783520"/>
            <a:ext cx="2309765" cy="894893"/>
          </a:xfrm>
          <a:prstGeom prst="rect">
            <a:avLst/>
          </a:prstGeom>
        </p:spPr>
        <p:txBody>
          <a:bodyPr vert="horz" wrap="square" lIns="0" tIns="93250" rIns="0" bIns="0" rtlCol="0">
            <a:spAutoFit/>
          </a:bodyPr>
          <a:lstStyle/>
          <a:p>
            <a:pPr marL="1385649">
              <a:spcBef>
                <a:spcPts val="734"/>
              </a:spcBef>
            </a:pPr>
            <a:r>
              <a:rPr sz="2310" dirty="0">
                <a:solidFill>
                  <a:srgbClr val="7030A0"/>
                </a:solidFill>
                <a:latin typeface="Cambria Math"/>
                <a:cs typeface="Cambria Math"/>
              </a:rPr>
              <a:t>&gt;</a:t>
            </a:r>
            <a:r>
              <a:rPr sz="2310" spc="78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310" spc="-4" dirty="0">
                <a:solidFill>
                  <a:srgbClr val="7030A0"/>
                </a:solidFill>
                <a:latin typeface="Cambria Math"/>
                <a:cs typeface="Cambria Math"/>
              </a:rPr>
              <a:t>180</a:t>
            </a:r>
            <a:r>
              <a:rPr sz="2475" spc="-6" baseline="29166" dirty="0">
                <a:solidFill>
                  <a:srgbClr val="7030A0"/>
                </a:solidFill>
                <a:latin typeface="Cambria Math"/>
                <a:cs typeface="Cambria Math"/>
              </a:rPr>
              <a:t>∘</a:t>
            </a:r>
            <a:endParaRPr sz="2475" baseline="29166">
              <a:latin typeface="Cambria Math"/>
              <a:cs typeface="Cambria Math"/>
            </a:endParaRPr>
          </a:p>
          <a:p>
            <a:pPr marL="41910">
              <a:spcBef>
                <a:spcPts val="656"/>
              </a:spcBef>
            </a:pPr>
            <a:r>
              <a:rPr sz="2310" dirty="0">
                <a:solidFill>
                  <a:srgbClr val="7030A0"/>
                </a:solidFill>
                <a:latin typeface="Cambria Math"/>
                <a:cs typeface="Cambria Math"/>
              </a:rPr>
              <a:t>&gt;</a:t>
            </a:r>
            <a:r>
              <a:rPr sz="2310" spc="94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310" spc="-4" dirty="0">
                <a:solidFill>
                  <a:srgbClr val="7030A0"/>
                </a:solidFill>
                <a:latin typeface="Cambria Math"/>
                <a:cs typeface="Cambria Math"/>
              </a:rPr>
              <a:t>180</a:t>
            </a:r>
            <a:r>
              <a:rPr sz="2475" spc="-6" baseline="29166" dirty="0">
                <a:solidFill>
                  <a:srgbClr val="7030A0"/>
                </a:solidFill>
                <a:latin typeface="Cambria Math"/>
                <a:cs typeface="Cambria Math"/>
              </a:rPr>
              <a:t>∘</a:t>
            </a:r>
            <a:endParaRPr sz="2475" baseline="29166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22489" y="3684451"/>
            <a:ext cx="3206639" cy="1214342"/>
            <a:chOff x="4390895" y="3184456"/>
            <a:chExt cx="3886835" cy="147193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169629" y="5979902"/>
            <a:ext cx="7719822" cy="604188"/>
          </a:xfrm>
          <a:prstGeom prst="rect">
            <a:avLst/>
          </a:prstGeom>
        </p:spPr>
        <p:txBody>
          <a:bodyPr vert="horz" wrap="square" lIns="0" tIns="14145" rIns="0" bIns="0" rtlCol="0">
            <a:spAutoFit/>
          </a:bodyPr>
          <a:lstStyle/>
          <a:p>
            <a:pPr marL="447913" marR="4191" indent="-437960">
              <a:lnSpc>
                <a:spcPts val="2318"/>
              </a:lnSpc>
              <a:spcBef>
                <a:spcPts val="111"/>
              </a:spcBef>
            </a:pPr>
            <a:r>
              <a:rPr sz="1980" b="1" spc="-8" dirty="0">
                <a:latin typeface="Calibri"/>
                <a:cs typeface="Calibri"/>
              </a:rPr>
              <a:t>Problem: </a:t>
            </a:r>
            <a:r>
              <a:rPr sz="1980" spc="-4" dirty="0">
                <a:latin typeface="Calibri"/>
                <a:cs typeface="Calibri"/>
              </a:rPr>
              <a:t>given</a:t>
            </a:r>
            <a:r>
              <a:rPr sz="1980" dirty="0">
                <a:latin typeface="Calibri"/>
                <a:cs typeface="Calibri"/>
              </a:rPr>
              <a:t> a </a:t>
            </a:r>
            <a:r>
              <a:rPr sz="1980" spc="-4" dirty="0">
                <a:latin typeface="Calibri"/>
                <a:cs typeface="Calibri"/>
              </a:rPr>
              <a:t>set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𝑛</a:t>
            </a:r>
            <a:r>
              <a:rPr sz="1980" spc="41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points,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find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smallest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polygon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such </a:t>
            </a:r>
            <a:r>
              <a:rPr sz="1980" spc="-8" dirty="0">
                <a:latin typeface="Calibri"/>
                <a:cs typeface="Calibri"/>
              </a:rPr>
              <a:t>that </a:t>
            </a:r>
            <a:r>
              <a:rPr sz="1980" spc="-433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every</a:t>
            </a:r>
            <a:r>
              <a:rPr sz="1980" spc="-8" dirty="0">
                <a:latin typeface="Calibri"/>
                <a:cs typeface="Calibri"/>
              </a:rPr>
              <a:t> point </a:t>
            </a:r>
            <a:r>
              <a:rPr sz="1980" spc="-4" dirty="0">
                <a:latin typeface="Calibri"/>
                <a:cs typeface="Calibri"/>
              </a:rPr>
              <a:t>is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either</a:t>
            </a:r>
            <a:r>
              <a:rPr sz="1980" spc="-4" dirty="0">
                <a:latin typeface="Calibri"/>
                <a:cs typeface="Calibri"/>
              </a:rPr>
              <a:t> on the</a:t>
            </a:r>
            <a:r>
              <a:rPr sz="1980" dirty="0">
                <a:latin typeface="Calibri"/>
                <a:cs typeface="Calibri"/>
              </a:rPr>
              <a:t> boundary</a:t>
            </a:r>
            <a:r>
              <a:rPr sz="1980" spc="-4" dirty="0">
                <a:latin typeface="Calibri"/>
                <a:cs typeface="Calibri"/>
              </a:rPr>
              <a:t> or 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interior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polygon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</a:t>
            </a:fld>
            <a:endParaRPr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4B6EC4-2083-A4FA-B74B-5DE0AEBF0E45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92159"/>
            <a:ext cx="4806029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pc="-4" dirty="0"/>
              <a:t>The</a:t>
            </a:r>
            <a:r>
              <a:rPr spc="-17" dirty="0"/>
              <a:t> </a:t>
            </a:r>
            <a:r>
              <a:rPr spc="-29" dirty="0"/>
              <a:t>Convex</a:t>
            </a:r>
            <a:r>
              <a:rPr spc="-8" dirty="0"/>
              <a:t> </a:t>
            </a:r>
            <a:r>
              <a:rPr spc="-4" dirty="0"/>
              <a:t>Hull</a:t>
            </a:r>
            <a:r>
              <a:rPr spc="-17" dirty="0"/>
              <a:t> </a:t>
            </a:r>
            <a:r>
              <a:rPr spc="-12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1573" y="6355118"/>
            <a:ext cx="149304" cy="162930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990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endParaRPr sz="99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11307" y="2413420"/>
            <a:ext cx="7049262" cy="3577019"/>
            <a:chOff x="1831887" y="1643813"/>
            <a:chExt cx="8544560" cy="43357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79" y="4679420"/>
              <a:ext cx="227858" cy="2278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59" y="5342360"/>
              <a:ext cx="227858" cy="2278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59" y="4831820"/>
              <a:ext cx="227858" cy="2278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59" y="3428998"/>
              <a:ext cx="227858" cy="227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1242" y="2210857"/>
              <a:ext cx="2596515" cy="121285"/>
            </a:xfrm>
            <a:custGeom>
              <a:avLst/>
              <a:gdLst/>
              <a:ahLst/>
              <a:cxnLst/>
              <a:rect l="l" t="t" r="r" b="b"/>
              <a:pathLst>
                <a:path w="2596515" h="121285">
                  <a:moveTo>
                    <a:pt x="2596425" y="12102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45309" y="2210857"/>
              <a:ext cx="1408430" cy="788035"/>
            </a:xfrm>
            <a:custGeom>
              <a:avLst/>
              <a:gdLst/>
              <a:ahLst/>
              <a:cxnLst/>
              <a:rect l="l" t="t" r="r" b="b"/>
              <a:pathLst>
                <a:path w="1408429" h="788035">
                  <a:moveTo>
                    <a:pt x="1408075" y="0"/>
                  </a:moveTo>
                  <a:lnTo>
                    <a:pt x="0" y="78743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1" name="object 21"/>
            <p:cNvSpPr/>
            <p:nvPr/>
          </p:nvSpPr>
          <p:spPr>
            <a:xfrm>
              <a:off x="1850937" y="1662863"/>
              <a:ext cx="8506460" cy="4297680"/>
            </a:xfrm>
            <a:custGeom>
              <a:avLst/>
              <a:gdLst/>
              <a:ahLst/>
              <a:cxnLst/>
              <a:rect l="l" t="t" r="r" b="b"/>
              <a:pathLst>
                <a:path w="8506460" h="4297680">
                  <a:moveTo>
                    <a:pt x="7065" y="1655194"/>
                  </a:moveTo>
                  <a:lnTo>
                    <a:pt x="16136" y="1593211"/>
                  </a:lnTo>
                  <a:lnTo>
                    <a:pt x="28806" y="1532103"/>
                  </a:lnTo>
                  <a:lnTo>
                    <a:pt x="45022" y="1471891"/>
                  </a:lnTo>
                  <a:lnTo>
                    <a:pt x="64729" y="1412592"/>
                  </a:lnTo>
                  <a:lnTo>
                    <a:pt x="87873" y="1354226"/>
                  </a:lnTo>
                  <a:lnTo>
                    <a:pt x="114400" y="1296812"/>
                  </a:lnTo>
                  <a:lnTo>
                    <a:pt x="144257" y="1240370"/>
                  </a:lnTo>
                  <a:lnTo>
                    <a:pt x="177389" y="1184919"/>
                  </a:lnTo>
                  <a:lnTo>
                    <a:pt x="213742" y="1130478"/>
                  </a:lnTo>
                  <a:lnTo>
                    <a:pt x="253261" y="1077067"/>
                  </a:lnTo>
                  <a:lnTo>
                    <a:pt x="295894" y="1024704"/>
                  </a:lnTo>
                  <a:lnTo>
                    <a:pt x="341585" y="973408"/>
                  </a:lnTo>
                  <a:lnTo>
                    <a:pt x="390282" y="923200"/>
                  </a:lnTo>
                  <a:lnTo>
                    <a:pt x="441929" y="874098"/>
                  </a:lnTo>
                  <a:lnTo>
                    <a:pt x="496472" y="826121"/>
                  </a:lnTo>
                  <a:lnTo>
                    <a:pt x="553858" y="779290"/>
                  </a:lnTo>
                  <a:lnTo>
                    <a:pt x="614033" y="733622"/>
                  </a:lnTo>
                  <a:lnTo>
                    <a:pt x="645149" y="711230"/>
                  </a:lnTo>
                  <a:lnTo>
                    <a:pt x="676942" y="689137"/>
                  </a:lnTo>
                  <a:lnTo>
                    <a:pt x="709405" y="667344"/>
                  </a:lnTo>
                  <a:lnTo>
                    <a:pt x="742532" y="645855"/>
                  </a:lnTo>
                  <a:lnTo>
                    <a:pt x="776315" y="624671"/>
                  </a:lnTo>
                  <a:lnTo>
                    <a:pt x="810747" y="603794"/>
                  </a:lnTo>
                  <a:lnTo>
                    <a:pt x="845823" y="583228"/>
                  </a:lnTo>
                  <a:lnTo>
                    <a:pt x="881536" y="562975"/>
                  </a:lnTo>
                  <a:lnTo>
                    <a:pt x="917877" y="543036"/>
                  </a:lnTo>
                  <a:lnTo>
                    <a:pt x="954842" y="523415"/>
                  </a:lnTo>
                  <a:lnTo>
                    <a:pt x="992422" y="504114"/>
                  </a:lnTo>
                  <a:lnTo>
                    <a:pt x="1030612" y="485135"/>
                  </a:lnTo>
                  <a:lnTo>
                    <a:pt x="1069405" y="466481"/>
                  </a:lnTo>
                  <a:lnTo>
                    <a:pt x="1108793" y="448153"/>
                  </a:lnTo>
                  <a:lnTo>
                    <a:pt x="1148770" y="430156"/>
                  </a:lnTo>
                  <a:lnTo>
                    <a:pt x="1189329" y="412490"/>
                  </a:lnTo>
                  <a:lnTo>
                    <a:pt x="1230464" y="395158"/>
                  </a:lnTo>
                  <a:lnTo>
                    <a:pt x="1272168" y="378163"/>
                  </a:lnTo>
                  <a:lnTo>
                    <a:pt x="1314433" y="361507"/>
                  </a:lnTo>
                  <a:lnTo>
                    <a:pt x="1357254" y="345193"/>
                  </a:lnTo>
                  <a:lnTo>
                    <a:pt x="1400623" y="329223"/>
                  </a:lnTo>
                  <a:lnTo>
                    <a:pt x="1444534" y="313598"/>
                  </a:lnTo>
                  <a:lnTo>
                    <a:pt x="1488980" y="298323"/>
                  </a:lnTo>
                  <a:lnTo>
                    <a:pt x="1533954" y="283399"/>
                  </a:lnTo>
                  <a:lnTo>
                    <a:pt x="1579449" y="268828"/>
                  </a:lnTo>
                  <a:lnTo>
                    <a:pt x="1625460" y="254613"/>
                  </a:lnTo>
                  <a:lnTo>
                    <a:pt x="1671978" y="240756"/>
                  </a:lnTo>
                  <a:lnTo>
                    <a:pt x="1718997" y="227260"/>
                  </a:lnTo>
                  <a:lnTo>
                    <a:pt x="1766510" y="214127"/>
                  </a:lnTo>
                  <a:lnTo>
                    <a:pt x="1814511" y="201360"/>
                  </a:lnTo>
                  <a:lnTo>
                    <a:pt x="1862994" y="188961"/>
                  </a:lnTo>
                  <a:lnTo>
                    <a:pt x="1911950" y="176932"/>
                  </a:lnTo>
                  <a:lnTo>
                    <a:pt x="1961373" y="165276"/>
                  </a:lnTo>
                  <a:lnTo>
                    <a:pt x="2011257" y="153995"/>
                  </a:lnTo>
                  <a:lnTo>
                    <a:pt x="2061595" y="143091"/>
                  </a:lnTo>
                  <a:lnTo>
                    <a:pt x="2112380" y="132568"/>
                  </a:lnTo>
                  <a:lnTo>
                    <a:pt x="2163606" y="122426"/>
                  </a:lnTo>
                  <a:lnTo>
                    <a:pt x="2215265" y="112670"/>
                  </a:lnTo>
                  <a:lnTo>
                    <a:pt x="2267351" y="103301"/>
                  </a:lnTo>
                  <a:lnTo>
                    <a:pt x="2319856" y="94321"/>
                  </a:lnTo>
                  <a:lnTo>
                    <a:pt x="2372776" y="85733"/>
                  </a:lnTo>
                  <a:lnTo>
                    <a:pt x="2426101" y="77540"/>
                  </a:lnTo>
                  <a:lnTo>
                    <a:pt x="2479827" y="69744"/>
                  </a:lnTo>
                  <a:lnTo>
                    <a:pt x="2533945" y="62346"/>
                  </a:lnTo>
                  <a:lnTo>
                    <a:pt x="2588450" y="55351"/>
                  </a:lnTo>
                  <a:lnTo>
                    <a:pt x="2643334" y="48759"/>
                  </a:lnTo>
                  <a:lnTo>
                    <a:pt x="2698591" y="42574"/>
                  </a:lnTo>
                  <a:lnTo>
                    <a:pt x="2754214" y="36797"/>
                  </a:lnTo>
                  <a:lnTo>
                    <a:pt x="2810196" y="31432"/>
                  </a:lnTo>
                  <a:lnTo>
                    <a:pt x="2866531" y="26480"/>
                  </a:lnTo>
                  <a:lnTo>
                    <a:pt x="2923211" y="21945"/>
                  </a:lnTo>
                  <a:lnTo>
                    <a:pt x="2980231" y="17828"/>
                  </a:lnTo>
                  <a:lnTo>
                    <a:pt x="3037582" y="14131"/>
                  </a:lnTo>
                  <a:lnTo>
                    <a:pt x="3095259" y="10858"/>
                  </a:lnTo>
                  <a:lnTo>
                    <a:pt x="3153255" y="8011"/>
                  </a:lnTo>
                  <a:lnTo>
                    <a:pt x="3211562" y="5591"/>
                  </a:lnTo>
                  <a:lnTo>
                    <a:pt x="3270175" y="3603"/>
                  </a:lnTo>
                  <a:lnTo>
                    <a:pt x="3329086" y="2046"/>
                  </a:lnTo>
                  <a:lnTo>
                    <a:pt x="3388289" y="926"/>
                  </a:lnTo>
                  <a:lnTo>
                    <a:pt x="3447777" y="243"/>
                  </a:lnTo>
                  <a:lnTo>
                    <a:pt x="3507543" y="0"/>
                  </a:lnTo>
                  <a:lnTo>
                    <a:pt x="3567580" y="199"/>
                  </a:lnTo>
                  <a:lnTo>
                    <a:pt x="3627882" y="843"/>
                  </a:lnTo>
                  <a:lnTo>
                    <a:pt x="3688441" y="1935"/>
                  </a:lnTo>
                  <a:lnTo>
                    <a:pt x="3749252" y="3476"/>
                  </a:lnTo>
                  <a:lnTo>
                    <a:pt x="3810307" y="5470"/>
                  </a:lnTo>
                  <a:lnTo>
                    <a:pt x="3871600" y="7917"/>
                  </a:lnTo>
                  <a:lnTo>
                    <a:pt x="3933124" y="10822"/>
                  </a:lnTo>
                  <a:lnTo>
                    <a:pt x="3994871" y="14186"/>
                  </a:lnTo>
                  <a:lnTo>
                    <a:pt x="4056836" y="18012"/>
                  </a:lnTo>
                  <a:lnTo>
                    <a:pt x="4119012" y="22302"/>
                  </a:lnTo>
                  <a:lnTo>
                    <a:pt x="4181391" y="27059"/>
                  </a:lnTo>
                  <a:lnTo>
                    <a:pt x="4243968" y="32284"/>
                  </a:lnTo>
                  <a:lnTo>
                    <a:pt x="4306734" y="37981"/>
                  </a:lnTo>
                  <a:lnTo>
                    <a:pt x="4369684" y="44151"/>
                  </a:lnTo>
                  <a:lnTo>
                    <a:pt x="4432811" y="50798"/>
                  </a:lnTo>
                  <a:lnTo>
                    <a:pt x="4496108" y="57923"/>
                  </a:lnTo>
                  <a:lnTo>
                    <a:pt x="4559352" y="65503"/>
                  </a:lnTo>
                  <a:lnTo>
                    <a:pt x="4622321" y="73510"/>
                  </a:lnTo>
                  <a:lnTo>
                    <a:pt x="4685009" y="81939"/>
                  </a:lnTo>
                  <a:lnTo>
                    <a:pt x="4747409" y="90788"/>
                  </a:lnTo>
                  <a:lnTo>
                    <a:pt x="4809516" y="100052"/>
                  </a:lnTo>
                  <a:lnTo>
                    <a:pt x="4871324" y="109727"/>
                  </a:lnTo>
                  <a:lnTo>
                    <a:pt x="4932826" y="119810"/>
                  </a:lnTo>
                  <a:lnTo>
                    <a:pt x="4994017" y="130295"/>
                  </a:lnTo>
                  <a:lnTo>
                    <a:pt x="5054891" y="141181"/>
                  </a:lnTo>
                  <a:lnTo>
                    <a:pt x="5115441" y="152462"/>
                  </a:lnTo>
                  <a:lnTo>
                    <a:pt x="5175662" y="164135"/>
                  </a:lnTo>
                  <a:lnTo>
                    <a:pt x="5235547" y="176196"/>
                  </a:lnTo>
                  <a:lnTo>
                    <a:pt x="5295091" y="188641"/>
                  </a:lnTo>
                  <a:lnTo>
                    <a:pt x="5354287" y="201466"/>
                  </a:lnTo>
                  <a:lnTo>
                    <a:pt x="5413129" y="214667"/>
                  </a:lnTo>
                  <a:lnTo>
                    <a:pt x="5471612" y="228241"/>
                  </a:lnTo>
                  <a:lnTo>
                    <a:pt x="5529730" y="242183"/>
                  </a:lnTo>
                  <a:lnTo>
                    <a:pt x="5587476" y="256490"/>
                  </a:lnTo>
                  <a:lnTo>
                    <a:pt x="5644844" y="271157"/>
                  </a:lnTo>
                  <a:lnTo>
                    <a:pt x="5701828" y="286181"/>
                  </a:lnTo>
                  <a:lnTo>
                    <a:pt x="5758423" y="301558"/>
                  </a:lnTo>
                  <a:lnTo>
                    <a:pt x="5814622" y="317284"/>
                  </a:lnTo>
                  <a:lnTo>
                    <a:pt x="5870419" y="333355"/>
                  </a:lnTo>
                  <a:lnTo>
                    <a:pt x="5925808" y="349767"/>
                  </a:lnTo>
                  <a:lnTo>
                    <a:pt x="5980784" y="366517"/>
                  </a:lnTo>
                  <a:lnTo>
                    <a:pt x="6035339" y="383600"/>
                  </a:lnTo>
                  <a:lnTo>
                    <a:pt x="6089469" y="401013"/>
                  </a:lnTo>
                  <a:lnTo>
                    <a:pt x="6143167" y="418751"/>
                  </a:lnTo>
                  <a:lnTo>
                    <a:pt x="6196427" y="436811"/>
                  </a:lnTo>
                  <a:lnTo>
                    <a:pt x="6249243" y="455189"/>
                  </a:lnTo>
                  <a:lnTo>
                    <a:pt x="6301609" y="473881"/>
                  </a:lnTo>
                  <a:lnTo>
                    <a:pt x="6353519" y="492883"/>
                  </a:lnTo>
                  <a:lnTo>
                    <a:pt x="6404967" y="512191"/>
                  </a:lnTo>
                  <a:lnTo>
                    <a:pt x="6455947" y="531802"/>
                  </a:lnTo>
                  <a:lnTo>
                    <a:pt x="6506453" y="551711"/>
                  </a:lnTo>
                  <a:lnTo>
                    <a:pt x="6556478" y="571915"/>
                  </a:lnTo>
                  <a:lnTo>
                    <a:pt x="6606018" y="592409"/>
                  </a:lnTo>
                  <a:lnTo>
                    <a:pt x="6655065" y="613190"/>
                  </a:lnTo>
                  <a:lnTo>
                    <a:pt x="6703615" y="634254"/>
                  </a:lnTo>
                  <a:lnTo>
                    <a:pt x="6751659" y="655597"/>
                  </a:lnTo>
                  <a:lnTo>
                    <a:pt x="6799194" y="677215"/>
                  </a:lnTo>
                  <a:lnTo>
                    <a:pt x="6846213" y="699104"/>
                  </a:lnTo>
                  <a:lnTo>
                    <a:pt x="6892709" y="721260"/>
                  </a:lnTo>
                  <a:lnTo>
                    <a:pt x="6938677" y="743680"/>
                  </a:lnTo>
                  <a:lnTo>
                    <a:pt x="6984110" y="766359"/>
                  </a:lnTo>
                  <a:lnTo>
                    <a:pt x="7029003" y="789294"/>
                  </a:lnTo>
                  <a:lnTo>
                    <a:pt x="7073350" y="812481"/>
                  </a:lnTo>
                  <a:lnTo>
                    <a:pt x="7117144" y="835916"/>
                  </a:lnTo>
                  <a:lnTo>
                    <a:pt x="7160380" y="859594"/>
                  </a:lnTo>
                  <a:lnTo>
                    <a:pt x="7203051" y="883513"/>
                  </a:lnTo>
                  <a:lnTo>
                    <a:pt x="7245152" y="907668"/>
                  </a:lnTo>
                  <a:lnTo>
                    <a:pt x="7286676" y="932055"/>
                  </a:lnTo>
                  <a:lnTo>
                    <a:pt x="7327618" y="956671"/>
                  </a:lnTo>
                  <a:lnTo>
                    <a:pt x="7367971" y="981511"/>
                  </a:lnTo>
                  <a:lnTo>
                    <a:pt x="7407729" y="1006572"/>
                  </a:lnTo>
                  <a:lnTo>
                    <a:pt x="7446887" y="1031849"/>
                  </a:lnTo>
                  <a:lnTo>
                    <a:pt x="7485438" y="1057339"/>
                  </a:lnTo>
                  <a:lnTo>
                    <a:pt x="7523376" y="1083039"/>
                  </a:lnTo>
                  <a:lnTo>
                    <a:pt x="7560696" y="1108943"/>
                  </a:lnTo>
                  <a:lnTo>
                    <a:pt x="7597391" y="1135048"/>
                  </a:lnTo>
                  <a:lnTo>
                    <a:pt x="7633455" y="1161351"/>
                  </a:lnTo>
                  <a:lnTo>
                    <a:pt x="7668883" y="1187847"/>
                  </a:lnTo>
                  <a:lnTo>
                    <a:pt x="7703667" y="1214533"/>
                  </a:lnTo>
                  <a:lnTo>
                    <a:pt x="7737803" y="1241404"/>
                  </a:lnTo>
                  <a:lnTo>
                    <a:pt x="7771284" y="1268457"/>
                  </a:lnTo>
                  <a:lnTo>
                    <a:pt x="7804104" y="1295688"/>
                  </a:lnTo>
                  <a:lnTo>
                    <a:pt x="7836256" y="1323093"/>
                  </a:lnTo>
                  <a:lnTo>
                    <a:pt x="7867736" y="1350668"/>
                  </a:lnTo>
                  <a:lnTo>
                    <a:pt x="7898537" y="1378409"/>
                  </a:lnTo>
                  <a:lnTo>
                    <a:pt x="7928653" y="1406312"/>
                  </a:lnTo>
                  <a:lnTo>
                    <a:pt x="7958078" y="1434374"/>
                  </a:lnTo>
                  <a:lnTo>
                    <a:pt x="7986806" y="1462590"/>
                  </a:lnTo>
                  <a:lnTo>
                    <a:pt x="8014831" y="1490957"/>
                  </a:lnTo>
                  <a:lnTo>
                    <a:pt x="8042147" y="1519470"/>
                  </a:lnTo>
                  <a:lnTo>
                    <a:pt x="8068747" y="1548127"/>
                  </a:lnTo>
                  <a:lnTo>
                    <a:pt x="8094626" y="1576922"/>
                  </a:lnTo>
                  <a:lnTo>
                    <a:pt x="8119779" y="1605852"/>
                  </a:lnTo>
                  <a:lnTo>
                    <a:pt x="8167877" y="1664102"/>
                  </a:lnTo>
                  <a:lnTo>
                    <a:pt x="8212994" y="1722846"/>
                  </a:lnTo>
                  <a:lnTo>
                    <a:pt x="8255083" y="1782052"/>
                  </a:lnTo>
                  <a:lnTo>
                    <a:pt x="8294093" y="1841689"/>
                  </a:lnTo>
                  <a:lnTo>
                    <a:pt x="8329978" y="1901726"/>
                  </a:lnTo>
                  <a:lnTo>
                    <a:pt x="8362689" y="1962133"/>
                  </a:lnTo>
                  <a:lnTo>
                    <a:pt x="8392177" y="2022877"/>
                  </a:lnTo>
                  <a:lnTo>
                    <a:pt x="8418395" y="2083928"/>
                  </a:lnTo>
                  <a:lnTo>
                    <a:pt x="8441295" y="2145254"/>
                  </a:lnTo>
                  <a:lnTo>
                    <a:pt x="8460828" y="2206825"/>
                  </a:lnTo>
                  <a:lnTo>
                    <a:pt x="8476946" y="2268610"/>
                  </a:lnTo>
                  <a:lnTo>
                    <a:pt x="8489600" y="2330577"/>
                  </a:lnTo>
                  <a:lnTo>
                    <a:pt x="8498743" y="2392695"/>
                  </a:lnTo>
                  <a:lnTo>
                    <a:pt x="8504327" y="2454932"/>
                  </a:lnTo>
                  <a:lnTo>
                    <a:pt x="8506302" y="2517259"/>
                  </a:lnTo>
                  <a:lnTo>
                    <a:pt x="8505922" y="2548446"/>
                  </a:lnTo>
                  <a:lnTo>
                    <a:pt x="8502395" y="2610848"/>
                  </a:lnTo>
                  <a:lnTo>
                    <a:pt x="8495155" y="2673155"/>
                  </a:lnTo>
                  <a:lnTo>
                    <a:pt x="8484277" y="2734702"/>
                  </a:lnTo>
                  <a:lnTo>
                    <a:pt x="8469828" y="2795365"/>
                  </a:lnTo>
                  <a:lnTo>
                    <a:pt x="8451860" y="2855123"/>
                  </a:lnTo>
                  <a:lnTo>
                    <a:pt x="8430427" y="2913958"/>
                  </a:lnTo>
                  <a:lnTo>
                    <a:pt x="8405585" y="2971850"/>
                  </a:lnTo>
                  <a:lnTo>
                    <a:pt x="8377386" y="3028780"/>
                  </a:lnTo>
                  <a:lnTo>
                    <a:pt x="8345885" y="3084729"/>
                  </a:lnTo>
                  <a:lnTo>
                    <a:pt x="8311136" y="3139677"/>
                  </a:lnTo>
                  <a:lnTo>
                    <a:pt x="8273193" y="3193606"/>
                  </a:lnTo>
                  <a:lnTo>
                    <a:pt x="8232110" y="3246496"/>
                  </a:lnTo>
                  <a:lnTo>
                    <a:pt x="8187941" y="3298327"/>
                  </a:lnTo>
                  <a:lnTo>
                    <a:pt x="8140740" y="3349082"/>
                  </a:lnTo>
                  <a:lnTo>
                    <a:pt x="8090562" y="3398739"/>
                  </a:lnTo>
                  <a:lnTo>
                    <a:pt x="8037460" y="3447281"/>
                  </a:lnTo>
                  <a:lnTo>
                    <a:pt x="7981488" y="3494688"/>
                  </a:lnTo>
                  <a:lnTo>
                    <a:pt x="7922701" y="3540940"/>
                  </a:lnTo>
                  <a:lnTo>
                    <a:pt x="7861153" y="3586019"/>
                  </a:lnTo>
                  <a:lnTo>
                    <a:pt x="7829360" y="3608112"/>
                  </a:lnTo>
                  <a:lnTo>
                    <a:pt x="7796897" y="3629904"/>
                  </a:lnTo>
                  <a:lnTo>
                    <a:pt x="7763770" y="3651394"/>
                  </a:lnTo>
                  <a:lnTo>
                    <a:pt x="7729987" y="3672578"/>
                  </a:lnTo>
                  <a:lnTo>
                    <a:pt x="7695554" y="3693455"/>
                  </a:lnTo>
                  <a:lnTo>
                    <a:pt x="7660478" y="3714021"/>
                  </a:lnTo>
                  <a:lnTo>
                    <a:pt x="7624766" y="3734274"/>
                  </a:lnTo>
                  <a:lnTo>
                    <a:pt x="7588424" y="3754213"/>
                  </a:lnTo>
                  <a:lnTo>
                    <a:pt x="7551460" y="3773834"/>
                  </a:lnTo>
                  <a:lnTo>
                    <a:pt x="7513879" y="3793135"/>
                  </a:lnTo>
                  <a:lnTo>
                    <a:pt x="7475690" y="3812114"/>
                  </a:lnTo>
                  <a:lnTo>
                    <a:pt x="7436897" y="3830768"/>
                  </a:lnTo>
                  <a:lnTo>
                    <a:pt x="7397509" y="3849095"/>
                  </a:lnTo>
                  <a:lnTo>
                    <a:pt x="7357532" y="3867093"/>
                  </a:lnTo>
                  <a:lnTo>
                    <a:pt x="7316973" y="3884759"/>
                  </a:lnTo>
                  <a:lnTo>
                    <a:pt x="7275838" y="3902091"/>
                  </a:lnTo>
                  <a:lnTo>
                    <a:pt x="7234134" y="3919085"/>
                  </a:lnTo>
                  <a:lnTo>
                    <a:pt x="7191869" y="3935741"/>
                  </a:lnTo>
                  <a:lnTo>
                    <a:pt x="7149048" y="3952056"/>
                  </a:lnTo>
                  <a:lnTo>
                    <a:pt x="7105679" y="3968026"/>
                  </a:lnTo>
                  <a:lnTo>
                    <a:pt x="7061768" y="3983650"/>
                  </a:lnTo>
                  <a:lnTo>
                    <a:pt x="7017322" y="3998926"/>
                  </a:lnTo>
                  <a:lnTo>
                    <a:pt x="6972348" y="4013850"/>
                  </a:lnTo>
                  <a:lnTo>
                    <a:pt x="6926852" y="4028421"/>
                  </a:lnTo>
                  <a:lnTo>
                    <a:pt x="6880842" y="4042636"/>
                  </a:lnTo>
                  <a:lnTo>
                    <a:pt x="6834324" y="4056493"/>
                  </a:lnTo>
                  <a:lnTo>
                    <a:pt x="6787305" y="4069989"/>
                  </a:lnTo>
                  <a:lnTo>
                    <a:pt x="6739792" y="4083121"/>
                  </a:lnTo>
                  <a:lnTo>
                    <a:pt x="6691790" y="4095889"/>
                  </a:lnTo>
                  <a:lnTo>
                    <a:pt x="6643308" y="4108288"/>
                  </a:lnTo>
                  <a:lnTo>
                    <a:pt x="6594352" y="4120317"/>
                  </a:lnTo>
                  <a:lnTo>
                    <a:pt x="6544929" y="4131973"/>
                  </a:lnTo>
                  <a:lnTo>
                    <a:pt x="6495044" y="4143254"/>
                  </a:lnTo>
                  <a:lnTo>
                    <a:pt x="6444707" y="4154158"/>
                  </a:lnTo>
                  <a:lnTo>
                    <a:pt x="6393921" y="4164681"/>
                  </a:lnTo>
                  <a:lnTo>
                    <a:pt x="6342696" y="4174822"/>
                  </a:lnTo>
                  <a:lnTo>
                    <a:pt x="6291037" y="4184579"/>
                  </a:lnTo>
                  <a:lnTo>
                    <a:pt x="6238951" y="4193948"/>
                  </a:lnTo>
                  <a:lnTo>
                    <a:pt x="6186446" y="4202928"/>
                  </a:lnTo>
                  <a:lnTo>
                    <a:pt x="6133526" y="4211515"/>
                  </a:lnTo>
                  <a:lnTo>
                    <a:pt x="6080201" y="4219709"/>
                  </a:lnTo>
                  <a:lnTo>
                    <a:pt x="6026475" y="4227505"/>
                  </a:lnTo>
                  <a:lnTo>
                    <a:pt x="5972357" y="4234902"/>
                  </a:lnTo>
                  <a:lnTo>
                    <a:pt x="5917852" y="4241898"/>
                  </a:lnTo>
                  <a:lnTo>
                    <a:pt x="5862968" y="4248490"/>
                  </a:lnTo>
                  <a:lnTo>
                    <a:pt x="5807711" y="4254675"/>
                  </a:lnTo>
                  <a:lnTo>
                    <a:pt x="5752088" y="4260452"/>
                  </a:lnTo>
                  <a:lnTo>
                    <a:pt x="5696106" y="4265817"/>
                  </a:lnTo>
                  <a:lnTo>
                    <a:pt x="5639771" y="4270768"/>
                  </a:lnTo>
                  <a:lnTo>
                    <a:pt x="5583091" y="4275304"/>
                  </a:lnTo>
                  <a:lnTo>
                    <a:pt x="5526072" y="4279421"/>
                  </a:lnTo>
                  <a:lnTo>
                    <a:pt x="5468720" y="4283118"/>
                  </a:lnTo>
                  <a:lnTo>
                    <a:pt x="5411043" y="4286391"/>
                  </a:lnTo>
                  <a:lnTo>
                    <a:pt x="5353047" y="4289238"/>
                  </a:lnTo>
                  <a:lnTo>
                    <a:pt x="5294740" y="4291657"/>
                  </a:lnTo>
                  <a:lnTo>
                    <a:pt x="5236127" y="4293646"/>
                  </a:lnTo>
                  <a:lnTo>
                    <a:pt x="5177216" y="4295202"/>
                  </a:lnTo>
                  <a:lnTo>
                    <a:pt x="5118013" y="4296323"/>
                  </a:lnTo>
                  <a:lnTo>
                    <a:pt x="5058525" y="4297006"/>
                  </a:lnTo>
                  <a:lnTo>
                    <a:pt x="4998760" y="4297249"/>
                  </a:lnTo>
                  <a:lnTo>
                    <a:pt x="4938722" y="4297050"/>
                  </a:lnTo>
                  <a:lnTo>
                    <a:pt x="4878421" y="4296406"/>
                  </a:lnTo>
                  <a:lnTo>
                    <a:pt x="4817861" y="4295314"/>
                  </a:lnTo>
                  <a:lnTo>
                    <a:pt x="4757050" y="4293773"/>
                  </a:lnTo>
                  <a:lnTo>
                    <a:pt x="4695995" y="4291779"/>
                  </a:lnTo>
                  <a:lnTo>
                    <a:pt x="4634702" y="4289331"/>
                  </a:lnTo>
                  <a:lnTo>
                    <a:pt x="4573179" y="4286427"/>
                  </a:lnTo>
                  <a:lnTo>
                    <a:pt x="4511431" y="4283063"/>
                  </a:lnTo>
                  <a:lnTo>
                    <a:pt x="4449466" y="4279237"/>
                  </a:lnTo>
                  <a:lnTo>
                    <a:pt x="4387291" y="4274947"/>
                  </a:lnTo>
                  <a:lnTo>
                    <a:pt x="4324911" y="4270190"/>
                  </a:lnTo>
                  <a:lnTo>
                    <a:pt x="4262335" y="4264965"/>
                  </a:lnTo>
                  <a:lnTo>
                    <a:pt x="4199568" y="4259268"/>
                  </a:lnTo>
                  <a:lnTo>
                    <a:pt x="4136618" y="4253098"/>
                  </a:lnTo>
                  <a:lnTo>
                    <a:pt x="4073491" y="4246451"/>
                  </a:lnTo>
                  <a:lnTo>
                    <a:pt x="4010194" y="4239326"/>
                  </a:lnTo>
                  <a:lnTo>
                    <a:pt x="3946950" y="4231746"/>
                  </a:lnTo>
                  <a:lnTo>
                    <a:pt x="3883981" y="4223739"/>
                  </a:lnTo>
                  <a:lnTo>
                    <a:pt x="3821294" y="4215309"/>
                  </a:lnTo>
                  <a:lnTo>
                    <a:pt x="3758893" y="4206461"/>
                  </a:lnTo>
                  <a:lnTo>
                    <a:pt x="3696786" y="4197197"/>
                  </a:lnTo>
                  <a:lnTo>
                    <a:pt x="3634979" y="4187522"/>
                  </a:lnTo>
                  <a:lnTo>
                    <a:pt x="3573476" y="4177439"/>
                  </a:lnTo>
                  <a:lnTo>
                    <a:pt x="3512285" y="4166953"/>
                  </a:lnTo>
                  <a:lnTo>
                    <a:pt x="3451412" y="4156068"/>
                  </a:lnTo>
                  <a:lnTo>
                    <a:pt x="3390861" y="4144787"/>
                  </a:lnTo>
                  <a:lnTo>
                    <a:pt x="3330641" y="4133114"/>
                  </a:lnTo>
                  <a:lnTo>
                    <a:pt x="3270755" y="4121053"/>
                  </a:lnTo>
                  <a:lnTo>
                    <a:pt x="3211212" y="4108608"/>
                  </a:lnTo>
                  <a:lnTo>
                    <a:pt x="3152016" y="4095783"/>
                  </a:lnTo>
                  <a:lnTo>
                    <a:pt x="3093173" y="4082582"/>
                  </a:lnTo>
                  <a:lnTo>
                    <a:pt x="3034690" y="4069008"/>
                  </a:lnTo>
                  <a:lnTo>
                    <a:pt x="2976572" y="4055066"/>
                  </a:lnTo>
                  <a:lnTo>
                    <a:pt x="2918827" y="4040759"/>
                  </a:lnTo>
                  <a:lnTo>
                    <a:pt x="2861459" y="4026092"/>
                  </a:lnTo>
                  <a:lnTo>
                    <a:pt x="2804474" y="4011068"/>
                  </a:lnTo>
                  <a:lnTo>
                    <a:pt x="2747879" y="3995691"/>
                  </a:lnTo>
                  <a:lnTo>
                    <a:pt x="2691681" y="3979965"/>
                  </a:lnTo>
                  <a:lnTo>
                    <a:pt x="2635883" y="3963894"/>
                  </a:lnTo>
                  <a:lnTo>
                    <a:pt x="2580494" y="3947482"/>
                  </a:lnTo>
                  <a:lnTo>
                    <a:pt x="2525518" y="3930732"/>
                  </a:lnTo>
                  <a:lnTo>
                    <a:pt x="2470963" y="3913649"/>
                  </a:lnTo>
                  <a:lnTo>
                    <a:pt x="2416833" y="3896236"/>
                  </a:lnTo>
                  <a:lnTo>
                    <a:pt x="2363135" y="3878498"/>
                  </a:lnTo>
                  <a:lnTo>
                    <a:pt x="2309875" y="3860438"/>
                  </a:lnTo>
                  <a:lnTo>
                    <a:pt x="2257059" y="3842060"/>
                  </a:lnTo>
                  <a:lnTo>
                    <a:pt x="2204693" y="3823368"/>
                  </a:lnTo>
                  <a:lnTo>
                    <a:pt x="2152783" y="3804366"/>
                  </a:lnTo>
                  <a:lnTo>
                    <a:pt x="2101335" y="3785057"/>
                  </a:lnTo>
                  <a:lnTo>
                    <a:pt x="2050355" y="3765447"/>
                  </a:lnTo>
                  <a:lnTo>
                    <a:pt x="1999849" y="3745538"/>
                  </a:lnTo>
                  <a:lnTo>
                    <a:pt x="1949824" y="3725334"/>
                  </a:lnTo>
                  <a:lnTo>
                    <a:pt x="1900284" y="3704840"/>
                  </a:lnTo>
                  <a:lnTo>
                    <a:pt x="1851237" y="3684059"/>
                  </a:lnTo>
                  <a:lnTo>
                    <a:pt x="1802687" y="3662995"/>
                  </a:lnTo>
                  <a:lnTo>
                    <a:pt x="1754642" y="3641652"/>
                  </a:lnTo>
                  <a:lnTo>
                    <a:pt x="1707108" y="3620034"/>
                  </a:lnTo>
                  <a:lnTo>
                    <a:pt x="1660089" y="3598145"/>
                  </a:lnTo>
                  <a:lnTo>
                    <a:pt x="1613593" y="3575989"/>
                  </a:lnTo>
                  <a:lnTo>
                    <a:pt x="1567625" y="3553569"/>
                  </a:lnTo>
                  <a:lnTo>
                    <a:pt x="1522192" y="3530889"/>
                  </a:lnTo>
                  <a:lnTo>
                    <a:pt x="1477299" y="3507954"/>
                  </a:lnTo>
                  <a:lnTo>
                    <a:pt x="1432952" y="3484768"/>
                  </a:lnTo>
                  <a:lnTo>
                    <a:pt x="1389158" y="3461333"/>
                  </a:lnTo>
                  <a:lnTo>
                    <a:pt x="1345922" y="3437654"/>
                  </a:lnTo>
                  <a:lnTo>
                    <a:pt x="1303251" y="3413736"/>
                  </a:lnTo>
                  <a:lnTo>
                    <a:pt x="1261150" y="3389581"/>
                  </a:lnTo>
                  <a:lnTo>
                    <a:pt x="1219626" y="3365194"/>
                  </a:lnTo>
                  <a:lnTo>
                    <a:pt x="1178684" y="3340578"/>
                  </a:lnTo>
                  <a:lnTo>
                    <a:pt x="1138331" y="3315738"/>
                  </a:lnTo>
                  <a:lnTo>
                    <a:pt x="1098573" y="3290677"/>
                  </a:lnTo>
                  <a:lnTo>
                    <a:pt x="1059415" y="3265400"/>
                  </a:lnTo>
                  <a:lnTo>
                    <a:pt x="1020864" y="3239910"/>
                  </a:lnTo>
                  <a:lnTo>
                    <a:pt x="982925" y="3214210"/>
                  </a:lnTo>
                  <a:lnTo>
                    <a:pt x="945606" y="3188306"/>
                  </a:lnTo>
                  <a:lnTo>
                    <a:pt x="908911" y="3162200"/>
                  </a:lnTo>
                  <a:lnTo>
                    <a:pt x="872846" y="3135898"/>
                  </a:lnTo>
                  <a:lnTo>
                    <a:pt x="837419" y="3109401"/>
                  </a:lnTo>
                  <a:lnTo>
                    <a:pt x="802635" y="3082716"/>
                  </a:lnTo>
                  <a:lnTo>
                    <a:pt x="768499" y="3055844"/>
                  </a:lnTo>
                  <a:lnTo>
                    <a:pt x="735018" y="3028791"/>
                  </a:lnTo>
                  <a:lnTo>
                    <a:pt x="702198" y="3001561"/>
                  </a:lnTo>
                  <a:lnTo>
                    <a:pt x="670045" y="2974156"/>
                  </a:lnTo>
                  <a:lnTo>
                    <a:pt x="638565" y="2946581"/>
                  </a:lnTo>
                  <a:lnTo>
                    <a:pt x="607764" y="2918840"/>
                  </a:lnTo>
                  <a:lnTo>
                    <a:pt x="577648" y="2890937"/>
                  </a:lnTo>
                  <a:lnTo>
                    <a:pt x="548223" y="2862875"/>
                  </a:lnTo>
                  <a:lnTo>
                    <a:pt x="519496" y="2834659"/>
                  </a:lnTo>
                  <a:lnTo>
                    <a:pt x="491471" y="2806292"/>
                  </a:lnTo>
                  <a:lnTo>
                    <a:pt x="464155" y="2777779"/>
                  </a:lnTo>
                  <a:lnTo>
                    <a:pt x="437555" y="2749122"/>
                  </a:lnTo>
                  <a:lnTo>
                    <a:pt x="411675" y="2720327"/>
                  </a:lnTo>
                  <a:lnTo>
                    <a:pt x="386523" y="2691397"/>
                  </a:lnTo>
                  <a:lnTo>
                    <a:pt x="338425" y="2633147"/>
                  </a:lnTo>
                  <a:lnTo>
                    <a:pt x="293307" y="2574403"/>
                  </a:lnTo>
                  <a:lnTo>
                    <a:pt x="251219" y="2515197"/>
                  </a:lnTo>
                  <a:lnTo>
                    <a:pt x="212209" y="2455560"/>
                  </a:lnTo>
                  <a:lnTo>
                    <a:pt x="176324" y="2395522"/>
                  </a:lnTo>
                  <a:lnTo>
                    <a:pt x="143613" y="2335116"/>
                  </a:lnTo>
                  <a:lnTo>
                    <a:pt x="114124" y="2274372"/>
                  </a:lnTo>
                  <a:lnTo>
                    <a:pt x="87906" y="2213321"/>
                  </a:lnTo>
                  <a:lnTo>
                    <a:pt x="65007" y="2151994"/>
                  </a:lnTo>
                  <a:lnTo>
                    <a:pt x="45474" y="2090423"/>
                  </a:lnTo>
                  <a:lnTo>
                    <a:pt x="29356" y="2028639"/>
                  </a:lnTo>
                  <a:lnTo>
                    <a:pt x="16702" y="1966672"/>
                  </a:lnTo>
                  <a:lnTo>
                    <a:pt x="7558" y="1904554"/>
                  </a:lnTo>
                  <a:lnTo>
                    <a:pt x="1975" y="1842316"/>
                  </a:lnTo>
                  <a:lnTo>
                    <a:pt x="0" y="1779990"/>
                  </a:lnTo>
                  <a:lnTo>
                    <a:pt x="380" y="1748803"/>
                  </a:lnTo>
                  <a:lnTo>
                    <a:pt x="1680" y="1717605"/>
                  </a:lnTo>
                  <a:lnTo>
                    <a:pt x="3906" y="1686401"/>
                  </a:lnTo>
                  <a:lnTo>
                    <a:pt x="7065" y="1655194"/>
                  </a:lnTo>
                  <a:close/>
                </a:path>
              </a:pathLst>
            </a:custGeom>
            <a:ln w="38099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2" name="object 22"/>
            <p:cNvSpPr/>
            <p:nvPr/>
          </p:nvSpPr>
          <p:spPr>
            <a:xfrm>
              <a:off x="2610307" y="1810359"/>
              <a:ext cx="7501890" cy="4060190"/>
            </a:xfrm>
            <a:custGeom>
              <a:avLst/>
              <a:gdLst/>
              <a:ahLst/>
              <a:cxnLst/>
              <a:rect l="l" t="t" r="r" b="b"/>
              <a:pathLst>
                <a:path w="7501890" h="4060190">
                  <a:moveTo>
                    <a:pt x="477456" y="2311095"/>
                  </a:moveTo>
                  <a:lnTo>
                    <a:pt x="280085" y="2239429"/>
                  </a:lnTo>
                  <a:lnTo>
                    <a:pt x="311505" y="2306688"/>
                  </a:lnTo>
                  <a:lnTo>
                    <a:pt x="0" y="2452217"/>
                  </a:lnTo>
                  <a:lnTo>
                    <a:pt x="62839" y="2586736"/>
                  </a:lnTo>
                  <a:lnTo>
                    <a:pt x="374357" y="2441206"/>
                  </a:lnTo>
                  <a:lnTo>
                    <a:pt x="405777" y="2508466"/>
                  </a:lnTo>
                  <a:lnTo>
                    <a:pt x="477456" y="2311095"/>
                  </a:lnTo>
                  <a:close/>
                </a:path>
                <a:path w="7501890" h="4060190">
                  <a:moveTo>
                    <a:pt x="781964" y="605701"/>
                  </a:moveTo>
                  <a:lnTo>
                    <a:pt x="727367" y="656005"/>
                  </a:lnTo>
                  <a:lnTo>
                    <a:pt x="494398" y="403136"/>
                  </a:lnTo>
                  <a:lnTo>
                    <a:pt x="385203" y="503745"/>
                  </a:lnTo>
                  <a:lnTo>
                    <a:pt x="618172" y="756615"/>
                  </a:lnTo>
                  <a:lnTo>
                    <a:pt x="563575" y="806919"/>
                  </a:lnTo>
                  <a:lnTo>
                    <a:pt x="773379" y="815505"/>
                  </a:lnTo>
                  <a:lnTo>
                    <a:pt x="781964" y="605701"/>
                  </a:lnTo>
                  <a:close/>
                </a:path>
                <a:path w="7501890" h="4060190">
                  <a:moveTo>
                    <a:pt x="1808734" y="3599256"/>
                  </a:moveTo>
                  <a:lnTo>
                    <a:pt x="1771497" y="3392601"/>
                  </a:lnTo>
                  <a:lnTo>
                    <a:pt x="1564843" y="3429838"/>
                  </a:lnTo>
                  <a:lnTo>
                    <a:pt x="1625815" y="3472192"/>
                  </a:lnTo>
                  <a:lnTo>
                    <a:pt x="1532420" y="3606647"/>
                  </a:lnTo>
                  <a:lnTo>
                    <a:pt x="1654365" y="3691356"/>
                  </a:lnTo>
                  <a:lnTo>
                    <a:pt x="1747761" y="3556901"/>
                  </a:lnTo>
                  <a:lnTo>
                    <a:pt x="1808734" y="3599256"/>
                  </a:lnTo>
                  <a:close/>
                </a:path>
                <a:path w="7501890" h="4060190">
                  <a:moveTo>
                    <a:pt x="3417620" y="221488"/>
                  </a:moveTo>
                  <a:lnTo>
                    <a:pt x="3343376" y="221488"/>
                  </a:lnTo>
                  <a:lnTo>
                    <a:pt x="3343376" y="0"/>
                  </a:lnTo>
                  <a:lnTo>
                    <a:pt x="3194901" y="0"/>
                  </a:lnTo>
                  <a:lnTo>
                    <a:pt x="3194901" y="221488"/>
                  </a:lnTo>
                  <a:lnTo>
                    <a:pt x="3120669" y="221488"/>
                  </a:lnTo>
                  <a:lnTo>
                    <a:pt x="3269145" y="369963"/>
                  </a:lnTo>
                  <a:lnTo>
                    <a:pt x="3417620" y="221488"/>
                  </a:lnTo>
                  <a:close/>
                </a:path>
                <a:path w="7501890" h="4060190">
                  <a:moveTo>
                    <a:pt x="4337901" y="3838600"/>
                  </a:moveTo>
                  <a:lnTo>
                    <a:pt x="4189425" y="3690124"/>
                  </a:lnTo>
                  <a:lnTo>
                    <a:pt x="4040949" y="3838600"/>
                  </a:lnTo>
                  <a:lnTo>
                    <a:pt x="4115193" y="3838600"/>
                  </a:lnTo>
                  <a:lnTo>
                    <a:pt x="4115193" y="4060088"/>
                  </a:lnTo>
                  <a:lnTo>
                    <a:pt x="4263656" y="4060088"/>
                  </a:lnTo>
                  <a:lnTo>
                    <a:pt x="4263656" y="3838600"/>
                  </a:lnTo>
                  <a:lnTo>
                    <a:pt x="4337901" y="3838600"/>
                  </a:lnTo>
                  <a:close/>
                </a:path>
                <a:path w="7501890" h="4060190">
                  <a:moveTo>
                    <a:pt x="6387008" y="888111"/>
                  </a:moveTo>
                  <a:lnTo>
                    <a:pt x="6289129" y="776478"/>
                  </a:lnTo>
                  <a:lnTo>
                    <a:pt x="6030595" y="1003147"/>
                  </a:lnTo>
                  <a:lnTo>
                    <a:pt x="5981649" y="947331"/>
                  </a:lnTo>
                  <a:lnTo>
                    <a:pt x="5967895" y="1156855"/>
                  </a:lnTo>
                  <a:lnTo>
                    <a:pt x="6177419" y="1170609"/>
                  </a:lnTo>
                  <a:lnTo>
                    <a:pt x="6128474" y="1114793"/>
                  </a:lnTo>
                  <a:lnTo>
                    <a:pt x="6387008" y="888111"/>
                  </a:lnTo>
                  <a:close/>
                </a:path>
                <a:path w="7501890" h="4060190">
                  <a:moveTo>
                    <a:pt x="6417615" y="3486708"/>
                  </a:moveTo>
                  <a:lnTo>
                    <a:pt x="6222682" y="3408654"/>
                  </a:lnTo>
                  <a:lnTo>
                    <a:pt x="6144628" y="3603574"/>
                  </a:lnTo>
                  <a:lnTo>
                    <a:pt x="6212878" y="3574364"/>
                  </a:lnTo>
                  <a:lnTo>
                    <a:pt x="6277305" y="3724859"/>
                  </a:lnTo>
                  <a:lnTo>
                    <a:pt x="6413805" y="3666413"/>
                  </a:lnTo>
                  <a:lnTo>
                    <a:pt x="6349365" y="3515918"/>
                  </a:lnTo>
                  <a:lnTo>
                    <a:pt x="6417615" y="3486708"/>
                  </a:lnTo>
                  <a:close/>
                </a:path>
                <a:path w="7501890" h="4060190">
                  <a:moveTo>
                    <a:pt x="7501826" y="2301506"/>
                  </a:moveTo>
                  <a:lnTo>
                    <a:pt x="7467498" y="2157057"/>
                  </a:lnTo>
                  <a:lnTo>
                    <a:pt x="6960324" y="2277605"/>
                  </a:lnTo>
                  <a:lnTo>
                    <a:pt x="6943153" y="2205380"/>
                  </a:lnTo>
                  <a:lnTo>
                    <a:pt x="6833032" y="2384171"/>
                  </a:lnTo>
                  <a:lnTo>
                    <a:pt x="7011822" y="2494280"/>
                  </a:lnTo>
                  <a:lnTo>
                    <a:pt x="6994652" y="2422055"/>
                  </a:lnTo>
                  <a:lnTo>
                    <a:pt x="7501826" y="2301506"/>
                  </a:lnTo>
                  <a:close/>
                </a:path>
              </a:pathLst>
            </a:custGeom>
            <a:solidFill>
              <a:srgbClr val="232D4B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48745" y="6025706"/>
            <a:ext cx="7960805" cy="613550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10478" marR="4191" indent="6810">
              <a:lnSpc>
                <a:spcPct val="100800"/>
              </a:lnSpc>
              <a:spcBef>
                <a:spcPts val="62"/>
              </a:spcBef>
            </a:pPr>
            <a:r>
              <a:rPr sz="1980" b="1" spc="-4" dirty="0">
                <a:latin typeface="Calibri"/>
                <a:cs typeface="Calibri"/>
              </a:rPr>
              <a:t>Rubber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band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analogy:</a:t>
            </a:r>
            <a:r>
              <a:rPr sz="1980" b="1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imagine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12" dirty="0">
                <a:latin typeface="Calibri"/>
                <a:cs typeface="Calibri"/>
              </a:rPr>
              <a:t>are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nails</a:t>
            </a:r>
            <a:r>
              <a:rPr sz="1980" spc="-8" dirty="0">
                <a:latin typeface="Calibri"/>
                <a:cs typeface="Calibri"/>
              </a:rPr>
              <a:t> sticking </a:t>
            </a:r>
            <a:r>
              <a:rPr sz="1980" spc="-4" dirty="0">
                <a:latin typeface="Calibri"/>
                <a:cs typeface="Calibri"/>
              </a:rPr>
              <a:t>out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dirty="0">
                <a:latin typeface="Calibri"/>
                <a:cs typeface="Calibri"/>
              </a:rPr>
              <a:t> a </a:t>
            </a:r>
            <a:r>
              <a:rPr sz="1980" spc="-8" dirty="0">
                <a:latin typeface="Calibri"/>
                <a:cs typeface="Calibri"/>
              </a:rPr>
              <a:t>board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433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wrapping </a:t>
            </a:r>
            <a:r>
              <a:rPr sz="1980" dirty="0">
                <a:latin typeface="Calibri"/>
                <a:cs typeface="Calibri"/>
              </a:rPr>
              <a:t>a rubber band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4" dirty="0">
                <a:latin typeface="Calibri"/>
                <a:cs typeface="Calibri"/>
              </a:rPr>
              <a:t> encompass 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nails;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4" dirty="0">
                <a:latin typeface="Calibri"/>
                <a:cs typeface="Calibri"/>
              </a:rPr>
              <a:t> hull is </a:t>
            </a:r>
            <a:r>
              <a:rPr sz="1980" spc="-8" dirty="0">
                <a:latin typeface="Calibri"/>
                <a:cs typeface="Calibri"/>
              </a:rPr>
              <a:t>resulting</a:t>
            </a:r>
            <a:r>
              <a:rPr sz="1980" spc="-4" dirty="0">
                <a:latin typeface="Calibri"/>
                <a:cs typeface="Calibri"/>
              </a:rPr>
              <a:t> shape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04234" y="2773488"/>
            <a:ext cx="1121093" cy="26449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650" spc="-4" dirty="0">
                <a:solidFill>
                  <a:srgbClr val="4774C5"/>
                </a:solidFill>
                <a:latin typeface="Calibri"/>
                <a:cs typeface="Calibri"/>
              </a:rPr>
              <a:t>Rubber</a:t>
            </a:r>
            <a:r>
              <a:rPr sz="1650" spc="-54" dirty="0">
                <a:solidFill>
                  <a:srgbClr val="4774C5"/>
                </a:solidFill>
                <a:latin typeface="Calibri"/>
                <a:cs typeface="Calibri"/>
              </a:rPr>
              <a:t> </a:t>
            </a:r>
            <a:r>
              <a:rPr sz="1650" spc="-4" dirty="0">
                <a:solidFill>
                  <a:srgbClr val="4774C5"/>
                </a:solidFill>
                <a:latin typeface="Calibri"/>
                <a:cs typeface="Calibri"/>
              </a:rPr>
              <a:t>band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22489" y="3684451"/>
            <a:ext cx="3206639" cy="1214342"/>
            <a:chOff x="4390895" y="3184456"/>
            <a:chExt cx="3886835" cy="14719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91E424D-A055-CD82-B120-CAFB329F2598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94431"/>
            <a:ext cx="4806029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pc="-4" dirty="0"/>
              <a:t>The</a:t>
            </a:r>
            <a:r>
              <a:rPr spc="-17" dirty="0"/>
              <a:t> </a:t>
            </a:r>
            <a:r>
              <a:rPr spc="-29" dirty="0"/>
              <a:t>Convex</a:t>
            </a:r>
            <a:r>
              <a:rPr spc="-8" dirty="0"/>
              <a:t> </a:t>
            </a:r>
            <a:r>
              <a:rPr spc="-4" dirty="0"/>
              <a:t>Hull</a:t>
            </a:r>
            <a:r>
              <a:rPr spc="-17" dirty="0"/>
              <a:t> </a:t>
            </a:r>
            <a:r>
              <a:rPr spc="-12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1573" y="6355118"/>
            <a:ext cx="149304" cy="162930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990" dirty="0">
                <a:solidFill>
                  <a:srgbClr val="898989"/>
                </a:solidFill>
                <a:latin typeface="Calibri"/>
                <a:cs typeface="Calibri"/>
              </a:rPr>
              <a:t>13</a:t>
            </a:r>
            <a:endParaRPr sz="99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347702" y="2865516"/>
            <a:ext cx="7553230" cy="2787539"/>
            <a:chOff x="2845700" y="2191807"/>
            <a:chExt cx="9155430" cy="33788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0" y="4679420"/>
              <a:ext cx="227858" cy="2278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60" y="5342360"/>
              <a:ext cx="227858" cy="2278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9298" y="5456289"/>
              <a:ext cx="2176780" cy="0"/>
            </a:xfrm>
            <a:custGeom>
              <a:avLst/>
              <a:gdLst/>
              <a:ahLst/>
              <a:cxnLst/>
              <a:rect l="l" t="t" r="r" b="b"/>
              <a:pathLst>
                <a:path w="2176779">
                  <a:moveTo>
                    <a:pt x="0" y="0"/>
                  </a:moveTo>
                  <a:lnTo>
                    <a:pt x="217665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04590" y="3656858"/>
              <a:ext cx="911860" cy="1799589"/>
            </a:xfrm>
            <a:custGeom>
              <a:avLst/>
              <a:gdLst/>
              <a:ahLst/>
              <a:cxnLst/>
              <a:rect l="l" t="t" r="r" b="b"/>
              <a:pathLst>
                <a:path w="911859" h="1799589">
                  <a:moveTo>
                    <a:pt x="0" y="0"/>
                  </a:moveTo>
                  <a:lnTo>
                    <a:pt x="911360" y="179943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1243" y="2210857"/>
              <a:ext cx="2596515" cy="121285"/>
            </a:xfrm>
            <a:custGeom>
              <a:avLst/>
              <a:gdLst/>
              <a:ahLst/>
              <a:cxnLst/>
              <a:rect l="l" t="t" r="r" b="b"/>
              <a:pathLst>
                <a:path w="2596515" h="121285">
                  <a:moveTo>
                    <a:pt x="2596425" y="12102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0" name="object 20"/>
            <p:cNvSpPr/>
            <p:nvPr/>
          </p:nvSpPr>
          <p:spPr>
            <a:xfrm>
              <a:off x="9509388" y="4749975"/>
              <a:ext cx="241300" cy="706755"/>
            </a:xfrm>
            <a:custGeom>
              <a:avLst/>
              <a:gdLst/>
              <a:ahLst/>
              <a:cxnLst/>
              <a:rect l="l" t="t" r="r" b="b"/>
              <a:pathLst>
                <a:path w="241300" h="706754">
                  <a:moveTo>
                    <a:pt x="0" y="706314"/>
                  </a:moveTo>
                  <a:lnTo>
                    <a:pt x="240935" y="0"/>
                  </a:lnTo>
                </a:path>
              </a:pathLst>
            </a:custGeom>
            <a:ln w="381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1" name="object 21"/>
            <p:cNvSpPr/>
            <p:nvPr/>
          </p:nvSpPr>
          <p:spPr>
            <a:xfrm>
              <a:off x="9745611" y="3483405"/>
              <a:ext cx="2255520" cy="1248410"/>
            </a:xfrm>
            <a:custGeom>
              <a:avLst/>
              <a:gdLst/>
              <a:ahLst/>
              <a:cxnLst/>
              <a:rect l="l" t="t" r="r" b="b"/>
              <a:pathLst>
                <a:path w="2255520" h="1248410">
                  <a:moveTo>
                    <a:pt x="939590" y="1018522"/>
                  </a:moveTo>
                  <a:lnTo>
                    <a:pt x="375836" y="1018522"/>
                  </a:lnTo>
                  <a:lnTo>
                    <a:pt x="24671" y="1248147"/>
                  </a:lnTo>
                  <a:lnTo>
                    <a:pt x="939590" y="1018522"/>
                  </a:lnTo>
                  <a:close/>
                </a:path>
                <a:path w="2255520" h="1248410">
                  <a:moveTo>
                    <a:pt x="2085261" y="0"/>
                  </a:moveTo>
                  <a:lnTo>
                    <a:pt x="169757" y="0"/>
                  </a:lnTo>
                  <a:lnTo>
                    <a:pt x="124629" y="6063"/>
                  </a:lnTo>
                  <a:lnTo>
                    <a:pt x="84077" y="23176"/>
                  </a:lnTo>
                  <a:lnTo>
                    <a:pt x="49720" y="49720"/>
                  </a:lnTo>
                  <a:lnTo>
                    <a:pt x="23176" y="84077"/>
                  </a:lnTo>
                  <a:lnTo>
                    <a:pt x="6063" y="124629"/>
                  </a:lnTo>
                  <a:lnTo>
                    <a:pt x="0" y="169758"/>
                  </a:lnTo>
                  <a:lnTo>
                    <a:pt x="0" y="848768"/>
                  </a:lnTo>
                  <a:lnTo>
                    <a:pt x="6063" y="893893"/>
                  </a:lnTo>
                  <a:lnTo>
                    <a:pt x="23176" y="934444"/>
                  </a:lnTo>
                  <a:lnTo>
                    <a:pt x="49720" y="968801"/>
                  </a:lnTo>
                  <a:lnTo>
                    <a:pt x="84077" y="995345"/>
                  </a:lnTo>
                  <a:lnTo>
                    <a:pt x="124629" y="1012458"/>
                  </a:lnTo>
                  <a:lnTo>
                    <a:pt x="169757" y="1018522"/>
                  </a:lnTo>
                  <a:lnTo>
                    <a:pt x="2085261" y="1018522"/>
                  </a:lnTo>
                  <a:lnTo>
                    <a:pt x="2130389" y="1012458"/>
                  </a:lnTo>
                  <a:lnTo>
                    <a:pt x="2170940" y="995345"/>
                  </a:lnTo>
                  <a:lnTo>
                    <a:pt x="2205297" y="968801"/>
                  </a:lnTo>
                  <a:lnTo>
                    <a:pt x="2231841" y="934444"/>
                  </a:lnTo>
                  <a:lnTo>
                    <a:pt x="2248954" y="893893"/>
                  </a:lnTo>
                  <a:lnTo>
                    <a:pt x="2255017" y="848768"/>
                  </a:lnTo>
                  <a:lnTo>
                    <a:pt x="2255018" y="169758"/>
                  </a:lnTo>
                  <a:lnTo>
                    <a:pt x="2248954" y="124629"/>
                  </a:lnTo>
                  <a:lnTo>
                    <a:pt x="2231841" y="84077"/>
                  </a:lnTo>
                  <a:lnTo>
                    <a:pt x="2205297" y="49720"/>
                  </a:lnTo>
                  <a:lnTo>
                    <a:pt x="2170940" y="23176"/>
                  </a:lnTo>
                  <a:lnTo>
                    <a:pt x="2130389" y="6063"/>
                  </a:lnTo>
                  <a:lnTo>
                    <a:pt x="208526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2" name="object 22"/>
          <p:cNvSpPr/>
          <p:nvPr/>
        </p:nvSpPr>
        <p:spPr>
          <a:xfrm>
            <a:off x="2429880" y="2881232"/>
            <a:ext cx="1161955" cy="650129"/>
          </a:xfrm>
          <a:custGeom>
            <a:avLst/>
            <a:gdLst/>
            <a:ahLst/>
            <a:cxnLst/>
            <a:rect l="l" t="t" r="r" b="b"/>
            <a:pathLst>
              <a:path w="1408429" h="788035">
                <a:moveTo>
                  <a:pt x="1408075" y="0"/>
                </a:moveTo>
                <a:lnTo>
                  <a:pt x="0" y="78743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23" name="object 23"/>
          <p:cNvSpPr txBox="1"/>
          <p:nvPr/>
        </p:nvSpPr>
        <p:spPr>
          <a:xfrm>
            <a:off x="1474656" y="6184126"/>
            <a:ext cx="7110555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980" b="1" spc="-4" dirty="0">
                <a:latin typeface="Calibri"/>
                <a:cs typeface="Calibri"/>
              </a:rPr>
              <a:t>Observation: </a:t>
            </a:r>
            <a:r>
              <a:rPr sz="1980" spc="-4" dirty="0">
                <a:latin typeface="Calibri"/>
                <a:cs typeface="Calibri"/>
              </a:rPr>
              <a:t>every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on 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4" dirty="0">
                <a:latin typeface="Calibri"/>
                <a:cs typeface="Calibri"/>
              </a:rPr>
              <a:t> hull is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one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input </a:t>
            </a:r>
            <a:r>
              <a:rPr sz="1980" spc="-8" dirty="0">
                <a:latin typeface="Calibri"/>
                <a:cs typeface="Calibri"/>
              </a:rPr>
              <a:t>points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50748" y="3991393"/>
            <a:ext cx="1639729" cy="690285"/>
          </a:xfrm>
          <a:prstGeom prst="rect">
            <a:avLst/>
          </a:prstGeom>
        </p:spPr>
        <p:txBody>
          <a:bodyPr vert="horz" wrap="square" lIns="0" tIns="11525" rIns="0" bIns="0" rtlCol="0">
            <a:spAutoFit/>
          </a:bodyPr>
          <a:lstStyle/>
          <a:p>
            <a:pPr marL="10478" marR="4191" algn="ctr">
              <a:lnSpc>
                <a:spcPct val="99400"/>
              </a:lnSpc>
              <a:spcBef>
                <a:spcPts val="91"/>
              </a:spcBef>
            </a:pPr>
            <a:r>
              <a:rPr sz="1485" spc="-4" dirty="0">
                <a:solidFill>
                  <a:srgbClr val="FFFFFF"/>
                </a:solidFill>
                <a:latin typeface="Calibri"/>
                <a:cs typeface="Calibri"/>
              </a:rPr>
              <a:t>Otherwise, can </a:t>
            </a: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add a </a:t>
            </a:r>
            <a:r>
              <a:rPr sz="1485" spc="-3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5" spc="-4" dirty="0">
                <a:solidFill>
                  <a:srgbClr val="FFFFFF"/>
                </a:solidFill>
                <a:latin typeface="Calibri"/>
                <a:cs typeface="Calibri"/>
              </a:rPr>
              <a:t>“shortcut” </a:t>
            </a: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85" spc="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5" spc="-4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1485" spc="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85" spc="-8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1485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22489" y="3684451"/>
            <a:ext cx="3206639" cy="1214342"/>
            <a:chOff x="4390895" y="3184456"/>
            <a:chExt cx="3886835" cy="14719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397323C-1520-1A15-0A6F-D588A496B35E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222" y="1206884"/>
            <a:ext cx="11431178" cy="31803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Given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on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plane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find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smallest </a:t>
            </a:r>
            <a:r>
              <a:rPr sz="2000" spc="-7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enclosing</a:t>
            </a:r>
            <a:r>
              <a:rPr sz="2000" spc="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curve.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460" y="3658552"/>
            <a:ext cx="161544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9060" y="4268152"/>
            <a:ext cx="161544" cy="161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60" y="3963352"/>
            <a:ext cx="161544" cy="1615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60" y="3429952"/>
            <a:ext cx="161544" cy="1615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260" y="4572952"/>
            <a:ext cx="161544" cy="1615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9260" y="4191952"/>
            <a:ext cx="161544" cy="161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8060" y="4801552"/>
            <a:ext cx="161544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3860" y="5030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260" y="53349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860" y="37347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460" y="44205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660" y="4801552"/>
            <a:ext cx="161544" cy="16154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414776-D97A-A597-CCA3-63815ADFB426}"/>
              </a:ext>
            </a:extLst>
          </p:cNvPr>
          <p:cNvSpPr/>
          <p:nvPr/>
        </p:nvSpPr>
        <p:spPr>
          <a:xfrm>
            <a:off x="106070" y="314040"/>
            <a:ext cx="620458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Convex Hull – Problem Formulation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8709" y="1652084"/>
            <a:ext cx="9220645" cy="37959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convex hull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is a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polygon</a:t>
            </a:r>
            <a:r>
              <a:rPr sz="2400" spc="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whose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vertices </a:t>
            </a:r>
            <a:r>
              <a:rPr sz="2400" spc="-76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are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some</a:t>
            </a:r>
            <a:r>
              <a:rPr sz="2400" spc="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of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429952"/>
            <a:ext cx="3362325" cy="2066925"/>
            <a:chOff x="3278060" y="34299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460" y="36585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3429952"/>
              <a:ext cx="161544" cy="161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11232" y="3510724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228600"/>
                  </a:moveTo>
                  <a:lnTo>
                    <a:pt x="990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90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39633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260" y="45729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9260" y="41919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060" y="48015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3860" y="50301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260" y="53349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7860" y="3734752"/>
              <a:ext cx="161544" cy="1615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4420552"/>
              <a:ext cx="161544" cy="1615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0660" y="4801552"/>
              <a:ext cx="161544" cy="1615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58832" y="35107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152400" y="228600"/>
                  </a:moveTo>
                  <a:lnTo>
                    <a:pt x="0" y="1371600"/>
                  </a:lnTo>
                  <a:lnTo>
                    <a:pt x="1219200" y="1905000"/>
                  </a:lnTo>
                  <a:lnTo>
                    <a:pt x="3200400" y="990600"/>
                  </a:lnTo>
                  <a:lnTo>
                    <a:pt x="2209800" y="304800"/>
                  </a:lnTo>
                </a:path>
                <a:path w="3200400" h="1905000">
                  <a:moveTo>
                    <a:pt x="1143000" y="0"/>
                  </a:moveTo>
                  <a:lnTo>
                    <a:pt x="22098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9D257-03B3-5331-2D2F-2A2A24DF0747}"/>
              </a:ext>
            </a:extLst>
          </p:cNvPr>
          <p:cNvSpPr/>
          <p:nvPr/>
        </p:nvSpPr>
        <p:spPr>
          <a:xfrm>
            <a:off x="167949" y="14868"/>
            <a:ext cx="50131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Convex Hull – 2D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43528"/>
            <a:ext cx="6768084" cy="3383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4124" y="1524000"/>
            <a:ext cx="9290875" cy="22563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80365" algn="l"/>
                <a:tab pos="381000" algn="l"/>
              </a:tabLst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Input:</a:t>
            </a:r>
          </a:p>
          <a:p>
            <a:pPr marL="381000" marR="222250" indent="-635">
              <a:lnSpc>
                <a:spcPct val="100000"/>
              </a:lnSpc>
              <a:spcBef>
                <a:spcPts val="10"/>
              </a:spcBef>
            </a:pP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Set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of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spc="-7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spc="-7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2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 ...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n</a:t>
            </a:r>
            <a:r>
              <a:rPr sz="2000" spc="375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in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2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space.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(Each </a:t>
            </a:r>
            <a:r>
              <a:rPr sz="2000" spc="-76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is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an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ordered</a:t>
            </a:r>
            <a:r>
              <a:rPr sz="2000" spc="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pair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=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(x,y) 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of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reals.)</a:t>
            </a:r>
            <a:endParaRPr lang="en-IN" sz="2000" spc="-5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81000" marR="222250" indent="-635"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80365" algn="l"/>
                <a:tab pos="381000" algn="l"/>
              </a:tabLst>
            </a:pP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Output: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  <a:p>
            <a:pPr marL="380365" marR="30480">
              <a:lnSpc>
                <a:spcPct val="100000"/>
              </a:lnSpc>
              <a:spcBef>
                <a:spcPts val="10"/>
              </a:spcBef>
            </a:pP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A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sequence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of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spc="-7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i1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spc="-7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i2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...</a:t>
            </a:r>
            <a:r>
              <a:rPr sz="2000" spc="-1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,</a:t>
            </a:r>
            <a:r>
              <a:rPr sz="2000" spc="-1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</a:t>
            </a:r>
            <a:r>
              <a:rPr sz="2000" spc="-7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ik</a:t>
            </a:r>
            <a:r>
              <a:rPr sz="2000" spc="375" baseline="-20467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such that </a:t>
            </a:r>
            <a:r>
              <a:rPr sz="2000" spc="-76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traversing these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points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in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order</a:t>
            </a:r>
            <a:r>
              <a:rPr sz="2000" spc="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gives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the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convex </a:t>
            </a:r>
            <a:r>
              <a:rPr sz="2000" spc="-5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hull.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57200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78060" y="2744152"/>
            <a:ext cx="3362325" cy="2066925"/>
            <a:chOff x="3278060" y="2744152"/>
            <a:chExt cx="3362325" cy="2066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460" y="2972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2744152"/>
              <a:ext cx="161544" cy="1615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11232" y="2824924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228600"/>
                  </a:moveTo>
                  <a:lnTo>
                    <a:pt x="990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9060" y="35823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32775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9260" y="3506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060" y="4115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3860" y="43443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260" y="46491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7860" y="30489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3734752"/>
              <a:ext cx="161544" cy="1615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0660" y="41157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58832" y="2824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152400" y="228600"/>
                  </a:moveTo>
                  <a:lnTo>
                    <a:pt x="0" y="1371600"/>
                  </a:lnTo>
                  <a:lnTo>
                    <a:pt x="1219200" y="1905000"/>
                  </a:lnTo>
                  <a:lnTo>
                    <a:pt x="3200400" y="990600"/>
                  </a:lnTo>
                  <a:lnTo>
                    <a:pt x="2209800" y="304800"/>
                  </a:lnTo>
                </a:path>
                <a:path w="3200400" h="1905000">
                  <a:moveTo>
                    <a:pt x="1143000" y="0"/>
                  </a:moveTo>
                  <a:lnTo>
                    <a:pt x="22098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07372" y="285032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1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3869372" y="399332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5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31172" y="406952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6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97972" y="307892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3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88772" y="3600132"/>
            <a:ext cx="401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7" baseline="13888" dirty="0">
                <a:latin typeface="Arial MT"/>
                <a:cs typeface="Arial MT"/>
              </a:rPr>
              <a:t>p</a:t>
            </a:r>
            <a:r>
              <a:rPr sz="1300" spc="-5" dirty="0">
                <a:latin typeface="Arial MT"/>
                <a:cs typeface="Arial MT"/>
              </a:rPr>
              <a:t>12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21972" y="2838132"/>
            <a:ext cx="401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7" baseline="13888" dirty="0">
                <a:latin typeface="Arial MT"/>
                <a:cs typeface="Arial MT"/>
              </a:rPr>
              <a:t>p</a:t>
            </a:r>
            <a:r>
              <a:rPr sz="1300" spc="-5" dirty="0">
                <a:latin typeface="Arial MT"/>
                <a:cs typeface="Arial MT"/>
              </a:rPr>
              <a:t>11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1372" y="2469324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2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5772" y="36885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17504" y="3842448"/>
            <a:ext cx="1174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8572" y="34599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0304" y="3613848"/>
            <a:ext cx="1174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59972" y="3155734"/>
            <a:ext cx="386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7620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8  </a:t>
            </a:r>
            <a:r>
              <a:rPr sz="2000" dirty="0">
                <a:latin typeface="Arial MT"/>
                <a:cs typeface="Arial MT"/>
              </a:rPr>
              <a:t>p</a:t>
            </a:r>
            <a:r>
              <a:rPr sz="1950" baseline="-21367" dirty="0">
                <a:latin typeface="Arial MT"/>
                <a:cs typeface="Arial MT"/>
              </a:rPr>
              <a:t>9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31632" y="4819332"/>
            <a:ext cx="5789295" cy="119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670" algn="ctr">
              <a:lnSpc>
                <a:spcPct val="100000"/>
              </a:lnSpc>
              <a:spcBef>
                <a:spcPts val="105"/>
              </a:spcBef>
            </a:pPr>
            <a:r>
              <a:rPr sz="3000" spc="-7" baseline="13888" dirty="0">
                <a:latin typeface="Arial MT"/>
                <a:cs typeface="Arial MT"/>
              </a:rPr>
              <a:t>p</a:t>
            </a:r>
            <a:r>
              <a:rPr sz="1300" spc="-5" dirty="0"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  <a:p>
            <a:pPr marL="50800" marR="43180">
              <a:lnSpc>
                <a:spcPct val="100000"/>
              </a:lnSpc>
              <a:spcBef>
                <a:spcPts val="1989"/>
              </a:spcBef>
            </a:pPr>
            <a:r>
              <a:rPr sz="2000" dirty="0">
                <a:latin typeface="Arial MT"/>
                <a:cs typeface="Arial MT"/>
              </a:rPr>
              <a:t>Input: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3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4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5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6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7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8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8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9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10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11</a:t>
            </a:r>
            <a:r>
              <a:rPr sz="2000" spc="-5" dirty="0">
                <a:latin typeface="Arial MT"/>
                <a:cs typeface="Arial MT"/>
              </a:rPr>
              <a:t>, p</a:t>
            </a:r>
            <a:r>
              <a:rPr sz="1950" spc="-7" baseline="-21367" dirty="0">
                <a:latin typeface="Arial MT"/>
                <a:cs typeface="Arial MT"/>
              </a:rPr>
              <a:t>12 </a:t>
            </a:r>
            <a:r>
              <a:rPr sz="1950" spc="-525" baseline="-21367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Output: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6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11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12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</a:t>
            </a:r>
            <a:r>
              <a:rPr sz="1950" spc="-7" baseline="-21367" dirty="0">
                <a:latin typeface="Arial MT"/>
                <a:cs typeface="Arial MT"/>
              </a:rPr>
              <a:t>10</a:t>
            </a:r>
            <a:endParaRPr sz="1950" baseline="-2136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35" y="304800"/>
            <a:ext cx="4554569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A</a:t>
            </a:r>
            <a:r>
              <a:rPr spc="-21" dirty="0"/>
              <a:t> </a:t>
            </a:r>
            <a:r>
              <a:rPr spc="-12" dirty="0"/>
              <a:t>Brute</a:t>
            </a:r>
            <a:r>
              <a:rPr spc="-21" dirty="0"/>
              <a:t> Force </a:t>
            </a:r>
            <a:r>
              <a:rPr spc="-8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1573" y="6355118"/>
            <a:ext cx="149304" cy="162930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990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99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012725" y="2865516"/>
            <a:ext cx="5926598" cy="2787539"/>
            <a:chOff x="2439666" y="2191807"/>
            <a:chExt cx="7183755" cy="33788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0" y="4679420"/>
              <a:ext cx="227858" cy="2278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4460" y="5342360"/>
              <a:ext cx="227858" cy="2278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1244" y="2210857"/>
              <a:ext cx="2630170" cy="40640"/>
            </a:xfrm>
            <a:custGeom>
              <a:avLst/>
              <a:gdLst/>
              <a:ahLst/>
              <a:cxnLst/>
              <a:rect l="l" t="t" r="r" b="b"/>
              <a:pathLst>
                <a:path w="2630170" h="40639">
                  <a:moveTo>
                    <a:pt x="0" y="0"/>
                  </a:moveTo>
                  <a:lnTo>
                    <a:pt x="2629794" y="4046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45309" y="2210857"/>
              <a:ext cx="1408430" cy="788035"/>
            </a:xfrm>
            <a:custGeom>
              <a:avLst/>
              <a:gdLst/>
              <a:ahLst/>
              <a:cxnLst/>
              <a:rect l="l" t="t" r="r" b="b"/>
              <a:pathLst>
                <a:path w="1408429" h="788035">
                  <a:moveTo>
                    <a:pt x="1408075" y="0"/>
                  </a:moveTo>
                  <a:lnTo>
                    <a:pt x="0" y="78743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1" name="object 21"/>
            <p:cNvSpPr/>
            <p:nvPr/>
          </p:nvSpPr>
          <p:spPr>
            <a:xfrm>
              <a:off x="2468241" y="2430040"/>
              <a:ext cx="6859270" cy="1911985"/>
            </a:xfrm>
            <a:custGeom>
              <a:avLst/>
              <a:gdLst/>
              <a:ahLst/>
              <a:cxnLst/>
              <a:rect l="l" t="t" r="r" b="b"/>
              <a:pathLst>
                <a:path w="6859270" h="1911985">
                  <a:moveTo>
                    <a:pt x="0" y="1911761"/>
                  </a:moveTo>
                  <a:lnTo>
                    <a:pt x="685900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59" y="4427960"/>
              <a:ext cx="227858" cy="22785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248131" y="6048337"/>
            <a:ext cx="5561981" cy="613550"/>
          </a:xfrm>
          <a:prstGeom prst="rect">
            <a:avLst/>
          </a:prstGeom>
        </p:spPr>
        <p:txBody>
          <a:bodyPr vert="horz" wrap="square" lIns="0" tIns="7858" rIns="0" bIns="0" rtlCol="0">
            <a:spAutoFit/>
          </a:bodyPr>
          <a:lstStyle/>
          <a:p>
            <a:pPr marL="372999" marR="4191" indent="-363045">
              <a:lnSpc>
                <a:spcPct val="100800"/>
              </a:lnSpc>
              <a:spcBef>
                <a:spcPts val="62"/>
              </a:spcBef>
            </a:pPr>
            <a:r>
              <a:rPr sz="1980" b="1" spc="-8" dirty="0">
                <a:latin typeface="Calibri"/>
                <a:cs typeface="Calibri"/>
              </a:rPr>
              <a:t>Brute</a:t>
            </a:r>
            <a:r>
              <a:rPr sz="1980" b="1" spc="-4" dirty="0">
                <a:latin typeface="Calibri"/>
                <a:cs typeface="Calibri"/>
              </a:rPr>
              <a:t> </a:t>
            </a:r>
            <a:r>
              <a:rPr sz="1980" b="1" spc="-17" dirty="0">
                <a:latin typeface="Calibri"/>
                <a:cs typeface="Calibri"/>
              </a:rPr>
              <a:t>force</a:t>
            </a:r>
            <a:r>
              <a:rPr sz="1980" b="1" dirty="0">
                <a:latin typeface="Calibri"/>
                <a:cs typeface="Calibri"/>
              </a:rPr>
              <a:t> </a:t>
            </a:r>
            <a:r>
              <a:rPr sz="1980" b="1" spc="-8" dirty="0">
                <a:latin typeface="Calibri"/>
                <a:cs typeface="Calibri"/>
              </a:rPr>
              <a:t>approach:</a:t>
            </a:r>
            <a:r>
              <a:rPr sz="1980" b="1" dirty="0">
                <a:latin typeface="Calibri"/>
                <a:cs typeface="Calibri"/>
              </a:rPr>
              <a:t> </a:t>
            </a:r>
            <a:r>
              <a:rPr sz="1980" spc="-17" dirty="0">
                <a:latin typeface="Calibri"/>
                <a:cs typeface="Calibri"/>
              </a:rPr>
              <a:t>for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every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pair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points,</a:t>
            </a:r>
            <a:r>
              <a:rPr sz="1980" spc="-4" dirty="0">
                <a:latin typeface="Calibri"/>
                <a:cs typeface="Calibri"/>
              </a:rPr>
              <a:t> check if </a:t>
            </a:r>
            <a:r>
              <a:rPr sz="1980" spc="-433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all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other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12" dirty="0">
                <a:latin typeface="Calibri"/>
                <a:cs typeface="Calibri"/>
              </a:rPr>
              <a:t>are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same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side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line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768" y="2245423"/>
            <a:ext cx="3130153" cy="77232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 marR="4191" indent="75438" algn="just">
              <a:spcBef>
                <a:spcPts val="83"/>
              </a:spcBef>
            </a:pPr>
            <a:r>
              <a:rPr sz="1650" b="1" spc="-8" dirty="0">
                <a:latin typeface="Calibri"/>
                <a:cs typeface="Calibri"/>
              </a:rPr>
              <a:t>Observation: </a:t>
            </a:r>
            <a:r>
              <a:rPr sz="1650" dirty="0">
                <a:latin typeface="Calibri"/>
                <a:cs typeface="Calibri"/>
              </a:rPr>
              <a:t>if </a:t>
            </a:r>
            <a:r>
              <a:rPr sz="1650" spc="-4" dirty="0">
                <a:latin typeface="Calibri"/>
                <a:cs typeface="Calibri"/>
              </a:rPr>
              <a:t>there </a:t>
            </a:r>
            <a:r>
              <a:rPr sz="1650" spc="-8" dirty="0">
                <a:latin typeface="Calibri"/>
                <a:cs typeface="Calibri"/>
              </a:rPr>
              <a:t>are </a:t>
            </a:r>
            <a:r>
              <a:rPr sz="1650" spc="-4" dirty="0">
                <a:latin typeface="Calibri"/>
                <a:cs typeface="Calibri"/>
              </a:rPr>
              <a:t>points on 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u="sng" spc="-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both</a:t>
            </a:r>
            <a:r>
              <a:rPr sz="1650" spc="-4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sides </a:t>
            </a:r>
            <a:r>
              <a:rPr sz="1650" spc="-4" dirty="0">
                <a:latin typeface="Calibri"/>
                <a:cs typeface="Calibri"/>
              </a:rPr>
              <a:t>of </a:t>
            </a:r>
            <a:r>
              <a:rPr sz="1650" dirty="0">
                <a:latin typeface="Calibri"/>
                <a:cs typeface="Calibri"/>
              </a:rPr>
              <a:t>the </a:t>
            </a:r>
            <a:r>
              <a:rPr sz="1650" spc="-4" dirty="0">
                <a:latin typeface="Calibri"/>
                <a:cs typeface="Calibri"/>
              </a:rPr>
              <a:t>line, </a:t>
            </a:r>
            <a:r>
              <a:rPr sz="1650" dirty="0">
                <a:latin typeface="Calibri"/>
                <a:cs typeface="Calibri"/>
              </a:rPr>
              <a:t>then the </a:t>
            </a:r>
            <a:r>
              <a:rPr sz="1650" spc="-4" dirty="0">
                <a:latin typeface="Calibri"/>
                <a:cs typeface="Calibri"/>
              </a:rPr>
              <a:t>pair 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cannot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be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12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edge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12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4" dirty="0">
                <a:latin typeface="Calibri"/>
                <a:cs typeface="Calibri"/>
              </a:rPr>
              <a:t> </a:t>
            </a:r>
            <a:r>
              <a:rPr sz="1650" spc="-17" dirty="0">
                <a:latin typeface="Calibri"/>
                <a:cs typeface="Calibri"/>
              </a:rPr>
              <a:t>convex </a:t>
            </a:r>
            <a:r>
              <a:rPr sz="1650" spc="-4" dirty="0">
                <a:latin typeface="Calibri"/>
                <a:cs typeface="Calibri"/>
              </a:rPr>
              <a:t>hull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429613" y="5765800"/>
            <a:ext cx="429578" cy="233124"/>
          </a:xfrm>
          <a:custGeom>
            <a:avLst/>
            <a:gdLst/>
            <a:ahLst/>
            <a:cxnLst/>
            <a:rect l="l" t="t" r="r" b="b"/>
            <a:pathLst>
              <a:path w="520700" h="282575">
                <a:moveTo>
                  <a:pt x="430432" y="0"/>
                </a:moveTo>
                <a:lnTo>
                  <a:pt x="426413" y="11459"/>
                </a:lnTo>
                <a:lnTo>
                  <a:pt x="442756" y="18552"/>
                </a:lnTo>
                <a:lnTo>
                  <a:pt x="456811" y="28370"/>
                </a:lnTo>
                <a:lnTo>
                  <a:pt x="485349" y="73879"/>
                </a:lnTo>
                <a:lnTo>
                  <a:pt x="493684" y="115662"/>
                </a:lnTo>
                <a:lnTo>
                  <a:pt x="494725" y="139749"/>
                </a:lnTo>
                <a:lnTo>
                  <a:pt x="493679" y="164650"/>
                </a:lnTo>
                <a:lnTo>
                  <a:pt x="485307" y="207587"/>
                </a:lnTo>
                <a:lnTo>
                  <a:pt x="456830" y="253826"/>
                </a:lnTo>
                <a:lnTo>
                  <a:pt x="426860" y="270867"/>
                </a:lnTo>
                <a:lnTo>
                  <a:pt x="430432" y="282326"/>
                </a:lnTo>
                <a:lnTo>
                  <a:pt x="468941" y="264262"/>
                </a:lnTo>
                <a:lnTo>
                  <a:pt x="497255" y="232990"/>
                </a:lnTo>
                <a:lnTo>
                  <a:pt x="514668" y="191113"/>
                </a:lnTo>
                <a:lnTo>
                  <a:pt x="520472" y="141237"/>
                </a:lnTo>
                <a:lnTo>
                  <a:pt x="519017" y="115355"/>
                </a:lnTo>
                <a:lnTo>
                  <a:pt x="507371" y="69479"/>
                </a:lnTo>
                <a:lnTo>
                  <a:pt x="484275" y="32132"/>
                </a:lnTo>
                <a:lnTo>
                  <a:pt x="450900" y="7390"/>
                </a:lnTo>
                <a:lnTo>
                  <a:pt x="430432" y="0"/>
                </a:lnTo>
                <a:close/>
              </a:path>
              <a:path w="520700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2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2" y="270867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9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26" name="object 26"/>
          <p:cNvSpPr txBox="1"/>
          <p:nvPr/>
        </p:nvSpPr>
        <p:spPr>
          <a:xfrm>
            <a:off x="8104793" y="5691264"/>
            <a:ext cx="1696307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31433">
              <a:spcBef>
                <a:spcPts val="83"/>
              </a:spcBef>
              <a:tabLst>
                <a:tab pos="1406604" algn="l"/>
              </a:tabLst>
            </a:pPr>
            <a:r>
              <a:rPr sz="1980" b="1" spc="-4" dirty="0">
                <a:latin typeface="Calibri"/>
                <a:cs typeface="Calibri"/>
              </a:rPr>
              <a:t>Run-time:</a:t>
            </a:r>
            <a:r>
              <a:rPr sz="1980" b="1" spc="4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𝑂	</a:t>
            </a:r>
            <a:r>
              <a:rPr sz="1980" spc="29" dirty="0">
                <a:latin typeface="Cambria Math"/>
                <a:cs typeface="Cambria Math"/>
              </a:rPr>
              <a:t>𝑛</a:t>
            </a:r>
            <a:r>
              <a:rPr sz="2228" spc="43" baseline="26234" dirty="0">
                <a:latin typeface="Cambria Math"/>
                <a:cs typeface="Cambria Math"/>
              </a:rPr>
              <a:t>1</a:t>
            </a:r>
            <a:endParaRPr sz="2228" baseline="26234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22489" y="3684451"/>
            <a:ext cx="3206639" cy="1214342"/>
            <a:chOff x="4390895" y="3184456"/>
            <a:chExt cx="3886835" cy="1471930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EA6DD53-65E1-C1A8-8EFB-963F13E13A44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FED0C-D66B-822A-4EC4-9503F49AFAD9}"/>
              </a:ext>
            </a:extLst>
          </p:cNvPr>
          <p:cNvSpPr/>
          <p:nvPr/>
        </p:nvSpPr>
        <p:spPr>
          <a:xfrm>
            <a:off x="404554" y="26020"/>
            <a:ext cx="38885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Graham Scan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63F76-A85A-9913-B9A8-1476946DF022}"/>
              </a:ext>
            </a:extLst>
          </p:cNvPr>
          <p:cNvSpPr txBox="1"/>
          <p:nvPr/>
        </p:nvSpPr>
        <p:spPr>
          <a:xfrm>
            <a:off x="428715" y="1237423"/>
            <a:ext cx="9296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Graham scan algorithm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simple and efficient algorithm for computing the convex hull of a set of points.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works by iteratively adding points to the convex hull until all points have been added.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2D6B0-A08C-670C-F87F-A8F5183DE18F}"/>
              </a:ext>
            </a:extLst>
          </p:cNvPr>
          <p:cNvSpPr txBox="1"/>
          <p:nvPr/>
        </p:nvSpPr>
        <p:spPr>
          <a:xfrm>
            <a:off x="533400" y="2590800"/>
            <a:ext cx="9067800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algorithm starts by finding the point with the smallest y-coordinate.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there are multiple points with the same Y coordinate, the one with the smaller X coordinate is considered. This step takes   O(N)time.</a:t>
            </a:r>
            <a:endParaRPr lang="en-US" b="0" i="0" dirty="0">
              <a:solidFill>
                <a:srgbClr val="273239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point is always on the convex hull.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algorithm then sorts the remaining points by their polar angle with respect to the starting point.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algorithm then iteratively adds points to the </a:t>
            </a:r>
            <a:r>
              <a:rPr lang="en-US" b="1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convex hull</a:t>
            </a: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At each step, the algorithm checks whether the last two points added to the convex hull form a right turn.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they do, then the last point is removed from the convex hull. Otherwise, the next point in the sorted list is added to the convex hull.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algorithm terminates when all points have been added to the convex hull.</a:t>
            </a:r>
          </a:p>
        </p:txBody>
      </p:sp>
    </p:spTree>
    <p:extLst>
      <p:ext uri="{BB962C8B-B14F-4D97-AF65-F5344CB8AC3E}">
        <p14:creationId xmlns:p14="http://schemas.microsoft.com/office/powerpoint/2010/main" val="251995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9782F1-8790-4BB4-6DC7-D6F2987ECE4B}"/>
              </a:ext>
            </a:extLst>
          </p:cNvPr>
          <p:cNvSpPr txBox="1"/>
          <p:nvPr/>
        </p:nvSpPr>
        <p:spPr>
          <a:xfrm>
            <a:off x="404554" y="4191000"/>
            <a:ext cx="952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Roboto" panose="02000000000000000000" pitchFamily="2" charset="0"/>
              </a:rPr>
              <a:t>the </a:t>
            </a:r>
            <a:r>
              <a:rPr lang="en-IN" b="1" i="0" dirty="0">
                <a:effectLst/>
                <a:latin typeface="Roboto" panose="02000000000000000000" pitchFamily="2" charset="0"/>
              </a:rPr>
              <a:t>Graham's scan</a:t>
            </a:r>
            <a:r>
              <a:rPr lang="en-IN" b="0" i="0" dirty="0">
                <a:effectLst/>
                <a:latin typeface="Roboto" panose="02000000000000000000" pitchFamily="2" charset="0"/>
              </a:rPr>
              <a:t> algorithm published in 1972 by Graham, and also the </a:t>
            </a:r>
            <a:r>
              <a:rPr lang="en-IN" b="1" i="0" dirty="0">
                <a:effectLst/>
                <a:latin typeface="Roboto" panose="02000000000000000000" pitchFamily="2" charset="0"/>
              </a:rPr>
              <a:t>Monotone chain</a:t>
            </a:r>
            <a:r>
              <a:rPr lang="en-IN" b="0" i="0" dirty="0">
                <a:effectLst/>
                <a:latin typeface="Roboto" panose="02000000000000000000" pitchFamily="2" charset="0"/>
              </a:rPr>
              <a:t> algorithm published in 1979 by Andrew. </a:t>
            </a:r>
          </a:p>
          <a:p>
            <a:endParaRPr lang="en-IN" b="0" i="0" dirty="0">
              <a:effectLst/>
              <a:latin typeface="Roboto" panose="02000000000000000000" pitchFamily="2" charset="0"/>
            </a:endParaRPr>
          </a:p>
          <a:p>
            <a:r>
              <a:rPr lang="en-IN" b="0" i="0" dirty="0">
                <a:effectLst/>
                <a:latin typeface="Roboto" panose="02000000000000000000" pitchFamily="2" charset="0"/>
              </a:rPr>
              <a:t>Both are   O(N </a:t>
            </a:r>
            <a:r>
              <a:rPr lang="en-IN" b="0" i="0" dirty="0" err="1">
                <a:effectLst/>
                <a:latin typeface="Roboto" panose="02000000000000000000" pitchFamily="2" charset="0"/>
              </a:rPr>
              <a:t>log⁡N</a:t>
            </a:r>
            <a:r>
              <a:rPr lang="en-IN" b="0" i="0" dirty="0">
                <a:effectLst/>
                <a:latin typeface="Roboto" panose="02000000000000000000" pitchFamily="2" charset="0"/>
              </a:rPr>
              <a:t>)and are asymptotically optimal 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CF3FC-1228-75E1-1567-3AF001CB4627}"/>
              </a:ext>
            </a:extLst>
          </p:cNvPr>
          <p:cNvSpPr/>
          <p:nvPr/>
        </p:nvSpPr>
        <p:spPr>
          <a:xfrm>
            <a:off x="404554" y="26020"/>
            <a:ext cx="38885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Graham Scan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440E3-CE39-461D-8909-151BBDA79C68}"/>
              </a:ext>
            </a:extLst>
          </p:cNvPr>
          <p:cNvSpPr txBox="1"/>
          <p:nvPr/>
        </p:nvSpPr>
        <p:spPr>
          <a:xfrm>
            <a:off x="457200" y="1219200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If you need to include the collinear points while doing a Graham scan, you need another step after sorting. You need to get the points that have the biggest polar distance from   P</a:t>
            </a:r>
            <a:r>
              <a:rPr lang="en-US" b="0" i="0" baseline="-25000" dirty="0">
                <a:effectLst/>
                <a:latin typeface="Roboto" panose="02000000000000000000" pitchFamily="2" charset="0"/>
              </a:rPr>
              <a:t>0</a:t>
            </a:r>
            <a:r>
              <a:rPr lang="en-US" b="0" i="0" dirty="0">
                <a:effectLst/>
                <a:latin typeface="Roboto" panose="02000000000000000000" pitchFamily="2" charset="0"/>
              </a:rPr>
              <a:t>  and are collinear. </a:t>
            </a:r>
          </a:p>
          <a:p>
            <a:endParaRPr lang="en-US" dirty="0">
              <a:latin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</a:rPr>
              <a:t>If there is a positive slope  order points from left to right.</a:t>
            </a:r>
          </a:p>
          <a:p>
            <a:r>
              <a:rPr lang="en-US" dirty="0">
                <a:latin typeface="Roboto" panose="02000000000000000000" pitchFamily="2" charset="0"/>
              </a:rPr>
              <a:t>If there is a negative slope do the reverse.</a:t>
            </a:r>
          </a:p>
          <a:p>
            <a:r>
              <a:rPr lang="en-US" dirty="0">
                <a:latin typeface="Roboto" panose="02000000000000000000" pitchFamily="2" charset="0"/>
              </a:rPr>
              <a:t>If it is vertical order from top to bottom.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50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D37D-42C0-04EB-6B31-1D6C9E4E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966BD-699C-15D9-4779-3E6F5335A176}"/>
              </a:ext>
            </a:extLst>
          </p:cNvPr>
          <p:cNvSpPr txBox="1"/>
          <p:nvPr/>
        </p:nvSpPr>
        <p:spPr>
          <a:xfrm>
            <a:off x="685800" y="685800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Let points[0..n-1] be the input array.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Then the algorithm can be divided into two phases: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F36A4-4AF9-6DFF-AFFA-62849402ED22}"/>
              </a:ext>
            </a:extLst>
          </p:cNvPr>
          <p:cNvSpPr txBox="1"/>
          <p:nvPr/>
        </p:nvSpPr>
        <p:spPr>
          <a:xfrm>
            <a:off x="685800" y="1511789"/>
            <a:ext cx="8809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Phase 1 (Sort points):</a:t>
            </a:r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 the bottom-most point.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idea is to pre-process points be sorting them with respect to the bottom-most point.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Once the points are sorted, they form a simple closed path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D1C26D-F136-1A55-C770-CED7FCB8A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971800"/>
            <a:ext cx="7325747" cy="26102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AC70B0-6FD4-309D-17FE-05991420C2D0}"/>
              </a:ext>
            </a:extLst>
          </p:cNvPr>
          <p:cNvSpPr txBox="1"/>
          <p:nvPr/>
        </p:nvSpPr>
        <p:spPr>
          <a:xfrm>
            <a:off x="609600" y="5832403"/>
            <a:ext cx="906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sorting criteria?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computation of actual angles would be inefficient since trigonometric functions are not simple to evaluate.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idea is to use the orientation to compare angles without actually computing them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50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70D76-4E25-0F94-5565-FD35BECB2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7FF1AD-56AC-BEA1-C612-9DAACBCB81CD}"/>
              </a:ext>
            </a:extLst>
          </p:cNvPr>
          <p:cNvSpPr txBox="1"/>
          <p:nvPr/>
        </p:nvSpPr>
        <p:spPr>
          <a:xfrm>
            <a:off x="533400" y="533400"/>
            <a:ext cx="9220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273239"/>
                </a:solidFill>
                <a:effectLst/>
                <a:latin typeface="Nunito" pitchFamily="2" charset="0"/>
              </a:rPr>
              <a:t>Phase 2 (Accept or Reject Points):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Once we have the closed path, the next step is to traverse the path and remove concave points on this path.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How to decide which point to remove and which to keep?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Again, </a:t>
            </a:r>
            <a:r>
              <a:rPr lang="en-US" b="1" i="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orientation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helps here.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first two points in sorted array are always part of Convex Hull.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remaining points, we keep track of recent three points, and find the angle formed by them.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Let the three points be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prev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(p), 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curr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(c)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and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next(n)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 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If orientation of these points (considering them in same order) is not counterclockwise, we discard c, otherwise we keep it. (Use vector product of segments pc and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)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Following diagram shows step by step process of this phase.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80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hexagon with blue dots&#10;&#10;Description automatically generated">
            <a:extLst>
              <a:ext uri="{FF2B5EF4-FFF2-40B4-BE49-F238E27FC236}">
                <a16:creationId xmlns:a16="http://schemas.microsoft.com/office/drawing/2014/main" id="{FB1DF986-12E6-7223-AB8A-331FC711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90600"/>
            <a:ext cx="6054949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51F4AB-18A2-0DC0-0266-43C715078AD7}"/>
              </a:ext>
            </a:extLst>
          </p:cNvPr>
          <p:cNvSpPr txBox="1"/>
          <p:nvPr/>
        </p:nvSpPr>
        <p:spPr>
          <a:xfrm>
            <a:off x="609599" y="6248400"/>
            <a:ext cx="8671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Graham’s scan is a method for finding the convex hull that encompasses all points on the plane. Below you’ll see an example of a convex hull.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319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E388E-CFB2-D295-4CDD-0925978094E5}"/>
              </a:ext>
            </a:extLst>
          </p:cNvPr>
          <p:cNvSpPr txBox="1"/>
          <p:nvPr/>
        </p:nvSpPr>
        <p:spPr>
          <a:xfrm>
            <a:off x="533400" y="1843724"/>
            <a:ext cx="9220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Graham’s scan starts by finding the point with the lowest y coordinate.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there are multiple points on the y-coordinate, the point with the smallest x-value is chosen.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The points are sorted by polar angles in counterclockwise rotation.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Graham’s scan utilizes the stack.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Points are pushed onto the stack.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the point is not part of the convex hull, the point is popped from the stack.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757F6-20AF-9226-B43A-215487804CA7}"/>
              </a:ext>
            </a:extLst>
          </p:cNvPr>
          <p:cNvSpPr/>
          <p:nvPr/>
        </p:nvSpPr>
        <p:spPr>
          <a:xfrm>
            <a:off x="457200" y="228600"/>
            <a:ext cx="70418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tx2"/>
                  </a:solidFill>
                  <a:prstDash val="solid"/>
                </a:ln>
                <a:solidFill>
                  <a:schemeClr val="bg2"/>
                </a:solidFill>
              </a:rPr>
              <a:t>Graham Scan Technique</a:t>
            </a:r>
            <a:endParaRPr lang="en-US" sz="5400" b="1" cap="none" spc="0" dirty="0">
              <a:ln w="12700" cmpd="sng">
                <a:solidFill>
                  <a:schemeClr val="tx2"/>
                </a:solidFill>
                <a:prstDash val="solid"/>
              </a:ln>
              <a:solidFill>
                <a:schemeClr val="bg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132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63FF9E-16E8-537D-7B7E-256EB3CF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60" y="3809999"/>
            <a:ext cx="4179539" cy="3491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3A2805-7038-D5FA-A2A0-FBEC0EE9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67" y="533400"/>
            <a:ext cx="3505510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84B30-D311-9172-348F-6AF2D2E6DE67}"/>
              </a:ext>
            </a:extLst>
          </p:cNvPr>
          <p:cNvSpPr txBox="1"/>
          <p:nvPr/>
        </p:nvSpPr>
        <p:spPr>
          <a:xfrm>
            <a:off x="5181600" y="609600"/>
            <a:ext cx="39624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We have a set of points. </a:t>
            </a:r>
          </a:p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clear which point has the lowest </a:t>
            </a:r>
          </a:p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y-coordinate value.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0095EE1-BC2E-EAE1-7430-58FED90B4A29}"/>
              </a:ext>
            </a:extLst>
          </p:cNvPr>
          <p:cNvSpPr/>
          <p:nvPr/>
        </p:nvSpPr>
        <p:spPr>
          <a:xfrm>
            <a:off x="6705600" y="2514600"/>
            <a:ext cx="838200" cy="106680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50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E6118D-6E28-947A-F5C1-23653DBB1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3790950" cy="3267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DEC7BC-27C0-5DD2-F2F4-29D37985EFE5}"/>
              </a:ext>
            </a:extLst>
          </p:cNvPr>
          <p:cNvSpPr txBox="1"/>
          <p:nvPr/>
        </p:nvSpPr>
        <p:spPr>
          <a:xfrm>
            <a:off x="533400" y="3563034"/>
            <a:ext cx="3790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From there, points are ordered in increasing angle.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64921-CB87-8316-1480-7A2286657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1" y="152401"/>
            <a:ext cx="3581399" cy="295082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E740659-F8B0-0021-7740-13866996B1DF}"/>
              </a:ext>
            </a:extLst>
          </p:cNvPr>
          <p:cNvSpPr/>
          <p:nvPr/>
        </p:nvSpPr>
        <p:spPr>
          <a:xfrm>
            <a:off x="4648200" y="1524000"/>
            <a:ext cx="685801" cy="3810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7BDAF-817F-2324-F5F5-F5DFDB20669E}"/>
              </a:ext>
            </a:extLst>
          </p:cNvPr>
          <p:cNvSpPr txBox="1"/>
          <p:nvPr/>
        </p:nvSpPr>
        <p:spPr>
          <a:xfrm>
            <a:off x="4876800" y="3101369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Now we can follow Graham’s scan to find out which points create the convex hull. Point 0 is pushed onto the stack.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DB2FFF-9AD9-0C51-0F45-12FE6BEF8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925" y="4418053"/>
            <a:ext cx="3790950" cy="3268288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8E88A9F3-DDCF-7D22-990F-0EAA7EDE158F}"/>
              </a:ext>
            </a:extLst>
          </p:cNvPr>
          <p:cNvSpPr/>
          <p:nvPr/>
        </p:nvSpPr>
        <p:spPr>
          <a:xfrm>
            <a:off x="7620000" y="4024699"/>
            <a:ext cx="304800" cy="27489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B78CB-8D64-AB26-D66D-42E26E843DE4}"/>
              </a:ext>
            </a:extLst>
          </p:cNvPr>
          <p:cNvSpPr txBox="1"/>
          <p:nvPr/>
        </p:nvSpPr>
        <p:spPr>
          <a:xfrm>
            <a:off x="1810215" y="7173380"/>
            <a:ext cx="55626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Point 1 is pushed onto the stack immediately after.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880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9924A-F97E-A78E-ED5A-3198528B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3657600" cy="3117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DD2BA9-23CF-2042-C8C0-C5B15DA9A316}"/>
              </a:ext>
            </a:extLst>
          </p:cNvPr>
          <p:cNvSpPr txBox="1"/>
          <p:nvPr/>
        </p:nvSpPr>
        <p:spPr>
          <a:xfrm>
            <a:off x="76200" y="3117850"/>
            <a:ext cx="441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next point to be added to the stack is 2. A line is made from point 1 to point 2.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4182F-F6B7-D3D4-516D-E089E7C0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4273606" cy="3613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D272D3-DEF2-D503-E4C3-9C73B125C927}"/>
              </a:ext>
            </a:extLst>
          </p:cNvPr>
          <p:cNvSpPr txBox="1"/>
          <p:nvPr/>
        </p:nvSpPr>
        <p:spPr>
          <a:xfrm>
            <a:off x="4495800" y="3613276"/>
            <a:ext cx="5410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Whenever a left turn is made, the point is presumed to be part of the convex hull. </a:t>
            </a:r>
          </a:p>
          <a:p>
            <a:r>
              <a:rPr lang="en-US" sz="1600" dirty="0"/>
              <a:t>We can clearly see a left turn being made to reach 2 from point 1. </a:t>
            </a:r>
          </a:p>
          <a:p>
            <a:r>
              <a:rPr lang="en-US" sz="1600" dirty="0"/>
              <a:t>To get to point 3, another left turn is made. </a:t>
            </a:r>
          </a:p>
          <a:p>
            <a:r>
              <a:rPr lang="en-US" sz="1600" dirty="0"/>
              <a:t>Currently, point 3 is part of the convex hull. </a:t>
            </a:r>
          </a:p>
          <a:p>
            <a:r>
              <a:rPr lang="en-US" sz="1600" dirty="0"/>
              <a:t>A line segment is drawn from point 2 to 3 and 3 is pushed onto the stack.</a:t>
            </a:r>
            <a:endParaRPr lang="en-IN" sz="16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95540E-ED96-1B48-24D4-F73552CC96C9}"/>
              </a:ext>
            </a:extLst>
          </p:cNvPr>
          <p:cNvSpPr/>
          <p:nvPr/>
        </p:nvSpPr>
        <p:spPr>
          <a:xfrm>
            <a:off x="4343400" y="1371600"/>
            <a:ext cx="838200" cy="3810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004630-04AD-1F47-9F1B-0633E5391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0" y="4008220"/>
            <a:ext cx="3748088" cy="3111858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0A8FFAC8-4454-4F4F-5E2B-A31EBD347447}"/>
              </a:ext>
            </a:extLst>
          </p:cNvPr>
          <p:cNvSpPr/>
          <p:nvPr/>
        </p:nvSpPr>
        <p:spPr>
          <a:xfrm>
            <a:off x="3886200" y="4800600"/>
            <a:ext cx="381000" cy="328831"/>
          </a:xfrm>
          <a:prstGeom prst="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F3963-4AA9-C7A7-5506-EA72F064F939}"/>
              </a:ext>
            </a:extLst>
          </p:cNvPr>
          <p:cNvSpPr txBox="1"/>
          <p:nvPr/>
        </p:nvSpPr>
        <p:spPr>
          <a:xfrm>
            <a:off x="4074841" y="6543496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is a right turn going to point 4. </a:t>
            </a:r>
          </a:p>
          <a:p>
            <a:r>
              <a:rPr lang="en-US" dirty="0"/>
              <a:t>We’ll draw the line to point 4 but will not push it onto the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892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45FA6C-38C4-19AA-8F59-F8D127375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-14868"/>
            <a:ext cx="3906629" cy="3341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3F43AE-E796-C9BD-3477-A5D9258961F8}"/>
              </a:ext>
            </a:extLst>
          </p:cNvPr>
          <p:cNvSpPr txBox="1"/>
          <p:nvPr/>
        </p:nvSpPr>
        <p:spPr>
          <a:xfrm>
            <a:off x="4267200" y="228600"/>
            <a:ext cx="5791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Whenever a right turn is made, Graham’s scan algorithm pops the previous value from the stack and compares the new value with the top of the stack again. </a:t>
            </a:r>
          </a:p>
          <a:p>
            <a:endParaRPr lang="en-US" dirty="0"/>
          </a:p>
          <a:p>
            <a:r>
              <a:rPr lang="en-US" dirty="0"/>
              <a:t>In this case, we’ll pop 3 from the top of the stack and we’ll see if going from point 2 to point 4 creates a left bend. </a:t>
            </a:r>
          </a:p>
          <a:p>
            <a:r>
              <a:rPr lang="en-US" dirty="0"/>
              <a:t>In this case it does, so we’ll draw a line segment from 2 to 4 and push 4 onto the stack.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3D00C-E2EE-D80A-BC88-02F207E19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9621"/>
            <a:ext cx="4062413" cy="338417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A696CE8-4E6B-B7DF-EBB7-1DF4D916425C}"/>
              </a:ext>
            </a:extLst>
          </p:cNvPr>
          <p:cNvSpPr/>
          <p:nvPr/>
        </p:nvSpPr>
        <p:spPr>
          <a:xfrm>
            <a:off x="1931020" y="3319347"/>
            <a:ext cx="533400" cy="55941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086AE-9506-7FBE-EBE4-AF209B41BF4B}"/>
              </a:ext>
            </a:extLst>
          </p:cNvPr>
          <p:cNvSpPr txBox="1"/>
          <p:nvPr/>
        </p:nvSpPr>
        <p:spPr>
          <a:xfrm>
            <a:off x="4876800" y="4495800"/>
            <a:ext cx="5040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Since going from 4 to 5 creates a left turn,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we’ll push 5 onto the stack.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Point 5 is currently part of the convex hull.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071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EBAC1-D145-53BD-C201-351AC2C66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"/>
            <a:ext cx="3614659" cy="3076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571AA8-BBD9-043C-D2BE-925AE9FC7796}"/>
              </a:ext>
            </a:extLst>
          </p:cNvPr>
          <p:cNvSpPr txBox="1"/>
          <p:nvPr/>
        </p:nvSpPr>
        <p:spPr>
          <a:xfrm>
            <a:off x="4267200" y="228600"/>
            <a:ext cx="541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Moving from point 5 to 6 creates a left-hand turn, so we’ll push 6 onto the stack.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Point 6 is currently part of the convex hull.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B3726-89FE-CD6E-5BA7-00BFD489D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81400"/>
            <a:ext cx="3843259" cy="3170035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6EC260BF-F64F-7A5D-265E-BBBB7478596C}"/>
              </a:ext>
            </a:extLst>
          </p:cNvPr>
          <p:cNvSpPr/>
          <p:nvPr/>
        </p:nvSpPr>
        <p:spPr>
          <a:xfrm>
            <a:off x="1295400" y="3048000"/>
            <a:ext cx="381000" cy="38100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5605A-9C5D-F9BC-23DC-CE2E3C2C4724}"/>
              </a:ext>
            </a:extLst>
          </p:cNvPr>
          <p:cNvSpPr txBox="1"/>
          <p:nvPr/>
        </p:nvSpPr>
        <p:spPr>
          <a:xfrm>
            <a:off x="353122" y="6903835"/>
            <a:ext cx="3718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get to point 7, we must make a right-hand turn at 6.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B84CAE-F8BB-541E-B48E-9FEA3FCA1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059" y="2209800"/>
            <a:ext cx="4410615" cy="35718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4353725-8EBC-8F41-0F41-F800AFD2BEA0}"/>
              </a:ext>
            </a:extLst>
          </p:cNvPr>
          <p:cNvSpPr/>
          <p:nvPr/>
        </p:nvSpPr>
        <p:spPr>
          <a:xfrm>
            <a:off x="4202788" y="4419600"/>
            <a:ext cx="576341" cy="3810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5EA23-B3F6-F9BF-1E4D-3C6AE396DA93}"/>
              </a:ext>
            </a:extLst>
          </p:cNvPr>
          <p:cNvSpPr txBox="1"/>
          <p:nvPr/>
        </p:nvSpPr>
        <p:spPr>
          <a:xfrm>
            <a:off x="4778298" y="6019934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Point 6 is popped from the stack and the turn is examined from point 5 to point 7. </a:t>
            </a:r>
          </a:p>
          <a:p>
            <a:r>
              <a:rPr lang="en-US" dirty="0"/>
              <a:t>Since we make a left-hand turn from point 5 to point 7, we push point 7 onto the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532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40832C-6D03-B85B-9F1F-7032001C8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434"/>
            <a:ext cx="3771219" cy="33581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B52084-268D-A5B9-67D1-4BB04ACE3AAA}"/>
              </a:ext>
            </a:extLst>
          </p:cNvPr>
          <p:cNvSpPr txBox="1"/>
          <p:nvPr/>
        </p:nvSpPr>
        <p:spPr>
          <a:xfrm>
            <a:off x="4876800" y="228600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attempt to push point 8 onto the stack. </a:t>
            </a:r>
          </a:p>
          <a:p>
            <a:r>
              <a:rPr lang="en-US" dirty="0"/>
              <a:t>To get to point 8, we make a left at point 7, therefore point 8 is added to the stack. </a:t>
            </a:r>
          </a:p>
          <a:p>
            <a:r>
              <a:rPr lang="en-US" dirty="0"/>
              <a:t>Point 8 is currently part of the convex hull.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8BDE0-B87A-ACF0-71E4-8E75EC40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19" y="3926160"/>
            <a:ext cx="4076700" cy="3371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AC4433-2338-D0C1-E5E6-3EF71DDA1EB4}"/>
              </a:ext>
            </a:extLst>
          </p:cNvPr>
          <p:cNvSpPr txBox="1"/>
          <p:nvPr/>
        </p:nvSpPr>
        <p:spPr>
          <a:xfrm>
            <a:off x="4648200" y="4572000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Going to point 9 requires a right-hand turn at point 8.</a:t>
            </a:r>
            <a:endParaRPr lang="en-IN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CEAD1A1-4B73-CD39-E68E-C0B589D656A1}"/>
              </a:ext>
            </a:extLst>
          </p:cNvPr>
          <p:cNvSpPr/>
          <p:nvPr/>
        </p:nvSpPr>
        <p:spPr>
          <a:xfrm>
            <a:off x="2057400" y="3200400"/>
            <a:ext cx="457200" cy="645840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327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9DBA96-BCE2-6660-0CFA-AB4B91E2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52400"/>
            <a:ext cx="3805084" cy="3276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9996C-E8ED-1243-07F7-319648DECCBF}"/>
              </a:ext>
            </a:extLst>
          </p:cNvPr>
          <p:cNvSpPr txBox="1"/>
          <p:nvPr/>
        </p:nvSpPr>
        <p:spPr>
          <a:xfrm>
            <a:off x="4267199" y="381000"/>
            <a:ext cx="5486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Since there’s a right-hand turn, point 8 is popped from the stack and point 9 is compared with point 7.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C1F97-FBF8-895B-E42E-F77A7866F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19351"/>
            <a:ext cx="4038599" cy="348691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59864295-4ADB-AA85-49E7-1FFD2B24420B}"/>
              </a:ext>
            </a:extLst>
          </p:cNvPr>
          <p:cNvSpPr/>
          <p:nvPr/>
        </p:nvSpPr>
        <p:spPr>
          <a:xfrm>
            <a:off x="1676400" y="3276600"/>
            <a:ext cx="457200" cy="57644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46568-915F-3CC0-B5CB-4A75C1EAB0F5}"/>
              </a:ext>
            </a:extLst>
          </p:cNvPr>
          <p:cNvSpPr txBox="1"/>
          <p:nvPr/>
        </p:nvSpPr>
        <p:spPr>
          <a:xfrm>
            <a:off x="4748558" y="4022467"/>
            <a:ext cx="51574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get to point 9 from point 7 requires another right-turn, so we pop point 7 from the stack too and compare point 9 to point 5. </a:t>
            </a:r>
          </a:p>
          <a:p>
            <a:endParaRPr lang="en-US" dirty="0"/>
          </a:p>
          <a:p>
            <a:r>
              <a:rPr lang="en-US" dirty="0"/>
              <a:t>We make a left-hand turn at point 5 to get to point 9, so 9 is pushed onto the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663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45025E-7877-77BF-EDC9-27F650CB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600"/>
            <a:ext cx="3663043" cy="3205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040E62-75DE-A5C3-FB25-BD92E42F3037}"/>
              </a:ext>
            </a:extLst>
          </p:cNvPr>
          <p:cNvSpPr txBox="1"/>
          <p:nvPr/>
        </p:nvSpPr>
        <p:spPr>
          <a:xfrm>
            <a:off x="533400" y="3433763"/>
            <a:ext cx="464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Next, we make a left turn to get to point 10. Point 10 is currently part of the convex hull.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DFC40-0574-3C54-EF28-47CC2947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459" y="-28278"/>
            <a:ext cx="3760284" cy="320516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F160F4E-8E59-D27D-3673-36BD00CBE43B}"/>
              </a:ext>
            </a:extLst>
          </p:cNvPr>
          <p:cNvSpPr/>
          <p:nvPr/>
        </p:nvSpPr>
        <p:spPr>
          <a:xfrm>
            <a:off x="4572000" y="1524000"/>
            <a:ext cx="838200" cy="4572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9532C-EA83-3ED9-7D55-6D5BA10FCEED}"/>
              </a:ext>
            </a:extLst>
          </p:cNvPr>
          <p:cNvSpPr txBox="1"/>
          <p:nvPr/>
        </p:nvSpPr>
        <p:spPr>
          <a:xfrm>
            <a:off x="5814172" y="3288791"/>
            <a:ext cx="434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right turn is required to get to point 11 </a:t>
            </a:r>
          </a:p>
          <a:p>
            <a:r>
              <a:rPr lang="en-US" dirty="0"/>
              <a:t>from point 10.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EC12F3-8752-19D9-C7B9-58CEB75E6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4319587"/>
            <a:ext cx="4084425" cy="3452813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780604E0-B659-869F-81CC-8DC3F8704A66}"/>
              </a:ext>
            </a:extLst>
          </p:cNvPr>
          <p:cNvSpPr/>
          <p:nvPr/>
        </p:nvSpPr>
        <p:spPr>
          <a:xfrm>
            <a:off x="7743556" y="3886200"/>
            <a:ext cx="484632" cy="648023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945C7-AA79-28B3-C639-E63A90927A63}"/>
              </a:ext>
            </a:extLst>
          </p:cNvPr>
          <p:cNvSpPr txBox="1"/>
          <p:nvPr/>
        </p:nvSpPr>
        <p:spPr>
          <a:xfrm>
            <a:off x="87902" y="5307329"/>
            <a:ext cx="50793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Since a right turn is taken at point 10, point 10 is popped from the stack and the path to point 10 from point 9 is examined. </a:t>
            </a:r>
          </a:p>
          <a:p>
            <a:r>
              <a:rPr lang="en-US" dirty="0"/>
              <a:t>Since a left turn is made at point 9 to get to point 11, point 11 is pushed onto the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144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A98B97-5354-741A-5A42-3718F429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5576"/>
            <a:ext cx="3689104" cy="3118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6877C-B47A-704A-1194-E57A2B72562D}"/>
              </a:ext>
            </a:extLst>
          </p:cNvPr>
          <p:cNvSpPr txBox="1"/>
          <p:nvPr/>
        </p:nvSpPr>
        <p:spPr>
          <a:xfrm>
            <a:off x="228600" y="3034386"/>
            <a:ext cx="441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Since a right turn is taken at point 10, point 10 is popped from the stack and the path to point 10 from point 9 is examined. </a:t>
            </a:r>
          </a:p>
          <a:p>
            <a:r>
              <a:rPr lang="en-US" dirty="0"/>
              <a:t>Since a left turn is made at point 9 to get to point 11, point 11 is pushed onto the stack.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C71B2-2C2D-796C-3A32-606685F4D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787" y="0"/>
            <a:ext cx="4047613" cy="33718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B5FBE5C-3835-15EB-8C79-8581482EEB7A}"/>
              </a:ext>
            </a:extLst>
          </p:cNvPr>
          <p:cNvSpPr/>
          <p:nvPr/>
        </p:nvSpPr>
        <p:spPr>
          <a:xfrm>
            <a:off x="4419600" y="1295400"/>
            <a:ext cx="609600" cy="4572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28204-6B52-B7C0-C3F3-4C8FE19A64F7}"/>
              </a:ext>
            </a:extLst>
          </p:cNvPr>
          <p:cNvSpPr txBox="1"/>
          <p:nvPr/>
        </p:nvSpPr>
        <p:spPr>
          <a:xfrm>
            <a:off x="5029200" y="3311385"/>
            <a:ext cx="502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left turn is made at point 11 to get to point 12. Point 12 is therefore pushed onto the stack and is currently considered part of the convex hull.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E97406-33DD-CD07-1169-F041365FD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726641"/>
            <a:ext cx="3352800" cy="2801501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47140F31-6C30-A5C9-4D66-AE9280F7AC0B}"/>
              </a:ext>
            </a:extLst>
          </p:cNvPr>
          <p:cNvSpPr/>
          <p:nvPr/>
        </p:nvSpPr>
        <p:spPr>
          <a:xfrm>
            <a:off x="6934200" y="4401661"/>
            <a:ext cx="381000" cy="398939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E71C9A-A50F-170F-E6B8-5BC512A37D53}"/>
              </a:ext>
            </a:extLst>
          </p:cNvPr>
          <p:cNvSpPr txBox="1"/>
          <p:nvPr/>
        </p:nvSpPr>
        <p:spPr>
          <a:xfrm>
            <a:off x="228599" y="5506679"/>
            <a:ext cx="540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right turn is required to go to point 13 from point 12.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334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D48443-BD2C-E7F2-E0C9-0F6CA534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3778460" cy="3262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868C50-5772-82C3-4563-E3BF645057C1}"/>
              </a:ext>
            </a:extLst>
          </p:cNvPr>
          <p:cNvSpPr txBox="1"/>
          <p:nvPr/>
        </p:nvSpPr>
        <p:spPr>
          <a:xfrm>
            <a:off x="150541" y="3233559"/>
            <a:ext cx="43452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Point 12 is popped from the stack and the path to point 13 from point 11 is examined. Since a left turn is made at point 11, point 13 is pushed onto the stack.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FA97D-0FAD-ABE5-6257-31177B60E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161"/>
            <a:ext cx="3501481" cy="303832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6B89C1D-D439-42B9-8F80-CA16FD65847F}"/>
              </a:ext>
            </a:extLst>
          </p:cNvPr>
          <p:cNvSpPr/>
          <p:nvPr/>
        </p:nvSpPr>
        <p:spPr>
          <a:xfrm>
            <a:off x="4419600" y="1371600"/>
            <a:ext cx="914400" cy="3810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CE7A5-9E88-17CE-DA0A-A81B03666CCB}"/>
              </a:ext>
            </a:extLst>
          </p:cNvPr>
          <p:cNvSpPr txBox="1"/>
          <p:nvPr/>
        </p:nvSpPr>
        <p:spPr>
          <a:xfrm>
            <a:off x="4867508" y="3187392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left turn is made at point 13 to get to point 14, so point 14 is pushed onto the stack.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720D8C-310B-BF5F-E5B5-8CD1DADE0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619471"/>
            <a:ext cx="3807530" cy="31287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4BCEC8-4C16-4B5B-91B1-B4C3ABA934BE}"/>
              </a:ext>
            </a:extLst>
          </p:cNvPr>
          <p:cNvSpPr txBox="1"/>
          <p:nvPr/>
        </p:nvSpPr>
        <p:spPr>
          <a:xfrm>
            <a:off x="126380" y="5545515"/>
            <a:ext cx="5360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right turn is required to go from point 14 to point 15.</a:t>
            </a:r>
            <a:endParaRPr lang="en-IN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F9BE4FF-776F-AEEF-5FB0-12C2D3B8AA14}"/>
              </a:ext>
            </a:extLst>
          </p:cNvPr>
          <p:cNvSpPr/>
          <p:nvPr/>
        </p:nvSpPr>
        <p:spPr>
          <a:xfrm>
            <a:off x="7010400" y="3903431"/>
            <a:ext cx="371708" cy="59384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013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E68718-E47F-8D3C-F09A-36604A35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228600"/>
            <a:ext cx="3886200" cy="3359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323FF1-3575-C409-A844-E3D57D0BB8F2}"/>
              </a:ext>
            </a:extLst>
          </p:cNvPr>
          <p:cNvSpPr txBox="1"/>
          <p:nvPr/>
        </p:nvSpPr>
        <p:spPr>
          <a:xfrm>
            <a:off x="100741" y="3591346"/>
            <a:ext cx="502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Since a right turn was made at point 14, point 14 is popped from the stack. </a:t>
            </a:r>
          </a:p>
          <a:p>
            <a:r>
              <a:rPr lang="en-US" dirty="0"/>
              <a:t>The path to point 15 from point 13 is examined next. </a:t>
            </a:r>
          </a:p>
          <a:p>
            <a:r>
              <a:rPr lang="en-US" dirty="0"/>
              <a:t>A left turn is made at point 13 to get to point 15, so point 15 is pushed onto the stack.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23EB1-D084-BB13-57C8-6022893CD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460" y="-20443"/>
            <a:ext cx="4561023" cy="3906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D77CA-3AA6-8E00-8159-98DE981FB140}"/>
              </a:ext>
            </a:extLst>
          </p:cNvPr>
          <p:cNvSpPr txBox="1"/>
          <p:nvPr/>
        </p:nvSpPr>
        <p:spPr>
          <a:xfrm>
            <a:off x="5382045" y="3886200"/>
            <a:ext cx="43715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Going from point 15 to the starting point 0 </a:t>
            </a:r>
          </a:p>
          <a:p>
            <a:r>
              <a:rPr lang="en-US" dirty="0"/>
              <a:t>requires a left turn. </a:t>
            </a:r>
          </a:p>
          <a:p>
            <a:r>
              <a:rPr lang="en-US" dirty="0"/>
              <a:t>Since the initial point was the point that we needed to reach to complete the convex hull, the algorithm ends.</a:t>
            </a:r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C65706-1878-209C-2292-80B719087CA0}"/>
              </a:ext>
            </a:extLst>
          </p:cNvPr>
          <p:cNvSpPr/>
          <p:nvPr/>
        </p:nvSpPr>
        <p:spPr>
          <a:xfrm>
            <a:off x="4572000" y="1752600"/>
            <a:ext cx="791460" cy="36141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107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797" y="457200"/>
            <a:ext cx="306667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1001">
              <a:spcBef>
                <a:spcPts val="83"/>
              </a:spcBef>
            </a:pPr>
            <a:r>
              <a:rPr spc="-37" dirty="0"/>
              <a:t>Graham’s</a:t>
            </a:r>
            <a:r>
              <a:rPr spc="-78" dirty="0"/>
              <a:t> </a:t>
            </a:r>
            <a:r>
              <a:rPr spc="-8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16121" y="2746666"/>
            <a:ext cx="13882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22817" y="3463328"/>
            <a:ext cx="81201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82427" y="4054258"/>
            <a:ext cx="68628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51336" y="4876533"/>
            <a:ext cx="119444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11464" y="4670335"/>
            <a:ext cx="11315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051323" y="3644379"/>
            <a:ext cx="140399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1254" y="5043526"/>
            <a:ext cx="187983" cy="1879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783689" y="5002263"/>
            <a:ext cx="123635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1938" y="5464722"/>
            <a:ext cx="187983" cy="1879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91100" y="5424715"/>
            <a:ext cx="130445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61871" y="2847250"/>
            <a:ext cx="107918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532885" y="3845547"/>
            <a:ext cx="121539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666249" y="3973791"/>
            <a:ext cx="137255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485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47703" y="2705509"/>
            <a:ext cx="5792486" cy="2869263"/>
            <a:chOff x="2845700" y="1997859"/>
            <a:chExt cx="7021195" cy="3477895"/>
          </a:xfrm>
        </p:grpSpPr>
        <p:sp>
          <p:nvSpPr>
            <p:cNvPr id="28" name="object 28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2318" y="3378945"/>
              <a:ext cx="695325" cy="2077720"/>
            </a:xfrm>
            <a:custGeom>
              <a:avLst/>
              <a:gdLst/>
              <a:ahLst/>
              <a:cxnLst/>
              <a:rect l="l" t="t" r="r" b="b"/>
              <a:pathLst>
                <a:path w="695325" h="2077720">
                  <a:moveTo>
                    <a:pt x="0" y="2077344"/>
                  </a:moveTo>
                  <a:lnTo>
                    <a:pt x="69486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0" name="object 30"/>
            <p:cNvSpPr/>
            <p:nvPr/>
          </p:nvSpPr>
          <p:spPr>
            <a:xfrm>
              <a:off x="4467315" y="2324787"/>
              <a:ext cx="851535" cy="3018155"/>
            </a:xfrm>
            <a:custGeom>
              <a:avLst/>
              <a:gdLst/>
              <a:ahLst/>
              <a:cxnLst/>
              <a:rect l="l" t="t" r="r" b="b"/>
              <a:pathLst>
                <a:path w="851535" h="3018154">
                  <a:moveTo>
                    <a:pt x="851075" y="3017573"/>
                  </a:moveTo>
                  <a:lnTo>
                    <a:pt x="37510" y="1584011"/>
                  </a:lnTo>
                </a:path>
                <a:path w="851535" h="3018154">
                  <a:moveTo>
                    <a:pt x="851075" y="3017573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1" name="object 31"/>
            <p:cNvSpPr/>
            <p:nvPr/>
          </p:nvSpPr>
          <p:spPr>
            <a:xfrm>
              <a:off x="2945310" y="3159410"/>
              <a:ext cx="2292985" cy="2216785"/>
            </a:xfrm>
            <a:custGeom>
              <a:avLst/>
              <a:gdLst/>
              <a:ahLst/>
              <a:cxnLst/>
              <a:rect l="l" t="t" r="r" b="b"/>
              <a:pathLst>
                <a:path w="2292985" h="2216785">
                  <a:moveTo>
                    <a:pt x="2292519" y="221631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2" name="object 32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1474290" y="58238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3" name="object 33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4" name="object 34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5" name="object 35"/>
            <p:cNvSpPr/>
            <p:nvPr/>
          </p:nvSpPr>
          <p:spPr>
            <a:xfrm>
              <a:off x="7372158" y="2412438"/>
              <a:ext cx="1751964" cy="1050290"/>
            </a:xfrm>
            <a:custGeom>
              <a:avLst/>
              <a:gdLst/>
              <a:ahLst/>
              <a:cxnLst/>
              <a:rect l="l" t="t" r="r" b="b"/>
              <a:pathLst>
                <a:path w="1751965" h="1050289">
                  <a:moveTo>
                    <a:pt x="0" y="0"/>
                  </a:moveTo>
                  <a:lnTo>
                    <a:pt x="1751870" y="1049929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6" name="object 36"/>
            <p:cNvSpPr/>
            <p:nvPr/>
          </p:nvSpPr>
          <p:spPr>
            <a:xfrm>
              <a:off x="5432318" y="2412438"/>
              <a:ext cx="3963670" cy="3044190"/>
            </a:xfrm>
            <a:custGeom>
              <a:avLst/>
              <a:gdLst/>
              <a:ahLst/>
              <a:cxnLst/>
              <a:rect l="l" t="t" r="r" b="b"/>
              <a:pathLst>
                <a:path w="3963670" h="3044190">
                  <a:moveTo>
                    <a:pt x="0" y="3043851"/>
                  </a:moveTo>
                  <a:lnTo>
                    <a:pt x="1778719" y="0"/>
                  </a:lnTo>
                </a:path>
                <a:path w="3963670" h="3044190">
                  <a:moveTo>
                    <a:pt x="0" y="3043851"/>
                  </a:moveTo>
                  <a:lnTo>
                    <a:pt x="872310" y="2210011"/>
                  </a:lnTo>
                </a:path>
                <a:path w="3963670" h="3044190">
                  <a:moveTo>
                    <a:pt x="0" y="3043851"/>
                  </a:moveTo>
                  <a:lnTo>
                    <a:pt x="2650768" y="1365531"/>
                  </a:lnTo>
                </a:path>
                <a:path w="3963670" h="3044190">
                  <a:moveTo>
                    <a:pt x="0" y="3043851"/>
                  </a:moveTo>
                  <a:lnTo>
                    <a:pt x="3691710" y="1211050"/>
                  </a:lnTo>
                </a:path>
                <a:path w="3963670" h="3044190">
                  <a:moveTo>
                    <a:pt x="0" y="3043851"/>
                  </a:moveTo>
                  <a:lnTo>
                    <a:pt x="3963141" y="253331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7" name="object 37"/>
            <p:cNvSpPr/>
            <p:nvPr/>
          </p:nvSpPr>
          <p:spPr>
            <a:xfrm>
              <a:off x="4581244" y="2210857"/>
              <a:ext cx="2596515" cy="121285"/>
            </a:xfrm>
            <a:custGeom>
              <a:avLst/>
              <a:gdLst/>
              <a:ahLst/>
              <a:cxnLst/>
              <a:rect l="l" t="t" r="r" b="b"/>
              <a:pathLst>
                <a:path w="2596515" h="121285">
                  <a:moveTo>
                    <a:pt x="0" y="0"/>
                  </a:moveTo>
                  <a:lnTo>
                    <a:pt x="2596425" y="12102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8" name="object 38"/>
            <p:cNvSpPr/>
            <p:nvPr/>
          </p:nvSpPr>
          <p:spPr>
            <a:xfrm>
              <a:off x="2945310" y="2291417"/>
              <a:ext cx="1441450" cy="707390"/>
            </a:xfrm>
            <a:custGeom>
              <a:avLst/>
              <a:gdLst/>
              <a:ahLst/>
              <a:cxnLst/>
              <a:rect l="l" t="t" r="r" b="b"/>
              <a:pathLst>
                <a:path w="1441450" h="707389">
                  <a:moveTo>
                    <a:pt x="0" y="706871"/>
                  </a:moveTo>
                  <a:lnTo>
                    <a:pt x="1441444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39" name="object 39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40" name="object 40"/>
            <p:cNvSpPr/>
            <p:nvPr/>
          </p:nvSpPr>
          <p:spPr>
            <a:xfrm>
              <a:off x="8560153" y="1997859"/>
              <a:ext cx="1306830" cy="1430020"/>
            </a:xfrm>
            <a:custGeom>
              <a:avLst/>
              <a:gdLst/>
              <a:ahLst/>
              <a:cxnLst/>
              <a:rect l="l" t="t" r="r" b="b"/>
              <a:pathLst>
                <a:path w="1306829" h="1430020">
                  <a:moveTo>
                    <a:pt x="1304766" y="1360769"/>
                  </a:moveTo>
                  <a:lnTo>
                    <a:pt x="1228544" y="1360769"/>
                  </a:lnTo>
                  <a:lnTo>
                    <a:pt x="1228632" y="1362596"/>
                  </a:lnTo>
                  <a:lnTo>
                    <a:pt x="1230194" y="1429557"/>
                  </a:lnTo>
                  <a:lnTo>
                    <a:pt x="1306372" y="1427730"/>
                  </a:lnTo>
                  <a:lnTo>
                    <a:pt x="1304766" y="1360769"/>
                  </a:lnTo>
                  <a:close/>
                </a:path>
                <a:path w="1306829" h="1430020">
                  <a:moveTo>
                    <a:pt x="1228566" y="1361687"/>
                  </a:moveTo>
                  <a:lnTo>
                    <a:pt x="1228588" y="1362596"/>
                  </a:lnTo>
                  <a:lnTo>
                    <a:pt x="1228566" y="1361687"/>
                  </a:lnTo>
                  <a:close/>
                </a:path>
                <a:path w="1306829" h="1430020">
                  <a:moveTo>
                    <a:pt x="1300132" y="1294711"/>
                  </a:moveTo>
                  <a:lnTo>
                    <a:pt x="1223733" y="1294711"/>
                  </a:lnTo>
                  <a:lnTo>
                    <a:pt x="1223909" y="1296530"/>
                  </a:lnTo>
                  <a:lnTo>
                    <a:pt x="1228566" y="1361687"/>
                  </a:lnTo>
                  <a:lnTo>
                    <a:pt x="1228544" y="1360769"/>
                  </a:lnTo>
                  <a:lnTo>
                    <a:pt x="1304766" y="1360769"/>
                  </a:lnTo>
                  <a:lnTo>
                    <a:pt x="1304700" y="1358026"/>
                  </a:lnTo>
                  <a:lnTo>
                    <a:pt x="1300132" y="1294711"/>
                  </a:lnTo>
                  <a:close/>
                </a:path>
                <a:path w="1306829" h="1430020">
                  <a:moveTo>
                    <a:pt x="1223799" y="1295620"/>
                  </a:moveTo>
                  <a:lnTo>
                    <a:pt x="1223865" y="1296530"/>
                  </a:lnTo>
                  <a:lnTo>
                    <a:pt x="1223799" y="1295620"/>
                  </a:lnTo>
                  <a:close/>
                </a:path>
                <a:path w="1306829" h="1430020">
                  <a:moveTo>
                    <a:pt x="1223733" y="1294711"/>
                  </a:moveTo>
                  <a:lnTo>
                    <a:pt x="1223799" y="1295620"/>
                  </a:lnTo>
                  <a:lnTo>
                    <a:pt x="1223909" y="1296530"/>
                  </a:lnTo>
                  <a:lnTo>
                    <a:pt x="1223733" y="1294711"/>
                  </a:lnTo>
                  <a:close/>
                </a:path>
                <a:path w="1306829" h="1430020">
                  <a:moveTo>
                    <a:pt x="1292595" y="1229631"/>
                  </a:moveTo>
                  <a:lnTo>
                    <a:pt x="1215844" y="1229631"/>
                  </a:lnTo>
                  <a:lnTo>
                    <a:pt x="1216106" y="1231435"/>
                  </a:lnTo>
                  <a:lnTo>
                    <a:pt x="1223799" y="1295620"/>
                  </a:lnTo>
                  <a:lnTo>
                    <a:pt x="1223733" y="1294711"/>
                  </a:lnTo>
                  <a:lnTo>
                    <a:pt x="1300132" y="1294711"/>
                  </a:lnTo>
                  <a:lnTo>
                    <a:pt x="1299671" y="1288315"/>
                  </a:lnTo>
                  <a:lnTo>
                    <a:pt x="1292595" y="1229631"/>
                  </a:lnTo>
                  <a:close/>
                </a:path>
                <a:path w="1306829" h="1430020">
                  <a:moveTo>
                    <a:pt x="1215953" y="1230530"/>
                  </a:moveTo>
                  <a:lnTo>
                    <a:pt x="1216062" y="1231435"/>
                  </a:lnTo>
                  <a:lnTo>
                    <a:pt x="1215953" y="1230530"/>
                  </a:lnTo>
                  <a:close/>
                </a:path>
                <a:path w="1306829" h="1430020">
                  <a:moveTo>
                    <a:pt x="1215844" y="1229631"/>
                  </a:moveTo>
                  <a:lnTo>
                    <a:pt x="1215953" y="1230530"/>
                  </a:lnTo>
                  <a:lnTo>
                    <a:pt x="1216106" y="1231435"/>
                  </a:lnTo>
                  <a:lnTo>
                    <a:pt x="1215844" y="1229631"/>
                  </a:lnTo>
                  <a:close/>
                </a:path>
                <a:path w="1306829" h="1430020">
                  <a:moveTo>
                    <a:pt x="1282237" y="1165607"/>
                  </a:moveTo>
                  <a:lnTo>
                    <a:pt x="1204951" y="1165607"/>
                  </a:lnTo>
                  <a:lnTo>
                    <a:pt x="1205298" y="1167392"/>
                  </a:lnTo>
                  <a:lnTo>
                    <a:pt x="1215953" y="1230530"/>
                  </a:lnTo>
                  <a:lnTo>
                    <a:pt x="1215844" y="1229631"/>
                  </a:lnTo>
                  <a:lnTo>
                    <a:pt x="1292595" y="1229631"/>
                  </a:lnTo>
                  <a:lnTo>
                    <a:pt x="1291386" y="1219605"/>
                  </a:lnTo>
                  <a:lnTo>
                    <a:pt x="1282237" y="1165607"/>
                  </a:lnTo>
                  <a:close/>
                </a:path>
                <a:path w="1306829" h="1430020">
                  <a:moveTo>
                    <a:pt x="1205103" y="1166501"/>
                  </a:moveTo>
                  <a:lnTo>
                    <a:pt x="1205254" y="1167392"/>
                  </a:lnTo>
                  <a:lnTo>
                    <a:pt x="1205103" y="1166501"/>
                  </a:lnTo>
                  <a:close/>
                </a:path>
                <a:path w="1306829" h="1430020">
                  <a:moveTo>
                    <a:pt x="1204951" y="1165607"/>
                  </a:moveTo>
                  <a:lnTo>
                    <a:pt x="1205103" y="1166501"/>
                  </a:lnTo>
                  <a:lnTo>
                    <a:pt x="1205298" y="1167392"/>
                  </a:lnTo>
                  <a:lnTo>
                    <a:pt x="1204951" y="1165607"/>
                  </a:lnTo>
                  <a:close/>
                </a:path>
                <a:path w="1306829" h="1430020">
                  <a:moveTo>
                    <a:pt x="1269141" y="1102720"/>
                  </a:moveTo>
                  <a:lnTo>
                    <a:pt x="1191136" y="1102720"/>
                  </a:lnTo>
                  <a:lnTo>
                    <a:pt x="1191566" y="1104482"/>
                  </a:lnTo>
                  <a:lnTo>
                    <a:pt x="1205103" y="1166501"/>
                  </a:lnTo>
                  <a:lnTo>
                    <a:pt x="1204951" y="1165607"/>
                  </a:lnTo>
                  <a:lnTo>
                    <a:pt x="1282237" y="1165607"/>
                  </a:lnTo>
                  <a:lnTo>
                    <a:pt x="1279928" y="1151981"/>
                  </a:lnTo>
                  <a:lnTo>
                    <a:pt x="1269141" y="1102720"/>
                  </a:lnTo>
                  <a:close/>
                </a:path>
                <a:path w="1306829" h="1430020">
                  <a:moveTo>
                    <a:pt x="1191333" y="1103619"/>
                  </a:moveTo>
                  <a:lnTo>
                    <a:pt x="1191522" y="1104482"/>
                  </a:lnTo>
                  <a:lnTo>
                    <a:pt x="1191333" y="1103619"/>
                  </a:lnTo>
                  <a:close/>
                </a:path>
                <a:path w="1306829" h="1430020">
                  <a:moveTo>
                    <a:pt x="1191136" y="1102720"/>
                  </a:moveTo>
                  <a:lnTo>
                    <a:pt x="1191333" y="1103619"/>
                  </a:lnTo>
                  <a:lnTo>
                    <a:pt x="1191566" y="1104482"/>
                  </a:lnTo>
                  <a:lnTo>
                    <a:pt x="1191136" y="1102720"/>
                  </a:lnTo>
                  <a:close/>
                </a:path>
                <a:path w="1306829" h="1430020">
                  <a:moveTo>
                    <a:pt x="1253392" y="1041048"/>
                  </a:moveTo>
                  <a:lnTo>
                    <a:pt x="1174475" y="1041048"/>
                  </a:lnTo>
                  <a:lnTo>
                    <a:pt x="1174987" y="1042783"/>
                  </a:lnTo>
                  <a:lnTo>
                    <a:pt x="1191333" y="1103619"/>
                  </a:lnTo>
                  <a:lnTo>
                    <a:pt x="1191136" y="1102720"/>
                  </a:lnTo>
                  <a:lnTo>
                    <a:pt x="1269141" y="1102720"/>
                  </a:lnTo>
                  <a:lnTo>
                    <a:pt x="1265378" y="1085535"/>
                  </a:lnTo>
                  <a:lnTo>
                    <a:pt x="1253392" y="1041048"/>
                  </a:lnTo>
                  <a:close/>
                </a:path>
                <a:path w="1306829" h="1430020">
                  <a:moveTo>
                    <a:pt x="1174711" y="1041922"/>
                  </a:moveTo>
                  <a:lnTo>
                    <a:pt x="1174943" y="1042783"/>
                  </a:lnTo>
                  <a:lnTo>
                    <a:pt x="1174711" y="1041922"/>
                  </a:lnTo>
                  <a:close/>
                </a:path>
                <a:path w="1306829" h="1430020">
                  <a:moveTo>
                    <a:pt x="1174475" y="1041048"/>
                  </a:moveTo>
                  <a:lnTo>
                    <a:pt x="1174711" y="1041922"/>
                  </a:lnTo>
                  <a:lnTo>
                    <a:pt x="1174987" y="1042783"/>
                  </a:lnTo>
                  <a:lnTo>
                    <a:pt x="1174475" y="1041048"/>
                  </a:lnTo>
                  <a:close/>
                </a:path>
                <a:path w="1306829" h="1430020">
                  <a:moveTo>
                    <a:pt x="1235078" y="980672"/>
                  </a:moveTo>
                  <a:lnTo>
                    <a:pt x="1155048" y="980672"/>
                  </a:lnTo>
                  <a:lnTo>
                    <a:pt x="1155639" y="982375"/>
                  </a:lnTo>
                  <a:lnTo>
                    <a:pt x="1174711" y="1041922"/>
                  </a:lnTo>
                  <a:lnTo>
                    <a:pt x="1174475" y="1041048"/>
                  </a:lnTo>
                  <a:lnTo>
                    <a:pt x="1253392" y="1041048"/>
                  </a:lnTo>
                  <a:lnTo>
                    <a:pt x="1247816" y="1020352"/>
                  </a:lnTo>
                  <a:lnTo>
                    <a:pt x="1235078" y="980672"/>
                  </a:lnTo>
                  <a:close/>
                </a:path>
                <a:path w="1306829" h="1430020">
                  <a:moveTo>
                    <a:pt x="1155330" y="981549"/>
                  </a:moveTo>
                  <a:lnTo>
                    <a:pt x="1155595" y="982375"/>
                  </a:lnTo>
                  <a:lnTo>
                    <a:pt x="1155330" y="981549"/>
                  </a:lnTo>
                  <a:close/>
                </a:path>
                <a:path w="1306829" h="1430020">
                  <a:moveTo>
                    <a:pt x="1155048" y="980672"/>
                  </a:moveTo>
                  <a:lnTo>
                    <a:pt x="1155330" y="981549"/>
                  </a:lnTo>
                  <a:lnTo>
                    <a:pt x="1155639" y="982375"/>
                  </a:lnTo>
                  <a:lnTo>
                    <a:pt x="1155048" y="980672"/>
                  </a:lnTo>
                  <a:close/>
                </a:path>
                <a:path w="1306829" h="1430020">
                  <a:moveTo>
                    <a:pt x="1214288" y="921672"/>
                  </a:moveTo>
                  <a:lnTo>
                    <a:pt x="1132931" y="921672"/>
                  </a:lnTo>
                  <a:lnTo>
                    <a:pt x="1133600" y="923340"/>
                  </a:lnTo>
                  <a:lnTo>
                    <a:pt x="1155330" y="981549"/>
                  </a:lnTo>
                  <a:lnTo>
                    <a:pt x="1155048" y="980672"/>
                  </a:lnTo>
                  <a:lnTo>
                    <a:pt x="1235078" y="980672"/>
                  </a:lnTo>
                  <a:lnTo>
                    <a:pt x="1227325" y="956520"/>
                  </a:lnTo>
                  <a:lnTo>
                    <a:pt x="1214288" y="921672"/>
                  </a:lnTo>
                  <a:close/>
                </a:path>
                <a:path w="1306829" h="1430020">
                  <a:moveTo>
                    <a:pt x="1133248" y="922519"/>
                  </a:moveTo>
                  <a:lnTo>
                    <a:pt x="1133555" y="923340"/>
                  </a:lnTo>
                  <a:lnTo>
                    <a:pt x="1133248" y="922519"/>
                  </a:lnTo>
                  <a:close/>
                </a:path>
                <a:path w="1306829" h="1430020">
                  <a:moveTo>
                    <a:pt x="1132931" y="921672"/>
                  </a:moveTo>
                  <a:lnTo>
                    <a:pt x="1133248" y="922519"/>
                  </a:lnTo>
                  <a:lnTo>
                    <a:pt x="1133600" y="923340"/>
                  </a:lnTo>
                  <a:lnTo>
                    <a:pt x="1132931" y="921672"/>
                  </a:lnTo>
                  <a:close/>
                </a:path>
                <a:path w="1306829" h="1430020">
                  <a:moveTo>
                    <a:pt x="1191116" y="864128"/>
                  </a:moveTo>
                  <a:lnTo>
                    <a:pt x="1108202" y="864128"/>
                  </a:lnTo>
                  <a:lnTo>
                    <a:pt x="1108948" y="865761"/>
                  </a:lnTo>
                  <a:lnTo>
                    <a:pt x="1133248" y="922519"/>
                  </a:lnTo>
                  <a:lnTo>
                    <a:pt x="1132931" y="921672"/>
                  </a:lnTo>
                  <a:lnTo>
                    <a:pt x="1214288" y="921672"/>
                  </a:lnTo>
                  <a:lnTo>
                    <a:pt x="1203985" y="894129"/>
                  </a:lnTo>
                  <a:lnTo>
                    <a:pt x="1191116" y="864128"/>
                  </a:lnTo>
                  <a:close/>
                </a:path>
                <a:path w="1306829" h="1430020">
                  <a:moveTo>
                    <a:pt x="1108554" y="864950"/>
                  </a:moveTo>
                  <a:lnTo>
                    <a:pt x="1108902" y="865761"/>
                  </a:lnTo>
                  <a:lnTo>
                    <a:pt x="1108554" y="864950"/>
                  </a:lnTo>
                  <a:close/>
                </a:path>
                <a:path w="1306829" h="1430020">
                  <a:moveTo>
                    <a:pt x="1108202" y="864128"/>
                  </a:moveTo>
                  <a:lnTo>
                    <a:pt x="1108554" y="864950"/>
                  </a:lnTo>
                  <a:lnTo>
                    <a:pt x="1108948" y="865761"/>
                  </a:lnTo>
                  <a:lnTo>
                    <a:pt x="1108202" y="864128"/>
                  </a:lnTo>
                  <a:close/>
                </a:path>
                <a:path w="1306829" h="1430020">
                  <a:moveTo>
                    <a:pt x="1165660" y="808123"/>
                  </a:moveTo>
                  <a:lnTo>
                    <a:pt x="1080940" y="808123"/>
                  </a:lnTo>
                  <a:lnTo>
                    <a:pt x="1081761" y="809717"/>
                  </a:lnTo>
                  <a:lnTo>
                    <a:pt x="1108554" y="864950"/>
                  </a:lnTo>
                  <a:lnTo>
                    <a:pt x="1108202" y="864128"/>
                  </a:lnTo>
                  <a:lnTo>
                    <a:pt x="1191116" y="864128"/>
                  </a:lnTo>
                  <a:lnTo>
                    <a:pt x="1177878" y="833264"/>
                  </a:lnTo>
                  <a:lnTo>
                    <a:pt x="1165660" y="808123"/>
                  </a:lnTo>
                  <a:close/>
                </a:path>
                <a:path w="1306829" h="1430020">
                  <a:moveTo>
                    <a:pt x="1081330" y="808926"/>
                  </a:moveTo>
                  <a:lnTo>
                    <a:pt x="1081714" y="809717"/>
                  </a:lnTo>
                  <a:lnTo>
                    <a:pt x="1081330" y="808926"/>
                  </a:lnTo>
                  <a:close/>
                </a:path>
                <a:path w="1306829" h="1430020">
                  <a:moveTo>
                    <a:pt x="1080940" y="808123"/>
                  </a:moveTo>
                  <a:lnTo>
                    <a:pt x="1081330" y="808926"/>
                  </a:lnTo>
                  <a:lnTo>
                    <a:pt x="1081761" y="809717"/>
                  </a:lnTo>
                  <a:lnTo>
                    <a:pt x="1080940" y="808123"/>
                  </a:lnTo>
                  <a:close/>
                </a:path>
                <a:path w="1306829" h="1430020">
                  <a:moveTo>
                    <a:pt x="1138024" y="753738"/>
                  </a:moveTo>
                  <a:lnTo>
                    <a:pt x="1051223" y="753738"/>
                  </a:lnTo>
                  <a:lnTo>
                    <a:pt x="1052118" y="755291"/>
                  </a:lnTo>
                  <a:lnTo>
                    <a:pt x="1081330" y="808926"/>
                  </a:lnTo>
                  <a:lnTo>
                    <a:pt x="1080940" y="808123"/>
                  </a:lnTo>
                  <a:lnTo>
                    <a:pt x="1165660" y="808123"/>
                  </a:lnTo>
                  <a:lnTo>
                    <a:pt x="1149084" y="774012"/>
                  </a:lnTo>
                  <a:lnTo>
                    <a:pt x="1138024" y="753738"/>
                  </a:lnTo>
                  <a:close/>
                </a:path>
                <a:path w="1306829" h="1430020">
                  <a:moveTo>
                    <a:pt x="1051653" y="754526"/>
                  </a:moveTo>
                  <a:lnTo>
                    <a:pt x="1052070" y="755291"/>
                  </a:lnTo>
                  <a:lnTo>
                    <a:pt x="1051653" y="754526"/>
                  </a:lnTo>
                  <a:close/>
                </a:path>
                <a:path w="1306829" h="1430020">
                  <a:moveTo>
                    <a:pt x="1051223" y="753738"/>
                  </a:moveTo>
                  <a:lnTo>
                    <a:pt x="1051653" y="754526"/>
                  </a:lnTo>
                  <a:lnTo>
                    <a:pt x="1052118" y="755291"/>
                  </a:lnTo>
                  <a:lnTo>
                    <a:pt x="1051223" y="753738"/>
                  </a:lnTo>
                  <a:close/>
                </a:path>
                <a:path w="1306829" h="1430020">
                  <a:moveTo>
                    <a:pt x="1108318" y="701056"/>
                  </a:moveTo>
                  <a:lnTo>
                    <a:pt x="1019129" y="701056"/>
                  </a:lnTo>
                  <a:lnTo>
                    <a:pt x="1020097" y="702566"/>
                  </a:lnTo>
                  <a:lnTo>
                    <a:pt x="1051653" y="754526"/>
                  </a:lnTo>
                  <a:lnTo>
                    <a:pt x="1051223" y="753738"/>
                  </a:lnTo>
                  <a:lnTo>
                    <a:pt x="1138024" y="753738"/>
                  </a:lnTo>
                  <a:lnTo>
                    <a:pt x="1117687" y="716459"/>
                  </a:lnTo>
                  <a:lnTo>
                    <a:pt x="1108318" y="701056"/>
                  </a:lnTo>
                  <a:close/>
                </a:path>
                <a:path w="1306829" h="1430020">
                  <a:moveTo>
                    <a:pt x="1019596" y="701825"/>
                  </a:moveTo>
                  <a:lnTo>
                    <a:pt x="1020047" y="702566"/>
                  </a:lnTo>
                  <a:lnTo>
                    <a:pt x="1019596" y="701825"/>
                  </a:lnTo>
                  <a:close/>
                </a:path>
                <a:path w="1306829" h="1430020">
                  <a:moveTo>
                    <a:pt x="1019129" y="701056"/>
                  </a:moveTo>
                  <a:lnTo>
                    <a:pt x="1019596" y="701825"/>
                  </a:lnTo>
                  <a:lnTo>
                    <a:pt x="1020097" y="702566"/>
                  </a:lnTo>
                  <a:lnTo>
                    <a:pt x="1019129" y="701056"/>
                  </a:lnTo>
                  <a:close/>
                </a:path>
                <a:path w="1306829" h="1430020">
                  <a:moveTo>
                    <a:pt x="1076659" y="650157"/>
                  </a:moveTo>
                  <a:lnTo>
                    <a:pt x="984736" y="650157"/>
                  </a:lnTo>
                  <a:lnTo>
                    <a:pt x="985776" y="651621"/>
                  </a:lnTo>
                  <a:lnTo>
                    <a:pt x="1019596" y="701825"/>
                  </a:lnTo>
                  <a:lnTo>
                    <a:pt x="1019129" y="701056"/>
                  </a:lnTo>
                  <a:lnTo>
                    <a:pt x="1108318" y="701056"/>
                  </a:lnTo>
                  <a:lnTo>
                    <a:pt x="1083765" y="660690"/>
                  </a:lnTo>
                  <a:lnTo>
                    <a:pt x="1076659" y="650157"/>
                  </a:lnTo>
                  <a:close/>
                </a:path>
                <a:path w="1306829" h="1430020">
                  <a:moveTo>
                    <a:pt x="985228" y="650886"/>
                  </a:moveTo>
                  <a:lnTo>
                    <a:pt x="985724" y="651621"/>
                  </a:lnTo>
                  <a:lnTo>
                    <a:pt x="985228" y="650886"/>
                  </a:lnTo>
                  <a:close/>
                </a:path>
                <a:path w="1306829" h="1430020">
                  <a:moveTo>
                    <a:pt x="984736" y="650157"/>
                  </a:moveTo>
                  <a:lnTo>
                    <a:pt x="985228" y="650886"/>
                  </a:lnTo>
                  <a:lnTo>
                    <a:pt x="985776" y="651621"/>
                  </a:lnTo>
                  <a:lnTo>
                    <a:pt x="984736" y="650157"/>
                  </a:lnTo>
                  <a:close/>
                </a:path>
                <a:path w="1306829" h="1430020">
                  <a:moveTo>
                    <a:pt x="1043174" y="601124"/>
                  </a:moveTo>
                  <a:lnTo>
                    <a:pt x="948124" y="601124"/>
                  </a:lnTo>
                  <a:lnTo>
                    <a:pt x="949234" y="602540"/>
                  </a:lnTo>
                  <a:lnTo>
                    <a:pt x="985228" y="650886"/>
                  </a:lnTo>
                  <a:lnTo>
                    <a:pt x="984736" y="650157"/>
                  </a:lnTo>
                  <a:lnTo>
                    <a:pt x="1076659" y="650157"/>
                  </a:lnTo>
                  <a:lnTo>
                    <a:pt x="1047402" y="606793"/>
                  </a:lnTo>
                  <a:lnTo>
                    <a:pt x="1043174" y="601124"/>
                  </a:lnTo>
                  <a:close/>
                </a:path>
                <a:path w="1306829" h="1430020">
                  <a:moveTo>
                    <a:pt x="948651" y="601829"/>
                  </a:moveTo>
                  <a:lnTo>
                    <a:pt x="949180" y="602540"/>
                  </a:lnTo>
                  <a:lnTo>
                    <a:pt x="948651" y="601829"/>
                  </a:lnTo>
                  <a:close/>
                </a:path>
                <a:path w="1306829" h="1430020">
                  <a:moveTo>
                    <a:pt x="948124" y="601124"/>
                  </a:moveTo>
                  <a:lnTo>
                    <a:pt x="948651" y="601829"/>
                  </a:lnTo>
                  <a:lnTo>
                    <a:pt x="949234" y="602540"/>
                  </a:lnTo>
                  <a:lnTo>
                    <a:pt x="948124" y="601124"/>
                  </a:lnTo>
                  <a:close/>
                </a:path>
                <a:path w="1306829" h="1430020">
                  <a:moveTo>
                    <a:pt x="1008004" y="554037"/>
                  </a:moveTo>
                  <a:lnTo>
                    <a:pt x="909372" y="554037"/>
                  </a:lnTo>
                  <a:lnTo>
                    <a:pt x="910551" y="555405"/>
                  </a:lnTo>
                  <a:lnTo>
                    <a:pt x="948651" y="601829"/>
                  </a:lnTo>
                  <a:lnTo>
                    <a:pt x="948124" y="601124"/>
                  </a:lnTo>
                  <a:lnTo>
                    <a:pt x="1043174" y="601124"/>
                  </a:lnTo>
                  <a:lnTo>
                    <a:pt x="1008575" y="554732"/>
                  </a:lnTo>
                  <a:lnTo>
                    <a:pt x="1008004" y="554037"/>
                  </a:lnTo>
                  <a:close/>
                </a:path>
                <a:path w="1306829" h="1430020">
                  <a:moveTo>
                    <a:pt x="909942" y="554732"/>
                  </a:moveTo>
                  <a:lnTo>
                    <a:pt x="910496" y="555405"/>
                  </a:lnTo>
                  <a:lnTo>
                    <a:pt x="909942" y="554732"/>
                  </a:lnTo>
                  <a:close/>
                </a:path>
                <a:path w="1306829" h="1430020">
                  <a:moveTo>
                    <a:pt x="909372" y="554037"/>
                  </a:moveTo>
                  <a:lnTo>
                    <a:pt x="910053" y="554854"/>
                  </a:lnTo>
                  <a:lnTo>
                    <a:pt x="910551" y="555405"/>
                  </a:lnTo>
                  <a:lnTo>
                    <a:pt x="909372" y="554037"/>
                  </a:lnTo>
                  <a:close/>
                </a:path>
                <a:path w="1306829" h="1430020">
                  <a:moveTo>
                    <a:pt x="970974" y="508980"/>
                  </a:moveTo>
                  <a:lnTo>
                    <a:pt x="868556" y="508980"/>
                  </a:lnTo>
                  <a:lnTo>
                    <a:pt x="869805" y="510297"/>
                  </a:lnTo>
                  <a:lnTo>
                    <a:pt x="909942" y="554732"/>
                  </a:lnTo>
                  <a:lnTo>
                    <a:pt x="909372" y="554037"/>
                  </a:lnTo>
                  <a:lnTo>
                    <a:pt x="1008004" y="554037"/>
                  </a:lnTo>
                  <a:lnTo>
                    <a:pt x="970974" y="508980"/>
                  </a:lnTo>
                  <a:close/>
                </a:path>
                <a:path w="1306829" h="1430020">
                  <a:moveTo>
                    <a:pt x="869177" y="509666"/>
                  </a:moveTo>
                  <a:lnTo>
                    <a:pt x="869748" y="510297"/>
                  </a:lnTo>
                  <a:lnTo>
                    <a:pt x="869177" y="509666"/>
                  </a:lnTo>
                  <a:close/>
                </a:path>
                <a:path w="1306829" h="1430020">
                  <a:moveTo>
                    <a:pt x="868556" y="508980"/>
                  </a:moveTo>
                  <a:lnTo>
                    <a:pt x="869177" y="509666"/>
                  </a:lnTo>
                  <a:lnTo>
                    <a:pt x="869805" y="510297"/>
                  </a:lnTo>
                  <a:lnTo>
                    <a:pt x="868556" y="508980"/>
                  </a:lnTo>
                  <a:close/>
                </a:path>
                <a:path w="1306829" h="1430020">
                  <a:moveTo>
                    <a:pt x="932459" y="466035"/>
                  </a:moveTo>
                  <a:lnTo>
                    <a:pt x="825759" y="466035"/>
                  </a:lnTo>
                  <a:lnTo>
                    <a:pt x="827076" y="467297"/>
                  </a:lnTo>
                  <a:lnTo>
                    <a:pt x="869177" y="509666"/>
                  </a:lnTo>
                  <a:lnTo>
                    <a:pt x="868556" y="508980"/>
                  </a:lnTo>
                  <a:lnTo>
                    <a:pt x="970974" y="508980"/>
                  </a:lnTo>
                  <a:lnTo>
                    <a:pt x="967667" y="504957"/>
                  </a:lnTo>
                  <a:lnTo>
                    <a:pt x="932459" y="466035"/>
                  </a:lnTo>
                  <a:close/>
                </a:path>
                <a:path w="1306829" h="1430020">
                  <a:moveTo>
                    <a:pt x="826411" y="466691"/>
                  </a:moveTo>
                  <a:lnTo>
                    <a:pt x="827015" y="467297"/>
                  </a:lnTo>
                  <a:lnTo>
                    <a:pt x="826411" y="466691"/>
                  </a:lnTo>
                  <a:close/>
                </a:path>
                <a:path w="1306829" h="1430020">
                  <a:moveTo>
                    <a:pt x="825759" y="466035"/>
                  </a:moveTo>
                  <a:lnTo>
                    <a:pt x="826411" y="466691"/>
                  </a:lnTo>
                  <a:lnTo>
                    <a:pt x="827076" y="467297"/>
                  </a:lnTo>
                  <a:lnTo>
                    <a:pt x="825759" y="466035"/>
                  </a:lnTo>
                  <a:close/>
                </a:path>
                <a:path w="1306829" h="1430020">
                  <a:moveTo>
                    <a:pt x="892706" y="425283"/>
                  </a:moveTo>
                  <a:lnTo>
                    <a:pt x="781057" y="425283"/>
                  </a:lnTo>
                  <a:lnTo>
                    <a:pt x="782443" y="426487"/>
                  </a:lnTo>
                  <a:lnTo>
                    <a:pt x="826411" y="466691"/>
                  </a:lnTo>
                  <a:lnTo>
                    <a:pt x="825759" y="466035"/>
                  </a:lnTo>
                  <a:lnTo>
                    <a:pt x="932459" y="466035"/>
                  </a:lnTo>
                  <a:lnTo>
                    <a:pt x="924458" y="457189"/>
                  </a:lnTo>
                  <a:lnTo>
                    <a:pt x="892706" y="425283"/>
                  </a:lnTo>
                  <a:close/>
                </a:path>
                <a:path w="1306829" h="1430020">
                  <a:moveTo>
                    <a:pt x="781722" y="425890"/>
                  </a:moveTo>
                  <a:lnTo>
                    <a:pt x="782376" y="426487"/>
                  </a:lnTo>
                  <a:lnTo>
                    <a:pt x="781722" y="425890"/>
                  </a:lnTo>
                  <a:close/>
                </a:path>
                <a:path w="1306829" h="1430020">
                  <a:moveTo>
                    <a:pt x="781057" y="425283"/>
                  </a:moveTo>
                  <a:lnTo>
                    <a:pt x="781722" y="425890"/>
                  </a:lnTo>
                  <a:lnTo>
                    <a:pt x="782443" y="426487"/>
                  </a:lnTo>
                  <a:lnTo>
                    <a:pt x="781057" y="425283"/>
                  </a:lnTo>
                  <a:close/>
                </a:path>
                <a:path w="1306829" h="1430020">
                  <a:moveTo>
                    <a:pt x="851925" y="386803"/>
                  </a:moveTo>
                  <a:lnTo>
                    <a:pt x="734531" y="386803"/>
                  </a:lnTo>
                  <a:lnTo>
                    <a:pt x="735984" y="387949"/>
                  </a:lnTo>
                  <a:lnTo>
                    <a:pt x="781722" y="425890"/>
                  </a:lnTo>
                  <a:lnTo>
                    <a:pt x="781057" y="425283"/>
                  </a:lnTo>
                  <a:lnTo>
                    <a:pt x="892706" y="425283"/>
                  </a:lnTo>
                  <a:lnTo>
                    <a:pt x="879128" y="411638"/>
                  </a:lnTo>
                  <a:lnTo>
                    <a:pt x="851925" y="386803"/>
                  </a:lnTo>
                  <a:close/>
                </a:path>
                <a:path w="1306829" h="1430020">
                  <a:moveTo>
                    <a:pt x="735249" y="387399"/>
                  </a:moveTo>
                  <a:lnTo>
                    <a:pt x="735914" y="387949"/>
                  </a:lnTo>
                  <a:lnTo>
                    <a:pt x="735249" y="387399"/>
                  </a:lnTo>
                  <a:close/>
                </a:path>
                <a:path w="1306829" h="1430020">
                  <a:moveTo>
                    <a:pt x="734531" y="386803"/>
                  </a:moveTo>
                  <a:lnTo>
                    <a:pt x="735249" y="387399"/>
                  </a:lnTo>
                  <a:lnTo>
                    <a:pt x="735984" y="387949"/>
                  </a:lnTo>
                  <a:lnTo>
                    <a:pt x="734531" y="386803"/>
                  </a:lnTo>
                  <a:close/>
                </a:path>
                <a:path w="1306829" h="1430020">
                  <a:moveTo>
                    <a:pt x="810374" y="350680"/>
                  </a:moveTo>
                  <a:lnTo>
                    <a:pt x="686258" y="350680"/>
                  </a:lnTo>
                  <a:lnTo>
                    <a:pt x="687778" y="351762"/>
                  </a:lnTo>
                  <a:lnTo>
                    <a:pt x="735249" y="387399"/>
                  </a:lnTo>
                  <a:lnTo>
                    <a:pt x="734531" y="386803"/>
                  </a:lnTo>
                  <a:lnTo>
                    <a:pt x="851925" y="386803"/>
                  </a:lnTo>
                  <a:lnTo>
                    <a:pt x="831756" y="368390"/>
                  </a:lnTo>
                  <a:lnTo>
                    <a:pt x="810374" y="350680"/>
                  </a:lnTo>
                  <a:close/>
                </a:path>
                <a:path w="1306829" h="1430020">
                  <a:moveTo>
                    <a:pt x="687001" y="351237"/>
                  </a:moveTo>
                  <a:lnTo>
                    <a:pt x="687702" y="351762"/>
                  </a:lnTo>
                  <a:lnTo>
                    <a:pt x="687001" y="351237"/>
                  </a:lnTo>
                  <a:close/>
                </a:path>
                <a:path w="1306829" h="1430020">
                  <a:moveTo>
                    <a:pt x="686258" y="350680"/>
                  </a:moveTo>
                  <a:lnTo>
                    <a:pt x="687001" y="351237"/>
                  </a:lnTo>
                  <a:lnTo>
                    <a:pt x="687778" y="351762"/>
                  </a:lnTo>
                  <a:lnTo>
                    <a:pt x="686258" y="350680"/>
                  </a:lnTo>
                  <a:close/>
                </a:path>
                <a:path w="1306829" h="1430020">
                  <a:moveTo>
                    <a:pt x="768366" y="316991"/>
                  </a:moveTo>
                  <a:lnTo>
                    <a:pt x="636319" y="316991"/>
                  </a:lnTo>
                  <a:lnTo>
                    <a:pt x="637904" y="318006"/>
                  </a:lnTo>
                  <a:lnTo>
                    <a:pt x="687001" y="351237"/>
                  </a:lnTo>
                  <a:lnTo>
                    <a:pt x="686258" y="350680"/>
                  </a:lnTo>
                  <a:lnTo>
                    <a:pt x="810374" y="350680"/>
                  </a:lnTo>
                  <a:lnTo>
                    <a:pt x="782425" y="327529"/>
                  </a:lnTo>
                  <a:lnTo>
                    <a:pt x="768366" y="316991"/>
                  </a:lnTo>
                  <a:close/>
                </a:path>
                <a:path w="1306829" h="1430020">
                  <a:moveTo>
                    <a:pt x="637097" y="317517"/>
                  </a:moveTo>
                  <a:lnTo>
                    <a:pt x="637821" y="318006"/>
                  </a:lnTo>
                  <a:lnTo>
                    <a:pt x="637097" y="317517"/>
                  </a:lnTo>
                  <a:close/>
                </a:path>
                <a:path w="1306829" h="1430020">
                  <a:moveTo>
                    <a:pt x="636319" y="316991"/>
                  </a:moveTo>
                  <a:lnTo>
                    <a:pt x="637097" y="317517"/>
                  </a:lnTo>
                  <a:lnTo>
                    <a:pt x="637904" y="318006"/>
                  </a:lnTo>
                  <a:lnTo>
                    <a:pt x="636319" y="316991"/>
                  </a:lnTo>
                  <a:close/>
                </a:path>
                <a:path w="1306829" h="1430020">
                  <a:moveTo>
                    <a:pt x="726290" y="285819"/>
                  </a:moveTo>
                  <a:lnTo>
                    <a:pt x="584793" y="285819"/>
                  </a:lnTo>
                  <a:lnTo>
                    <a:pt x="586440" y="286763"/>
                  </a:lnTo>
                  <a:lnTo>
                    <a:pt x="637097" y="317517"/>
                  </a:lnTo>
                  <a:lnTo>
                    <a:pt x="636319" y="316991"/>
                  </a:lnTo>
                  <a:lnTo>
                    <a:pt x="768366" y="316991"/>
                  </a:lnTo>
                  <a:lnTo>
                    <a:pt x="731212" y="289145"/>
                  </a:lnTo>
                  <a:lnTo>
                    <a:pt x="726290" y="285819"/>
                  </a:lnTo>
                  <a:close/>
                </a:path>
                <a:path w="1306829" h="1430020">
                  <a:moveTo>
                    <a:pt x="585614" y="286317"/>
                  </a:moveTo>
                  <a:lnTo>
                    <a:pt x="586350" y="286763"/>
                  </a:lnTo>
                  <a:lnTo>
                    <a:pt x="585614" y="286317"/>
                  </a:lnTo>
                  <a:close/>
                </a:path>
                <a:path w="1306829" h="1430020">
                  <a:moveTo>
                    <a:pt x="584793" y="285819"/>
                  </a:moveTo>
                  <a:lnTo>
                    <a:pt x="585614" y="286317"/>
                  </a:lnTo>
                  <a:lnTo>
                    <a:pt x="586440" y="286763"/>
                  </a:lnTo>
                  <a:lnTo>
                    <a:pt x="584793" y="285819"/>
                  </a:lnTo>
                  <a:close/>
                </a:path>
                <a:path w="1306829" h="1430020">
                  <a:moveTo>
                    <a:pt x="683997" y="257242"/>
                  </a:moveTo>
                  <a:lnTo>
                    <a:pt x="531755" y="257242"/>
                  </a:lnTo>
                  <a:lnTo>
                    <a:pt x="533464" y="258110"/>
                  </a:lnTo>
                  <a:lnTo>
                    <a:pt x="585614" y="286317"/>
                  </a:lnTo>
                  <a:lnTo>
                    <a:pt x="584793" y="285819"/>
                  </a:lnTo>
                  <a:lnTo>
                    <a:pt x="726290" y="285819"/>
                  </a:lnTo>
                  <a:lnTo>
                    <a:pt x="683997" y="257242"/>
                  </a:lnTo>
                  <a:close/>
                </a:path>
                <a:path w="1306829" h="1430020">
                  <a:moveTo>
                    <a:pt x="532610" y="257703"/>
                  </a:moveTo>
                  <a:lnTo>
                    <a:pt x="533364" y="258110"/>
                  </a:lnTo>
                  <a:lnTo>
                    <a:pt x="532610" y="257703"/>
                  </a:lnTo>
                  <a:close/>
                </a:path>
                <a:path w="1306829" h="1430020">
                  <a:moveTo>
                    <a:pt x="531755" y="257242"/>
                  </a:moveTo>
                  <a:lnTo>
                    <a:pt x="532610" y="257703"/>
                  </a:lnTo>
                  <a:lnTo>
                    <a:pt x="533464" y="258110"/>
                  </a:lnTo>
                  <a:lnTo>
                    <a:pt x="531755" y="257242"/>
                  </a:lnTo>
                  <a:close/>
                </a:path>
                <a:path w="1306829" h="1430020">
                  <a:moveTo>
                    <a:pt x="641921" y="231340"/>
                  </a:moveTo>
                  <a:lnTo>
                    <a:pt x="477283" y="231340"/>
                  </a:lnTo>
                  <a:lnTo>
                    <a:pt x="479051" y="232129"/>
                  </a:lnTo>
                  <a:lnTo>
                    <a:pt x="532610" y="257703"/>
                  </a:lnTo>
                  <a:lnTo>
                    <a:pt x="531755" y="257242"/>
                  </a:lnTo>
                  <a:lnTo>
                    <a:pt x="683997" y="257242"/>
                  </a:lnTo>
                  <a:lnTo>
                    <a:pt x="678202" y="253326"/>
                  </a:lnTo>
                  <a:lnTo>
                    <a:pt x="641921" y="231340"/>
                  </a:lnTo>
                  <a:close/>
                </a:path>
                <a:path w="1306829" h="1430020">
                  <a:moveTo>
                    <a:pt x="478170" y="231763"/>
                  </a:moveTo>
                  <a:lnTo>
                    <a:pt x="478938" y="232129"/>
                  </a:lnTo>
                  <a:lnTo>
                    <a:pt x="478170" y="231763"/>
                  </a:lnTo>
                  <a:close/>
                </a:path>
                <a:path w="1306829" h="1430020">
                  <a:moveTo>
                    <a:pt x="477283" y="231340"/>
                  </a:moveTo>
                  <a:lnTo>
                    <a:pt x="478170" y="231763"/>
                  </a:lnTo>
                  <a:lnTo>
                    <a:pt x="479051" y="232129"/>
                  </a:lnTo>
                  <a:lnTo>
                    <a:pt x="477283" y="231340"/>
                  </a:lnTo>
                  <a:close/>
                </a:path>
                <a:path w="1306829" h="1430020">
                  <a:moveTo>
                    <a:pt x="422338" y="208561"/>
                  </a:moveTo>
                  <a:lnTo>
                    <a:pt x="478170" y="231763"/>
                  </a:lnTo>
                  <a:lnTo>
                    <a:pt x="477283" y="231340"/>
                  </a:lnTo>
                  <a:lnTo>
                    <a:pt x="641921" y="231340"/>
                  </a:lnTo>
                  <a:lnTo>
                    <a:pt x="623473" y="220160"/>
                  </a:lnTo>
                  <a:lnTo>
                    <a:pt x="602608" y="208897"/>
                  </a:lnTo>
                  <a:lnTo>
                    <a:pt x="423280" y="208897"/>
                  </a:lnTo>
                  <a:lnTo>
                    <a:pt x="422338" y="208561"/>
                  </a:lnTo>
                  <a:close/>
                </a:path>
                <a:path w="1306829" h="1430020">
                  <a:moveTo>
                    <a:pt x="238489" y="0"/>
                  </a:moveTo>
                  <a:lnTo>
                    <a:pt x="0" y="91898"/>
                  </a:lnTo>
                  <a:lnTo>
                    <a:pt x="216611" y="227550"/>
                  </a:lnTo>
                  <a:lnTo>
                    <a:pt x="223760" y="153194"/>
                  </a:lnTo>
                  <a:lnTo>
                    <a:pt x="184517" y="147885"/>
                  </a:lnTo>
                  <a:lnTo>
                    <a:pt x="194732" y="72373"/>
                  </a:lnTo>
                  <a:lnTo>
                    <a:pt x="231531" y="72373"/>
                  </a:lnTo>
                  <a:lnTo>
                    <a:pt x="238489" y="0"/>
                  </a:lnTo>
                  <a:close/>
                </a:path>
                <a:path w="1306829" h="1430020">
                  <a:moveTo>
                    <a:pt x="421457" y="208194"/>
                  </a:moveTo>
                  <a:lnTo>
                    <a:pt x="422338" y="208561"/>
                  </a:lnTo>
                  <a:lnTo>
                    <a:pt x="423280" y="208897"/>
                  </a:lnTo>
                  <a:lnTo>
                    <a:pt x="421457" y="208194"/>
                  </a:lnTo>
                  <a:close/>
                </a:path>
                <a:path w="1306829" h="1430020">
                  <a:moveTo>
                    <a:pt x="601307" y="208194"/>
                  </a:moveTo>
                  <a:lnTo>
                    <a:pt x="421457" y="208194"/>
                  </a:lnTo>
                  <a:lnTo>
                    <a:pt x="423280" y="208897"/>
                  </a:lnTo>
                  <a:lnTo>
                    <a:pt x="602608" y="208897"/>
                  </a:lnTo>
                  <a:lnTo>
                    <a:pt x="601307" y="208194"/>
                  </a:lnTo>
                  <a:close/>
                </a:path>
                <a:path w="1306829" h="1430020">
                  <a:moveTo>
                    <a:pt x="365292" y="188217"/>
                  </a:moveTo>
                  <a:lnTo>
                    <a:pt x="422338" y="208561"/>
                  </a:lnTo>
                  <a:lnTo>
                    <a:pt x="421457" y="208194"/>
                  </a:lnTo>
                  <a:lnTo>
                    <a:pt x="601307" y="208194"/>
                  </a:lnTo>
                  <a:lnTo>
                    <a:pt x="567108" y="189732"/>
                  </a:lnTo>
                  <a:lnTo>
                    <a:pt x="564512" y="188495"/>
                  </a:lnTo>
                  <a:lnTo>
                    <a:pt x="366223" y="188495"/>
                  </a:lnTo>
                  <a:lnTo>
                    <a:pt x="365292" y="188217"/>
                  </a:lnTo>
                  <a:close/>
                </a:path>
                <a:path w="1306829" h="1430020">
                  <a:moveTo>
                    <a:pt x="364350" y="187881"/>
                  </a:moveTo>
                  <a:lnTo>
                    <a:pt x="365292" y="188217"/>
                  </a:lnTo>
                  <a:lnTo>
                    <a:pt x="366223" y="188495"/>
                  </a:lnTo>
                  <a:lnTo>
                    <a:pt x="364350" y="187881"/>
                  </a:lnTo>
                  <a:close/>
                </a:path>
                <a:path w="1306829" h="1430020">
                  <a:moveTo>
                    <a:pt x="563222" y="187881"/>
                  </a:moveTo>
                  <a:lnTo>
                    <a:pt x="364350" y="187881"/>
                  </a:lnTo>
                  <a:lnTo>
                    <a:pt x="366223" y="188495"/>
                  </a:lnTo>
                  <a:lnTo>
                    <a:pt x="564512" y="188495"/>
                  </a:lnTo>
                  <a:lnTo>
                    <a:pt x="563222" y="187881"/>
                  </a:lnTo>
                  <a:close/>
                </a:path>
                <a:path w="1306829" h="1430020">
                  <a:moveTo>
                    <a:pt x="307001" y="170770"/>
                  </a:moveTo>
                  <a:lnTo>
                    <a:pt x="365292" y="188217"/>
                  </a:lnTo>
                  <a:lnTo>
                    <a:pt x="364350" y="187881"/>
                  </a:lnTo>
                  <a:lnTo>
                    <a:pt x="563222" y="187881"/>
                  </a:lnTo>
                  <a:lnTo>
                    <a:pt x="527799" y="171002"/>
                  </a:lnTo>
                  <a:lnTo>
                    <a:pt x="307958" y="171002"/>
                  </a:lnTo>
                  <a:lnTo>
                    <a:pt x="307001" y="170770"/>
                  </a:lnTo>
                  <a:close/>
                </a:path>
                <a:path w="1306829" h="1430020">
                  <a:moveTo>
                    <a:pt x="306039" y="170482"/>
                  </a:moveTo>
                  <a:lnTo>
                    <a:pt x="307001" y="170770"/>
                  </a:lnTo>
                  <a:lnTo>
                    <a:pt x="307958" y="171002"/>
                  </a:lnTo>
                  <a:lnTo>
                    <a:pt x="306039" y="170482"/>
                  </a:lnTo>
                  <a:close/>
                </a:path>
                <a:path w="1306829" h="1430020">
                  <a:moveTo>
                    <a:pt x="526706" y="170482"/>
                  </a:moveTo>
                  <a:lnTo>
                    <a:pt x="306039" y="170482"/>
                  </a:lnTo>
                  <a:lnTo>
                    <a:pt x="307958" y="171002"/>
                  </a:lnTo>
                  <a:lnTo>
                    <a:pt x="527799" y="171002"/>
                  </a:lnTo>
                  <a:lnTo>
                    <a:pt x="526706" y="170482"/>
                  </a:lnTo>
                  <a:close/>
                </a:path>
                <a:path w="1306829" h="1430020">
                  <a:moveTo>
                    <a:pt x="248523" y="156545"/>
                  </a:moveTo>
                  <a:lnTo>
                    <a:pt x="307001" y="170770"/>
                  </a:lnTo>
                  <a:lnTo>
                    <a:pt x="306039" y="170482"/>
                  </a:lnTo>
                  <a:lnTo>
                    <a:pt x="526706" y="170482"/>
                  </a:lnTo>
                  <a:lnTo>
                    <a:pt x="509187" y="162134"/>
                  </a:lnTo>
                  <a:lnTo>
                    <a:pt x="496379" y="156811"/>
                  </a:lnTo>
                  <a:lnTo>
                    <a:pt x="250494" y="156811"/>
                  </a:lnTo>
                  <a:lnTo>
                    <a:pt x="248523" y="156545"/>
                  </a:lnTo>
                  <a:close/>
                </a:path>
                <a:path w="1306829" h="1430020">
                  <a:moveTo>
                    <a:pt x="246597" y="156076"/>
                  </a:moveTo>
                  <a:lnTo>
                    <a:pt x="248523" y="156545"/>
                  </a:lnTo>
                  <a:lnTo>
                    <a:pt x="250494" y="156811"/>
                  </a:lnTo>
                  <a:lnTo>
                    <a:pt x="246597" y="156076"/>
                  </a:lnTo>
                  <a:close/>
                </a:path>
                <a:path w="1306829" h="1430020">
                  <a:moveTo>
                    <a:pt x="494610" y="156076"/>
                  </a:moveTo>
                  <a:lnTo>
                    <a:pt x="246597" y="156076"/>
                  </a:lnTo>
                  <a:lnTo>
                    <a:pt x="250494" y="156811"/>
                  </a:lnTo>
                  <a:lnTo>
                    <a:pt x="496379" y="156811"/>
                  </a:lnTo>
                  <a:lnTo>
                    <a:pt x="494610" y="156076"/>
                  </a:lnTo>
                  <a:close/>
                </a:path>
                <a:path w="1306829" h="1430020">
                  <a:moveTo>
                    <a:pt x="231058" y="77287"/>
                  </a:moveTo>
                  <a:lnTo>
                    <a:pt x="223760" y="153194"/>
                  </a:lnTo>
                  <a:lnTo>
                    <a:pt x="248523" y="156545"/>
                  </a:lnTo>
                  <a:lnTo>
                    <a:pt x="246597" y="156076"/>
                  </a:lnTo>
                  <a:lnTo>
                    <a:pt x="494610" y="156076"/>
                  </a:lnTo>
                  <a:lnTo>
                    <a:pt x="449797" y="137453"/>
                  </a:lnTo>
                  <a:lnTo>
                    <a:pt x="389017" y="115778"/>
                  </a:lnTo>
                  <a:lnTo>
                    <a:pt x="326934" y="97196"/>
                  </a:lnTo>
                  <a:lnTo>
                    <a:pt x="262679" y="81565"/>
                  </a:lnTo>
                  <a:lnTo>
                    <a:pt x="231058" y="77287"/>
                  </a:lnTo>
                  <a:close/>
                </a:path>
                <a:path w="1306829" h="1430020">
                  <a:moveTo>
                    <a:pt x="194732" y="72373"/>
                  </a:moveTo>
                  <a:lnTo>
                    <a:pt x="184517" y="147885"/>
                  </a:lnTo>
                  <a:lnTo>
                    <a:pt x="223760" y="153194"/>
                  </a:lnTo>
                  <a:lnTo>
                    <a:pt x="231058" y="77287"/>
                  </a:lnTo>
                  <a:lnTo>
                    <a:pt x="194732" y="72373"/>
                  </a:lnTo>
                  <a:close/>
                </a:path>
                <a:path w="1306829" h="1430020">
                  <a:moveTo>
                    <a:pt x="231531" y="72373"/>
                  </a:moveTo>
                  <a:lnTo>
                    <a:pt x="194732" y="72373"/>
                  </a:lnTo>
                  <a:lnTo>
                    <a:pt x="231058" y="77287"/>
                  </a:lnTo>
                  <a:lnTo>
                    <a:pt x="231531" y="723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117588" y="2298487"/>
            <a:ext cx="1857137" cy="1469993"/>
            <a:chOff x="142531" y="1504499"/>
            <a:chExt cx="2251075" cy="1781810"/>
          </a:xfrm>
        </p:grpSpPr>
        <p:sp>
          <p:nvSpPr>
            <p:cNvPr id="42" name="object 42"/>
            <p:cNvSpPr/>
            <p:nvPr/>
          </p:nvSpPr>
          <p:spPr>
            <a:xfrm>
              <a:off x="161581" y="1523549"/>
              <a:ext cx="2212975" cy="1743710"/>
            </a:xfrm>
            <a:custGeom>
              <a:avLst/>
              <a:gdLst/>
              <a:ahLst/>
              <a:cxnLst/>
              <a:rect l="l" t="t" r="r" b="b"/>
              <a:pathLst>
                <a:path w="2212975" h="1743710">
                  <a:moveTo>
                    <a:pt x="0" y="290593"/>
                  </a:moveTo>
                  <a:lnTo>
                    <a:pt x="3803" y="243457"/>
                  </a:lnTo>
                  <a:lnTo>
                    <a:pt x="14814" y="198743"/>
                  </a:lnTo>
                  <a:lnTo>
                    <a:pt x="32435" y="157048"/>
                  </a:lnTo>
                  <a:lnTo>
                    <a:pt x="56067" y="118972"/>
                  </a:lnTo>
                  <a:lnTo>
                    <a:pt x="85112" y="85112"/>
                  </a:lnTo>
                  <a:lnTo>
                    <a:pt x="118972" y="56067"/>
                  </a:lnTo>
                  <a:lnTo>
                    <a:pt x="157048" y="32435"/>
                  </a:lnTo>
                  <a:lnTo>
                    <a:pt x="198743" y="14814"/>
                  </a:lnTo>
                  <a:lnTo>
                    <a:pt x="243457" y="3803"/>
                  </a:lnTo>
                  <a:lnTo>
                    <a:pt x="290593" y="0"/>
                  </a:lnTo>
                  <a:lnTo>
                    <a:pt x="1922159" y="0"/>
                  </a:lnTo>
                  <a:lnTo>
                    <a:pt x="1969294" y="3803"/>
                  </a:lnTo>
                  <a:lnTo>
                    <a:pt x="2014008" y="14814"/>
                  </a:lnTo>
                  <a:lnTo>
                    <a:pt x="2055703" y="32435"/>
                  </a:lnTo>
                  <a:lnTo>
                    <a:pt x="2093779" y="56067"/>
                  </a:lnTo>
                  <a:lnTo>
                    <a:pt x="2127639" y="85112"/>
                  </a:lnTo>
                  <a:lnTo>
                    <a:pt x="2156684" y="118972"/>
                  </a:lnTo>
                  <a:lnTo>
                    <a:pt x="2180316" y="157048"/>
                  </a:lnTo>
                  <a:lnTo>
                    <a:pt x="2197937" y="198743"/>
                  </a:lnTo>
                  <a:lnTo>
                    <a:pt x="2208948" y="243457"/>
                  </a:lnTo>
                  <a:lnTo>
                    <a:pt x="2212752" y="290593"/>
                  </a:lnTo>
                  <a:lnTo>
                    <a:pt x="2212752" y="1452932"/>
                  </a:lnTo>
                  <a:lnTo>
                    <a:pt x="2208948" y="1500067"/>
                  </a:lnTo>
                  <a:lnTo>
                    <a:pt x="2197937" y="1544781"/>
                  </a:lnTo>
                  <a:lnTo>
                    <a:pt x="2180316" y="1586476"/>
                  </a:lnTo>
                  <a:lnTo>
                    <a:pt x="2156684" y="1624552"/>
                  </a:lnTo>
                  <a:lnTo>
                    <a:pt x="2127639" y="1658412"/>
                  </a:lnTo>
                  <a:lnTo>
                    <a:pt x="2093779" y="1687457"/>
                  </a:lnTo>
                  <a:lnTo>
                    <a:pt x="2055703" y="1711089"/>
                  </a:lnTo>
                  <a:lnTo>
                    <a:pt x="2014008" y="1728710"/>
                  </a:lnTo>
                  <a:lnTo>
                    <a:pt x="1969294" y="1739721"/>
                  </a:lnTo>
                  <a:lnTo>
                    <a:pt x="1922159" y="1743525"/>
                  </a:lnTo>
                  <a:lnTo>
                    <a:pt x="290593" y="1743525"/>
                  </a:lnTo>
                  <a:lnTo>
                    <a:pt x="243457" y="1739721"/>
                  </a:lnTo>
                  <a:lnTo>
                    <a:pt x="198743" y="1728710"/>
                  </a:lnTo>
                  <a:lnTo>
                    <a:pt x="157048" y="1711089"/>
                  </a:lnTo>
                  <a:lnTo>
                    <a:pt x="118972" y="1687457"/>
                  </a:lnTo>
                  <a:lnTo>
                    <a:pt x="85112" y="1658412"/>
                  </a:lnTo>
                  <a:lnTo>
                    <a:pt x="56067" y="1624552"/>
                  </a:lnTo>
                  <a:lnTo>
                    <a:pt x="32435" y="1586476"/>
                  </a:lnTo>
                  <a:lnTo>
                    <a:pt x="14814" y="1544781"/>
                  </a:lnTo>
                  <a:lnTo>
                    <a:pt x="3803" y="1500067"/>
                  </a:lnTo>
                  <a:lnTo>
                    <a:pt x="0" y="1452932"/>
                  </a:lnTo>
                  <a:lnTo>
                    <a:pt x="0" y="29059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187" y="2859055"/>
              <a:ext cx="227858" cy="2278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9396" y="2233786"/>
              <a:ext cx="227859" cy="2278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70677" y="2428276"/>
              <a:ext cx="912494" cy="464184"/>
            </a:xfrm>
            <a:custGeom>
              <a:avLst/>
              <a:gdLst/>
              <a:ahLst/>
              <a:cxnLst/>
              <a:rect l="l" t="t" r="r" b="b"/>
              <a:pathLst>
                <a:path w="912494" h="464185">
                  <a:moveTo>
                    <a:pt x="0" y="464148"/>
                  </a:moveTo>
                  <a:lnTo>
                    <a:pt x="91208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46" name="object 46"/>
            <p:cNvSpPr/>
            <p:nvPr/>
          </p:nvSpPr>
          <p:spPr>
            <a:xfrm>
              <a:off x="604046" y="2972985"/>
              <a:ext cx="1443355" cy="0"/>
            </a:xfrm>
            <a:custGeom>
              <a:avLst/>
              <a:gdLst/>
              <a:ahLst/>
              <a:cxnLst/>
              <a:rect l="l" t="t" r="r" b="b"/>
              <a:pathLst>
                <a:path w="1443355">
                  <a:moveTo>
                    <a:pt x="0" y="1"/>
                  </a:moveTo>
                  <a:lnTo>
                    <a:pt x="144335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249" y="2767620"/>
              <a:ext cx="142504" cy="192467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829849" y="3257130"/>
            <a:ext cx="127302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latin typeface="Cambria Math"/>
                <a:cs typeface="Cambria Math"/>
              </a:rPr>
              <a:t>𝜃</a:t>
            </a:r>
            <a:endParaRPr sz="1485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53455" y="6027680"/>
            <a:ext cx="5351907" cy="612492"/>
          </a:xfrm>
          <a:prstGeom prst="rect">
            <a:avLst/>
          </a:prstGeom>
        </p:spPr>
        <p:txBody>
          <a:bodyPr vert="horz" wrap="square" lIns="0" tIns="6810" rIns="0" bIns="0" rtlCol="0">
            <a:spAutoFit/>
          </a:bodyPr>
          <a:lstStyle/>
          <a:p>
            <a:pPr marL="1048274" marR="4191" indent="-1038320">
              <a:lnSpc>
                <a:spcPts val="2393"/>
              </a:lnSpc>
              <a:spcBef>
                <a:spcPts val="54"/>
              </a:spcBef>
            </a:pPr>
            <a:r>
              <a:rPr sz="1980" b="1" dirty="0">
                <a:latin typeface="Calibri"/>
                <a:cs typeface="Calibri"/>
              </a:rPr>
              <a:t>Idea: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In </a:t>
            </a:r>
            <a:r>
              <a:rPr sz="1980" spc="-8" dirty="0">
                <a:latin typeface="Calibri"/>
                <a:cs typeface="Calibri"/>
              </a:rPr>
              <a:t>order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angle, </a:t>
            </a:r>
            <a:r>
              <a:rPr sz="1980" dirty="0">
                <a:latin typeface="Calibri"/>
                <a:cs typeface="Calibri"/>
              </a:rPr>
              <a:t>add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hull </a:t>
            </a:r>
            <a:r>
              <a:rPr sz="1980" spc="-433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as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long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it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u="heavy" spc="-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preserves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convexity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30</a:t>
            </a:fld>
            <a:endParaRPr dirty="0"/>
          </a:p>
        </p:txBody>
      </p:sp>
      <p:sp>
        <p:nvSpPr>
          <p:cNvPr id="49" name="object 49"/>
          <p:cNvSpPr txBox="1"/>
          <p:nvPr/>
        </p:nvSpPr>
        <p:spPr>
          <a:xfrm>
            <a:off x="454856" y="2356905"/>
            <a:ext cx="1178719" cy="315279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980" spc="-12" dirty="0">
                <a:latin typeface="Calibri"/>
                <a:cs typeface="Calibri"/>
              </a:rPr>
              <a:t>Polar</a:t>
            </a:r>
            <a:r>
              <a:rPr sz="1980" spc="-5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Angle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25421" y="2569807"/>
            <a:ext cx="1531287" cy="5184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65545" marR="4191" indent="-155591">
              <a:spcBef>
                <a:spcPts val="83"/>
              </a:spcBef>
            </a:pPr>
            <a:r>
              <a:rPr sz="1650" spc="-4" dirty="0">
                <a:latin typeface="Calibri"/>
                <a:cs typeface="Calibri"/>
              </a:rPr>
              <a:t>Scan</a:t>
            </a:r>
            <a:r>
              <a:rPr sz="1650" spc="-29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1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points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 </a:t>
            </a:r>
            <a:r>
              <a:rPr sz="1650" spc="-358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order</a:t>
            </a:r>
            <a:r>
              <a:rPr sz="1650" spc="-12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of</a:t>
            </a:r>
            <a:r>
              <a:rPr sz="1650" spc="-17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angle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8F3E55-78C0-9A23-4F18-993400CDD864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510" y="335118"/>
            <a:ext cx="3925090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1001">
              <a:spcBef>
                <a:spcPts val="83"/>
              </a:spcBef>
            </a:pPr>
            <a:r>
              <a:rPr spc="-37" dirty="0"/>
              <a:t>Graham’s</a:t>
            </a:r>
            <a:r>
              <a:rPr spc="-78" dirty="0"/>
              <a:t> </a:t>
            </a:r>
            <a:r>
              <a:rPr spc="-8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1223" y="5029086"/>
            <a:ext cx="5359241" cy="1496628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31433">
              <a:spcBef>
                <a:spcPts val="83"/>
              </a:spcBef>
            </a:pPr>
            <a:r>
              <a:rPr sz="1650" spc="-4" dirty="0">
                <a:latin typeface="Calibri"/>
                <a:cs typeface="Calibri"/>
              </a:rPr>
              <a:t>Imagine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driving</a:t>
            </a:r>
            <a:r>
              <a:rPr sz="1650" spc="-17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from</a:t>
            </a:r>
            <a:r>
              <a:rPr sz="1650" spc="-4" dirty="0">
                <a:latin typeface="Calibri"/>
                <a:cs typeface="Calibri"/>
              </a:rPr>
              <a:t> </a:t>
            </a:r>
            <a:r>
              <a:rPr sz="1650" dirty="0">
                <a:latin typeface="Cambria Math"/>
                <a:cs typeface="Cambria Math"/>
              </a:rPr>
              <a:t>𝐴</a:t>
            </a:r>
            <a:r>
              <a:rPr sz="1650" spc="99" dirty="0">
                <a:latin typeface="Cambria Math"/>
                <a:cs typeface="Cambria Math"/>
              </a:rPr>
              <a:t> </a:t>
            </a:r>
            <a:r>
              <a:rPr sz="1650" dirty="0">
                <a:latin typeface="Cambria Math"/>
                <a:cs typeface="Cambria Math"/>
              </a:rPr>
              <a:t>→</a:t>
            </a:r>
            <a:r>
              <a:rPr sz="1650" spc="83" dirty="0">
                <a:latin typeface="Cambria Math"/>
                <a:cs typeface="Cambria Math"/>
              </a:rPr>
              <a:t> </a:t>
            </a:r>
            <a:r>
              <a:rPr sz="1650" dirty="0">
                <a:latin typeface="Cambria Math"/>
                <a:cs typeface="Cambria Math"/>
              </a:rPr>
              <a:t>𝐵</a:t>
            </a:r>
            <a:endParaRPr sz="1650">
              <a:latin typeface="Cambria Math"/>
              <a:cs typeface="Cambria Math"/>
            </a:endParaRPr>
          </a:p>
          <a:p>
            <a:pPr marL="644366" indent="-235744">
              <a:buFont typeface="Arial MT"/>
              <a:buChar char="•"/>
              <a:tabLst>
                <a:tab pos="643842" algn="l"/>
                <a:tab pos="644366" algn="l"/>
              </a:tabLst>
            </a:pPr>
            <a:r>
              <a:rPr sz="1650" dirty="0">
                <a:latin typeface="Cambria Math"/>
                <a:cs typeface="Cambria Math"/>
              </a:rPr>
              <a:t>𝐵</a:t>
            </a:r>
            <a:r>
              <a:rPr sz="1650" spc="132" dirty="0">
                <a:latin typeface="Cambria Math"/>
                <a:cs typeface="Cambria Math"/>
              </a:rPr>
              <a:t> </a:t>
            </a:r>
            <a:r>
              <a:rPr sz="1650" dirty="0">
                <a:latin typeface="Cambria Math"/>
                <a:cs typeface="Cambria Math"/>
              </a:rPr>
              <a:t>→</a:t>
            </a:r>
            <a:r>
              <a:rPr sz="1650" spc="91" dirty="0">
                <a:latin typeface="Cambria Math"/>
                <a:cs typeface="Cambria Math"/>
              </a:rPr>
              <a:t> </a:t>
            </a:r>
            <a:r>
              <a:rPr sz="1650" dirty="0">
                <a:latin typeface="Cambria Math"/>
                <a:cs typeface="Cambria Math"/>
              </a:rPr>
              <a:t>𝐶</a:t>
            </a:r>
            <a:r>
              <a:rPr sz="1650" spc="74" dirty="0">
                <a:latin typeface="Cambria Math"/>
                <a:cs typeface="Cambria Math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4" dirty="0">
                <a:latin typeface="Calibri"/>
                <a:cs typeface="Calibri"/>
              </a:rPr>
              <a:t> </a:t>
            </a:r>
            <a:r>
              <a:rPr sz="1650" spc="-17" dirty="0">
                <a:latin typeface="Calibri"/>
                <a:cs typeface="Calibri"/>
              </a:rPr>
              <a:t>convex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if </a:t>
            </a:r>
            <a:r>
              <a:rPr sz="1650" spc="-4" dirty="0">
                <a:latin typeface="Calibri"/>
                <a:cs typeface="Calibri"/>
              </a:rPr>
              <a:t>need </a:t>
            </a:r>
            <a:r>
              <a:rPr sz="1650" spc="-8" dirty="0">
                <a:latin typeface="Calibri"/>
                <a:cs typeface="Calibri"/>
              </a:rPr>
              <a:t>to</a:t>
            </a:r>
            <a:r>
              <a:rPr sz="1650" spc="-12" dirty="0">
                <a:latin typeface="Calibri"/>
                <a:cs typeface="Calibri"/>
              </a:rPr>
              <a:t> </a:t>
            </a:r>
            <a:r>
              <a:rPr sz="1650" spc="-21" dirty="0">
                <a:latin typeface="Calibri"/>
                <a:cs typeface="Calibri"/>
              </a:rPr>
              <a:t>take</a:t>
            </a:r>
            <a:r>
              <a:rPr sz="1650" dirty="0">
                <a:latin typeface="Calibri"/>
                <a:cs typeface="Calibri"/>
              </a:rPr>
              <a:t> a </a:t>
            </a:r>
            <a:r>
              <a:rPr sz="1650" spc="-4" dirty="0">
                <a:latin typeface="Calibri"/>
                <a:cs typeface="Calibri"/>
              </a:rPr>
              <a:t>“left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turn”</a:t>
            </a:r>
            <a:r>
              <a:rPr sz="1650" spc="-8" dirty="0">
                <a:latin typeface="Calibri"/>
                <a:cs typeface="Calibri"/>
              </a:rPr>
              <a:t> to </a:t>
            </a:r>
            <a:r>
              <a:rPr sz="1650" spc="-4" dirty="0">
                <a:latin typeface="Calibri"/>
                <a:cs typeface="Calibri"/>
              </a:rPr>
              <a:t>reach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dirty="0">
                <a:latin typeface="Cambria Math"/>
                <a:cs typeface="Cambria Math"/>
              </a:rPr>
              <a:t>𝐶</a:t>
            </a:r>
            <a:endParaRPr sz="1650">
              <a:latin typeface="Cambria Math"/>
              <a:cs typeface="Cambria Math"/>
            </a:endParaRPr>
          </a:p>
          <a:p>
            <a:pPr marL="31433" marR="25146" indent="377190">
              <a:buFont typeface="Arial MT"/>
              <a:buChar char="•"/>
              <a:tabLst>
                <a:tab pos="643842" algn="l"/>
                <a:tab pos="644366" algn="l"/>
              </a:tabLst>
            </a:pPr>
            <a:r>
              <a:rPr sz="1650" dirty="0">
                <a:latin typeface="Cambria Math"/>
                <a:cs typeface="Cambria Math"/>
              </a:rPr>
              <a:t>𝐵</a:t>
            </a:r>
            <a:r>
              <a:rPr sz="1650" spc="4" dirty="0">
                <a:latin typeface="Cambria Math"/>
                <a:cs typeface="Cambria Math"/>
              </a:rPr>
              <a:t> </a:t>
            </a:r>
            <a:r>
              <a:rPr sz="1650" dirty="0">
                <a:latin typeface="Cambria Math"/>
                <a:cs typeface="Cambria Math"/>
              </a:rPr>
              <a:t>→ 𝐶 </a:t>
            </a:r>
            <a:r>
              <a:rPr sz="1650" dirty="0">
                <a:latin typeface="Calibri"/>
                <a:cs typeface="Calibri"/>
              </a:rPr>
              <a:t>is </a:t>
            </a:r>
            <a:r>
              <a:rPr sz="1650" spc="-12" dirty="0">
                <a:latin typeface="Calibri"/>
                <a:cs typeface="Calibri"/>
              </a:rPr>
              <a:t>non-convex </a:t>
            </a:r>
            <a:r>
              <a:rPr sz="1650" dirty="0">
                <a:latin typeface="Calibri"/>
                <a:cs typeface="Calibri"/>
              </a:rPr>
              <a:t>if </a:t>
            </a:r>
            <a:r>
              <a:rPr sz="1650" spc="-4" dirty="0">
                <a:latin typeface="Calibri"/>
                <a:cs typeface="Calibri"/>
              </a:rPr>
              <a:t>need </a:t>
            </a:r>
            <a:r>
              <a:rPr sz="1650" spc="-8" dirty="0">
                <a:latin typeface="Calibri"/>
                <a:cs typeface="Calibri"/>
              </a:rPr>
              <a:t>to </a:t>
            </a:r>
            <a:r>
              <a:rPr sz="1650" spc="-21" dirty="0">
                <a:latin typeface="Calibri"/>
                <a:cs typeface="Calibri"/>
              </a:rPr>
              <a:t>take </a:t>
            </a:r>
            <a:r>
              <a:rPr sz="1650" dirty="0">
                <a:latin typeface="Calibri"/>
                <a:cs typeface="Calibri"/>
              </a:rPr>
              <a:t>a </a:t>
            </a:r>
            <a:r>
              <a:rPr sz="1650" spc="-4" dirty="0">
                <a:latin typeface="Calibri"/>
                <a:cs typeface="Calibri"/>
              </a:rPr>
              <a:t>“non-left turn” 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Decide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“left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turn” vs.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“right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turn” </a:t>
            </a:r>
            <a:r>
              <a:rPr sz="1650" spc="-8" dirty="0">
                <a:latin typeface="Calibri"/>
                <a:cs typeface="Calibri"/>
              </a:rPr>
              <a:t>by </a:t>
            </a:r>
            <a:r>
              <a:rPr sz="1650" spc="-4" dirty="0">
                <a:latin typeface="Calibri"/>
                <a:cs typeface="Calibri"/>
              </a:rPr>
              <a:t>computing</a:t>
            </a:r>
            <a:r>
              <a:rPr sz="1650" spc="-8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4" dirty="0">
                <a:latin typeface="Calibri"/>
                <a:cs typeface="Calibri"/>
              </a:rPr>
              <a:t> </a:t>
            </a:r>
            <a:r>
              <a:rPr sz="16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sign</a:t>
            </a:r>
            <a:r>
              <a:rPr sz="1650" spc="-4" dirty="0">
                <a:latin typeface="Calibri"/>
                <a:cs typeface="Calibri"/>
              </a:rPr>
              <a:t> of the </a:t>
            </a:r>
            <a:r>
              <a:rPr sz="1650" spc="-358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(vector) </a:t>
            </a:r>
            <a:r>
              <a:rPr sz="1650" spc="-8" dirty="0">
                <a:latin typeface="Calibri"/>
                <a:cs typeface="Calibri"/>
              </a:rPr>
              <a:t>cross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8" dirty="0">
                <a:latin typeface="Calibri"/>
                <a:cs typeface="Calibri"/>
              </a:rPr>
              <a:t>product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4" dirty="0">
                <a:latin typeface="Calibri"/>
                <a:cs typeface="Calibri"/>
              </a:rPr>
              <a:t>between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-168" dirty="0">
                <a:latin typeface="Cambria Math"/>
                <a:cs typeface="Cambria Math"/>
              </a:rPr>
              <a:t>𝑣⃗</a:t>
            </a:r>
            <a:r>
              <a:rPr sz="1856" spc="-253" baseline="-14814" dirty="0">
                <a:latin typeface="Cambria Math"/>
                <a:cs typeface="Cambria Math"/>
              </a:rPr>
              <a:t>𝐴𝐵</a:t>
            </a:r>
            <a:r>
              <a:rPr sz="1856" spc="-179" baseline="-14814" dirty="0">
                <a:latin typeface="Cambria Math"/>
                <a:cs typeface="Cambria Math"/>
              </a:rPr>
              <a:t> </a:t>
            </a:r>
            <a:r>
              <a:rPr sz="1650" spc="-4" dirty="0">
                <a:latin typeface="Calibri"/>
                <a:cs typeface="Calibri"/>
              </a:rPr>
              <a:t>and </a:t>
            </a:r>
            <a:r>
              <a:rPr sz="1650" spc="-157" dirty="0">
                <a:latin typeface="Cambria Math"/>
                <a:cs typeface="Cambria Math"/>
              </a:rPr>
              <a:t>𝑣⃗</a:t>
            </a:r>
            <a:r>
              <a:rPr sz="1856" spc="-234" baseline="-14814" dirty="0">
                <a:latin typeface="Cambria Math"/>
                <a:cs typeface="Cambria Math"/>
              </a:rPr>
              <a:t>𝐵𝐶</a:t>
            </a:r>
            <a:endParaRPr sz="1856" baseline="-14814">
              <a:latin typeface="Cambria Math"/>
              <a:cs typeface="Cambria Math"/>
            </a:endParaRPr>
          </a:p>
          <a:p>
            <a:pPr marR="323231" algn="r">
              <a:spcBef>
                <a:spcPts val="540"/>
              </a:spcBef>
            </a:pPr>
            <a:r>
              <a:rPr sz="990" dirty="0">
                <a:solidFill>
                  <a:srgbClr val="898989"/>
                </a:solidFill>
                <a:latin typeface="Calibri"/>
                <a:cs typeface="Calibri"/>
              </a:rPr>
              <a:t>36</a:t>
            </a:r>
            <a:endParaRPr sz="99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3907" y="2321699"/>
            <a:ext cx="7778496" cy="2415309"/>
          </a:xfrm>
          <a:prstGeom prst="rect">
            <a:avLst/>
          </a:prstGeom>
        </p:spPr>
        <p:txBody>
          <a:bodyPr vert="horz" wrap="square" lIns="0" tIns="26194" rIns="0" bIns="0" rtlCol="0">
            <a:spAutoFit/>
          </a:bodyPr>
          <a:lstStyle/>
          <a:p>
            <a:pPr marL="314325" marR="538544" indent="-282893">
              <a:lnSpc>
                <a:spcPts val="2318"/>
              </a:lnSpc>
              <a:spcBef>
                <a:spcPts val="206"/>
              </a:spcBef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Let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r>
              <a:rPr sz="2228" spc="-55" baseline="-15432" dirty="0">
                <a:latin typeface="Cambria Math"/>
                <a:cs typeface="Cambria Math"/>
              </a:rPr>
              <a:t> </a:t>
            </a:r>
            <a:r>
              <a:rPr sz="1980" dirty="0">
                <a:latin typeface="Calibri"/>
                <a:cs typeface="Calibri"/>
              </a:rPr>
              <a:t>be </a:t>
            </a:r>
            <a:r>
              <a:rPr sz="1980" spc="-4" dirty="0">
                <a:latin typeface="Calibri"/>
                <a:cs typeface="Calibri"/>
              </a:rPr>
              <a:t>the </a:t>
            </a:r>
            <a:r>
              <a:rPr sz="1980" spc="-8" dirty="0">
                <a:latin typeface="Calibri"/>
                <a:cs typeface="Calibri"/>
              </a:rPr>
              <a:t>point </a:t>
            </a:r>
            <a:r>
              <a:rPr sz="1980" spc="-4" dirty="0">
                <a:latin typeface="Calibri"/>
                <a:cs typeface="Calibri"/>
              </a:rPr>
              <a:t>with the </a:t>
            </a:r>
            <a:r>
              <a:rPr sz="1980" spc="-8" dirty="0">
                <a:latin typeface="Calibri"/>
                <a:cs typeface="Calibri"/>
              </a:rPr>
              <a:t>smallest </a:t>
            </a:r>
            <a:r>
              <a:rPr sz="1980" spc="-8" dirty="0">
                <a:latin typeface="Cambria Math"/>
                <a:cs typeface="Cambria Math"/>
              </a:rPr>
              <a:t>𝑦</a:t>
            </a:r>
            <a:r>
              <a:rPr sz="1980" spc="-8" dirty="0">
                <a:latin typeface="Calibri"/>
                <a:cs typeface="Calibri"/>
              </a:rPr>
              <a:t>-coordinate </a:t>
            </a:r>
            <a:r>
              <a:rPr sz="1980" spc="-4" dirty="0">
                <a:latin typeface="Calibri"/>
                <a:cs typeface="Calibri"/>
              </a:rPr>
              <a:t>(and smallest </a:t>
            </a:r>
            <a:r>
              <a:rPr sz="1980" spc="29" dirty="0">
                <a:latin typeface="Cambria Math"/>
                <a:cs typeface="Cambria Math"/>
              </a:rPr>
              <a:t>𝑥</a:t>
            </a:r>
            <a:r>
              <a:rPr sz="1980" spc="29" dirty="0">
                <a:latin typeface="Calibri"/>
                <a:cs typeface="Calibri"/>
              </a:rPr>
              <a:t>- </a:t>
            </a:r>
            <a:r>
              <a:rPr sz="1980" spc="33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coordinate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if</a:t>
            </a:r>
            <a:r>
              <a:rPr sz="1980" spc="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multiple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have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same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minimum-</a:t>
            </a:r>
            <a:r>
              <a:rPr sz="1980" spc="-8" dirty="0">
                <a:latin typeface="Cambria Math"/>
                <a:cs typeface="Cambria Math"/>
              </a:rPr>
              <a:t>𝑦</a:t>
            </a:r>
            <a:r>
              <a:rPr sz="1980" spc="41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coordinate)</a:t>
            </a:r>
            <a:endParaRPr sz="1980" dirty="0">
              <a:latin typeface="Calibri"/>
              <a:cs typeface="Calibri"/>
            </a:endParaRPr>
          </a:p>
          <a:p>
            <a:pPr marL="314325" indent="-282893">
              <a:lnSpc>
                <a:spcPts val="2327"/>
              </a:lnSpc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Add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r>
              <a:rPr sz="2228" spc="260" baseline="-15432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4" dirty="0">
                <a:latin typeface="Calibri"/>
                <a:cs typeface="Calibri"/>
              </a:rPr>
              <a:t> the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hull</a:t>
            </a:r>
            <a:r>
              <a:rPr sz="1980" spc="-21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99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(represented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ordered list)</a:t>
            </a:r>
            <a:endParaRPr sz="1980" dirty="0">
              <a:latin typeface="Calibri"/>
              <a:cs typeface="Calibri"/>
            </a:endParaRPr>
          </a:p>
          <a:p>
            <a:pPr marL="314325" indent="-282893"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Sort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all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based</a:t>
            </a:r>
            <a:r>
              <a:rPr sz="1980" spc="-4" dirty="0">
                <a:latin typeface="Calibri"/>
                <a:cs typeface="Calibri"/>
              </a:rPr>
              <a:t> 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their angle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relative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endParaRPr sz="2228" baseline="-15432" dirty="0">
              <a:latin typeface="Cambria Math"/>
              <a:cs typeface="Cambria Math"/>
            </a:endParaRPr>
          </a:p>
          <a:p>
            <a:pPr marL="314325" indent="-282893">
              <a:spcBef>
                <a:spcPts val="21"/>
              </a:spcBef>
              <a:buAutoNum type="arabicPeriod"/>
              <a:tabLst>
                <a:tab pos="314325" algn="l"/>
              </a:tabLst>
            </a:pPr>
            <a:r>
              <a:rPr sz="1980" spc="-12" dirty="0">
                <a:latin typeface="Calibri"/>
                <a:cs typeface="Calibri"/>
              </a:rPr>
              <a:t>For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each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346" baseline="-15432" dirty="0">
                <a:latin typeface="Cambria Math"/>
                <a:cs typeface="Cambria Math"/>
              </a:rPr>
              <a:t> </a:t>
            </a:r>
            <a:r>
              <a:rPr sz="1980" spc="-4" dirty="0">
                <a:latin typeface="Calibri"/>
                <a:cs typeface="Calibri"/>
              </a:rPr>
              <a:t>in </a:t>
            </a:r>
            <a:r>
              <a:rPr sz="1980" spc="-8" dirty="0">
                <a:latin typeface="Calibri"/>
                <a:cs typeface="Calibri"/>
              </a:rPr>
              <a:t>sorted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order:</a:t>
            </a:r>
            <a:endParaRPr sz="1980" dirty="0">
              <a:latin typeface="Calibri"/>
              <a:cs typeface="Calibri"/>
            </a:endParaRPr>
          </a:p>
          <a:p>
            <a:pPr marL="691515" lvl="1" indent="-282893">
              <a:lnSpc>
                <a:spcPts val="2347"/>
              </a:lnSpc>
              <a:spcBef>
                <a:spcPts val="21"/>
              </a:spcBef>
              <a:buFont typeface="Arial MT"/>
              <a:buChar char="•"/>
              <a:tabLst>
                <a:tab pos="690991" algn="l"/>
                <a:tab pos="691515" algn="l"/>
              </a:tabLst>
            </a:pPr>
            <a:r>
              <a:rPr sz="1980" spc="-37" dirty="0">
                <a:latin typeface="Calibri"/>
                <a:cs typeface="Calibri"/>
              </a:rPr>
              <a:t>Try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adding</a:t>
            </a:r>
            <a:r>
              <a:rPr sz="1980" spc="-21" dirty="0">
                <a:latin typeface="Calibri"/>
                <a:cs typeface="Calibri"/>
              </a:rPr>
              <a:t>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334" baseline="-15432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hull</a:t>
            </a:r>
            <a:r>
              <a:rPr sz="1980" spc="-21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</a:p>
          <a:p>
            <a:pPr marL="691515" lvl="1" indent="-282893">
              <a:lnSpc>
                <a:spcPts val="2347"/>
              </a:lnSpc>
              <a:buFont typeface="Arial MT"/>
              <a:buChar char="•"/>
              <a:tabLst>
                <a:tab pos="690991" algn="l"/>
                <a:tab pos="691515" algn="l"/>
              </a:tabLst>
            </a:pPr>
            <a:r>
              <a:rPr sz="1980" spc="-4" dirty="0">
                <a:latin typeface="Calibri"/>
                <a:cs typeface="Calibri"/>
              </a:rPr>
              <a:t>If adding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148" baseline="-15432" dirty="0">
                <a:latin typeface="Cambria Math"/>
                <a:cs typeface="Cambria Math"/>
              </a:rPr>
              <a:t> </a:t>
            </a:r>
            <a:r>
              <a:rPr sz="1980" spc="-17" dirty="0">
                <a:latin typeface="Calibri"/>
                <a:cs typeface="Calibri"/>
              </a:rPr>
              <a:t>makes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103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non-convex,</a:t>
            </a:r>
            <a:r>
              <a:rPr sz="1980" dirty="0">
                <a:latin typeface="Calibri"/>
                <a:cs typeface="Calibri"/>
              </a:rPr>
              <a:t> then </a:t>
            </a:r>
            <a:r>
              <a:rPr sz="1980" spc="-12" dirty="0">
                <a:latin typeface="Calibri"/>
                <a:cs typeface="Calibri"/>
              </a:rPr>
              <a:t>remove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last component</a:t>
            </a:r>
            <a:r>
              <a:rPr sz="1980" spc="-4" dirty="0">
                <a:latin typeface="Calibri"/>
                <a:cs typeface="Calibri"/>
              </a:rPr>
              <a:t> of</a:t>
            </a:r>
            <a:endParaRPr sz="1980" dirty="0">
              <a:latin typeface="Calibri"/>
              <a:cs typeface="Calibri"/>
            </a:endParaRPr>
          </a:p>
          <a:p>
            <a:pPr marL="690991">
              <a:spcBef>
                <a:spcPts val="21"/>
              </a:spcBef>
            </a:pP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87" dirty="0">
                <a:latin typeface="Cambria Math"/>
                <a:cs typeface="Cambria Math"/>
              </a:rPr>
              <a:t> </a:t>
            </a:r>
            <a:r>
              <a:rPr sz="1980" dirty="0">
                <a:latin typeface="Calibri"/>
                <a:cs typeface="Calibri"/>
              </a:rPr>
              <a:t>and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repeat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this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check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193" y="4157438"/>
            <a:ext cx="7330059" cy="612410"/>
          </a:xfrm>
          <a:custGeom>
            <a:avLst/>
            <a:gdLst/>
            <a:ahLst/>
            <a:cxnLst/>
            <a:rect l="l" t="t" r="r" b="b"/>
            <a:pathLst>
              <a:path w="8884920" h="742314">
                <a:moveTo>
                  <a:pt x="8884920" y="0"/>
                </a:moveTo>
                <a:lnTo>
                  <a:pt x="0" y="0"/>
                </a:lnTo>
                <a:lnTo>
                  <a:pt x="0" y="741729"/>
                </a:lnTo>
                <a:lnTo>
                  <a:pt x="8884920" y="741729"/>
                </a:lnTo>
                <a:lnTo>
                  <a:pt x="8884920" y="0"/>
                </a:lnTo>
                <a:close/>
              </a:path>
            </a:pathLst>
          </a:custGeom>
          <a:solidFill>
            <a:srgbClr val="FFFF00">
              <a:alpha val="39999"/>
            </a:srgbClr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6" name="object 6"/>
          <p:cNvSpPr txBox="1"/>
          <p:nvPr/>
        </p:nvSpPr>
        <p:spPr>
          <a:xfrm>
            <a:off x="524862" y="4884916"/>
            <a:ext cx="2887599" cy="36606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2310" spc="-4" dirty="0">
                <a:latin typeface="Calibri"/>
                <a:cs typeface="Calibri"/>
              </a:rPr>
              <a:t>How</a:t>
            </a:r>
            <a:r>
              <a:rPr sz="2310" spc="-17" dirty="0">
                <a:latin typeface="Calibri"/>
                <a:cs typeface="Calibri"/>
              </a:rPr>
              <a:t> </a:t>
            </a:r>
            <a:r>
              <a:rPr sz="2310" spc="-12" dirty="0">
                <a:latin typeface="Calibri"/>
                <a:cs typeface="Calibri"/>
              </a:rPr>
              <a:t>to </a:t>
            </a:r>
            <a:r>
              <a:rPr sz="2310" spc="-8" dirty="0">
                <a:latin typeface="Calibri"/>
                <a:cs typeface="Calibri"/>
              </a:rPr>
              <a:t>implement</a:t>
            </a:r>
            <a:r>
              <a:rPr sz="2310" spc="-12" dirty="0">
                <a:latin typeface="Calibri"/>
                <a:cs typeface="Calibri"/>
              </a:rPr>
              <a:t> </a:t>
            </a:r>
            <a:r>
              <a:rPr sz="2310" dirty="0">
                <a:latin typeface="Calibri"/>
                <a:cs typeface="Calibri"/>
              </a:rPr>
              <a:t>this?</a:t>
            </a:r>
            <a:endParaRPr sz="231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161" y="6081756"/>
            <a:ext cx="187984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581" y="6269740"/>
            <a:ext cx="187984" cy="1879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8743" y="6229388"/>
            <a:ext cx="130445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485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138" y="5465618"/>
            <a:ext cx="187983" cy="18798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34228" y="5424715"/>
            <a:ext cx="121539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485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3550" y="6154249"/>
            <a:ext cx="715613" cy="224742"/>
          </a:xfrm>
          <a:custGeom>
            <a:avLst/>
            <a:gdLst/>
            <a:ahLst/>
            <a:cxnLst/>
            <a:rect l="l" t="t" r="r" b="b"/>
            <a:pathLst>
              <a:path w="867410" h="272414">
                <a:moveTo>
                  <a:pt x="752033" y="36836"/>
                </a:moveTo>
                <a:lnTo>
                  <a:pt x="0" y="235502"/>
                </a:lnTo>
                <a:lnTo>
                  <a:pt x="9732" y="272338"/>
                </a:lnTo>
                <a:lnTo>
                  <a:pt x="761764" y="73672"/>
                </a:lnTo>
                <a:lnTo>
                  <a:pt x="752033" y="36836"/>
                </a:lnTo>
                <a:close/>
              </a:path>
              <a:path w="867410" h="272414">
                <a:moveTo>
                  <a:pt x="860695" y="31970"/>
                </a:moveTo>
                <a:lnTo>
                  <a:pt x="770451" y="31970"/>
                </a:lnTo>
                <a:lnTo>
                  <a:pt x="780182" y="68807"/>
                </a:lnTo>
                <a:lnTo>
                  <a:pt x="761764" y="73672"/>
                </a:lnTo>
                <a:lnTo>
                  <a:pt x="771495" y="110509"/>
                </a:lnTo>
                <a:lnTo>
                  <a:pt x="860695" y="31970"/>
                </a:lnTo>
                <a:close/>
              </a:path>
              <a:path w="867410" h="272414">
                <a:moveTo>
                  <a:pt x="770451" y="31970"/>
                </a:moveTo>
                <a:lnTo>
                  <a:pt x="752033" y="36836"/>
                </a:lnTo>
                <a:lnTo>
                  <a:pt x="761764" y="73672"/>
                </a:lnTo>
                <a:lnTo>
                  <a:pt x="780182" y="68807"/>
                </a:lnTo>
                <a:lnTo>
                  <a:pt x="770451" y="31970"/>
                </a:lnTo>
                <a:close/>
              </a:path>
              <a:path w="867410" h="272414">
                <a:moveTo>
                  <a:pt x="742302" y="0"/>
                </a:moveTo>
                <a:lnTo>
                  <a:pt x="752033" y="36836"/>
                </a:lnTo>
                <a:lnTo>
                  <a:pt x="770451" y="31970"/>
                </a:lnTo>
                <a:lnTo>
                  <a:pt x="860695" y="31970"/>
                </a:lnTo>
                <a:lnTo>
                  <a:pt x="867407" y="26061"/>
                </a:lnTo>
                <a:lnTo>
                  <a:pt x="742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grpSp>
        <p:nvGrpSpPr>
          <p:cNvPr id="13" name="object 13"/>
          <p:cNvGrpSpPr/>
          <p:nvPr/>
        </p:nvGrpSpPr>
        <p:grpSpPr>
          <a:xfrm>
            <a:off x="2198946" y="5626073"/>
            <a:ext cx="1536002" cy="520208"/>
            <a:chOff x="2665389" y="5537936"/>
            <a:chExt cx="1861820" cy="630555"/>
          </a:xfrm>
        </p:grpSpPr>
        <p:sp>
          <p:nvSpPr>
            <p:cNvPr id="14" name="object 14"/>
            <p:cNvSpPr/>
            <p:nvPr/>
          </p:nvSpPr>
          <p:spPr>
            <a:xfrm>
              <a:off x="2665389" y="5537936"/>
              <a:ext cx="281305" cy="560705"/>
            </a:xfrm>
            <a:custGeom>
              <a:avLst/>
              <a:gdLst/>
              <a:ahLst/>
              <a:cxnLst/>
              <a:rect l="l" t="t" r="r" b="b"/>
              <a:pathLst>
                <a:path w="281305" h="560704">
                  <a:moveTo>
                    <a:pt x="212360" y="95182"/>
                  </a:moveTo>
                  <a:lnTo>
                    <a:pt x="0" y="544199"/>
                  </a:lnTo>
                  <a:lnTo>
                    <a:pt x="34442" y="560488"/>
                  </a:lnTo>
                  <a:lnTo>
                    <a:pt x="246802" y="111471"/>
                  </a:lnTo>
                  <a:lnTo>
                    <a:pt x="212360" y="95182"/>
                  </a:lnTo>
                  <a:close/>
                </a:path>
                <a:path w="281305" h="560704">
                  <a:moveTo>
                    <a:pt x="280155" y="77961"/>
                  </a:moveTo>
                  <a:lnTo>
                    <a:pt x="220505" y="77961"/>
                  </a:lnTo>
                  <a:lnTo>
                    <a:pt x="254947" y="94250"/>
                  </a:lnTo>
                  <a:lnTo>
                    <a:pt x="246802" y="111471"/>
                  </a:lnTo>
                  <a:lnTo>
                    <a:pt x="281245" y="127760"/>
                  </a:lnTo>
                  <a:lnTo>
                    <a:pt x="280155" y="77961"/>
                  </a:lnTo>
                  <a:close/>
                </a:path>
                <a:path w="281305" h="560704">
                  <a:moveTo>
                    <a:pt x="220505" y="77961"/>
                  </a:moveTo>
                  <a:lnTo>
                    <a:pt x="212360" y="95182"/>
                  </a:lnTo>
                  <a:lnTo>
                    <a:pt x="246802" y="111471"/>
                  </a:lnTo>
                  <a:lnTo>
                    <a:pt x="254947" y="94250"/>
                  </a:lnTo>
                  <a:lnTo>
                    <a:pt x="220505" y="77961"/>
                  </a:lnTo>
                  <a:close/>
                </a:path>
                <a:path w="281305" h="560704">
                  <a:moveTo>
                    <a:pt x="278448" y="0"/>
                  </a:moveTo>
                  <a:lnTo>
                    <a:pt x="177918" y="78893"/>
                  </a:lnTo>
                  <a:lnTo>
                    <a:pt x="212360" y="95182"/>
                  </a:lnTo>
                  <a:lnTo>
                    <a:pt x="220505" y="77961"/>
                  </a:lnTo>
                  <a:lnTo>
                    <a:pt x="280155" y="77961"/>
                  </a:lnTo>
                  <a:lnTo>
                    <a:pt x="278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5" name="object 15"/>
            <p:cNvSpPr/>
            <p:nvPr/>
          </p:nvSpPr>
          <p:spPr>
            <a:xfrm>
              <a:off x="2796539" y="5672773"/>
              <a:ext cx="1711960" cy="476884"/>
            </a:xfrm>
            <a:custGeom>
              <a:avLst/>
              <a:gdLst/>
              <a:ahLst/>
              <a:cxnLst/>
              <a:rect l="l" t="t" r="r" b="b"/>
              <a:pathLst>
                <a:path w="1711960" h="476885">
                  <a:moveTo>
                    <a:pt x="0" y="476376"/>
                  </a:moveTo>
                  <a:lnTo>
                    <a:pt x="171147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16" name="object 16"/>
          <p:cNvSpPr txBox="1"/>
          <p:nvPr/>
        </p:nvSpPr>
        <p:spPr>
          <a:xfrm rot="20700000">
            <a:off x="2807063" y="5587717"/>
            <a:ext cx="651235" cy="219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1650" spc="-33" dirty="0">
                <a:latin typeface="Calibri"/>
                <a:cs typeface="Calibri"/>
              </a:rPr>
              <a:t>Con</a:t>
            </a:r>
            <a:r>
              <a:rPr sz="2475" spc="-50" baseline="1388" dirty="0">
                <a:latin typeface="Calibri"/>
                <a:cs typeface="Calibri"/>
              </a:rPr>
              <a:t>ve</a:t>
            </a:r>
            <a:r>
              <a:rPr sz="2475" spc="-50" baseline="2777" dirty="0">
                <a:latin typeface="Calibri"/>
                <a:cs typeface="Calibri"/>
              </a:rPr>
              <a:t>x</a:t>
            </a:r>
            <a:endParaRPr sz="2475" baseline="2777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20700000">
            <a:off x="2697327" y="5928669"/>
            <a:ext cx="1030513" cy="219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1650" spc="-4" dirty="0">
                <a:latin typeface="Calibri"/>
                <a:cs typeface="Calibri"/>
              </a:rPr>
              <a:t>No</a:t>
            </a:r>
            <a:r>
              <a:rPr sz="1650" spc="-8" dirty="0">
                <a:latin typeface="Calibri"/>
                <a:cs typeface="Calibri"/>
              </a:rPr>
              <a:t>n-</a:t>
            </a:r>
            <a:r>
              <a:rPr sz="1650" spc="-12" dirty="0">
                <a:latin typeface="Calibri"/>
                <a:cs typeface="Calibri"/>
              </a:rPr>
              <a:t>co</a:t>
            </a:r>
            <a:r>
              <a:rPr sz="2475" spc="-55" baseline="1388" dirty="0">
                <a:latin typeface="Calibri"/>
                <a:cs typeface="Calibri"/>
              </a:rPr>
              <a:t>n</a:t>
            </a:r>
            <a:r>
              <a:rPr sz="2475" spc="-43" baseline="1388" dirty="0">
                <a:latin typeface="Calibri"/>
                <a:cs typeface="Calibri"/>
              </a:rPr>
              <a:t>ve</a:t>
            </a:r>
            <a:r>
              <a:rPr sz="2475" baseline="1388" dirty="0">
                <a:latin typeface="Calibri"/>
                <a:cs typeface="Calibri"/>
              </a:rPr>
              <a:t>x</a:t>
            </a:r>
            <a:endParaRPr sz="2475" baseline="13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8550" y="5548769"/>
            <a:ext cx="677894" cy="1103957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58734">
              <a:spcBef>
                <a:spcPts val="83"/>
              </a:spcBef>
            </a:pPr>
            <a:r>
              <a:rPr sz="2310" spc="-202" dirty="0">
                <a:latin typeface="Cambria Math"/>
                <a:cs typeface="Cambria Math"/>
              </a:rPr>
              <a:t>𝑣⃗</a:t>
            </a:r>
            <a:r>
              <a:rPr sz="2475" spc="-303" baseline="-16666" dirty="0">
                <a:latin typeface="Cambria Math"/>
                <a:cs typeface="Cambria Math"/>
              </a:rPr>
              <a:t>𝐵𝐶</a:t>
            </a:r>
            <a:endParaRPr sz="2475" baseline="-16666">
              <a:latin typeface="Cambria Math"/>
              <a:cs typeface="Cambria Math"/>
            </a:endParaRPr>
          </a:p>
          <a:p>
            <a:pPr marR="25146" algn="r">
              <a:spcBef>
                <a:spcPts val="1101"/>
              </a:spcBef>
            </a:pPr>
            <a:r>
              <a:rPr sz="148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485">
              <a:latin typeface="Calibri"/>
              <a:cs typeface="Calibri"/>
            </a:endParaRPr>
          </a:p>
          <a:p>
            <a:pPr marL="31433">
              <a:spcBef>
                <a:spcPts val="66"/>
              </a:spcBef>
            </a:pPr>
            <a:r>
              <a:rPr sz="2310" spc="-223" dirty="0">
                <a:latin typeface="Cambria Math"/>
                <a:cs typeface="Cambria Math"/>
              </a:rPr>
              <a:t>𝑣⃗</a:t>
            </a:r>
            <a:r>
              <a:rPr sz="2475" spc="-334" baseline="-16666" dirty="0">
                <a:latin typeface="Cambria Math"/>
                <a:cs typeface="Cambria Math"/>
              </a:rPr>
              <a:t>𝐴𝐵</a:t>
            </a:r>
            <a:endParaRPr sz="2475" baseline="-16666">
              <a:latin typeface="Cambria Math"/>
              <a:cs typeface="Cambria Math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E290DA-56E0-2A23-EA65-43B2BB4277F7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07231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pc="-4" dirty="0"/>
              <a:t>Running</a:t>
            </a:r>
            <a:r>
              <a:rPr dirty="0"/>
              <a:t> </a:t>
            </a:r>
            <a:r>
              <a:rPr spc="-8" dirty="0"/>
              <a:t>Time</a:t>
            </a:r>
            <a:r>
              <a:rPr spc="-12" dirty="0"/>
              <a:t> </a:t>
            </a:r>
            <a:r>
              <a:rPr spc="-4" dirty="0"/>
              <a:t>of</a:t>
            </a:r>
            <a:r>
              <a:rPr spc="-8" dirty="0"/>
              <a:t> </a:t>
            </a:r>
            <a:r>
              <a:rPr spc="-41" dirty="0"/>
              <a:t>Graham’s</a:t>
            </a:r>
            <a:r>
              <a:rPr spc="-8" dirty="0"/>
              <a:t> Algorithm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03907" y="2321699"/>
            <a:ext cx="7778496" cy="2415309"/>
          </a:xfrm>
          <a:prstGeom prst="rect">
            <a:avLst/>
          </a:prstGeom>
        </p:spPr>
        <p:txBody>
          <a:bodyPr vert="horz" wrap="square" lIns="0" tIns="26194" rIns="0" bIns="0" rtlCol="0">
            <a:spAutoFit/>
          </a:bodyPr>
          <a:lstStyle/>
          <a:p>
            <a:pPr marL="314325" marR="538544" indent="-282893">
              <a:lnSpc>
                <a:spcPts val="2318"/>
              </a:lnSpc>
              <a:spcBef>
                <a:spcPts val="206"/>
              </a:spcBef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Let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r>
              <a:rPr sz="2228" spc="-55" baseline="-15432" dirty="0">
                <a:latin typeface="Cambria Math"/>
                <a:cs typeface="Cambria Math"/>
              </a:rPr>
              <a:t> </a:t>
            </a:r>
            <a:r>
              <a:rPr sz="1980" dirty="0">
                <a:latin typeface="Calibri"/>
                <a:cs typeface="Calibri"/>
              </a:rPr>
              <a:t>be </a:t>
            </a:r>
            <a:r>
              <a:rPr sz="1980" spc="-4" dirty="0">
                <a:latin typeface="Calibri"/>
                <a:cs typeface="Calibri"/>
              </a:rPr>
              <a:t>the </a:t>
            </a:r>
            <a:r>
              <a:rPr sz="1980" spc="-8" dirty="0">
                <a:latin typeface="Calibri"/>
                <a:cs typeface="Calibri"/>
              </a:rPr>
              <a:t>point </a:t>
            </a:r>
            <a:r>
              <a:rPr sz="1980" spc="-4" dirty="0">
                <a:latin typeface="Calibri"/>
                <a:cs typeface="Calibri"/>
              </a:rPr>
              <a:t>with the </a:t>
            </a:r>
            <a:r>
              <a:rPr sz="1980" spc="-8" dirty="0">
                <a:latin typeface="Calibri"/>
                <a:cs typeface="Calibri"/>
              </a:rPr>
              <a:t>smallest </a:t>
            </a:r>
            <a:r>
              <a:rPr sz="1980" spc="-8" dirty="0">
                <a:latin typeface="Cambria Math"/>
                <a:cs typeface="Cambria Math"/>
              </a:rPr>
              <a:t>𝑦</a:t>
            </a:r>
            <a:r>
              <a:rPr sz="1980" spc="-8" dirty="0">
                <a:latin typeface="Calibri"/>
                <a:cs typeface="Calibri"/>
              </a:rPr>
              <a:t>-coordinate </a:t>
            </a:r>
            <a:r>
              <a:rPr sz="1980" spc="-4" dirty="0">
                <a:latin typeface="Calibri"/>
                <a:cs typeface="Calibri"/>
              </a:rPr>
              <a:t>(and smallest </a:t>
            </a:r>
            <a:r>
              <a:rPr sz="1980" spc="29" dirty="0">
                <a:latin typeface="Cambria Math"/>
                <a:cs typeface="Cambria Math"/>
              </a:rPr>
              <a:t>𝑥</a:t>
            </a:r>
            <a:r>
              <a:rPr sz="1980" spc="29" dirty="0">
                <a:latin typeface="Calibri"/>
                <a:cs typeface="Calibri"/>
              </a:rPr>
              <a:t>- </a:t>
            </a:r>
            <a:r>
              <a:rPr sz="1980" spc="33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coordinate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if</a:t>
            </a:r>
            <a:r>
              <a:rPr sz="1980" spc="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multiple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have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same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minimum-</a:t>
            </a:r>
            <a:r>
              <a:rPr sz="1980" spc="-8" dirty="0">
                <a:latin typeface="Cambria Math"/>
                <a:cs typeface="Cambria Math"/>
              </a:rPr>
              <a:t>𝑦</a:t>
            </a:r>
            <a:r>
              <a:rPr sz="1980" spc="41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coordinate)</a:t>
            </a:r>
            <a:endParaRPr sz="1980" dirty="0">
              <a:latin typeface="Calibri"/>
              <a:cs typeface="Calibri"/>
            </a:endParaRPr>
          </a:p>
          <a:p>
            <a:pPr marL="314325" indent="-282893">
              <a:lnSpc>
                <a:spcPts val="2327"/>
              </a:lnSpc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Add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r>
              <a:rPr sz="2228" spc="260" baseline="-15432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hull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94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(represented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as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b="1" dirty="0">
                <a:latin typeface="Calibri"/>
                <a:cs typeface="Calibri"/>
              </a:rPr>
              <a:t>a</a:t>
            </a:r>
            <a:r>
              <a:rPr sz="1980" b="1" spc="-4" dirty="0">
                <a:latin typeface="Calibri"/>
                <a:cs typeface="Calibri"/>
              </a:rPr>
              <a:t> </a:t>
            </a:r>
            <a:r>
              <a:rPr sz="1980" b="1" spc="-8" dirty="0">
                <a:latin typeface="Calibri"/>
                <a:cs typeface="Calibri"/>
              </a:rPr>
              <a:t>stack</a:t>
            </a:r>
            <a:r>
              <a:rPr sz="1980" spc="-8" dirty="0">
                <a:latin typeface="Calibri"/>
                <a:cs typeface="Calibri"/>
              </a:rPr>
              <a:t>)</a:t>
            </a:r>
            <a:endParaRPr sz="1980" dirty="0">
              <a:latin typeface="Calibri"/>
              <a:cs typeface="Calibri"/>
            </a:endParaRPr>
          </a:p>
          <a:p>
            <a:pPr marL="314325" indent="-282893">
              <a:buAutoNum type="arabicPeriod"/>
              <a:tabLst>
                <a:tab pos="314325" algn="l"/>
              </a:tabLst>
            </a:pPr>
            <a:r>
              <a:rPr sz="1980" spc="-4" dirty="0">
                <a:latin typeface="Calibri"/>
                <a:cs typeface="Calibri"/>
              </a:rPr>
              <a:t>Sort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all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based</a:t>
            </a:r>
            <a:r>
              <a:rPr sz="1980" spc="-4" dirty="0">
                <a:latin typeface="Calibri"/>
                <a:cs typeface="Calibri"/>
              </a:rPr>
              <a:t> 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their angle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relative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41" dirty="0">
                <a:latin typeface="Cambria Math"/>
                <a:cs typeface="Cambria Math"/>
              </a:rPr>
              <a:t>𝑝</a:t>
            </a:r>
            <a:r>
              <a:rPr sz="2228" spc="-62" baseline="-15432" dirty="0">
                <a:latin typeface="Cambria Math"/>
                <a:cs typeface="Cambria Math"/>
              </a:rPr>
              <a:t>5</a:t>
            </a:r>
            <a:endParaRPr sz="2228" baseline="-15432" dirty="0">
              <a:latin typeface="Cambria Math"/>
              <a:cs typeface="Cambria Math"/>
            </a:endParaRPr>
          </a:p>
          <a:p>
            <a:pPr marL="314325" indent="-282893">
              <a:spcBef>
                <a:spcPts val="21"/>
              </a:spcBef>
              <a:buAutoNum type="arabicPeriod"/>
              <a:tabLst>
                <a:tab pos="314325" algn="l"/>
              </a:tabLst>
            </a:pPr>
            <a:r>
              <a:rPr sz="1980" spc="-12" dirty="0">
                <a:latin typeface="Calibri"/>
                <a:cs typeface="Calibri"/>
              </a:rPr>
              <a:t>For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each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346" baseline="-15432" dirty="0">
                <a:latin typeface="Cambria Math"/>
                <a:cs typeface="Cambria Math"/>
              </a:rPr>
              <a:t> </a:t>
            </a:r>
            <a:r>
              <a:rPr sz="1980" spc="-4" dirty="0">
                <a:latin typeface="Calibri"/>
                <a:cs typeface="Calibri"/>
              </a:rPr>
              <a:t>in </a:t>
            </a:r>
            <a:r>
              <a:rPr sz="1980" spc="-8" dirty="0">
                <a:latin typeface="Calibri"/>
                <a:cs typeface="Calibri"/>
              </a:rPr>
              <a:t>sorted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order:</a:t>
            </a:r>
            <a:endParaRPr sz="1980" dirty="0">
              <a:latin typeface="Calibri"/>
              <a:cs typeface="Calibri"/>
            </a:endParaRPr>
          </a:p>
          <a:p>
            <a:pPr marL="691515" lvl="1" indent="-282893">
              <a:lnSpc>
                <a:spcPts val="2347"/>
              </a:lnSpc>
              <a:spcBef>
                <a:spcPts val="21"/>
              </a:spcBef>
              <a:buFont typeface="Arial MT"/>
              <a:buChar char="•"/>
              <a:tabLst>
                <a:tab pos="690991" algn="l"/>
                <a:tab pos="691515" algn="l"/>
              </a:tabLst>
            </a:pPr>
            <a:r>
              <a:rPr sz="1980" spc="-37" dirty="0">
                <a:latin typeface="Calibri"/>
                <a:cs typeface="Calibri"/>
              </a:rPr>
              <a:t>Try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adding</a:t>
            </a:r>
            <a:r>
              <a:rPr sz="1980" spc="-21" dirty="0">
                <a:latin typeface="Calibri"/>
                <a:cs typeface="Calibri"/>
              </a:rPr>
              <a:t>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334" baseline="-15432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to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hull</a:t>
            </a:r>
            <a:r>
              <a:rPr sz="1980" spc="-21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</a:p>
          <a:p>
            <a:pPr marL="691515" lvl="1" indent="-282893">
              <a:lnSpc>
                <a:spcPts val="2347"/>
              </a:lnSpc>
              <a:buFont typeface="Arial MT"/>
              <a:buChar char="•"/>
              <a:tabLst>
                <a:tab pos="690991" algn="l"/>
                <a:tab pos="691515" algn="l"/>
              </a:tabLst>
            </a:pPr>
            <a:r>
              <a:rPr sz="1980" spc="-4" dirty="0">
                <a:latin typeface="Calibri"/>
                <a:cs typeface="Calibri"/>
              </a:rPr>
              <a:t>If adding </a:t>
            </a:r>
            <a:r>
              <a:rPr sz="1980" spc="-186" dirty="0">
                <a:latin typeface="Cambria Math"/>
                <a:cs typeface="Cambria Math"/>
              </a:rPr>
              <a:t>𝑝</a:t>
            </a:r>
            <a:r>
              <a:rPr sz="2228" spc="-278" baseline="-15432" dirty="0">
                <a:latin typeface="Cambria Math"/>
                <a:cs typeface="Cambria Math"/>
              </a:rPr>
              <a:t>9</a:t>
            </a:r>
            <a:r>
              <a:rPr sz="2228" spc="148" baseline="-15432" dirty="0">
                <a:latin typeface="Cambria Math"/>
                <a:cs typeface="Cambria Math"/>
              </a:rPr>
              <a:t> </a:t>
            </a:r>
            <a:r>
              <a:rPr sz="1980" spc="-17" dirty="0">
                <a:latin typeface="Calibri"/>
                <a:cs typeface="Calibri"/>
              </a:rPr>
              <a:t>makes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103" dirty="0">
                <a:latin typeface="Cambria Math"/>
                <a:cs typeface="Cambria Math"/>
              </a:rPr>
              <a:t> </a:t>
            </a:r>
            <a:r>
              <a:rPr sz="1980" spc="-12" dirty="0">
                <a:latin typeface="Calibri"/>
                <a:cs typeface="Calibri"/>
              </a:rPr>
              <a:t>non-convex,</a:t>
            </a:r>
            <a:r>
              <a:rPr sz="1980" dirty="0">
                <a:latin typeface="Calibri"/>
                <a:cs typeface="Calibri"/>
              </a:rPr>
              <a:t> then </a:t>
            </a:r>
            <a:r>
              <a:rPr sz="1980" spc="-12" dirty="0">
                <a:latin typeface="Calibri"/>
                <a:cs typeface="Calibri"/>
              </a:rPr>
              <a:t>remove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last component</a:t>
            </a:r>
            <a:r>
              <a:rPr sz="1980" spc="-4" dirty="0">
                <a:latin typeface="Calibri"/>
                <a:cs typeface="Calibri"/>
              </a:rPr>
              <a:t> of</a:t>
            </a:r>
            <a:endParaRPr sz="1980" dirty="0">
              <a:latin typeface="Calibri"/>
              <a:cs typeface="Calibri"/>
            </a:endParaRPr>
          </a:p>
          <a:p>
            <a:pPr marL="690991">
              <a:spcBef>
                <a:spcPts val="21"/>
              </a:spcBef>
            </a:pPr>
            <a:r>
              <a:rPr sz="1980" dirty="0">
                <a:latin typeface="Cambria Math"/>
                <a:cs typeface="Cambria Math"/>
              </a:rPr>
              <a:t>𝐶</a:t>
            </a:r>
            <a:r>
              <a:rPr sz="1980" spc="87" dirty="0">
                <a:latin typeface="Cambria Math"/>
                <a:cs typeface="Cambria Math"/>
              </a:rPr>
              <a:t> </a:t>
            </a:r>
            <a:r>
              <a:rPr sz="1980" dirty="0">
                <a:latin typeface="Calibri"/>
                <a:cs typeface="Calibri"/>
              </a:rPr>
              <a:t>and</a:t>
            </a:r>
            <a:r>
              <a:rPr sz="1980" spc="-12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repeat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this</a:t>
            </a:r>
            <a:r>
              <a:rPr sz="1980" spc="-17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check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20540" y="2234526"/>
            <a:ext cx="1311259" cy="1271262"/>
          </a:xfrm>
          <a:prstGeom prst="rect">
            <a:avLst/>
          </a:prstGeom>
        </p:spPr>
        <p:txBody>
          <a:bodyPr vert="horz" wrap="square" lIns="0" tIns="88535" rIns="0" bIns="0" rtlCol="0">
            <a:spAutoFit/>
          </a:bodyPr>
          <a:lstStyle/>
          <a:p>
            <a:pPr marL="10478">
              <a:spcBef>
                <a:spcPts val="697"/>
              </a:spcBef>
            </a:pPr>
            <a:r>
              <a:rPr sz="2310" spc="21" dirty="0">
                <a:solidFill>
                  <a:srgbClr val="4472C4"/>
                </a:solidFill>
                <a:latin typeface="Cambria Math"/>
                <a:cs typeface="Cambria Math"/>
              </a:rPr>
              <a:t>𝑂(𝑛)</a:t>
            </a:r>
            <a:endParaRPr sz="2310">
              <a:latin typeface="Cambria Math"/>
              <a:cs typeface="Cambria Math"/>
            </a:endParaRPr>
          </a:p>
          <a:p>
            <a:pPr marL="16240">
              <a:spcBef>
                <a:spcPts val="611"/>
              </a:spcBef>
            </a:pPr>
            <a:r>
              <a:rPr sz="2310" spc="8" dirty="0">
                <a:solidFill>
                  <a:srgbClr val="4472C4"/>
                </a:solidFill>
                <a:latin typeface="Cambria Math"/>
                <a:cs typeface="Cambria Math"/>
              </a:rPr>
              <a:t>𝑂(1)</a:t>
            </a:r>
            <a:endParaRPr sz="2310">
              <a:latin typeface="Cambria Math"/>
              <a:cs typeface="Cambria Math"/>
            </a:endParaRPr>
          </a:p>
          <a:p>
            <a:pPr marL="24622">
              <a:spcBef>
                <a:spcPts val="337"/>
              </a:spcBef>
            </a:pPr>
            <a:r>
              <a:rPr sz="2310" spc="50" dirty="0">
                <a:solidFill>
                  <a:srgbClr val="4472C4"/>
                </a:solidFill>
                <a:latin typeface="Cambria Math"/>
                <a:cs typeface="Cambria Math"/>
              </a:rPr>
              <a:t>𝑂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(𝑛</a:t>
            </a:r>
            <a:r>
              <a:rPr sz="2310" spc="-83" dirty="0">
                <a:solidFill>
                  <a:srgbClr val="4472C4"/>
                </a:solidFill>
                <a:latin typeface="Cambria Math"/>
                <a:cs typeface="Cambria Math"/>
              </a:rPr>
              <a:t> 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l</a:t>
            </a:r>
            <a:r>
              <a:rPr sz="2310" spc="-4" dirty="0">
                <a:solidFill>
                  <a:srgbClr val="4472C4"/>
                </a:solidFill>
                <a:latin typeface="Cambria Math"/>
                <a:cs typeface="Cambria Math"/>
              </a:rPr>
              <a:t>o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g</a:t>
            </a:r>
            <a:r>
              <a:rPr sz="2310" spc="-120" dirty="0">
                <a:solidFill>
                  <a:srgbClr val="4472C4"/>
                </a:solidFill>
                <a:latin typeface="Cambria Math"/>
                <a:cs typeface="Cambria Math"/>
              </a:rPr>
              <a:t> </a:t>
            </a:r>
            <a:r>
              <a:rPr sz="2310" spc="41" dirty="0">
                <a:solidFill>
                  <a:srgbClr val="4472C4"/>
                </a:solidFill>
                <a:latin typeface="Cambria Math"/>
                <a:cs typeface="Cambria Math"/>
              </a:rPr>
              <a:t>𝑛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)</a:t>
            </a:r>
            <a:endParaRPr sz="231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2126" y="3896678"/>
            <a:ext cx="632317" cy="36606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2310" spc="50" dirty="0">
                <a:solidFill>
                  <a:srgbClr val="4472C4"/>
                </a:solidFill>
                <a:latin typeface="Cambria Math"/>
                <a:cs typeface="Cambria Math"/>
              </a:rPr>
              <a:t>𝑂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(</a:t>
            </a:r>
            <a:r>
              <a:rPr sz="2310" spc="-4" dirty="0">
                <a:solidFill>
                  <a:srgbClr val="4472C4"/>
                </a:solidFill>
                <a:latin typeface="Cambria Math"/>
                <a:cs typeface="Cambria Math"/>
              </a:rPr>
              <a:t>1</a:t>
            </a:r>
            <a:r>
              <a:rPr sz="2310" dirty="0">
                <a:solidFill>
                  <a:srgbClr val="4472C4"/>
                </a:solidFill>
                <a:latin typeface="Cambria Math"/>
                <a:cs typeface="Cambria Math"/>
              </a:rPr>
              <a:t>)</a:t>
            </a:r>
            <a:endParaRPr sz="231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862" y="5875668"/>
            <a:ext cx="3076194" cy="36606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2310" b="1" spc="-4" dirty="0">
                <a:latin typeface="Calibri"/>
                <a:cs typeface="Calibri"/>
              </a:rPr>
              <a:t>Runnin</a:t>
            </a:r>
            <a:r>
              <a:rPr sz="2310" b="1" dirty="0">
                <a:latin typeface="Calibri"/>
                <a:cs typeface="Calibri"/>
              </a:rPr>
              <a:t>g </a:t>
            </a:r>
            <a:r>
              <a:rPr sz="2310" b="1" spc="4" dirty="0">
                <a:latin typeface="Calibri"/>
                <a:cs typeface="Calibri"/>
              </a:rPr>
              <a:t>t</a:t>
            </a:r>
            <a:r>
              <a:rPr sz="2310" b="1" spc="-4" dirty="0">
                <a:latin typeface="Calibri"/>
                <a:cs typeface="Calibri"/>
              </a:rPr>
              <a:t>im</a:t>
            </a:r>
            <a:r>
              <a:rPr sz="2310" b="1" spc="4" dirty="0">
                <a:latin typeface="Calibri"/>
                <a:cs typeface="Calibri"/>
              </a:rPr>
              <a:t>e</a:t>
            </a:r>
            <a:r>
              <a:rPr sz="2310" b="1" dirty="0">
                <a:latin typeface="Calibri"/>
                <a:cs typeface="Calibri"/>
              </a:rPr>
              <a:t>:</a:t>
            </a:r>
            <a:r>
              <a:rPr sz="2310" b="1" spc="4" dirty="0">
                <a:latin typeface="Calibri"/>
                <a:cs typeface="Calibri"/>
              </a:rPr>
              <a:t> </a:t>
            </a:r>
            <a:r>
              <a:rPr sz="2310" spc="50" dirty="0">
                <a:latin typeface="Cambria Math"/>
                <a:cs typeface="Cambria Math"/>
              </a:rPr>
              <a:t>𝑂</a:t>
            </a:r>
            <a:r>
              <a:rPr sz="2310" dirty="0">
                <a:latin typeface="Cambria Math"/>
                <a:cs typeface="Cambria Math"/>
              </a:rPr>
              <a:t>(𝑛</a:t>
            </a:r>
            <a:r>
              <a:rPr sz="2310" spc="-83" dirty="0">
                <a:latin typeface="Cambria Math"/>
                <a:cs typeface="Cambria Math"/>
              </a:rPr>
              <a:t> </a:t>
            </a:r>
            <a:r>
              <a:rPr sz="2310" dirty="0">
                <a:latin typeface="Cambria Math"/>
                <a:cs typeface="Cambria Math"/>
              </a:rPr>
              <a:t>l</a:t>
            </a:r>
            <a:r>
              <a:rPr sz="2310" spc="-4" dirty="0">
                <a:latin typeface="Cambria Math"/>
                <a:cs typeface="Cambria Math"/>
              </a:rPr>
              <a:t>o</a:t>
            </a:r>
            <a:r>
              <a:rPr sz="2310" dirty="0">
                <a:latin typeface="Cambria Math"/>
                <a:cs typeface="Cambria Math"/>
              </a:rPr>
              <a:t>g</a:t>
            </a:r>
            <a:r>
              <a:rPr sz="2310" spc="-120" dirty="0">
                <a:latin typeface="Cambria Math"/>
                <a:cs typeface="Cambria Math"/>
              </a:rPr>
              <a:t> </a:t>
            </a:r>
            <a:r>
              <a:rPr sz="2310" spc="41" dirty="0">
                <a:latin typeface="Cambria Math"/>
                <a:cs typeface="Cambria Math"/>
              </a:rPr>
              <a:t>𝑛</a:t>
            </a:r>
            <a:r>
              <a:rPr sz="2310" dirty="0">
                <a:latin typeface="Cambria Math"/>
                <a:cs typeface="Cambria Math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F47AE-2994-55B8-1E6F-84F3D14566D1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644" y="1250632"/>
            <a:ext cx="5588508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6172" y="2086800"/>
            <a:ext cx="7503795" cy="4031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0365" marR="30480" indent="-342900">
              <a:lnSpc>
                <a:spcPct val="100200"/>
              </a:lnSpc>
              <a:spcBef>
                <a:spcPts val="9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dirty="0">
                <a:latin typeface="Arial MT"/>
                <a:cs typeface="Arial MT"/>
              </a:rPr>
              <a:t> each pair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points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form 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passes </a:t>
            </a:r>
            <a:r>
              <a:rPr sz="2800" spc="-5" dirty="0">
                <a:latin typeface="Arial MT"/>
                <a:cs typeface="Arial MT"/>
              </a:rPr>
              <a:t>through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dirty="0">
                <a:latin typeface="Arial MT"/>
                <a:cs typeface="Arial MT"/>
              </a:rPr>
              <a:t>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</a:t>
            </a:r>
            <a:r>
              <a:rPr sz="2800" dirty="0">
                <a:latin typeface="Arial MT"/>
                <a:cs typeface="Arial MT"/>
              </a:rPr>
              <a:t>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determine </a:t>
            </a:r>
            <a:r>
              <a:rPr sz="2800" spc="-5" dirty="0">
                <a:latin typeface="Arial MT"/>
                <a:cs typeface="Arial MT"/>
              </a:rPr>
              <a:t>if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other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are</a:t>
            </a:r>
            <a:r>
              <a:rPr sz="2800" dirty="0">
                <a:latin typeface="Arial MT"/>
                <a:cs typeface="Arial MT"/>
              </a:rPr>
              <a:t> on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 side of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line.</a:t>
            </a:r>
            <a:endParaRPr sz="2800">
              <a:latin typeface="Arial MT"/>
              <a:cs typeface="Arial MT"/>
            </a:endParaRPr>
          </a:p>
          <a:p>
            <a:pPr marL="7816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convex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hull</a:t>
            </a:r>
            <a:endParaRPr sz="2400">
              <a:latin typeface="Arial MT"/>
              <a:cs typeface="Arial MT"/>
            </a:endParaRPr>
          </a:p>
          <a:p>
            <a:pPr marL="7816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Otherwise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endParaRPr sz="24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Arial MT"/>
                <a:cs typeface="Arial MT"/>
              </a:rPr>
              <a:t>Time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Complexity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O(n</a:t>
            </a:r>
            <a:r>
              <a:rPr sz="2850" spc="-7" baseline="23391" dirty="0">
                <a:latin typeface="Arial MT"/>
                <a:cs typeface="Arial MT"/>
              </a:rPr>
              <a:t>3</a:t>
            </a:r>
            <a:r>
              <a:rPr sz="2800" spc="-5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781685" marR="123825" lvl="1" indent="-287020">
              <a:lnSpc>
                <a:spcPts val="2870"/>
              </a:lnSpc>
              <a:spcBef>
                <a:spcPts val="685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Constant time </a:t>
            </a:r>
            <a:r>
              <a:rPr sz="2400" dirty="0">
                <a:latin typeface="Arial MT"/>
                <a:cs typeface="Arial MT"/>
              </a:rPr>
              <a:t>to test </a:t>
            </a:r>
            <a:r>
              <a:rPr sz="2400" spc="-5" dirty="0">
                <a:latin typeface="Arial MT"/>
                <a:cs typeface="Arial MT"/>
              </a:rPr>
              <a:t>if point is on one side </a:t>
            </a:r>
            <a:r>
              <a:rPr sz="2400" dirty="0">
                <a:latin typeface="Arial MT"/>
                <a:cs typeface="Arial MT"/>
              </a:rPr>
              <a:t>of 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</a:t>
            </a:r>
            <a:endParaRPr sz="2400">
              <a:latin typeface="Arial MT"/>
              <a:cs typeface="Arial MT"/>
            </a:endParaRPr>
          </a:p>
          <a:p>
            <a:pPr marL="630555" algn="ctr">
              <a:lnSpc>
                <a:spcPct val="100000"/>
              </a:lnSpc>
              <a:spcBef>
                <a:spcPts val="490"/>
              </a:spcBef>
            </a:pPr>
            <a:r>
              <a:rPr sz="3000" spc="10" dirty="0">
                <a:latin typeface="Arial MT"/>
                <a:cs typeface="Arial MT"/>
              </a:rPr>
              <a:t>0</a:t>
            </a:r>
            <a:r>
              <a:rPr sz="3000" spc="-140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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Arial MT"/>
                <a:cs typeface="Arial MT"/>
              </a:rPr>
              <a:t>(</a:t>
            </a:r>
            <a:r>
              <a:rPr sz="3000" spc="20" dirty="0">
                <a:latin typeface="Arial MT"/>
                <a:cs typeface="Arial MT"/>
              </a:rPr>
              <a:t>q</a:t>
            </a:r>
            <a:r>
              <a:rPr sz="2625" spc="7" baseline="-23809" dirty="0">
                <a:latin typeface="Arial MT"/>
                <a:cs typeface="Arial MT"/>
              </a:rPr>
              <a:t>2</a:t>
            </a:r>
            <a:r>
              <a:rPr sz="2625" baseline="-23809" dirty="0">
                <a:latin typeface="Arial MT"/>
                <a:cs typeface="Arial MT"/>
              </a:rPr>
              <a:t> </a:t>
            </a:r>
            <a:r>
              <a:rPr sz="2625" spc="-270" baseline="-23809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</a:t>
            </a:r>
            <a:r>
              <a:rPr sz="3000" spc="-370" dirty="0">
                <a:latin typeface="Times New Roman"/>
                <a:cs typeface="Times New Roman"/>
              </a:rPr>
              <a:t> </a:t>
            </a:r>
            <a:r>
              <a:rPr sz="3000" spc="125" dirty="0">
                <a:latin typeface="Arial MT"/>
                <a:cs typeface="Arial MT"/>
              </a:rPr>
              <a:t>p</a:t>
            </a:r>
            <a:r>
              <a:rPr sz="2625" spc="7" baseline="-23809" dirty="0">
                <a:latin typeface="Arial MT"/>
                <a:cs typeface="Arial MT"/>
              </a:rPr>
              <a:t>2</a:t>
            </a:r>
            <a:r>
              <a:rPr sz="2625" spc="-172" baseline="-23809" dirty="0">
                <a:latin typeface="Arial MT"/>
                <a:cs typeface="Arial MT"/>
              </a:rPr>
              <a:t> </a:t>
            </a:r>
            <a:r>
              <a:rPr sz="3000" spc="10" dirty="0">
                <a:latin typeface="Arial MT"/>
                <a:cs typeface="Arial MT"/>
              </a:rPr>
              <a:t>)x</a:t>
            </a:r>
            <a:r>
              <a:rPr sz="3000" spc="-285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</a:t>
            </a:r>
            <a:r>
              <a:rPr sz="3000" spc="-32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Arial MT"/>
                <a:cs typeface="Arial MT"/>
              </a:rPr>
              <a:t>(</a:t>
            </a:r>
            <a:r>
              <a:rPr sz="3000" spc="-30" dirty="0">
                <a:latin typeface="Arial MT"/>
                <a:cs typeface="Arial MT"/>
              </a:rPr>
              <a:t>p</a:t>
            </a:r>
            <a:r>
              <a:rPr sz="2625" spc="7" baseline="-23809" dirty="0">
                <a:latin typeface="Arial MT"/>
                <a:cs typeface="Arial MT"/>
              </a:rPr>
              <a:t>1</a:t>
            </a:r>
            <a:r>
              <a:rPr sz="2625" spc="150" baseline="-23809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</a:t>
            </a:r>
            <a:r>
              <a:rPr sz="3000" spc="-29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Arial MT"/>
                <a:cs typeface="Arial MT"/>
              </a:rPr>
              <a:t>q</a:t>
            </a:r>
            <a:r>
              <a:rPr sz="2625" spc="225" baseline="-23809" dirty="0">
                <a:latin typeface="Arial MT"/>
                <a:cs typeface="Arial MT"/>
              </a:rPr>
              <a:t>1</a:t>
            </a:r>
            <a:r>
              <a:rPr sz="3000" spc="10" dirty="0">
                <a:latin typeface="Arial MT"/>
                <a:cs typeface="Arial MT"/>
              </a:rPr>
              <a:t>)y</a:t>
            </a:r>
            <a:r>
              <a:rPr sz="3000" spc="-270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</a:t>
            </a:r>
            <a:r>
              <a:rPr sz="3000" spc="-32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Arial MT"/>
                <a:cs typeface="Arial MT"/>
              </a:rPr>
              <a:t>p</a:t>
            </a:r>
            <a:r>
              <a:rPr sz="2625" spc="150" baseline="-23809" dirty="0">
                <a:latin typeface="Arial MT"/>
                <a:cs typeface="Arial MT"/>
              </a:rPr>
              <a:t>2</a:t>
            </a:r>
            <a:r>
              <a:rPr sz="3000" spc="-114" dirty="0">
                <a:latin typeface="Arial MT"/>
                <a:cs typeface="Arial MT"/>
              </a:rPr>
              <a:t>q</a:t>
            </a:r>
            <a:r>
              <a:rPr sz="2625" spc="7" baseline="-23809" dirty="0">
                <a:latin typeface="Arial MT"/>
                <a:cs typeface="Arial MT"/>
              </a:rPr>
              <a:t>1</a:t>
            </a:r>
            <a:r>
              <a:rPr sz="2625" spc="135" baseline="-23809" dirty="0">
                <a:latin typeface="Arial MT"/>
                <a:cs typeface="Arial MT"/>
              </a:rPr>
              <a:t> </a:t>
            </a:r>
            <a:r>
              <a:rPr sz="3000" spc="10" dirty="0">
                <a:latin typeface="Symbol"/>
                <a:cs typeface="Symbol"/>
              </a:rPr>
              <a:t></a:t>
            </a:r>
            <a:r>
              <a:rPr sz="3000" spc="-3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Arial MT"/>
                <a:cs typeface="Arial MT"/>
              </a:rPr>
              <a:t>p</a:t>
            </a:r>
            <a:r>
              <a:rPr sz="2625" spc="-187" baseline="-23809" dirty="0">
                <a:latin typeface="Arial MT"/>
                <a:cs typeface="Arial MT"/>
              </a:rPr>
              <a:t>1</a:t>
            </a:r>
            <a:r>
              <a:rPr sz="3000" spc="30" dirty="0">
                <a:latin typeface="Arial MT"/>
                <a:cs typeface="Arial MT"/>
              </a:rPr>
              <a:t>q</a:t>
            </a:r>
            <a:r>
              <a:rPr sz="2625" spc="7" baseline="-23809" dirty="0">
                <a:latin typeface="Arial MT"/>
                <a:cs typeface="Arial MT"/>
              </a:rPr>
              <a:t>2</a:t>
            </a:r>
            <a:endParaRPr sz="2625" baseline="-23809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644" y="1250632"/>
            <a:ext cx="5588508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715899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5080" indent="-342900">
              <a:lnSpc>
                <a:spcPct val="100400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dirty="0">
                <a:latin typeface="Arial MT"/>
                <a:cs typeface="Arial MT"/>
              </a:rPr>
              <a:t> each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pair of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points p,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determine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from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spc="-10" dirty="0">
                <a:latin typeface="Arial MT"/>
                <a:cs typeface="Arial MT"/>
              </a:rPr>
              <a:t>on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convex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hull.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1660" y="3963352"/>
            <a:ext cx="161544" cy="161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0260" y="4572952"/>
            <a:ext cx="161544" cy="1615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754060" y="3277552"/>
            <a:ext cx="1381125" cy="3209925"/>
            <a:chOff x="1754060" y="3277552"/>
            <a:chExt cx="1381125" cy="32099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2260" y="4268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8460" y="48777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5060" y="5334952"/>
              <a:ext cx="161544" cy="1615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15832" y="4348924"/>
              <a:ext cx="457200" cy="1066800"/>
            </a:xfrm>
            <a:custGeom>
              <a:avLst/>
              <a:gdLst/>
              <a:ahLst/>
              <a:cxnLst/>
              <a:rect l="l" t="t" r="r" b="b"/>
              <a:pathLst>
                <a:path w="457200" h="1066800">
                  <a:moveTo>
                    <a:pt x="457200" y="0"/>
                  </a:moveTo>
                  <a:lnTo>
                    <a:pt x="0" y="1066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2260" y="3734752"/>
              <a:ext cx="161544" cy="161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58632" y="3282124"/>
              <a:ext cx="1371600" cy="3200400"/>
            </a:xfrm>
            <a:custGeom>
              <a:avLst/>
              <a:gdLst/>
              <a:ahLst/>
              <a:cxnLst/>
              <a:rect l="l" t="t" r="r" b="b"/>
              <a:pathLst>
                <a:path w="1371600" h="3200400">
                  <a:moveTo>
                    <a:pt x="914400" y="1066800"/>
                  </a:moveTo>
                  <a:lnTo>
                    <a:pt x="1371600" y="0"/>
                  </a:lnTo>
                </a:path>
                <a:path w="1371600" h="3200400">
                  <a:moveTo>
                    <a:pt x="0" y="3200400"/>
                  </a:moveTo>
                  <a:lnTo>
                    <a:pt x="457200" y="2133600"/>
                  </a:lnTo>
                </a:path>
              </a:pathLst>
            </a:custGeom>
            <a:ln w="914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0460" y="44967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9260" y="51063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8460" y="5639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9060" y="40395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9660" y="47253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1860" y="5106352"/>
            <a:ext cx="161544" cy="1615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0260" y="3887152"/>
            <a:ext cx="161544" cy="1615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8860" y="4496752"/>
            <a:ext cx="161544" cy="1615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0860" y="4191952"/>
            <a:ext cx="161544" cy="16154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5411660" y="3353752"/>
            <a:ext cx="3438525" cy="1000125"/>
            <a:chOff x="5411660" y="3353752"/>
            <a:chExt cx="3438525" cy="100012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860" y="3658552"/>
              <a:ext cx="161544" cy="161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7660" y="3963352"/>
              <a:ext cx="161544" cy="1615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11632" y="3739324"/>
              <a:ext cx="1066800" cy="304800"/>
            </a:xfrm>
            <a:custGeom>
              <a:avLst/>
              <a:gdLst/>
              <a:ahLst/>
              <a:cxnLst/>
              <a:rect l="l" t="t" r="r" b="b"/>
              <a:pathLst>
                <a:path w="1066800" h="304800">
                  <a:moveTo>
                    <a:pt x="0" y="0"/>
                  </a:moveTo>
                  <a:lnTo>
                    <a:pt x="10668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16232" y="3358324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2362200" y="685800"/>
                  </a:moveTo>
                  <a:lnTo>
                    <a:pt x="3429000" y="990600"/>
                  </a:lnTo>
                </a:path>
                <a:path w="3429000" h="990600">
                  <a:moveTo>
                    <a:pt x="0" y="0"/>
                  </a:moveTo>
                  <a:lnTo>
                    <a:pt x="1295400" y="381000"/>
                  </a:lnTo>
                </a:path>
              </a:pathLst>
            </a:custGeom>
            <a:ln w="914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7060" y="4801552"/>
            <a:ext cx="161544" cy="16154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9060" y="4420552"/>
            <a:ext cx="161544" cy="16154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7860" y="5030152"/>
            <a:ext cx="161544" cy="1615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3660" y="5258752"/>
            <a:ext cx="161544" cy="1615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7060" y="5563552"/>
            <a:ext cx="161544" cy="16154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8260" y="4649152"/>
            <a:ext cx="161544" cy="16154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0460" y="5030152"/>
            <a:ext cx="161544" cy="161544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5035232" y="3053524"/>
            <a:ext cx="0" cy="3581400"/>
          </a:xfrm>
          <a:custGeom>
            <a:avLst/>
            <a:gdLst/>
            <a:ahLst/>
            <a:cxnLst/>
            <a:rect l="l" t="t" r="r" b="b"/>
            <a:pathLst>
              <a:path h="3581400">
                <a:moveTo>
                  <a:pt x="0" y="0"/>
                </a:moveTo>
                <a:lnTo>
                  <a:pt x="0" y="35814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60332" y="6139116"/>
            <a:ext cx="351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No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6" name="object 36"/>
          <p:cNvSpPr txBox="1"/>
          <p:nvPr/>
        </p:nvSpPr>
        <p:spPr>
          <a:xfrm>
            <a:off x="6622732" y="6062916"/>
            <a:ext cx="463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Y</a:t>
            </a:r>
            <a:r>
              <a:rPr sz="2000" dirty="0">
                <a:latin typeface="Arial MT"/>
                <a:cs typeface="Arial MT"/>
              </a:rPr>
              <a:t>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DFD1FA-5463-0BCE-309D-268B20E1D29D}"/>
              </a:ext>
            </a:extLst>
          </p:cNvPr>
          <p:cNvSpPr/>
          <p:nvPr/>
        </p:nvSpPr>
        <p:spPr>
          <a:xfrm>
            <a:off x="228600" y="152400"/>
            <a:ext cx="88548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Convex Hull – Jarvis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13858-F549-17BB-0FA7-404D4FB8B96E}"/>
              </a:ext>
            </a:extLst>
          </p:cNvPr>
          <p:cNvSpPr txBox="1"/>
          <p:nvPr/>
        </p:nvSpPr>
        <p:spPr>
          <a:xfrm>
            <a:off x="304800" y="1371600"/>
            <a:ext cx="99060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idea of Jarvis’s Algorithm is simple, we start from the leftmost point (or point with minimum x coordinate value) and we keep wrapping points in counterclockwise direction. </a:t>
            </a: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big question is, given a point p as current point, how to find the next point in output? </a:t>
            </a:r>
          </a:p>
          <a:p>
            <a:pPr algn="l" rtl="0" fontAlgn="base">
              <a:spcAft>
                <a:spcPts val="750"/>
              </a:spcAft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idea is to use </a:t>
            </a:r>
            <a:r>
              <a:rPr lang="en-US" b="1" i="0" u="sng" dirty="0">
                <a:solidFill>
                  <a:srgbClr val="2732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orientation()</a:t>
            </a:r>
            <a:r>
              <a:rPr lang="en-US" b="1" i="0" dirty="0">
                <a:solidFill>
                  <a:srgbClr val="2732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here. </a:t>
            </a: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Next point is selected as the point that beats all other points at counterclockwise orientation, i.e., next point is q if for any other point r, we have “orientation(p, q, r) = counterclockwise”. </a:t>
            </a:r>
          </a:p>
        </p:txBody>
      </p:sp>
    </p:spTree>
    <p:extLst>
      <p:ext uri="{BB962C8B-B14F-4D97-AF65-F5344CB8AC3E}">
        <p14:creationId xmlns:p14="http://schemas.microsoft.com/office/powerpoint/2010/main" val="4074725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6EAA1-30C2-0FF7-4CE4-F0CBA3D1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715" y="3736205"/>
            <a:ext cx="10066743" cy="4036192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9F1B4-756A-4324-21F1-ED5B44E0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37" y="1598784"/>
            <a:ext cx="8147089" cy="855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E7E775-B116-ADE3-B97A-E2221D456B1D}"/>
              </a:ext>
            </a:extLst>
          </p:cNvPr>
          <p:cNvSpPr txBox="1"/>
          <p:nvPr/>
        </p:nvSpPr>
        <p:spPr>
          <a:xfrm>
            <a:off x="2667000" y="3878766"/>
            <a:ext cx="6629400" cy="3665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 fontAlgn="base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</a:rPr>
              <a:t>Algorithm:</a:t>
            </a:r>
            <a:br>
              <a:rPr lang="en-US" sz="1600" b="0" i="0" dirty="0">
                <a:effectLst/>
              </a:rPr>
            </a:br>
            <a:r>
              <a:rPr lang="en-US" sz="1600" b="1" i="0" dirty="0">
                <a:effectLst/>
              </a:rPr>
              <a:t>Step 1)</a:t>
            </a:r>
            <a:r>
              <a:rPr lang="en-US" sz="1600" b="0" i="0" dirty="0">
                <a:effectLst/>
              </a:rPr>
              <a:t> Initialize p as leftmost point. </a:t>
            </a:r>
            <a:br>
              <a:rPr lang="en-US" sz="1600" b="0" i="0" dirty="0">
                <a:effectLst/>
              </a:rPr>
            </a:br>
            <a:r>
              <a:rPr lang="en-US" sz="1600" b="1" i="0" dirty="0">
                <a:effectLst/>
              </a:rPr>
              <a:t>Step 2)</a:t>
            </a:r>
            <a:r>
              <a:rPr lang="en-US" sz="1600" b="0" i="0" dirty="0">
                <a:effectLst/>
              </a:rPr>
              <a:t> Do following while we don’t come back to the first (or leftmost) point. </a:t>
            </a:r>
            <a:br>
              <a:rPr lang="en-US" sz="1600" b="0" i="0" dirty="0">
                <a:effectLst/>
              </a:rPr>
            </a:br>
            <a:r>
              <a:rPr lang="en-US" sz="1600" b="1" i="0" dirty="0">
                <a:effectLst/>
              </a:rPr>
              <a:t>            2.1)</a:t>
            </a:r>
            <a:r>
              <a:rPr lang="en-US" sz="1600" b="0" i="0" dirty="0">
                <a:effectLst/>
              </a:rPr>
              <a:t> The next point q is the point, such that the triplet (p, q, r) is counter clockwise for any other point r. </a:t>
            </a:r>
          </a:p>
          <a:p>
            <a:pPr indent="-228600" fontAlgn="base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                    To find this, we simply initialize q as next point, then we traverse through all points. </a:t>
            </a:r>
          </a:p>
          <a:p>
            <a:pPr indent="-228600" fontAlgn="base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                    For any point i, if i is more counter clockwise, i.e., orientation(p, i, q) is counter clockwise, then we update q as i. </a:t>
            </a:r>
          </a:p>
          <a:p>
            <a:pPr indent="-228600" fontAlgn="base">
              <a:lnSpc>
                <a:spcPct val="9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                    Our final value of q is going to be the most counter clockwise point. </a:t>
            </a:r>
            <a:br>
              <a:rPr lang="en-US" sz="1600" b="0" i="0" dirty="0">
                <a:effectLst/>
              </a:rPr>
            </a:br>
            <a:r>
              <a:rPr lang="en-US" sz="1600" b="1" i="0" dirty="0">
                <a:effectLst/>
              </a:rPr>
              <a:t>           2.2)</a:t>
            </a:r>
            <a:r>
              <a:rPr lang="en-US" sz="1600" b="0" i="0" dirty="0">
                <a:effectLst/>
              </a:rPr>
              <a:t> next[p] = q (Store q as next of p in the output convex hull). </a:t>
            </a:r>
            <a:br>
              <a:rPr lang="en-US" sz="1600" b="0" i="0" dirty="0">
                <a:effectLst/>
              </a:rPr>
            </a:br>
            <a:r>
              <a:rPr lang="en-US" sz="1600" b="1" i="0" dirty="0">
                <a:effectLst/>
              </a:rPr>
              <a:t>           2.3)</a:t>
            </a:r>
            <a:r>
              <a:rPr lang="en-US" sz="1600" b="0" i="0" dirty="0">
                <a:effectLst/>
              </a:rPr>
              <a:t> p = q (Set p as q for next iteration).</a:t>
            </a:r>
          </a:p>
        </p:txBody>
      </p:sp>
    </p:spTree>
    <p:extLst>
      <p:ext uri="{BB962C8B-B14F-4D97-AF65-F5344CB8AC3E}">
        <p14:creationId xmlns:p14="http://schemas.microsoft.com/office/powerpoint/2010/main" val="38407721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2B98-E8F8-FF80-56D7-63191BEE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BA56F8-480C-9902-559F-009018030724}"/>
              </a:ext>
            </a:extLst>
          </p:cNvPr>
          <p:cNvSpPr/>
          <p:nvPr/>
        </p:nvSpPr>
        <p:spPr>
          <a:xfrm>
            <a:off x="152400" y="228600"/>
            <a:ext cx="86867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Jarvis’s March – Gift Wrapping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B0CF8-A2F2-38B1-4EEA-C2C92F830731}"/>
              </a:ext>
            </a:extLst>
          </p:cNvPr>
          <p:cNvSpPr txBox="1"/>
          <p:nvPr/>
        </p:nvSpPr>
        <p:spPr>
          <a:xfrm>
            <a:off x="609600" y="1524000"/>
            <a:ext cx="5029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11111"/>
                </a:solidFill>
                <a:effectLst/>
                <a:latin typeface="et-book"/>
              </a:rPr>
              <a:t>Convexity</a:t>
            </a:r>
            <a:endParaRPr lang="en-IN" sz="2800" b="0" i="0" dirty="0">
              <a:solidFill>
                <a:srgbClr val="111111"/>
              </a:solidFill>
              <a:effectLst/>
              <a:latin typeface="et-book"/>
            </a:endParaRPr>
          </a:p>
          <a:p>
            <a:br>
              <a:rPr lang="en-IN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1207C-1B6E-51FD-C08C-F68E8D54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651937"/>
            <a:ext cx="6705600" cy="2388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322AF9-9392-1373-6ECE-C712B554D310}"/>
                  </a:ext>
                </a:extLst>
              </p:cNvPr>
              <p:cNvSpPr txBox="1"/>
              <p:nvPr/>
            </p:nvSpPr>
            <p:spPr>
              <a:xfrm>
                <a:off x="762000" y="4540240"/>
                <a:ext cx="81534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set of points S  is convex if for any two points p  and q in S</a:t>
                </a:r>
              </a:p>
              <a:p>
                <a:r>
                  <a:rPr lang="en-US" dirty="0"/>
                  <a:t>, the line segment connecting these two points is also in S (</a:t>
                </a:r>
                <a:r>
                  <a:rPr lang="en-US" dirty="0" err="1"/>
                  <a:t>pq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convex polygon is a polygon that is the boundary of a convex set. </a:t>
                </a:r>
              </a:p>
              <a:p>
                <a:r>
                  <a:rPr lang="en-US" dirty="0"/>
                  <a:t>The left figure is a convex polygon while the right figure is not per our definition.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322AF9-9392-1373-6ECE-C712B554D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540240"/>
                <a:ext cx="8153400" cy="1200329"/>
              </a:xfrm>
              <a:prstGeom prst="rect">
                <a:avLst/>
              </a:prstGeom>
              <a:blipFill>
                <a:blip r:embed="rId3"/>
                <a:stretch>
                  <a:fillRect l="-598" t="-3046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4783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868" y="422771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F7AC13-7A80-8AA2-14E7-496C4A7E3399}"/>
              </a:ext>
            </a:extLst>
          </p:cNvPr>
          <p:cNvGrpSpPr/>
          <p:nvPr/>
        </p:nvGrpSpPr>
        <p:grpSpPr>
          <a:xfrm>
            <a:off x="2269426" y="2787240"/>
            <a:ext cx="5669811" cy="2876579"/>
            <a:chOff x="2269426" y="2787240"/>
            <a:chExt cx="5669811" cy="28765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1542" y="2787240"/>
              <a:ext cx="187984" cy="1879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426" y="3503334"/>
              <a:ext cx="187983" cy="187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2488" y="4094049"/>
              <a:ext cx="187983" cy="1879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6935" y="4917796"/>
              <a:ext cx="187983" cy="1879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3679" y="5464722"/>
              <a:ext cx="187983" cy="187983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4298848" y="5424715"/>
              <a:ext cx="129397" cy="239104"/>
            </a:xfrm>
            <a:prstGeom prst="rect">
              <a:avLst/>
            </a:prstGeom>
          </p:spPr>
          <p:txBody>
            <a:bodyPr vert="horz" wrap="square" lIns="0" tIns="10478" rIns="0" bIns="0" rtlCol="0">
              <a:spAutoFit/>
            </a:bodyPr>
            <a:lstStyle/>
            <a:p>
              <a:pPr marL="10478">
                <a:spcBef>
                  <a:spcPts val="83"/>
                </a:spcBef>
              </a:pPr>
              <a:r>
                <a:rPr sz="1485" dirty="0">
                  <a:solidFill>
                    <a:srgbClr val="FFFFFF"/>
                  </a:solidFill>
                  <a:latin typeface="Cambria Math"/>
                  <a:cs typeface="Cambria Math"/>
                </a:rPr>
                <a:t>𝑢</a:t>
              </a:r>
              <a:endParaRPr sz="1485">
                <a:latin typeface="Cambria Math"/>
                <a:cs typeface="Cambria Math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3789" y="4710342"/>
              <a:ext cx="187983" cy="1879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7401" y="3684451"/>
              <a:ext cx="187983" cy="1879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1254" y="5043526"/>
              <a:ext cx="187983" cy="1879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1938" y="5464722"/>
              <a:ext cx="187983" cy="1879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1576" y="2887083"/>
              <a:ext cx="187984" cy="1879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1017" y="4013646"/>
              <a:ext cx="187983" cy="1879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9794" y="3886199"/>
              <a:ext cx="187983" cy="18798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24210" y="6380817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38</a:t>
            </a:fld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3A0F2-18AC-403E-46CC-9060B37E0941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839" y="434496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1254" y="5043526"/>
            <a:ext cx="187983" cy="187983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465946" y="5464722"/>
            <a:ext cx="4917091" cy="188071"/>
            <a:chOff x="5413268" y="5342360"/>
            <a:chExt cx="5960110" cy="22796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32318" y="5448299"/>
              <a:ext cx="5922010" cy="8255"/>
            </a:xfrm>
            <a:custGeom>
              <a:avLst/>
              <a:gdLst/>
              <a:ahLst/>
              <a:cxnLst/>
              <a:rect l="l" t="t" r="r" b="b"/>
              <a:pathLst>
                <a:path w="5922009" h="8254">
                  <a:moveTo>
                    <a:pt x="0" y="7990"/>
                  </a:moveTo>
                  <a:lnTo>
                    <a:pt x="592148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39</a:t>
            </a:fld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E71D7B-F469-6E8E-4443-7DA43E10AC21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1254" y="5043526"/>
            <a:ext cx="187983" cy="1879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1938" y="5464722"/>
            <a:ext cx="187983" cy="18798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1254" y="5043526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5464722"/>
            <a:ext cx="3020663" cy="188071"/>
            <a:chOff x="7711440" y="5342360"/>
            <a:chExt cx="3661410" cy="22796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5448299"/>
              <a:ext cx="3415029" cy="8255"/>
            </a:xfrm>
            <a:custGeom>
              <a:avLst/>
              <a:gdLst/>
              <a:ahLst/>
              <a:cxnLst/>
              <a:rect l="l" t="t" r="r" b="b"/>
              <a:pathLst>
                <a:path w="3415029" h="8254">
                  <a:moveTo>
                    <a:pt x="0" y="7990"/>
                  </a:moveTo>
                  <a:lnTo>
                    <a:pt x="341450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1254" y="5043526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5354097"/>
            <a:ext cx="3020663" cy="298609"/>
            <a:chOff x="7711440" y="5208269"/>
            <a:chExt cx="3661410" cy="36195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5227319"/>
              <a:ext cx="3415029" cy="229235"/>
            </a:xfrm>
            <a:custGeom>
              <a:avLst/>
              <a:gdLst/>
              <a:ahLst/>
              <a:cxnLst/>
              <a:rect l="l" t="t" r="r" b="b"/>
              <a:pathLst>
                <a:path w="3415029" h="229235">
                  <a:moveTo>
                    <a:pt x="0" y="228970"/>
                  </a:moveTo>
                  <a:lnTo>
                    <a:pt x="341450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9" y="5043527"/>
            <a:ext cx="2932651" cy="609267"/>
            <a:chOff x="7711440" y="4831820"/>
            <a:chExt cx="3554729" cy="73850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4907278"/>
              <a:ext cx="3308350" cy="549275"/>
            </a:xfrm>
            <a:custGeom>
              <a:avLst/>
              <a:gdLst/>
              <a:ahLst/>
              <a:cxnLst/>
              <a:rect l="l" t="t" r="r" b="b"/>
              <a:pathLst>
                <a:path w="3308350" h="549275">
                  <a:moveTo>
                    <a:pt x="0" y="549011"/>
                  </a:moveTo>
                  <a:lnTo>
                    <a:pt x="330782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4744307"/>
            <a:ext cx="2731484" cy="908399"/>
            <a:chOff x="7711440" y="4469129"/>
            <a:chExt cx="3310890" cy="110109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39298" y="4488179"/>
              <a:ext cx="3064510" cy="968375"/>
            </a:xfrm>
            <a:custGeom>
              <a:avLst/>
              <a:gdLst/>
              <a:ahLst/>
              <a:cxnLst/>
              <a:rect l="l" t="t" r="r" b="b"/>
              <a:pathLst>
                <a:path w="3064509" h="968375">
                  <a:moveTo>
                    <a:pt x="0" y="968110"/>
                  </a:moveTo>
                  <a:lnTo>
                    <a:pt x="306398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5043527"/>
            <a:ext cx="1577388" cy="609267"/>
            <a:chOff x="7711440" y="4831820"/>
            <a:chExt cx="1911985" cy="73850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9" y="4492847"/>
            <a:ext cx="2932651" cy="1159859"/>
            <a:chOff x="7711440" y="4164330"/>
            <a:chExt cx="3554729" cy="140589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589950" y="4183380"/>
              <a:ext cx="1657350" cy="681990"/>
            </a:xfrm>
            <a:custGeom>
              <a:avLst/>
              <a:gdLst/>
              <a:ahLst/>
              <a:cxnLst/>
              <a:rect l="l" t="t" r="r" b="b"/>
              <a:pathLst>
                <a:path w="1657350" h="681989">
                  <a:moveTo>
                    <a:pt x="0" y="681809"/>
                  </a:moveTo>
                  <a:lnTo>
                    <a:pt x="165717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4113437"/>
            <a:ext cx="2882360" cy="1539668"/>
            <a:chOff x="7711440" y="3704439"/>
            <a:chExt cx="3493770" cy="1866264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589950" y="3723489"/>
              <a:ext cx="1596390" cy="1141730"/>
            </a:xfrm>
            <a:custGeom>
              <a:avLst/>
              <a:gdLst/>
              <a:ahLst/>
              <a:cxnLst/>
              <a:rect l="l" t="t" r="r" b="b"/>
              <a:pathLst>
                <a:path w="1596390" h="1141729">
                  <a:moveTo>
                    <a:pt x="0" y="1141700"/>
                  </a:moveTo>
                  <a:lnTo>
                    <a:pt x="159621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3856719"/>
            <a:ext cx="2464308" cy="1796367"/>
            <a:chOff x="7711440" y="3393265"/>
            <a:chExt cx="2987040" cy="217741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589950" y="3412315"/>
              <a:ext cx="1089025" cy="1452880"/>
            </a:xfrm>
            <a:custGeom>
              <a:avLst/>
              <a:gdLst/>
              <a:ahLst/>
              <a:cxnLst/>
              <a:rect l="l" t="t" r="r" b="b"/>
              <a:pathLst>
                <a:path w="1089025" h="1452879">
                  <a:moveTo>
                    <a:pt x="0" y="1452874"/>
                  </a:moveTo>
                  <a:lnTo>
                    <a:pt x="108887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3204115"/>
            <a:ext cx="1731931" cy="2448592"/>
            <a:chOff x="7711440" y="2602230"/>
            <a:chExt cx="2099310" cy="296799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589950" y="2621280"/>
              <a:ext cx="201930" cy="2244090"/>
            </a:xfrm>
            <a:custGeom>
              <a:avLst/>
              <a:gdLst/>
              <a:ahLst/>
              <a:cxnLst/>
              <a:rect l="l" t="t" r="r" b="b"/>
              <a:pathLst>
                <a:path w="201929" h="2244090">
                  <a:moveTo>
                    <a:pt x="0" y="2243909"/>
                  </a:moveTo>
                  <a:lnTo>
                    <a:pt x="2017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3059351"/>
            <a:ext cx="1577388" cy="2593705"/>
            <a:chOff x="7711440" y="2426758"/>
            <a:chExt cx="1911985" cy="314388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43060" y="2445808"/>
              <a:ext cx="347345" cy="2419985"/>
            </a:xfrm>
            <a:custGeom>
              <a:avLst/>
              <a:gdLst/>
              <a:ahLst/>
              <a:cxnLst/>
              <a:rect l="l" t="t" r="r" b="b"/>
              <a:pathLst>
                <a:path w="347345" h="2419985">
                  <a:moveTo>
                    <a:pt x="346890" y="241938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1492" y="3075067"/>
            <a:ext cx="550593" cy="1996488"/>
          </a:xfrm>
          <a:custGeom>
            <a:avLst/>
            <a:gdLst/>
            <a:ahLst/>
            <a:cxnLst/>
            <a:rect l="l" t="t" r="r" b="b"/>
            <a:pathLst>
              <a:path w="667384" h="2419985">
                <a:moveTo>
                  <a:pt x="666930" y="2419381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5043527"/>
            <a:ext cx="1577388" cy="609267"/>
            <a:chOff x="7711440" y="4831820"/>
            <a:chExt cx="1911985" cy="73850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9794" y="3886199"/>
            <a:ext cx="187983" cy="187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51</a:t>
            </a:fld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1437" y="2316459"/>
            <a:ext cx="433769" cy="1572673"/>
          </a:xfrm>
          <a:custGeom>
            <a:avLst/>
            <a:gdLst/>
            <a:ahLst/>
            <a:cxnLst/>
            <a:rect l="l" t="t" r="r" b="b"/>
            <a:pathLst>
              <a:path w="525779" h="1906270">
                <a:moveTo>
                  <a:pt x="525442" y="1906111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64274" y="2383727"/>
            <a:ext cx="810959" cy="1505616"/>
          </a:xfrm>
          <a:custGeom>
            <a:avLst/>
            <a:gdLst/>
            <a:ahLst/>
            <a:cxnLst/>
            <a:rect l="l" t="t" r="r" b="b"/>
            <a:pathLst>
              <a:path w="982979" h="1824989">
                <a:moveTo>
                  <a:pt x="982610" y="1824577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61938" y="2496883"/>
            <a:ext cx="1213295" cy="1392460"/>
          </a:xfrm>
          <a:custGeom>
            <a:avLst/>
            <a:gdLst/>
            <a:ahLst/>
            <a:cxnLst/>
            <a:rect l="l" t="t" r="r" b="b"/>
            <a:pathLst>
              <a:path w="1470659" h="1687829">
                <a:moveTo>
                  <a:pt x="1470290" y="1687418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09561" y="2634881"/>
            <a:ext cx="1465802" cy="1254157"/>
          </a:xfrm>
          <a:custGeom>
            <a:avLst/>
            <a:gdLst/>
            <a:ahLst/>
            <a:cxnLst/>
            <a:rect l="l" t="t" r="r" b="b"/>
            <a:pathLst>
              <a:path w="1776729" h="1520189">
                <a:moveTo>
                  <a:pt x="1776202" y="1520148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4721" y="2836354"/>
            <a:ext cx="1810512" cy="1052989"/>
          </a:xfrm>
          <a:custGeom>
            <a:avLst/>
            <a:gdLst/>
            <a:ahLst/>
            <a:cxnLst/>
            <a:rect l="l" t="t" r="r" b="b"/>
            <a:pathLst>
              <a:path w="2194559" h="1276350">
                <a:moveTo>
                  <a:pt x="2194190" y="1275938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61938" y="3886198"/>
            <a:ext cx="1577388" cy="1766507"/>
            <a:chOff x="7711440" y="3428998"/>
            <a:chExt cx="1911985" cy="21412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1576" y="2887083"/>
            <a:ext cx="187984" cy="1879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57</a:t>
            </a:fld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1662" y="5558713"/>
            <a:ext cx="1880711" cy="0"/>
          </a:xfrm>
          <a:custGeom>
            <a:avLst/>
            <a:gdLst/>
            <a:ahLst/>
            <a:cxnLst/>
            <a:rect l="l" t="t" r="r" b="b"/>
            <a:pathLst>
              <a:path w="2279650">
                <a:moveTo>
                  <a:pt x="0" y="0"/>
                </a:moveTo>
                <a:lnTo>
                  <a:pt x="2279121" y="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3" name="object 3"/>
          <p:cNvSpPr/>
          <p:nvPr/>
        </p:nvSpPr>
        <p:spPr>
          <a:xfrm>
            <a:off x="0" y="1057276"/>
            <a:ext cx="10058400" cy="1117949"/>
          </a:xfrm>
          <a:custGeom>
            <a:avLst/>
            <a:gdLst/>
            <a:ahLst/>
            <a:cxnLst/>
            <a:rect l="l" t="t" r="r" b="b"/>
            <a:pathLst>
              <a:path w="12192000" h="1355090">
                <a:moveTo>
                  <a:pt x="12192000" y="0"/>
                </a:moveTo>
                <a:lnTo>
                  <a:pt x="0" y="0"/>
                </a:lnTo>
                <a:lnTo>
                  <a:pt x="0" y="1354665"/>
                </a:lnTo>
                <a:lnTo>
                  <a:pt x="12192000" y="13546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2D4B"/>
          </a:solidFill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854" y="1272272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2488" y="4094049"/>
            <a:ext cx="187983" cy="187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6935" y="4917796"/>
            <a:ext cx="187983" cy="187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93679" y="5464722"/>
            <a:ext cx="187983" cy="1879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3789" y="4710342"/>
            <a:ext cx="187983" cy="1879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7401" y="3684451"/>
            <a:ext cx="187983" cy="1879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017" y="4013646"/>
            <a:ext cx="187983" cy="18798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921576" y="2887083"/>
            <a:ext cx="2017967" cy="2766060"/>
            <a:chOff x="7177668" y="2217949"/>
            <a:chExt cx="2446020" cy="335280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58</a:t>
            </a:fld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904" y="100923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16935" y="4917797"/>
            <a:ext cx="1564815" cy="734997"/>
            <a:chOff x="3535679" y="4679420"/>
            <a:chExt cx="1896745" cy="8909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79" y="4679420"/>
              <a:ext cx="227858" cy="2278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59" y="5342360"/>
              <a:ext cx="227858" cy="22785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98848" y="5424715"/>
            <a:ext cx="129397" cy="239104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29880" y="2881232"/>
            <a:ext cx="1161955" cy="650129"/>
          </a:xfrm>
          <a:custGeom>
            <a:avLst/>
            <a:gdLst/>
            <a:ahLst/>
            <a:cxnLst/>
            <a:rect l="l" t="t" r="r" b="b"/>
            <a:pathLst>
              <a:path w="1408429" h="788035">
                <a:moveTo>
                  <a:pt x="1408075" y="0"/>
                </a:moveTo>
                <a:lnTo>
                  <a:pt x="0" y="78743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grpSp>
        <p:nvGrpSpPr>
          <p:cNvPr id="10" name="object 10"/>
          <p:cNvGrpSpPr/>
          <p:nvPr/>
        </p:nvGrpSpPr>
        <p:grpSpPr>
          <a:xfrm>
            <a:off x="2347702" y="2865516"/>
            <a:ext cx="5591842" cy="2787539"/>
            <a:chOff x="2845700" y="2191807"/>
            <a:chExt cx="6777990" cy="3378835"/>
          </a:xfrm>
        </p:grpSpPr>
        <p:sp>
          <p:nvSpPr>
            <p:cNvPr id="11" name="object 11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1244" y="2210857"/>
              <a:ext cx="2630170" cy="40640"/>
            </a:xfrm>
            <a:custGeom>
              <a:avLst/>
              <a:gdLst/>
              <a:ahLst/>
              <a:cxnLst/>
              <a:rect l="l" t="t" r="r" b="b"/>
              <a:pathLst>
                <a:path w="2630170" h="40639">
                  <a:moveTo>
                    <a:pt x="0" y="0"/>
                  </a:moveTo>
                  <a:lnTo>
                    <a:pt x="2629794" y="4046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25904" y="5969844"/>
            <a:ext cx="8006382" cy="297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Idea: </a:t>
            </a:r>
            <a:r>
              <a:rPr sz="1980" spc="-8" dirty="0">
                <a:latin typeface="Calibri"/>
                <a:cs typeface="Calibri"/>
              </a:rPr>
              <a:t>Start</a:t>
            </a:r>
            <a:r>
              <a:rPr sz="1980" spc="-4" dirty="0">
                <a:latin typeface="Calibri"/>
                <a:cs typeface="Calibri"/>
              </a:rPr>
              <a:t> with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extremal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and </a:t>
            </a:r>
            <a:r>
              <a:rPr sz="1980" spc="-8" dirty="0">
                <a:latin typeface="Calibri"/>
                <a:cs typeface="Calibri"/>
              </a:rPr>
              <a:t>“wrap”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in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12" dirty="0">
                <a:latin typeface="Calibri"/>
                <a:cs typeface="Calibri"/>
              </a:rPr>
              <a:t>counter-clockwise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fashion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59</a:t>
            </a:fld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D867EC-547A-BD01-C648-D5F55484086C}"/>
              </a:ext>
            </a:extLst>
          </p:cNvPr>
          <p:cNvSpPr/>
          <p:nvPr/>
        </p:nvSpPr>
        <p:spPr>
          <a:xfrm>
            <a:off x="4038600" y="1219200"/>
            <a:ext cx="2169890" cy="53845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971" y="405326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47702" y="2865516"/>
            <a:ext cx="5591842" cy="2787539"/>
            <a:chOff x="2845700" y="2191807"/>
            <a:chExt cx="6777990" cy="33788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0" y="4679420"/>
              <a:ext cx="227858" cy="227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60" y="5342360"/>
              <a:ext cx="227858" cy="2278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60" y="4831820"/>
              <a:ext cx="227858" cy="227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60" y="3428998"/>
              <a:ext cx="227858" cy="2278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1244" y="2210857"/>
              <a:ext cx="2630170" cy="40640"/>
            </a:xfrm>
            <a:custGeom>
              <a:avLst/>
              <a:gdLst/>
              <a:ahLst/>
              <a:cxnLst/>
              <a:rect l="l" t="t" r="r" b="b"/>
              <a:pathLst>
                <a:path w="2630170" h="40639">
                  <a:moveTo>
                    <a:pt x="0" y="0"/>
                  </a:moveTo>
                  <a:lnTo>
                    <a:pt x="2629794" y="4046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60" y="4427960"/>
              <a:ext cx="227858" cy="22785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2429880" y="2881232"/>
            <a:ext cx="1161955" cy="650129"/>
          </a:xfrm>
          <a:custGeom>
            <a:avLst/>
            <a:gdLst/>
            <a:ahLst/>
            <a:cxnLst/>
            <a:rect l="l" t="t" r="r" b="b"/>
            <a:pathLst>
              <a:path w="1408429" h="788035">
                <a:moveTo>
                  <a:pt x="1408075" y="0"/>
                </a:moveTo>
                <a:lnTo>
                  <a:pt x="0" y="78743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24" name="object 24"/>
          <p:cNvSpPr txBox="1"/>
          <p:nvPr/>
        </p:nvSpPr>
        <p:spPr>
          <a:xfrm>
            <a:off x="973360" y="5345505"/>
            <a:ext cx="7528084" cy="726273"/>
          </a:xfrm>
          <a:prstGeom prst="rect">
            <a:avLst/>
          </a:prstGeom>
        </p:spPr>
        <p:txBody>
          <a:bodyPr vert="horz" wrap="square" lIns="0" tIns="89583" rIns="0" bIns="0" rtlCol="0">
            <a:spAutoFit/>
          </a:bodyPr>
          <a:lstStyle/>
          <a:p>
            <a:pPr marR="741283" algn="ctr">
              <a:spcBef>
                <a:spcPts val="705"/>
              </a:spcBef>
            </a:pPr>
            <a:r>
              <a:rPr sz="1485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endParaRPr sz="1485">
              <a:latin typeface="Cambria Math"/>
              <a:cs typeface="Cambria Math"/>
            </a:endParaRPr>
          </a:p>
          <a:p>
            <a:pPr marL="10478">
              <a:spcBef>
                <a:spcPts val="833"/>
              </a:spcBef>
            </a:pPr>
            <a:r>
              <a:rPr sz="1980" spc="-4" dirty="0">
                <a:latin typeface="Calibri"/>
                <a:cs typeface="Calibri"/>
              </a:rPr>
              <a:t>Can </a:t>
            </a:r>
            <a:r>
              <a:rPr sz="1980" dirty="0">
                <a:latin typeface="Calibri"/>
                <a:cs typeface="Calibri"/>
              </a:rPr>
              <a:t>find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4" dirty="0">
                <a:latin typeface="Calibri"/>
                <a:cs typeface="Calibri"/>
              </a:rPr>
              <a:t>“next”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 </a:t>
            </a:r>
            <a:r>
              <a:rPr sz="1980" spc="-4" dirty="0">
                <a:latin typeface="Calibri"/>
                <a:cs typeface="Calibri"/>
              </a:rPr>
              <a:t>using </a:t>
            </a:r>
            <a:r>
              <a:rPr sz="1980" dirty="0">
                <a:latin typeface="Calibri"/>
                <a:cs typeface="Calibri"/>
              </a:rPr>
              <a:t>a </a:t>
            </a:r>
            <a:r>
              <a:rPr sz="1980" spc="-4" dirty="0">
                <a:latin typeface="Calibri"/>
                <a:cs typeface="Calibri"/>
              </a:rPr>
              <a:t>linear </a:t>
            </a:r>
            <a:r>
              <a:rPr sz="1980" spc="-8" dirty="0">
                <a:latin typeface="Calibri"/>
                <a:cs typeface="Calibri"/>
              </a:rPr>
              <a:t>scan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(i.e., </a:t>
            </a:r>
            <a:r>
              <a:rPr sz="1980" spc="-8" dirty="0">
                <a:latin typeface="Calibri"/>
                <a:cs typeface="Calibri"/>
              </a:rPr>
              <a:t>point</a:t>
            </a:r>
            <a:r>
              <a:rPr sz="1980" spc="-4" dirty="0">
                <a:latin typeface="Calibri"/>
                <a:cs typeface="Calibri"/>
              </a:rPr>
              <a:t> with </a:t>
            </a:r>
            <a:r>
              <a:rPr sz="1980" u="heavy" spc="-1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largest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angle)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3360" y="6072943"/>
            <a:ext cx="7024640" cy="61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Number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of </a:t>
            </a:r>
            <a:r>
              <a:rPr sz="1980" b="1" spc="-12" dirty="0">
                <a:latin typeface="Calibri"/>
                <a:cs typeface="Calibri"/>
              </a:rPr>
              <a:t>iterations:</a:t>
            </a:r>
            <a:r>
              <a:rPr sz="1980" b="1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number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hull</a:t>
            </a:r>
            <a:endParaRPr sz="1980">
              <a:latin typeface="Calibri"/>
              <a:cs typeface="Calibri"/>
            </a:endParaRPr>
          </a:p>
          <a:p>
            <a:pPr marL="10478">
              <a:spcBef>
                <a:spcPts val="17"/>
              </a:spcBef>
            </a:pPr>
            <a:r>
              <a:rPr sz="1980" b="1" spc="-4" dirty="0">
                <a:latin typeface="Calibri"/>
                <a:cs typeface="Calibri"/>
              </a:rPr>
              <a:t>Run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time: </a:t>
            </a:r>
            <a:r>
              <a:rPr sz="1980" spc="12" dirty="0">
                <a:latin typeface="Cambria Math"/>
                <a:cs typeface="Cambria Math"/>
              </a:rPr>
              <a:t>𝑂(𝑛ℎ)</a:t>
            </a:r>
            <a:r>
              <a:rPr sz="1980" spc="8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where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ℎ</a:t>
            </a:r>
            <a:r>
              <a:rPr sz="1980" spc="50" dirty="0">
                <a:latin typeface="Cambria Math"/>
                <a:cs typeface="Cambria Math"/>
              </a:rPr>
              <a:t> </a:t>
            </a:r>
            <a:r>
              <a:rPr sz="1980" spc="-4" dirty="0">
                <a:latin typeface="Calibri"/>
                <a:cs typeface="Calibri"/>
              </a:rPr>
              <a:t>is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number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hull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60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C377A1-F13D-92F9-40DF-9967F7ECB7B7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964" y="3717"/>
            <a:ext cx="7926753" cy="379912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10478">
              <a:spcBef>
                <a:spcPts val="83"/>
              </a:spcBef>
            </a:pPr>
            <a:r>
              <a:rPr dirty="0"/>
              <a:t>Jarvis’</a:t>
            </a:r>
            <a:r>
              <a:rPr spc="4" dirty="0"/>
              <a:t> </a:t>
            </a:r>
            <a:r>
              <a:rPr spc="-12" dirty="0"/>
              <a:t>Algorithm</a:t>
            </a:r>
            <a:r>
              <a:rPr spc="4" dirty="0"/>
              <a:t> </a:t>
            </a:r>
            <a:r>
              <a:rPr spc="-4" dirty="0"/>
              <a:t>(Gift</a:t>
            </a:r>
            <a:r>
              <a:rPr spc="4" dirty="0"/>
              <a:t> </a:t>
            </a:r>
            <a:r>
              <a:rPr spc="-29" dirty="0"/>
              <a:t>Wrapping</a:t>
            </a:r>
            <a:r>
              <a:rPr spc="8" dirty="0"/>
              <a:t> </a:t>
            </a:r>
            <a:r>
              <a:rPr spc="-8" dirty="0"/>
              <a:t>Method)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542" y="2787240"/>
            <a:ext cx="187984" cy="187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426" y="3503334"/>
            <a:ext cx="187983" cy="1879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96116" y="2865516"/>
            <a:ext cx="6743319" cy="3508915"/>
            <a:chOff x="1449837" y="2191807"/>
            <a:chExt cx="8173720" cy="425323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79" y="4679420"/>
              <a:ext cx="227858" cy="227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64750" y="3192779"/>
              <a:ext cx="704850" cy="1520190"/>
            </a:xfrm>
            <a:custGeom>
              <a:avLst/>
              <a:gdLst/>
              <a:ahLst/>
              <a:cxnLst/>
              <a:rect l="l" t="t" r="r" b="b"/>
              <a:pathLst>
                <a:path w="704850" h="1520189">
                  <a:moveTo>
                    <a:pt x="704299" y="152001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459" y="5342360"/>
              <a:ext cx="227858" cy="2278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0170" y="4873909"/>
              <a:ext cx="1474470" cy="582930"/>
            </a:xfrm>
            <a:custGeom>
              <a:avLst/>
              <a:gdLst/>
              <a:ahLst/>
              <a:cxnLst/>
              <a:rect l="l" t="t" r="r" b="b"/>
              <a:pathLst>
                <a:path w="1474470" h="582929">
                  <a:moveTo>
                    <a:pt x="0" y="0"/>
                  </a:moveTo>
                  <a:lnTo>
                    <a:pt x="1474290" y="58238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0" y="5342360"/>
              <a:ext cx="227858" cy="2278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32318" y="5456289"/>
              <a:ext cx="2279650" cy="0"/>
            </a:xfrm>
            <a:custGeom>
              <a:avLst/>
              <a:gdLst/>
              <a:ahLst/>
              <a:cxnLst/>
              <a:rect l="l" t="t" r="r" b="b"/>
              <a:pathLst>
                <a:path w="2279650">
                  <a:moveTo>
                    <a:pt x="0" y="0"/>
                  </a:moveTo>
                  <a:lnTo>
                    <a:pt x="2279121" y="1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5459" y="4831820"/>
              <a:ext cx="227858" cy="227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39298" y="4945749"/>
              <a:ext cx="1456690" cy="510540"/>
            </a:xfrm>
            <a:custGeom>
              <a:avLst/>
              <a:gdLst/>
              <a:ahLst/>
              <a:cxnLst/>
              <a:rect l="l" t="t" r="r" b="b"/>
              <a:pathLst>
                <a:path w="1456690" h="510539">
                  <a:moveTo>
                    <a:pt x="0" y="510540"/>
                  </a:moveTo>
                  <a:lnTo>
                    <a:pt x="1456161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0659" y="3428998"/>
              <a:ext cx="227858" cy="2278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04590" y="3656858"/>
              <a:ext cx="304800" cy="1175385"/>
            </a:xfrm>
            <a:custGeom>
              <a:avLst/>
              <a:gdLst/>
              <a:ahLst/>
              <a:cxnLst/>
              <a:rect l="l" t="t" r="r" b="b"/>
              <a:pathLst>
                <a:path w="304800" h="1175385">
                  <a:moveTo>
                    <a:pt x="0" y="0"/>
                  </a:moveTo>
                  <a:lnTo>
                    <a:pt x="304800" y="1174962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668" y="2217949"/>
              <a:ext cx="227859" cy="2278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05527" y="2331878"/>
              <a:ext cx="1718945" cy="1130935"/>
            </a:xfrm>
            <a:custGeom>
              <a:avLst/>
              <a:gdLst/>
              <a:ahLst/>
              <a:cxnLst/>
              <a:rect l="l" t="t" r="r" b="b"/>
              <a:pathLst>
                <a:path w="1718945" h="1130935">
                  <a:moveTo>
                    <a:pt x="1718501" y="11304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1244" y="2210857"/>
              <a:ext cx="2630170" cy="40640"/>
            </a:xfrm>
            <a:custGeom>
              <a:avLst/>
              <a:gdLst/>
              <a:ahLst/>
              <a:cxnLst/>
              <a:rect l="l" t="t" r="r" b="b"/>
              <a:pathLst>
                <a:path w="2630170" h="40639">
                  <a:moveTo>
                    <a:pt x="0" y="0"/>
                  </a:moveTo>
                  <a:lnTo>
                    <a:pt x="2629794" y="40460"/>
                  </a:lnTo>
                </a:path>
              </a:pathLst>
            </a:custGeom>
            <a:ln w="381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0895" y="3680938"/>
              <a:ext cx="227858" cy="2278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1259" y="4427960"/>
              <a:ext cx="227858" cy="22785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3819" y="3184456"/>
              <a:ext cx="227858" cy="22785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9718" y="3583480"/>
              <a:ext cx="227858" cy="2278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49837" y="4927537"/>
              <a:ext cx="8173720" cy="1517650"/>
            </a:xfrm>
            <a:custGeom>
              <a:avLst/>
              <a:gdLst/>
              <a:ahLst/>
              <a:cxnLst/>
              <a:rect l="l" t="t" r="r" b="b"/>
              <a:pathLst>
                <a:path w="8173720" h="1517650">
                  <a:moveTo>
                    <a:pt x="3405616" y="1348488"/>
                  </a:moveTo>
                  <a:lnTo>
                    <a:pt x="1362246" y="1348488"/>
                  </a:lnTo>
                  <a:lnTo>
                    <a:pt x="2383958" y="1517053"/>
                  </a:lnTo>
                  <a:lnTo>
                    <a:pt x="3405616" y="1348488"/>
                  </a:lnTo>
                  <a:close/>
                </a:path>
                <a:path w="8173720" h="1517650">
                  <a:moveTo>
                    <a:pt x="7948728" y="0"/>
                  </a:moveTo>
                  <a:lnTo>
                    <a:pt x="224753" y="0"/>
                  </a:lnTo>
                  <a:lnTo>
                    <a:pt x="179457" y="4566"/>
                  </a:lnTo>
                  <a:lnTo>
                    <a:pt x="137268" y="17662"/>
                  </a:lnTo>
                  <a:lnTo>
                    <a:pt x="99091" y="38384"/>
                  </a:lnTo>
                  <a:lnTo>
                    <a:pt x="65828" y="65829"/>
                  </a:lnTo>
                  <a:lnTo>
                    <a:pt x="38384" y="99092"/>
                  </a:lnTo>
                  <a:lnTo>
                    <a:pt x="17662" y="137269"/>
                  </a:lnTo>
                  <a:lnTo>
                    <a:pt x="4566" y="179458"/>
                  </a:lnTo>
                  <a:lnTo>
                    <a:pt x="0" y="224754"/>
                  </a:lnTo>
                  <a:lnTo>
                    <a:pt x="0" y="1123743"/>
                  </a:lnTo>
                  <a:lnTo>
                    <a:pt x="4566" y="1169030"/>
                  </a:lnTo>
                  <a:lnTo>
                    <a:pt x="17662" y="1211218"/>
                  </a:lnTo>
                  <a:lnTo>
                    <a:pt x="38384" y="1249396"/>
                  </a:lnTo>
                  <a:lnTo>
                    <a:pt x="65828" y="1282659"/>
                  </a:lnTo>
                  <a:lnTo>
                    <a:pt x="99091" y="1310103"/>
                  </a:lnTo>
                  <a:lnTo>
                    <a:pt x="137268" y="1330825"/>
                  </a:lnTo>
                  <a:lnTo>
                    <a:pt x="179457" y="1343922"/>
                  </a:lnTo>
                  <a:lnTo>
                    <a:pt x="224753" y="1348488"/>
                  </a:lnTo>
                  <a:lnTo>
                    <a:pt x="7948728" y="1348488"/>
                  </a:lnTo>
                  <a:lnTo>
                    <a:pt x="7994023" y="1343922"/>
                  </a:lnTo>
                  <a:lnTo>
                    <a:pt x="8036211" y="1330825"/>
                  </a:lnTo>
                  <a:lnTo>
                    <a:pt x="8074389" y="1310103"/>
                  </a:lnTo>
                  <a:lnTo>
                    <a:pt x="8107652" y="1282659"/>
                  </a:lnTo>
                  <a:lnTo>
                    <a:pt x="8135096" y="1249396"/>
                  </a:lnTo>
                  <a:lnTo>
                    <a:pt x="8155818" y="1211218"/>
                  </a:lnTo>
                  <a:lnTo>
                    <a:pt x="8168915" y="1169030"/>
                  </a:lnTo>
                  <a:lnTo>
                    <a:pt x="8173480" y="1123743"/>
                  </a:lnTo>
                  <a:lnTo>
                    <a:pt x="8173481" y="224754"/>
                  </a:lnTo>
                  <a:lnTo>
                    <a:pt x="8168915" y="179458"/>
                  </a:lnTo>
                  <a:lnTo>
                    <a:pt x="8155818" y="137269"/>
                  </a:lnTo>
                  <a:lnTo>
                    <a:pt x="8135096" y="99092"/>
                  </a:lnTo>
                  <a:lnTo>
                    <a:pt x="8107652" y="65829"/>
                  </a:lnTo>
                  <a:lnTo>
                    <a:pt x="8074389" y="38384"/>
                  </a:lnTo>
                  <a:lnTo>
                    <a:pt x="8036211" y="17662"/>
                  </a:lnTo>
                  <a:lnTo>
                    <a:pt x="7994023" y="4566"/>
                  </a:lnTo>
                  <a:lnTo>
                    <a:pt x="7948728" y="0"/>
                  </a:lnTo>
                  <a:close/>
                </a:path>
              </a:pathLst>
            </a:custGeom>
            <a:solidFill>
              <a:srgbClr val="232D4B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  <p:sp>
          <p:nvSpPr>
            <p:cNvPr id="24" name="object 24"/>
            <p:cNvSpPr/>
            <p:nvPr/>
          </p:nvSpPr>
          <p:spPr>
            <a:xfrm>
              <a:off x="5421224" y="5840940"/>
              <a:ext cx="520700" cy="282575"/>
            </a:xfrm>
            <a:custGeom>
              <a:avLst/>
              <a:gdLst/>
              <a:ahLst/>
              <a:cxnLst/>
              <a:rect l="l" t="t" r="r" b="b"/>
              <a:pathLst>
                <a:path w="520700" h="282575">
                  <a:moveTo>
                    <a:pt x="430432" y="0"/>
                  </a:moveTo>
                  <a:lnTo>
                    <a:pt x="426413" y="11459"/>
                  </a:lnTo>
                  <a:lnTo>
                    <a:pt x="442756" y="18552"/>
                  </a:lnTo>
                  <a:lnTo>
                    <a:pt x="456811" y="28370"/>
                  </a:lnTo>
                  <a:lnTo>
                    <a:pt x="485349" y="73879"/>
                  </a:lnTo>
                  <a:lnTo>
                    <a:pt x="493684" y="115662"/>
                  </a:lnTo>
                  <a:lnTo>
                    <a:pt x="494725" y="139749"/>
                  </a:lnTo>
                  <a:lnTo>
                    <a:pt x="493679" y="164650"/>
                  </a:lnTo>
                  <a:lnTo>
                    <a:pt x="485307" y="207587"/>
                  </a:lnTo>
                  <a:lnTo>
                    <a:pt x="456830" y="253826"/>
                  </a:lnTo>
                  <a:lnTo>
                    <a:pt x="426859" y="270867"/>
                  </a:lnTo>
                  <a:lnTo>
                    <a:pt x="430432" y="282326"/>
                  </a:lnTo>
                  <a:lnTo>
                    <a:pt x="468941" y="264262"/>
                  </a:lnTo>
                  <a:lnTo>
                    <a:pt x="497255" y="232990"/>
                  </a:lnTo>
                  <a:lnTo>
                    <a:pt x="514668" y="191113"/>
                  </a:lnTo>
                  <a:lnTo>
                    <a:pt x="520472" y="141237"/>
                  </a:lnTo>
                  <a:lnTo>
                    <a:pt x="519016" y="115355"/>
                  </a:lnTo>
                  <a:lnTo>
                    <a:pt x="507371" y="69479"/>
                  </a:lnTo>
                  <a:lnTo>
                    <a:pt x="484275" y="32132"/>
                  </a:lnTo>
                  <a:lnTo>
                    <a:pt x="450900" y="7390"/>
                  </a:lnTo>
                  <a:lnTo>
                    <a:pt x="430432" y="0"/>
                  </a:lnTo>
                  <a:close/>
                </a:path>
                <a:path w="520700" h="282575">
                  <a:moveTo>
                    <a:pt x="90040" y="0"/>
                  </a:moveTo>
                  <a:lnTo>
                    <a:pt x="51623" y="18101"/>
                  </a:lnTo>
                  <a:lnTo>
                    <a:pt x="23290" y="49485"/>
                  </a:lnTo>
                  <a:lnTo>
                    <a:pt x="5822" y="91436"/>
                  </a:lnTo>
                  <a:lnTo>
                    <a:pt x="0" y="141237"/>
                  </a:lnTo>
                  <a:lnTo>
                    <a:pt x="1450" y="167175"/>
                  </a:lnTo>
                  <a:lnTo>
                    <a:pt x="13059" y="213052"/>
                  </a:lnTo>
                  <a:lnTo>
                    <a:pt x="36099" y="250277"/>
                  </a:lnTo>
                  <a:lnTo>
                    <a:pt x="69511" y="274946"/>
                  </a:lnTo>
                  <a:lnTo>
                    <a:pt x="90040" y="282326"/>
                  </a:lnTo>
                  <a:lnTo>
                    <a:pt x="93611" y="270867"/>
                  </a:lnTo>
                  <a:lnTo>
                    <a:pt x="77524" y="263742"/>
                  </a:lnTo>
                  <a:lnTo>
                    <a:pt x="63642" y="253826"/>
                  </a:lnTo>
                  <a:lnTo>
                    <a:pt x="35165" y="207587"/>
                  </a:lnTo>
                  <a:lnTo>
                    <a:pt x="26793" y="164650"/>
                  </a:lnTo>
                  <a:lnTo>
                    <a:pt x="25746" y="139749"/>
                  </a:lnTo>
                  <a:lnTo>
                    <a:pt x="26793" y="115662"/>
                  </a:lnTo>
                  <a:lnTo>
                    <a:pt x="35165" y="73879"/>
                  </a:lnTo>
                  <a:lnTo>
                    <a:pt x="63753" y="28370"/>
                  </a:lnTo>
                  <a:lnTo>
                    <a:pt x="94058" y="11459"/>
                  </a:lnTo>
                  <a:lnTo>
                    <a:pt x="90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85"/>
            </a:p>
          </p:txBody>
        </p:sp>
      </p:grpSp>
      <p:sp>
        <p:nvSpPr>
          <p:cNvPr id="25" name="object 25"/>
          <p:cNvSpPr/>
          <p:nvPr/>
        </p:nvSpPr>
        <p:spPr>
          <a:xfrm>
            <a:off x="2429880" y="2881232"/>
            <a:ext cx="1161955" cy="650129"/>
          </a:xfrm>
          <a:custGeom>
            <a:avLst/>
            <a:gdLst/>
            <a:ahLst/>
            <a:cxnLst/>
            <a:rect l="l" t="t" r="r" b="b"/>
            <a:pathLst>
              <a:path w="1408429" h="788035">
                <a:moveTo>
                  <a:pt x="1408075" y="0"/>
                </a:moveTo>
                <a:lnTo>
                  <a:pt x="0" y="787431"/>
                </a:lnTo>
              </a:path>
            </a:pathLst>
          </a:custGeom>
          <a:ln w="381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5"/>
          </a:p>
        </p:txBody>
      </p:sp>
      <p:sp>
        <p:nvSpPr>
          <p:cNvPr id="26" name="object 26"/>
          <p:cNvSpPr txBox="1"/>
          <p:nvPr/>
        </p:nvSpPr>
        <p:spPr>
          <a:xfrm>
            <a:off x="1225976" y="5241503"/>
            <a:ext cx="6788896" cy="879536"/>
          </a:xfrm>
          <a:prstGeom prst="rect">
            <a:avLst/>
          </a:prstGeom>
        </p:spPr>
        <p:txBody>
          <a:bodyPr vert="horz" wrap="square" lIns="0" tIns="10478" rIns="0" bIns="0" rtlCol="0">
            <a:spAutoFit/>
          </a:bodyPr>
          <a:lstStyle/>
          <a:p>
            <a:pPr marL="383477">
              <a:spcBef>
                <a:spcPts val="83"/>
              </a:spcBef>
            </a:pP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Output-dependent 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(similar </a:t>
            </a:r>
            <a:r>
              <a:rPr sz="1980" spc="-12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spc="-12" dirty="0">
                <a:solidFill>
                  <a:srgbClr val="FFFFFF"/>
                </a:solidFill>
                <a:latin typeface="Calibri"/>
                <a:cs typeface="Calibri"/>
              </a:rPr>
              <a:t>Ford-Fulkerson)</a:t>
            </a:r>
            <a:endParaRPr sz="1980" dirty="0">
              <a:latin typeface="Calibri"/>
              <a:cs typeface="Calibri"/>
            </a:endParaRPr>
          </a:p>
          <a:p>
            <a:pPr marL="1043559" indent="-283416">
              <a:lnSpc>
                <a:spcPts val="2207"/>
              </a:lnSpc>
              <a:buFont typeface="Arial MT"/>
              <a:buChar char="•"/>
              <a:tabLst>
                <a:tab pos="1043559" algn="l"/>
                <a:tab pos="1044083" algn="l"/>
              </a:tabLst>
            </a:pP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be b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80" spc="-33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8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80" spc="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 t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han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 G</a:t>
            </a:r>
            <a:r>
              <a:rPr sz="1980" spc="-4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80" spc="-66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28" spc="-1181" baseline="40123" dirty="0">
                <a:solidFill>
                  <a:srgbClr val="FFFFFF"/>
                </a:solidFill>
                <a:latin typeface="Cambria Math"/>
                <a:cs typeface="Cambria Math"/>
              </a:rPr>
              <a:t>𝑢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ha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980" spc="-124" dirty="0">
                <a:solidFill>
                  <a:srgbClr val="FFFFFF"/>
                </a:solidFill>
                <a:latin typeface="Calibri"/>
                <a:cs typeface="Calibri"/>
              </a:rPr>
              <a:t>’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1980" spc="-2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ri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hm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spc="-4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980" spc="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8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980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80" dirty="0">
                <a:solidFill>
                  <a:srgbClr val="FFFFFF"/>
                </a:solidFill>
                <a:latin typeface="Cambria Math"/>
                <a:cs typeface="Cambria Math"/>
              </a:rPr>
              <a:t>ℎ</a:t>
            </a:r>
            <a:r>
              <a:rPr sz="1980" spc="153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80" dirty="0">
                <a:solidFill>
                  <a:srgbClr val="FFFFFF"/>
                </a:solidFill>
                <a:latin typeface="Cambria Math"/>
                <a:cs typeface="Cambria Math"/>
              </a:rPr>
              <a:t>≪</a:t>
            </a:r>
            <a:r>
              <a:rPr sz="1980" spc="111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80" spc="-4" dirty="0">
                <a:solidFill>
                  <a:srgbClr val="FFFFFF"/>
                </a:solidFill>
                <a:latin typeface="Cambria Math"/>
                <a:cs typeface="Cambria Math"/>
              </a:rPr>
              <a:t>lo</a:t>
            </a:r>
            <a:r>
              <a:rPr sz="1980" dirty="0">
                <a:solidFill>
                  <a:srgbClr val="FFFFFF"/>
                </a:solidFill>
                <a:latin typeface="Cambria Math"/>
                <a:cs typeface="Cambria Math"/>
              </a:rPr>
              <a:t>g</a:t>
            </a:r>
            <a:r>
              <a:rPr sz="1980" spc="-103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980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endParaRPr sz="1980" dirty="0">
              <a:latin typeface="Cambria Math"/>
              <a:cs typeface="Cambria Math"/>
            </a:endParaRPr>
          </a:p>
          <a:p>
            <a:pPr marL="41910">
              <a:lnSpc>
                <a:spcPts val="2207"/>
              </a:lnSpc>
            </a:pPr>
            <a:r>
              <a:rPr sz="1980" spc="-4" dirty="0">
                <a:latin typeface="Calibri"/>
                <a:cs typeface="Calibri"/>
              </a:rPr>
              <a:t>C</a:t>
            </a:r>
            <a:r>
              <a:rPr sz="1980" dirty="0">
                <a:latin typeface="Calibri"/>
                <a:cs typeface="Calibri"/>
              </a:rPr>
              <a:t>an</a:t>
            </a:r>
            <a:r>
              <a:rPr sz="1980" spc="-4" dirty="0">
                <a:latin typeface="Calibri"/>
                <a:cs typeface="Calibri"/>
              </a:rPr>
              <a:t> </a:t>
            </a:r>
            <a:r>
              <a:rPr sz="1980" spc="4" dirty="0">
                <a:latin typeface="Calibri"/>
                <a:cs typeface="Calibri"/>
              </a:rPr>
              <a:t>f</a:t>
            </a:r>
            <a:r>
              <a:rPr sz="1980" spc="-4" dirty="0">
                <a:latin typeface="Calibri"/>
                <a:cs typeface="Calibri"/>
              </a:rPr>
              <a:t>i</a:t>
            </a:r>
            <a:r>
              <a:rPr sz="1980" dirty="0">
                <a:latin typeface="Calibri"/>
                <a:cs typeface="Calibri"/>
              </a:rPr>
              <a:t>n</a:t>
            </a:r>
            <a:r>
              <a:rPr sz="1980" spc="-969" dirty="0">
                <a:latin typeface="Calibri"/>
                <a:cs typeface="Calibri"/>
              </a:rPr>
              <a:t>d</a:t>
            </a:r>
            <a:r>
              <a:rPr sz="2970" baseline="-10416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sz="2970" spc="248" baseline="-1041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80" spc="-4" dirty="0">
                <a:latin typeface="Calibri"/>
                <a:cs typeface="Calibri"/>
              </a:rPr>
              <a:t>t</a:t>
            </a:r>
            <a:r>
              <a:rPr sz="1980" spc="-887" dirty="0">
                <a:latin typeface="Calibri"/>
                <a:cs typeface="Calibri"/>
              </a:rPr>
              <a:t>h</a:t>
            </a:r>
            <a:r>
              <a:rPr sz="2970" b="1" spc="-1367" baseline="-10416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980" spc="-157" dirty="0">
                <a:latin typeface="Calibri"/>
                <a:cs typeface="Calibri"/>
              </a:rPr>
              <a:t>e</a:t>
            </a:r>
            <a:r>
              <a:rPr sz="2970" b="1" spc="-699" baseline="-10416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80" spc="-371" dirty="0">
                <a:latin typeface="Calibri"/>
                <a:cs typeface="Calibri"/>
              </a:rPr>
              <a:t>“</a:t>
            </a:r>
            <a:r>
              <a:rPr sz="2970" b="1" spc="-507" baseline="-10416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980" spc="-730" dirty="0">
                <a:latin typeface="Calibri"/>
                <a:cs typeface="Calibri"/>
              </a:rPr>
              <a:t>n</a:t>
            </a:r>
            <a:r>
              <a:rPr sz="2970" b="1" spc="-31" baseline="-10416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970" b="1" spc="-1095" baseline="-10416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980" spc="-29" dirty="0">
                <a:latin typeface="Calibri"/>
                <a:cs typeface="Calibri"/>
              </a:rPr>
              <a:t>e</a:t>
            </a:r>
            <a:r>
              <a:rPr sz="1980" spc="-644" dirty="0">
                <a:latin typeface="Calibri"/>
                <a:cs typeface="Calibri"/>
              </a:rPr>
              <a:t>x</a:t>
            </a:r>
            <a:r>
              <a:rPr sz="2970" b="1" spc="-278" baseline="-10416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980" spc="-495" dirty="0">
                <a:latin typeface="Calibri"/>
                <a:cs typeface="Calibri"/>
              </a:rPr>
              <a:t>t</a:t>
            </a:r>
            <a:r>
              <a:rPr sz="2970" b="1" spc="-631" baseline="-10416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80" spc="-408" dirty="0">
                <a:latin typeface="Calibri"/>
                <a:cs typeface="Calibri"/>
              </a:rPr>
              <a:t>”</a:t>
            </a:r>
            <a:r>
              <a:rPr sz="2970" b="1" spc="6" baseline="-10416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970" b="1" spc="-1417" baseline="-10416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980" spc="-94" dirty="0">
                <a:latin typeface="Calibri"/>
                <a:cs typeface="Calibri"/>
              </a:rPr>
              <a:t>p</a:t>
            </a:r>
            <a:r>
              <a:rPr sz="2970" b="1" spc="-681" baseline="-10416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980" spc="-153" dirty="0">
                <a:latin typeface="Calibri"/>
                <a:cs typeface="Calibri"/>
              </a:rPr>
              <a:t>o</a:t>
            </a:r>
            <a:r>
              <a:rPr sz="2970" spc="-1429" baseline="-10416" dirty="0">
                <a:solidFill>
                  <a:srgbClr val="FFFFFF"/>
                </a:solidFill>
                <a:latin typeface="Cambria Math"/>
                <a:cs typeface="Cambria Math"/>
              </a:rPr>
              <a:t>ℎ</a:t>
            </a:r>
            <a:r>
              <a:rPr sz="1980" spc="-4" dirty="0">
                <a:latin typeface="Calibri"/>
                <a:cs typeface="Calibri"/>
              </a:rPr>
              <a:t>i</a:t>
            </a:r>
            <a:r>
              <a:rPr sz="1980" spc="-21" dirty="0">
                <a:latin typeface="Calibri"/>
                <a:cs typeface="Calibri"/>
              </a:rPr>
              <a:t>n</a:t>
            </a:r>
            <a:r>
              <a:rPr sz="1980" spc="-602" dirty="0">
                <a:latin typeface="Calibri"/>
                <a:cs typeface="Calibri"/>
              </a:rPr>
              <a:t>t</a:t>
            </a:r>
            <a:r>
              <a:rPr sz="2970" spc="-662" baseline="-10416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1980" spc="-58" dirty="0">
                <a:latin typeface="Calibri"/>
                <a:cs typeface="Calibri"/>
              </a:rPr>
              <a:t>u</a:t>
            </a:r>
            <a:r>
              <a:rPr sz="2970" spc="-1620" baseline="-10416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r>
              <a:rPr sz="1980" spc="-4" dirty="0">
                <a:latin typeface="Calibri"/>
                <a:cs typeface="Calibri"/>
              </a:rPr>
              <a:t>s</a:t>
            </a:r>
            <a:r>
              <a:rPr sz="1980" spc="-120" dirty="0">
                <a:latin typeface="Calibri"/>
                <a:cs typeface="Calibri"/>
              </a:rPr>
              <a:t>i</a:t>
            </a:r>
            <a:r>
              <a:rPr sz="2970" spc="-569" baseline="-10416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980" spc="-219" dirty="0">
                <a:latin typeface="Calibri"/>
                <a:cs typeface="Calibri"/>
              </a:rPr>
              <a:t>n</a:t>
            </a:r>
            <a:r>
              <a:rPr sz="2970" spc="-835" baseline="-10416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980" spc="-379" dirty="0">
                <a:latin typeface="Calibri"/>
                <a:cs typeface="Calibri"/>
              </a:rPr>
              <a:t>g</a:t>
            </a:r>
            <a:r>
              <a:rPr sz="2970" spc="-346" baseline="-10416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980" spc="-285" dirty="0">
                <a:latin typeface="Calibri"/>
                <a:cs typeface="Calibri"/>
              </a:rPr>
              <a:t>a</a:t>
            </a:r>
            <a:r>
              <a:rPr sz="2970" spc="-922" baseline="-10416" dirty="0">
                <a:solidFill>
                  <a:srgbClr val="FFFFFF"/>
                </a:solidFill>
                <a:latin typeface="Cambria Math"/>
                <a:cs typeface="Cambria Math"/>
              </a:rPr>
              <a:t>𝑂</a:t>
            </a:r>
            <a:r>
              <a:rPr sz="1980" spc="-4" dirty="0">
                <a:latin typeface="Calibri"/>
                <a:cs typeface="Calibri"/>
              </a:rPr>
              <a:t>li</a:t>
            </a:r>
            <a:r>
              <a:rPr sz="1980" spc="-466" dirty="0">
                <a:latin typeface="Calibri"/>
                <a:cs typeface="Calibri"/>
              </a:rPr>
              <a:t>n</a:t>
            </a:r>
            <a:r>
              <a:rPr sz="2970" spc="-1015" baseline="-10416" dirty="0">
                <a:solidFill>
                  <a:srgbClr val="FFFFFF"/>
                </a:solidFill>
                <a:latin typeface="Cambria Math"/>
                <a:cs typeface="Cambria Math"/>
              </a:rPr>
              <a:t>𝑛</a:t>
            </a:r>
            <a:r>
              <a:rPr sz="1980" spc="-281" dirty="0">
                <a:latin typeface="Calibri"/>
                <a:cs typeface="Calibri"/>
              </a:rPr>
              <a:t>e</a:t>
            </a:r>
            <a:r>
              <a:rPr sz="2228" spc="-1398" baseline="13888" dirty="0">
                <a:solidFill>
                  <a:srgbClr val="FFFFFF"/>
                </a:solidFill>
                <a:latin typeface="Cambria Math"/>
                <a:cs typeface="Cambria Math"/>
              </a:rPr>
              <a:t>M</a:t>
            </a:r>
            <a:r>
              <a:rPr sz="1980" dirty="0">
                <a:latin typeface="Calibri"/>
                <a:cs typeface="Calibri"/>
              </a:rPr>
              <a:t>ar</a:t>
            </a:r>
            <a:r>
              <a:rPr sz="1980" spc="-4" dirty="0">
                <a:latin typeface="Calibri"/>
                <a:cs typeface="Calibri"/>
              </a:rPr>
              <a:t> s</a:t>
            </a:r>
            <a:r>
              <a:rPr sz="1980" spc="-21" dirty="0">
                <a:latin typeface="Calibri"/>
                <a:cs typeface="Calibri"/>
              </a:rPr>
              <a:t>c</a:t>
            </a:r>
            <a:r>
              <a:rPr sz="1980" dirty="0">
                <a:latin typeface="Calibri"/>
                <a:cs typeface="Calibri"/>
              </a:rPr>
              <a:t>an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90232" y="6429686"/>
            <a:ext cx="7024640" cy="61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8">
              <a:lnSpc>
                <a:spcPts val="2364"/>
              </a:lnSpc>
            </a:pPr>
            <a:r>
              <a:rPr sz="1980" b="1" spc="-4" dirty="0">
                <a:latin typeface="Calibri"/>
                <a:cs typeface="Calibri"/>
              </a:rPr>
              <a:t>Number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of </a:t>
            </a:r>
            <a:r>
              <a:rPr sz="1980" b="1" spc="-12" dirty="0">
                <a:latin typeface="Calibri"/>
                <a:cs typeface="Calibri"/>
              </a:rPr>
              <a:t>iterations:</a:t>
            </a:r>
            <a:r>
              <a:rPr sz="1980" b="1" spc="-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number </a:t>
            </a:r>
            <a:r>
              <a:rPr sz="1980" spc="-4" dirty="0">
                <a:latin typeface="Calibri"/>
                <a:cs typeface="Calibri"/>
              </a:rPr>
              <a:t>of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hull</a:t>
            </a:r>
            <a:endParaRPr sz="1980">
              <a:latin typeface="Calibri"/>
              <a:cs typeface="Calibri"/>
            </a:endParaRPr>
          </a:p>
          <a:p>
            <a:pPr marL="10478">
              <a:spcBef>
                <a:spcPts val="17"/>
              </a:spcBef>
            </a:pPr>
            <a:r>
              <a:rPr sz="1980" b="1" spc="-4" dirty="0">
                <a:latin typeface="Calibri"/>
                <a:cs typeface="Calibri"/>
              </a:rPr>
              <a:t>Run</a:t>
            </a:r>
            <a:r>
              <a:rPr sz="1980" b="1" spc="-8" dirty="0">
                <a:latin typeface="Calibri"/>
                <a:cs typeface="Calibri"/>
              </a:rPr>
              <a:t> </a:t>
            </a:r>
            <a:r>
              <a:rPr sz="1980" b="1" spc="-4" dirty="0">
                <a:latin typeface="Calibri"/>
                <a:cs typeface="Calibri"/>
              </a:rPr>
              <a:t>time: </a:t>
            </a:r>
            <a:r>
              <a:rPr sz="1980" spc="12" dirty="0">
                <a:latin typeface="Cambria Math"/>
                <a:cs typeface="Cambria Math"/>
              </a:rPr>
              <a:t>𝑂(𝑛ℎ)</a:t>
            </a:r>
            <a:r>
              <a:rPr sz="1980" spc="8" dirty="0">
                <a:latin typeface="Cambria Math"/>
                <a:cs typeface="Cambria Math"/>
              </a:rPr>
              <a:t> </a:t>
            </a:r>
            <a:r>
              <a:rPr sz="1980" spc="-8" dirty="0">
                <a:latin typeface="Calibri"/>
                <a:cs typeface="Calibri"/>
              </a:rPr>
              <a:t>where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dirty="0">
                <a:latin typeface="Cambria Math"/>
                <a:cs typeface="Cambria Math"/>
              </a:rPr>
              <a:t>ℎ</a:t>
            </a:r>
            <a:r>
              <a:rPr sz="1980" spc="50" dirty="0">
                <a:latin typeface="Cambria Math"/>
                <a:cs typeface="Cambria Math"/>
              </a:rPr>
              <a:t> </a:t>
            </a:r>
            <a:r>
              <a:rPr sz="1980" spc="-4" dirty="0">
                <a:latin typeface="Calibri"/>
                <a:cs typeface="Calibri"/>
              </a:rPr>
              <a:t>is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dirty="0">
                <a:latin typeface="Calibri"/>
                <a:cs typeface="Calibri"/>
              </a:rPr>
              <a:t>number</a:t>
            </a:r>
            <a:r>
              <a:rPr sz="1980" spc="-4" dirty="0">
                <a:latin typeface="Calibri"/>
                <a:cs typeface="Calibri"/>
              </a:rPr>
              <a:t> of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8" dirty="0">
                <a:latin typeface="Calibri"/>
                <a:cs typeface="Calibri"/>
              </a:rPr>
              <a:t>points </a:t>
            </a:r>
            <a:r>
              <a:rPr sz="1980" spc="-4" dirty="0">
                <a:latin typeface="Calibri"/>
                <a:cs typeface="Calibri"/>
              </a:rPr>
              <a:t>on</a:t>
            </a:r>
            <a:r>
              <a:rPr sz="1980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the</a:t>
            </a:r>
            <a:r>
              <a:rPr sz="1980" spc="4" dirty="0">
                <a:latin typeface="Calibri"/>
                <a:cs typeface="Calibri"/>
              </a:rPr>
              <a:t> </a:t>
            </a:r>
            <a:r>
              <a:rPr sz="1980" spc="-21" dirty="0">
                <a:latin typeface="Calibri"/>
                <a:cs typeface="Calibri"/>
              </a:rPr>
              <a:t>convex</a:t>
            </a:r>
            <a:r>
              <a:rPr sz="1980" spc="-8" dirty="0">
                <a:latin typeface="Calibri"/>
                <a:cs typeface="Calibri"/>
              </a:rPr>
              <a:t> </a:t>
            </a:r>
            <a:r>
              <a:rPr sz="1980" spc="-4" dirty="0">
                <a:latin typeface="Calibri"/>
                <a:cs typeface="Calibri"/>
              </a:rPr>
              <a:t>hull</a:t>
            </a:r>
            <a:endParaRPr sz="198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191" rIns="0" bIns="0" rtlCol="0">
            <a:spAutoFit/>
          </a:bodyPr>
          <a:lstStyle/>
          <a:p>
            <a:pPr marL="31433">
              <a:spcBef>
                <a:spcPts val="33"/>
              </a:spcBef>
            </a:pPr>
            <a:fld id="{81D60167-4931-47E6-BA6A-407CBD079E47}" type="slidenum">
              <a:rPr dirty="0"/>
              <a:pPr marL="31433">
                <a:spcBef>
                  <a:spcPts val="33"/>
                </a:spcBef>
              </a:pPr>
              <a:t>61</a:t>
            </a:fld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FF6CB2-89D8-C83E-F840-27FF49A738B2}"/>
              </a:ext>
            </a:extLst>
          </p:cNvPr>
          <p:cNvSpPr/>
          <p:nvPr/>
        </p:nvSpPr>
        <p:spPr>
          <a:xfrm>
            <a:off x="3886200" y="1084362"/>
            <a:ext cx="2514600" cy="749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353752"/>
            <a:ext cx="542925" cy="1304925"/>
            <a:chOff x="3278060" y="3353752"/>
            <a:chExt cx="5429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58832" y="3434524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0" y="1143000"/>
                  </a:moveTo>
                  <a:lnTo>
                    <a:pt x="152400" y="0"/>
                  </a:lnTo>
                  <a:lnTo>
                    <a:pt x="381000" y="609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660" y="3658552"/>
            <a:ext cx="161544" cy="161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60" y="3125152"/>
            <a:ext cx="161544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1E3257-5F11-D391-C9E0-FF2FD4541171}"/>
              </a:ext>
            </a:extLst>
          </p:cNvPr>
          <p:cNvSpPr/>
          <p:nvPr/>
        </p:nvSpPr>
        <p:spPr>
          <a:xfrm>
            <a:off x="533400" y="152400"/>
            <a:ext cx="2562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2"/>
                </a:solidFill>
                <a:effectLst/>
              </a:rPr>
              <a:t>Example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353752"/>
            <a:ext cx="771525" cy="1533525"/>
            <a:chOff x="3278060" y="3353752"/>
            <a:chExt cx="7715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8832" y="3434524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0" y="1143000"/>
                  </a:moveTo>
                  <a:lnTo>
                    <a:pt x="152400" y="0"/>
                  </a:lnTo>
                  <a:lnTo>
                    <a:pt x="381000" y="609600"/>
                  </a:lnTo>
                  <a:lnTo>
                    <a:pt x="609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8660" y="3658552"/>
            <a:ext cx="161544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1060" y="3125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8060" y="3353752"/>
            <a:ext cx="1152525" cy="1533525"/>
            <a:chOff x="3278060" y="3353752"/>
            <a:chExt cx="1152525" cy="1533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58832" y="3434524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0" y="1143000"/>
                  </a:moveTo>
                  <a:lnTo>
                    <a:pt x="152400" y="0"/>
                  </a:lnTo>
                  <a:lnTo>
                    <a:pt x="381000" y="609600"/>
                  </a:lnTo>
                  <a:lnTo>
                    <a:pt x="609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68432" y="3739324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0" y="1066800"/>
                  </a:moveTo>
                  <a:lnTo>
                    <a:pt x="3810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60" y="3125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353752"/>
            <a:ext cx="1152525" cy="1304925"/>
            <a:chOff x="3278060" y="3353752"/>
            <a:chExt cx="1152525" cy="1304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58832" y="3434524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0" y="1143000"/>
                  </a:moveTo>
                  <a:lnTo>
                    <a:pt x="152400" y="0"/>
                  </a:lnTo>
                  <a:lnTo>
                    <a:pt x="381000" y="609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39832" y="3739324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304800"/>
                  </a:moveTo>
                  <a:lnTo>
                    <a:pt x="6096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1060" y="3125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353752"/>
            <a:ext cx="1152525" cy="1304925"/>
            <a:chOff x="3278060" y="3353752"/>
            <a:chExt cx="1152525" cy="13049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58832" y="3434524"/>
              <a:ext cx="990600" cy="1143000"/>
            </a:xfrm>
            <a:custGeom>
              <a:avLst/>
              <a:gdLst/>
              <a:ahLst/>
              <a:cxnLst/>
              <a:rect l="l" t="t" r="r" b="b"/>
              <a:pathLst>
                <a:path w="990600" h="1143000">
                  <a:moveTo>
                    <a:pt x="0" y="1143000"/>
                  </a:moveTo>
                  <a:lnTo>
                    <a:pt x="152400" y="0"/>
                  </a:lnTo>
                  <a:lnTo>
                    <a:pt x="9906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1060" y="3125152"/>
            <a:ext cx="161544" cy="161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1304925" cy="1533525"/>
            <a:chOff x="3278060" y="3125152"/>
            <a:chExt cx="13049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8832" y="3434524"/>
              <a:ext cx="990600" cy="1143000"/>
            </a:xfrm>
            <a:custGeom>
              <a:avLst/>
              <a:gdLst/>
              <a:ahLst/>
              <a:cxnLst/>
              <a:rect l="l" t="t" r="r" b="b"/>
              <a:pathLst>
                <a:path w="990600" h="1143000">
                  <a:moveTo>
                    <a:pt x="0" y="1143000"/>
                  </a:moveTo>
                  <a:lnTo>
                    <a:pt x="152400" y="0"/>
                  </a:lnTo>
                  <a:lnTo>
                    <a:pt x="9906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9432" y="3205924"/>
              <a:ext cx="152400" cy="533400"/>
            </a:xfrm>
            <a:custGeom>
              <a:avLst/>
              <a:gdLst/>
              <a:ahLst/>
              <a:cxnLst/>
              <a:rect l="l" t="t" r="r" b="b"/>
              <a:pathLst>
                <a:path w="152400" h="533400">
                  <a:moveTo>
                    <a:pt x="0" y="533400"/>
                  </a:moveTo>
                  <a:lnTo>
                    <a:pt x="1524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1304925" cy="1533525"/>
            <a:chOff x="3278060" y="3125152"/>
            <a:chExt cx="13049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8832" y="3205924"/>
              <a:ext cx="1143000" cy="1371600"/>
            </a:xfrm>
            <a:custGeom>
              <a:avLst/>
              <a:gdLst/>
              <a:ahLst/>
              <a:cxnLst/>
              <a:rect l="l" t="t" r="r" b="b"/>
              <a:pathLst>
                <a:path w="11430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3460" y="4268152"/>
            <a:ext cx="161544" cy="1615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1457325" cy="2066925"/>
            <a:chOff x="3278060" y="3125152"/>
            <a:chExt cx="1457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58832" y="3205924"/>
              <a:ext cx="1219200" cy="1905000"/>
            </a:xfrm>
            <a:custGeom>
              <a:avLst/>
              <a:gdLst/>
              <a:ahLst/>
              <a:cxnLst/>
              <a:rect l="l" t="t" r="r" b="b"/>
              <a:pathLst>
                <a:path w="12192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1457325" cy="2066925"/>
            <a:chOff x="3278060" y="3125152"/>
            <a:chExt cx="1457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58832" y="3205924"/>
              <a:ext cx="1219200" cy="1905000"/>
            </a:xfrm>
            <a:custGeom>
              <a:avLst/>
              <a:gdLst/>
              <a:ahLst/>
              <a:cxnLst/>
              <a:rect l="l" t="t" r="r" b="b"/>
              <a:pathLst>
                <a:path w="12192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8032" y="4348924"/>
              <a:ext cx="76200" cy="762000"/>
            </a:xfrm>
            <a:custGeom>
              <a:avLst/>
              <a:gdLst/>
              <a:ahLst/>
              <a:cxnLst/>
              <a:rect l="l" t="t" r="r" b="b"/>
              <a:pathLst>
                <a:path w="76200" h="762000">
                  <a:moveTo>
                    <a:pt x="0" y="762000"/>
                  </a:moveTo>
                  <a:lnTo>
                    <a:pt x="762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1457325" cy="1533525"/>
            <a:chOff x="3278060" y="3125152"/>
            <a:chExt cx="14573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58832" y="3205924"/>
              <a:ext cx="1295400" cy="1371600"/>
            </a:xfrm>
            <a:custGeom>
              <a:avLst/>
              <a:gdLst/>
              <a:ahLst/>
              <a:cxnLst/>
              <a:rect l="l" t="t" r="r" b="b"/>
              <a:pathLst>
                <a:path w="1295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2954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660" y="4496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1914525" cy="1533525"/>
            <a:chOff x="3278060" y="3125152"/>
            <a:chExt cx="19145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58832" y="3205924"/>
              <a:ext cx="1295400" cy="1371600"/>
            </a:xfrm>
            <a:custGeom>
              <a:avLst/>
              <a:gdLst/>
              <a:ahLst/>
              <a:cxnLst/>
              <a:rect l="l" t="t" r="r" b="b"/>
              <a:pathLst>
                <a:path w="1295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295400" y="1143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54232" y="4348924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0"/>
                  </a:moveTo>
                  <a:lnTo>
                    <a:pt x="457200" y="2286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1914525" cy="1533525"/>
            <a:chOff x="3278060" y="3125152"/>
            <a:chExt cx="19145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58832" y="3205924"/>
              <a:ext cx="1752600" cy="1371600"/>
            </a:xfrm>
            <a:custGeom>
              <a:avLst/>
              <a:gdLst/>
              <a:ahLst/>
              <a:cxnLst/>
              <a:rect l="l" t="t" r="r" b="b"/>
              <a:pathLst>
                <a:path w="17526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9260" y="3887152"/>
            <a:ext cx="161544" cy="1615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2143125" cy="1533525"/>
            <a:chOff x="3278060" y="3125152"/>
            <a:chExt cx="21431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58832" y="3205924"/>
              <a:ext cx="1752600" cy="1371600"/>
            </a:xfrm>
            <a:custGeom>
              <a:avLst/>
              <a:gdLst/>
              <a:ahLst/>
              <a:cxnLst/>
              <a:rect l="l" t="t" r="r" b="b"/>
              <a:pathLst>
                <a:path w="17526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11432" y="3967924"/>
              <a:ext cx="228600" cy="609600"/>
            </a:xfrm>
            <a:custGeom>
              <a:avLst/>
              <a:gdLst/>
              <a:ahLst/>
              <a:cxnLst/>
              <a:rect l="l" t="t" r="r" b="b"/>
              <a:pathLst>
                <a:path w="228600" h="609600">
                  <a:moveTo>
                    <a:pt x="0" y="60960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2143125" cy="1533525"/>
            <a:chOff x="3278060" y="3125152"/>
            <a:chExt cx="21431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58832" y="3205924"/>
              <a:ext cx="1981200" cy="1371600"/>
            </a:xfrm>
            <a:custGeom>
              <a:avLst/>
              <a:gdLst/>
              <a:ahLst/>
              <a:cxnLst/>
              <a:rect l="l" t="t" r="r" b="b"/>
              <a:pathLst>
                <a:path w="19812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9812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7860" y="34299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2371725" cy="1533525"/>
            <a:chOff x="3278060" y="3125152"/>
            <a:chExt cx="23717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8832" y="3205924"/>
              <a:ext cx="1981200" cy="1371600"/>
            </a:xfrm>
            <a:custGeom>
              <a:avLst/>
              <a:gdLst/>
              <a:ahLst/>
              <a:cxnLst/>
              <a:rect l="l" t="t" r="r" b="b"/>
              <a:pathLst>
                <a:path w="19812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19812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40032" y="3510724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720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76</a:t>
            </a:fld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2371725" cy="1533525"/>
            <a:chOff x="3278060" y="3125152"/>
            <a:chExt cx="23717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8832" y="3205924"/>
              <a:ext cx="2209800" cy="1371600"/>
            </a:xfrm>
            <a:custGeom>
              <a:avLst/>
              <a:gdLst/>
              <a:ahLst/>
              <a:cxnLst/>
              <a:rect l="l" t="t" r="r" b="b"/>
              <a:pathLst>
                <a:path w="22098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460" y="41157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77</a:t>
            </a:fld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5120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Upper</a:t>
            </a:r>
            <a:r>
              <a:rPr sz="2800" dirty="0">
                <a:latin typeface="Arial MT"/>
                <a:cs typeface="Arial MT"/>
              </a:rPr>
              <a:t> convex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hull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complete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1533525"/>
            <a:chOff x="3278060" y="3125152"/>
            <a:chExt cx="33623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593532" y="5681916"/>
            <a:ext cx="74155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Continue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process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reverse order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lower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convex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hull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78</a:t>
            </a:fld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1533525"/>
            <a:chOff x="3278060" y="3125152"/>
            <a:chExt cx="33623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9812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79</a:t>
            </a:fld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1533525"/>
            <a:chOff x="3278060" y="3125152"/>
            <a:chExt cx="33623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9812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32" y="3967924"/>
              <a:ext cx="228600" cy="609600"/>
            </a:xfrm>
            <a:custGeom>
              <a:avLst/>
              <a:gdLst/>
              <a:ahLst/>
              <a:cxnLst/>
              <a:rect l="l" t="t" r="r" b="b"/>
              <a:pathLst>
                <a:path w="228600" h="609600">
                  <a:moveTo>
                    <a:pt x="228600" y="0"/>
                  </a:moveTo>
                  <a:lnTo>
                    <a:pt x="0" y="6096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80</a:t>
            </a:fld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3362325" cy="1533525"/>
            <a:chOff x="3278060" y="3125152"/>
            <a:chExt cx="3362325" cy="1533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81</a:t>
            </a:fld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1533525"/>
            <a:chOff x="3278060" y="3125152"/>
            <a:chExt cx="3362325" cy="153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752600" y="1371600"/>
                  </a:lnTo>
                </a:path>
                <a:path w="3200400" h="1371600">
                  <a:moveTo>
                    <a:pt x="1295400" y="1143000"/>
                  </a:move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7260" y="5030152"/>
            <a:ext cx="161544" cy="161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7660" y="4725352"/>
            <a:ext cx="161544" cy="1615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82</a:t>
            </a:fld>
            <a:endParaRPr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752600" y="1371600"/>
                  </a:lnTo>
                </a:path>
                <a:path w="3200400" h="1371600">
                  <a:moveTo>
                    <a:pt x="1295400" y="1143000"/>
                  </a:move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78032" y="4348924"/>
              <a:ext cx="76200" cy="762000"/>
            </a:xfrm>
            <a:custGeom>
              <a:avLst/>
              <a:gdLst/>
              <a:ahLst/>
              <a:cxnLst/>
              <a:rect l="l" t="t" r="r" b="b"/>
              <a:pathLst>
                <a:path w="76200" h="762000">
                  <a:moveTo>
                    <a:pt x="76200" y="0"/>
                  </a:moveTo>
                  <a:lnTo>
                    <a:pt x="0" y="7620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83</a:t>
            </a:fld>
            <a:endParaRPr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371600"/>
            </a:xfrm>
            <a:custGeom>
              <a:avLst/>
              <a:gdLst/>
              <a:ahLst/>
              <a:cxnLst/>
              <a:rect l="l" t="t" r="r" b="b"/>
              <a:pathLst>
                <a:path w="3200400" h="13716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752600" y="1371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78032" y="4577524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84</a:t>
            </a:fld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85</a:t>
            </a:fld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990600" y="5334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86</a:t>
            </a:fld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990600" y="5334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68432" y="3739324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381000" y="0"/>
                  </a:moveTo>
                  <a:lnTo>
                    <a:pt x="0" y="10668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87</a:t>
            </a:fld>
            <a:endParaRPr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68432" y="4806124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0"/>
                  </a:moveTo>
                  <a:lnTo>
                    <a:pt x="609600" y="3048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88</a:t>
            </a:fld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2030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739832" y="4044124"/>
              <a:ext cx="838200" cy="1066800"/>
            </a:xfrm>
            <a:custGeom>
              <a:avLst/>
              <a:gdLst/>
              <a:ahLst/>
              <a:cxnLst/>
              <a:rect l="l" t="t" r="r" b="b"/>
              <a:pathLst>
                <a:path w="838200" h="1066800">
                  <a:moveTo>
                    <a:pt x="228600" y="762000"/>
                  </a:moveTo>
                  <a:lnTo>
                    <a:pt x="838200" y="1066800"/>
                  </a:lnTo>
                </a:path>
                <a:path w="838200" h="1066800">
                  <a:moveTo>
                    <a:pt x="0" y="0"/>
                  </a:moveTo>
                  <a:lnTo>
                    <a:pt x="2286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89</a:t>
            </a:fld>
            <a:endParaRPr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609600" y="16002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8832" y="4044124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381000" y="0"/>
                  </a:moveTo>
                  <a:lnTo>
                    <a:pt x="0" y="5334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39832" y="4044124"/>
              <a:ext cx="228600" cy="762000"/>
            </a:xfrm>
            <a:custGeom>
              <a:avLst/>
              <a:gdLst/>
              <a:ahLst/>
              <a:cxnLst/>
              <a:rect l="l" t="t" r="r" b="b"/>
              <a:pathLst>
                <a:path w="228600" h="762000">
                  <a:moveTo>
                    <a:pt x="0" y="0"/>
                  </a:moveTo>
                  <a:lnTo>
                    <a:pt x="228600" y="762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90</a:t>
            </a:fld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34372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Left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609600" y="16002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58832" y="4577524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0"/>
                  </a:moveTo>
                  <a:lnTo>
                    <a:pt x="609600" y="228600"/>
                  </a:lnTo>
                </a:path>
              </a:pathLst>
            </a:custGeom>
            <a:ln w="9144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91</a:t>
            </a:fld>
            <a:endParaRPr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952" y="1250632"/>
            <a:ext cx="4471416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1317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 MT"/>
                <a:cs typeface="Arial MT"/>
              </a:rPr>
              <a:t>D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5" dirty="0">
                <a:latin typeface="Arial MT"/>
                <a:cs typeface="Arial MT"/>
              </a:rPr>
              <a:t>!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78060" y="3125152"/>
            <a:ext cx="3362325" cy="2066925"/>
            <a:chOff x="3278060" y="3125152"/>
            <a:chExt cx="3362325" cy="2066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460" y="33537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90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8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1060" y="31251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460" y="42681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260" y="3887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8060" y="44967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7260" y="50301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860" y="3429952"/>
              <a:ext cx="161544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60" y="41157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660" y="4496752"/>
              <a:ext cx="161544" cy="1615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8832" y="32059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0" y="13716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660" y="4725352"/>
              <a:ext cx="161544" cy="161544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92</a:t>
            </a:fld>
            <a:endParaRPr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0460" y="1250644"/>
            <a:ext cx="3211195" cy="338455"/>
          </a:xfrm>
          <a:custGeom>
            <a:avLst/>
            <a:gdLst/>
            <a:ahLst/>
            <a:cxnLst/>
            <a:rect l="l" t="t" r="r" b="b"/>
            <a:pathLst>
              <a:path w="3211195" h="338455">
                <a:moveTo>
                  <a:pt x="291084" y="227076"/>
                </a:moveTo>
                <a:lnTo>
                  <a:pt x="246888" y="216408"/>
                </a:lnTo>
                <a:lnTo>
                  <a:pt x="240792" y="236220"/>
                </a:lnTo>
                <a:lnTo>
                  <a:pt x="233172" y="252984"/>
                </a:lnTo>
                <a:lnTo>
                  <a:pt x="198120" y="288036"/>
                </a:lnTo>
                <a:lnTo>
                  <a:pt x="149352" y="300228"/>
                </a:lnTo>
                <a:lnTo>
                  <a:pt x="135636" y="298704"/>
                </a:lnTo>
                <a:lnTo>
                  <a:pt x="94488" y="284988"/>
                </a:lnTo>
                <a:lnTo>
                  <a:pt x="62484" y="252984"/>
                </a:lnTo>
                <a:lnTo>
                  <a:pt x="44196" y="185928"/>
                </a:lnTo>
                <a:lnTo>
                  <a:pt x="44196" y="166116"/>
                </a:lnTo>
                <a:lnTo>
                  <a:pt x="53340" y="103632"/>
                </a:lnTo>
                <a:lnTo>
                  <a:pt x="88392" y="54864"/>
                </a:lnTo>
                <a:lnTo>
                  <a:pt x="134112" y="38100"/>
                </a:lnTo>
                <a:lnTo>
                  <a:pt x="167640" y="38100"/>
                </a:lnTo>
                <a:lnTo>
                  <a:pt x="205740" y="53340"/>
                </a:lnTo>
                <a:lnTo>
                  <a:pt x="231648" y="88392"/>
                </a:lnTo>
                <a:lnTo>
                  <a:pt x="239268" y="105156"/>
                </a:lnTo>
                <a:lnTo>
                  <a:pt x="283464" y="94488"/>
                </a:lnTo>
                <a:lnTo>
                  <a:pt x="265176" y="54864"/>
                </a:lnTo>
                <a:lnTo>
                  <a:pt x="236220" y="24384"/>
                </a:lnTo>
                <a:lnTo>
                  <a:pt x="198120" y="6096"/>
                </a:lnTo>
                <a:lnTo>
                  <a:pt x="153924" y="0"/>
                </a:lnTo>
                <a:lnTo>
                  <a:pt x="132588" y="0"/>
                </a:lnTo>
                <a:lnTo>
                  <a:pt x="92964" y="10668"/>
                </a:lnTo>
                <a:lnTo>
                  <a:pt x="57912" y="30480"/>
                </a:lnTo>
                <a:lnTo>
                  <a:pt x="28956" y="59436"/>
                </a:lnTo>
                <a:lnTo>
                  <a:pt x="10668" y="97536"/>
                </a:lnTo>
                <a:lnTo>
                  <a:pt x="0" y="141732"/>
                </a:lnTo>
                <a:lnTo>
                  <a:pt x="0" y="188976"/>
                </a:lnTo>
                <a:lnTo>
                  <a:pt x="9144" y="233172"/>
                </a:lnTo>
                <a:lnTo>
                  <a:pt x="25908" y="272796"/>
                </a:lnTo>
                <a:lnTo>
                  <a:pt x="44196" y="296329"/>
                </a:lnTo>
                <a:lnTo>
                  <a:pt x="51816" y="304800"/>
                </a:lnTo>
                <a:lnTo>
                  <a:pt x="85344" y="326136"/>
                </a:lnTo>
                <a:lnTo>
                  <a:pt x="128016" y="336804"/>
                </a:lnTo>
                <a:lnTo>
                  <a:pt x="153924" y="338328"/>
                </a:lnTo>
                <a:lnTo>
                  <a:pt x="178308" y="335280"/>
                </a:lnTo>
                <a:lnTo>
                  <a:pt x="222504" y="321564"/>
                </a:lnTo>
                <a:lnTo>
                  <a:pt x="257556" y="294132"/>
                </a:lnTo>
                <a:lnTo>
                  <a:pt x="281940" y="252984"/>
                </a:lnTo>
                <a:lnTo>
                  <a:pt x="291084" y="227076"/>
                </a:lnTo>
                <a:close/>
              </a:path>
              <a:path w="3211195" h="338455">
                <a:moveTo>
                  <a:pt x="545592" y="210312"/>
                </a:moveTo>
                <a:lnTo>
                  <a:pt x="536448" y="161544"/>
                </a:lnTo>
                <a:lnTo>
                  <a:pt x="513588" y="123444"/>
                </a:lnTo>
                <a:lnTo>
                  <a:pt x="504444" y="115138"/>
                </a:lnTo>
                <a:lnTo>
                  <a:pt x="504444" y="213360"/>
                </a:lnTo>
                <a:lnTo>
                  <a:pt x="502920" y="234696"/>
                </a:lnTo>
                <a:lnTo>
                  <a:pt x="484632" y="281940"/>
                </a:lnTo>
                <a:lnTo>
                  <a:pt x="448056" y="303276"/>
                </a:lnTo>
                <a:lnTo>
                  <a:pt x="434340" y="304800"/>
                </a:lnTo>
                <a:lnTo>
                  <a:pt x="420624" y="303276"/>
                </a:lnTo>
                <a:lnTo>
                  <a:pt x="384048" y="281940"/>
                </a:lnTo>
                <a:lnTo>
                  <a:pt x="365760" y="234696"/>
                </a:lnTo>
                <a:lnTo>
                  <a:pt x="365760" y="193548"/>
                </a:lnTo>
                <a:lnTo>
                  <a:pt x="384048" y="146304"/>
                </a:lnTo>
                <a:lnTo>
                  <a:pt x="420624" y="124968"/>
                </a:lnTo>
                <a:lnTo>
                  <a:pt x="448056" y="124968"/>
                </a:lnTo>
                <a:lnTo>
                  <a:pt x="484632" y="146304"/>
                </a:lnTo>
                <a:lnTo>
                  <a:pt x="502920" y="192024"/>
                </a:lnTo>
                <a:lnTo>
                  <a:pt x="504444" y="213360"/>
                </a:lnTo>
                <a:lnTo>
                  <a:pt x="504444" y="115138"/>
                </a:lnTo>
                <a:lnTo>
                  <a:pt x="496824" y="108204"/>
                </a:lnTo>
                <a:lnTo>
                  <a:pt x="478536" y="99060"/>
                </a:lnTo>
                <a:lnTo>
                  <a:pt x="457200" y="92964"/>
                </a:lnTo>
                <a:lnTo>
                  <a:pt x="434340" y="91440"/>
                </a:lnTo>
                <a:lnTo>
                  <a:pt x="413004" y="92964"/>
                </a:lnTo>
                <a:lnTo>
                  <a:pt x="376428" y="105156"/>
                </a:lnTo>
                <a:lnTo>
                  <a:pt x="344424" y="135636"/>
                </a:lnTo>
                <a:lnTo>
                  <a:pt x="326136" y="182880"/>
                </a:lnTo>
                <a:lnTo>
                  <a:pt x="324612" y="214884"/>
                </a:lnTo>
                <a:lnTo>
                  <a:pt x="326136" y="242316"/>
                </a:lnTo>
                <a:lnTo>
                  <a:pt x="332232" y="266700"/>
                </a:lnTo>
                <a:lnTo>
                  <a:pt x="341376" y="288036"/>
                </a:lnTo>
                <a:lnTo>
                  <a:pt x="355092" y="306324"/>
                </a:lnTo>
                <a:lnTo>
                  <a:pt x="365760" y="315925"/>
                </a:lnTo>
                <a:lnTo>
                  <a:pt x="370332" y="320040"/>
                </a:lnTo>
                <a:lnTo>
                  <a:pt x="390144" y="329184"/>
                </a:lnTo>
                <a:lnTo>
                  <a:pt x="411480" y="335280"/>
                </a:lnTo>
                <a:lnTo>
                  <a:pt x="434340" y="338328"/>
                </a:lnTo>
                <a:lnTo>
                  <a:pt x="449580" y="336804"/>
                </a:lnTo>
                <a:lnTo>
                  <a:pt x="490728" y="323088"/>
                </a:lnTo>
                <a:lnTo>
                  <a:pt x="524256" y="295656"/>
                </a:lnTo>
                <a:lnTo>
                  <a:pt x="541020" y="251460"/>
                </a:lnTo>
                <a:lnTo>
                  <a:pt x="544068" y="233172"/>
                </a:lnTo>
                <a:lnTo>
                  <a:pt x="545592" y="210312"/>
                </a:lnTo>
                <a:close/>
              </a:path>
              <a:path w="3211195" h="338455">
                <a:moveTo>
                  <a:pt x="702551" y="198107"/>
                </a:moveTo>
                <a:lnTo>
                  <a:pt x="577596" y="198107"/>
                </a:lnTo>
                <a:lnTo>
                  <a:pt x="577596" y="236207"/>
                </a:lnTo>
                <a:lnTo>
                  <a:pt x="702551" y="236207"/>
                </a:lnTo>
                <a:lnTo>
                  <a:pt x="702551" y="198107"/>
                </a:lnTo>
                <a:close/>
              </a:path>
              <a:path w="3211195" h="338455">
                <a:moveTo>
                  <a:pt x="786384" y="6096"/>
                </a:moveTo>
                <a:lnTo>
                  <a:pt x="745236" y="6096"/>
                </a:lnTo>
                <a:lnTo>
                  <a:pt x="745236" y="333756"/>
                </a:lnTo>
                <a:lnTo>
                  <a:pt x="786384" y="333756"/>
                </a:lnTo>
                <a:lnTo>
                  <a:pt x="786384" y="6096"/>
                </a:lnTo>
                <a:close/>
              </a:path>
              <a:path w="3211195" h="338455">
                <a:moveTo>
                  <a:pt x="891540" y="96012"/>
                </a:moveTo>
                <a:lnTo>
                  <a:pt x="850392" y="96012"/>
                </a:lnTo>
                <a:lnTo>
                  <a:pt x="850392" y="333756"/>
                </a:lnTo>
                <a:lnTo>
                  <a:pt x="891540" y="333756"/>
                </a:lnTo>
                <a:lnTo>
                  <a:pt x="891540" y="96012"/>
                </a:lnTo>
                <a:close/>
              </a:path>
              <a:path w="3211195" h="338455">
                <a:moveTo>
                  <a:pt x="891540" y="6096"/>
                </a:moveTo>
                <a:lnTo>
                  <a:pt x="850392" y="6096"/>
                </a:lnTo>
                <a:lnTo>
                  <a:pt x="850392" y="51816"/>
                </a:lnTo>
                <a:lnTo>
                  <a:pt x="891540" y="51816"/>
                </a:lnTo>
                <a:lnTo>
                  <a:pt x="891540" y="6096"/>
                </a:lnTo>
                <a:close/>
              </a:path>
              <a:path w="3211195" h="338455">
                <a:moveTo>
                  <a:pt x="1141476" y="187452"/>
                </a:moveTo>
                <a:lnTo>
                  <a:pt x="1139952" y="175260"/>
                </a:lnTo>
                <a:lnTo>
                  <a:pt x="1139952" y="155448"/>
                </a:lnTo>
                <a:lnTo>
                  <a:pt x="1138428" y="147828"/>
                </a:lnTo>
                <a:lnTo>
                  <a:pt x="1115568" y="108204"/>
                </a:lnTo>
                <a:lnTo>
                  <a:pt x="1060704" y="91440"/>
                </a:lnTo>
                <a:lnTo>
                  <a:pt x="1037844" y="92964"/>
                </a:lnTo>
                <a:lnTo>
                  <a:pt x="1018032" y="100584"/>
                </a:lnTo>
                <a:lnTo>
                  <a:pt x="1001268" y="112776"/>
                </a:lnTo>
                <a:lnTo>
                  <a:pt x="987552" y="129540"/>
                </a:lnTo>
                <a:lnTo>
                  <a:pt x="987552" y="96012"/>
                </a:lnTo>
                <a:lnTo>
                  <a:pt x="950976" y="96012"/>
                </a:lnTo>
                <a:lnTo>
                  <a:pt x="950976" y="333756"/>
                </a:lnTo>
                <a:lnTo>
                  <a:pt x="992124" y="333756"/>
                </a:lnTo>
                <a:lnTo>
                  <a:pt x="992124" y="182880"/>
                </a:lnTo>
                <a:lnTo>
                  <a:pt x="995172" y="166116"/>
                </a:lnTo>
                <a:lnTo>
                  <a:pt x="1001268" y="152400"/>
                </a:lnTo>
                <a:lnTo>
                  <a:pt x="1008888" y="141732"/>
                </a:lnTo>
                <a:lnTo>
                  <a:pt x="1019556" y="135636"/>
                </a:lnTo>
                <a:lnTo>
                  <a:pt x="1028700" y="129540"/>
                </a:lnTo>
                <a:lnTo>
                  <a:pt x="1040892" y="126492"/>
                </a:lnTo>
                <a:lnTo>
                  <a:pt x="1051560" y="126492"/>
                </a:lnTo>
                <a:lnTo>
                  <a:pt x="1088136" y="141732"/>
                </a:lnTo>
                <a:lnTo>
                  <a:pt x="1098804" y="167640"/>
                </a:lnTo>
                <a:lnTo>
                  <a:pt x="1098804" y="178308"/>
                </a:lnTo>
                <a:lnTo>
                  <a:pt x="1100328" y="188976"/>
                </a:lnTo>
                <a:lnTo>
                  <a:pt x="1100328" y="333756"/>
                </a:lnTo>
                <a:lnTo>
                  <a:pt x="1141476" y="333756"/>
                </a:lnTo>
                <a:lnTo>
                  <a:pt x="1141476" y="187452"/>
                </a:lnTo>
                <a:close/>
              </a:path>
              <a:path w="3211195" h="338455">
                <a:moveTo>
                  <a:pt x="1409700" y="214884"/>
                </a:moveTo>
                <a:lnTo>
                  <a:pt x="1402080" y="161544"/>
                </a:lnTo>
                <a:lnTo>
                  <a:pt x="1379220" y="123444"/>
                </a:lnTo>
                <a:lnTo>
                  <a:pt x="1368552" y="114719"/>
                </a:lnTo>
                <a:lnTo>
                  <a:pt x="1368552" y="192024"/>
                </a:lnTo>
                <a:lnTo>
                  <a:pt x="1231392" y="192024"/>
                </a:lnTo>
                <a:lnTo>
                  <a:pt x="1243584" y="152400"/>
                </a:lnTo>
                <a:lnTo>
                  <a:pt x="1274064" y="129540"/>
                </a:lnTo>
                <a:lnTo>
                  <a:pt x="1286256" y="124968"/>
                </a:lnTo>
                <a:lnTo>
                  <a:pt x="1299972" y="124968"/>
                </a:lnTo>
                <a:lnTo>
                  <a:pt x="1341120" y="137160"/>
                </a:lnTo>
                <a:lnTo>
                  <a:pt x="1365504" y="178308"/>
                </a:lnTo>
                <a:lnTo>
                  <a:pt x="1368552" y="192024"/>
                </a:lnTo>
                <a:lnTo>
                  <a:pt x="1368552" y="114719"/>
                </a:lnTo>
                <a:lnTo>
                  <a:pt x="1362456" y="109728"/>
                </a:lnTo>
                <a:lnTo>
                  <a:pt x="1344168" y="99060"/>
                </a:lnTo>
                <a:lnTo>
                  <a:pt x="1322832" y="92964"/>
                </a:lnTo>
                <a:lnTo>
                  <a:pt x="1299972" y="91440"/>
                </a:lnTo>
                <a:lnTo>
                  <a:pt x="1275588" y="92964"/>
                </a:lnTo>
                <a:lnTo>
                  <a:pt x="1235964" y="109728"/>
                </a:lnTo>
                <a:lnTo>
                  <a:pt x="1205484" y="141732"/>
                </a:lnTo>
                <a:lnTo>
                  <a:pt x="1190244" y="187452"/>
                </a:lnTo>
                <a:lnTo>
                  <a:pt x="1188720" y="216408"/>
                </a:lnTo>
                <a:lnTo>
                  <a:pt x="1190244" y="243840"/>
                </a:lnTo>
                <a:lnTo>
                  <a:pt x="1196340" y="266700"/>
                </a:lnTo>
                <a:lnTo>
                  <a:pt x="1205484" y="288036"/>
                </a:lnTo>
                <a:lnTo>
                  <a:pt x="1219200" y="306324"/>
                </a:lnTo>
                <a:lnTo>
                  <a:pt x="1229868" y="315048"/>
                </a:lnTo>
                <a:lnTo>
                  <a:pt x="1235964" y="320040"/>
                </a:lnTo>
                <a:lnTo>
                  <a:pt x="1255776" y="329184"/>
                </a:lnTo>
                <a:lnTo>
                  <a:pt x="1277112" y="335280"/>
                </a:lnTo>
                <a:lnTo>
                  <a:pt x="1301496" y="338328"/>
                </a:lnTo>
                <a:lnTo>
                  <a:pt x="1322832" y="336804"/>
                </a:lnTo>
                <a:lnTo>
                  <a:pt x="1371600" y="316992"/>
                </a:lnTo>
                <a:lnTo>
                  <a:pt x="1402080" y="278892"/>
                </a:lnTo>
                <a:lnTo>
                  <a:pt x="1408176" y="262128"/>
                </a:lnTo>
                <a:lnTo>
                  <a:pt x="1367028" y="256032"/>
                </a:lnTo>
                <a:lnTo>
                  <a:pt x="1362456" y="266700"/>
                </a:lnTo>
                <a:lnTo>
                  <a:pt x="1356360" y="277368"/>
                </a:lnTo>
                <a:lnTo>
                  <a:pt x="1348740" y="286512"/>
                </a:lnTo>
                <a:lnTo>
                  <a:pt x="1341120" y="292608"/>
                </a:lnTo>
                <a:lnTo>
                  <a:pt x="1324356" y="301752"/>
                </a:lnTo>
                <a:lnTo>
                  <a:pt x="1303020" y="304800"/>
                </a:lnTo>
                <a:lnTo>
                  <a:pt x="1287780" y="303276"/>
                </a:lnTo>
                <a:lnTo>
                  <a:pt x="1251204" y="283464"/>
                </a:lnTo>
                <a:lnTo>
                  <a:pt x="1231392" y="242316"/>
                </a:lnTo>
                <a:lnTo>
                  <a:pt x="1229868" y="225552"/>
                </a:lnTo>
                <a:lnTo>
                  <a:pt x="1231392" y="225552"/>
                </a:lnTo>
                <a:lnTo>
                  <a:pt x="1368552" y="225552"/>
                </a:lnTo>
                <a:lnTo>
                  <a:pt x="1408176" y="225552"/>
                </a:lnTo>
                <a:lnTo>
                  <a:pt x="1408176" y="217932"/>
                </a:lnTo>
                <a:lnTo>
                  <a:pt x="1409700" y="214884"/>
                </a:lnTo>
                <a:close/>
              </a:path>
              <a:path w="3211195" h="338455">
                <a:moveTo>
                  <a:pt x="1662684" y="333756"/>
                </a:moveTo>
                <a:lnTo>
                  <a:pt x="1656588" y="318516"/>
                </a:lnTo>
                <a:lnTo>
                  <a:pt x="1652016" y="303276"/>
                </a:lnTo>
                <a:lnTo>
                  <a:pt x="1650492" y="294132"/>
                </a:lnTo>
                <a:lnTo>
                  <a:pt x="1650492" y="179832"/>
                </a:lnTo>
                <a:lnTo>
                  <a:pt x="1648968" y="167640"/>
                </a:lnTo>
                <a:lnTo>
                  <a:pt x="1648968" y="149352"/>
                </a:lnTo>
                <a:lnTo>
                  <a:pt x="1647444" y="143256"/>
                </a:lnTo>
                <a:lnTo>
                  <a:pt x="1623060" y="106680"/>
                </a:lnTo>
                <a:lnTo>
                  <a:pt x="1584960" y="92964"/>
                </a:lnTo>
                <a:lnTo>
                  <a:pt x="1557528" y="91440"/>
                </a:lnTo>
                <a:lnTo>
                  <a:pt x="1528572" y="92964"/>
                </a:lnTo>
                <a:lnTo>
                  <a:pt x="1482852" y="109728"/>
                </a:lnTo>
                <a:lnTo>
                  <a:pt x="1456944" y="141732"/>
                </a:lnTo>
                <a:lnTo>
                  <a:pt x="1450848" y="164592"/>
                </a:lnTo>
                <a:lnTo>
                  <a:pt x="1491996" y="170688"/>
                </a:lnTo>
                <a:lnTo>
                  <a:pt x="1495044" y="158496"/>
                </a:lnTo>
                <a:lnTo>
                  <a:pt x="1499616" y="147828"/>
                </a:lnTo>
                <a:lnTo>
                  <a:pt x="1539240" y="124968"/>
                </a:lnTo>
                <a:lnTo>
                  <a:pt x="1566672" y="124968"/>
                </a:lnTo>
                <a:lnTo>
                  <a:pt x="1603248" y="143256"/>
                </a:lnTo>
                <a:lnTo>
                  <a:pt x="1610868" y="172212"/>
                </a:lnTo>
                <a:lnTo>
                  <a:pt x="1610868" y="214884"/>
                </a:lnTo>
                <a:lnTo>
                  <a:pt x="1609344" y="228600"/>
                </a:lnTo>
                <a:lnTo>
                  <a:pt x="1609344" y="240792"/>
                </a:lnTo>
                <a:lnTo>
                  <a:pt x="1592580" y="283464"/>
                </a:lnTo>
                <a:lnTo>
                  <a:pt x="1557528" y="303276"/>
                </a:lnTo>
                <a:lnTo>
                  <a:pt x="1534668" y="306324"/>
                </a:lnTo>
                <a:lnTo>
                  <a:pt x="1514856" y="303276"/>
                </a:lnTo>
                <a:lnTo>
                  <a:pt x="1499616" y="295656"/>
                </a:lnTo>
                <a:lnTo>
                  <a:pt x="1493520" y="289560"/>
                </a:lnTo>
                <a:lnTo>
                  <a:pt x="1490472" y="283464"/>
                </a:lnTo>
                <a:lnTo>
                  <a:pt x="1487424" y="275844"/>
                </a:lnTo>
                <a:lnTo>
                  <a:pt x="1487424" y="259080"/>
                </a:lnTo>
                <a:lnTo>
                  <a:pt x="1522476" y="233172"/>
                </a:lnTo>
                <a:lnTo>
                  <a:pt x="1531620" y="231648"/>
                </a:lnTo>
                <a:lnTo>
                  <a:pt x="1543812" y="228600"/>
                </a:lnTo>
                <a:lnTo>
                  <a:pt x="1565148" y="225552"/>
                </a:lnTo>
                <a:lnTo>
                  <a:pt x="1581912" y="222504"/>
                </a:lnTo>
                <a:lnTo>
                  <a:pt x="1597152" y="217932"/>
                </a:lnTo>
                <a:lnTo>
                  <a:pt x="1610868" y="214884"/>
                </a:lnTo>
                <a:lnTo>
                  <a:pt x="1610868" y="172212"/>
                </a:lnTo>
                <a:lnTo>
                  <a:pt x="1609344" y="175260"/>
                </a:lnTo>
                <a:lnTo>
                  <a:pt x="1609344" y="182880"/>
                </a:lnTo>
                <a:lnTo>
                  <a:pt x="1597152" y="185928"/>
                </a:lnTo>
                <a:lnTo>
                  <a:pt x="1580388" y="190500"/>
                </a:lnTo>
                <a:lnTo>
                  <a:pt x="1560576" y="193548"/>
                </a:lnTo>
                <a:lnTo>
                  <a:pt x="1537716" y="196596"/>
                </a:lnTo>
                <a:lnTo>
                  <a:pt x="1516380" y="199644"/>
                </a:lnTo>
                <a:lnTo>
                  <a:pt x="1472184" y="214884"/>
                </a:lnTo>
                <a:lnTo>
                  <a:pt x="1446276" y="252984"/>
                </a:lnTo>
                <a:lnTo>
                  <a:pt x="1444752" y="269748"/>
                </a:lnTo>
                <a:lnTo>
                  <a:pt x="1444752" y="283464"/>
                </a:lnTo>
                <a:lnTo>
                  <a:pt x="1464564" y="318516"/>
                </a:lnTo>
                <a:lnTo>
                  <a:pt x="1487424" y="331216"/>
                </a:lnTo>
                <a:lnTo>
                  <a:pt x="1490472" y="332232"/>
                </a:lnTo>
                <a:lnTo>
                  <a:pt x="1507236" y="336804"/>
                </a:lnTo>
                <a:lnTo>
                  <a:pt x="1525524" y="338328"/>
                </a:lnTo>
                <a:lnTo>
                  <a:pt x="1548384" y="335280"/>
                </a:lnTo>
                <a:lnTo>
                  <a:pt x="1569720" y="330708"/>
                </a:lnTo>
                <a:lnTo>
                  <a:pt x="1591056" y="320040"/>
                </a:lnTo>
                <a:lnTo>
                  <a:pt x="1610868" y="306832"/>
                </a:lnTo>
                <a:lnTo>
                  <a:pt x="1613916" y="304800"/>
                </a:lnTo>
                <a:lnTo>
                  <a:pt x="1615440" y="320040"/>
                </a:lnTo>
                <a:lnTo>
                  <a:pt x="1621536" y="333756"/>
                </a:lnTo>
                <a:lnTo>
                  <a:pt x="1662684" y="333756"/>
                </a:lnTo>
                <a:close/>
              </a:path>
              <a:path w="3211195" h="338455">
                <a:moveTo>
                  <a:pt x="1839468" y="103632"/>
                </a:moveTo>
                <a:lnTo>
                  <a:pt x="1818132" y="94488"/>
                </a:lnTo>
                <a:lnTo>
                  <a:pt x="1798320" y="91440"/>
                </a:lnTo>
                <a:lnTo>
                  <a:pt x="1784604" y="92964"/>
                </a:lnTo>
                <a:lnTo>
                  <a:pt x="1754124" y="120396"/>
                </a:lnTo>
                <a:lnTo>
                  <a:pt x="1748028" y="131064"/>
                </a:lnTo>
                <a:lnTo>
                  <a:pt x="1748028" y="96012"/>
                </a:lnTo>
                <a:lnTo>
                  <a:pt x="1712976" y="96012"/>
                </a:lnTo>
                <a:lnTo>
                  <a:pt x="1712976" y="333756"/>
                </a:lnTo>
                <a:lnTo>
                  <a:pt x="1754124" y="333756"/>
                </a:lnTo>
                <a:lnTo>
                  <a:pt x="1754124" y="208788"/>
                </a:lnTo>
                <a:lnTo>
                  <a:pt x="1755648" y="184404"/>
                </a:lnTo>
                <a:lnTo>
                  <a:pt x="1773936" y="140208"/>
                </a:lnTo>
                <a:lnTo>
                  <a:pt x="1796796" y="132588"/>
                </a:lnTo>
                <a:lnTo>
                  <a:pt x="1810512" y="134112"/>
                </a:lnTo>
                <a:lnTo>
                  <a:pt x="1824228" y="140208"/>
                </a:lnTo>
                <a:lnTo>
                  <a:pt x="1839468" y="103632"/>
                </a:lnTo>
                <a:close/>
              </a:path>
              <a:path w="3211195" h="338455">
                <a:moveTo>
                  <a:pt x="2243328" y="99060"/>
                </a:moveTo>
                <a:lnTo>
                  <a:pt x="2232660" y="54864"/>
                </a:lnTo>
                <a:lnTo>
                  <a:pt x="2206752" y="24384"/>
                </a:lnTo>
                <a:lnTo>
                  <a:pt x="2199132" y="19939"/>
                </a:lnTo>
                <a:lnTo>
                  <a:pt x="2199132" y="100584"/>
                </a:lnTo>
                <a:lnTo>
                  <a:pt x="2197608" y="114300"/>
                </a:lnTo>
                <a:lnTo>
                  <a:pt x="2171700" y="152400"/>
                </a:lnTo>
                <a:lnTo>
                  <a:pt x="2122932" y="161544"/>
                </a:lnTo>
                <a:lnTo>
                  <a:pt x="2040636" y="161544"/>
                </a:lnTo>
                <a:lnTo>
                  <a:pt x="2040636" y="44196"/>
                </a:lnTo>
                <a:lnTo>
                  <a:pt x="2145792" y="44196"/>
                </a:lnTo>
                <a:lnTo>
                  <a:pt x="2154936" y="45720"/>
                </a:lnTo>
                <a:lnTo>
                  <a:pt x="2161032" y="45720"/>
                </a:lnTo>
                <a:lnTo>
                  <a:pt x="2176272" y="53340"/>
                </a:lnTo>
                <a:lnTo>
                  <a:pt x="2188464" y="65532"/>
                </a:lnTo>
                <a:lnTo>
                  <a:pt x="2196084" y="82296"/>
                </a:lnTo>
                <a:lnTo>
                  <a:pt x="2199132" y="100584"/>
                </a:lnTo>
                <a:lnTo>
                  <a:pt x="2199132" y="19939"/>
                </a:lnTo>
                <a:lnTo>
                  <a:pt x="2188464" y="13716"/>
                </a:lnTo>
                <a:lnTo>
                  <a:pt x="2167128" y="9144"/>
                </a:lnTo>
                <a:lnTo>
                  <a:pt x="2157984" y="7620"/>
                </a:lnTo>
                <a:lnTo>
                  <a:pt x="2145792" y="6096"/>
                </a:lnTo>
                <a:lnTo>
                  <a:pt x="1996440" y="6096"/>
                </a:lnTo>
                <a:lnTo>
                  <a:pt x="1996440" y="333756"/>
                </a:lnTo>
                <a:lnTo>
                  <a:pt x="2040636" y="333756"/>
                </a:lnTo>
                <a:lnTo>
                  <a:pt x="2040636" y="199644"/>
                </a:lnTo>
                <a:lnTo>
                  <a:pt x="2122932" y="199644"/>
                </a:lnTo>
                <a:lnTo>
                  <a:pt x="2153412" y="196596"/>
                </a:lnTo>
                <a:lnTo>
                  <a:pt x="2179320" y="192024"/>
                </a:lnTo>
                <a:lnTo>
                  <a:pt x="2199132" y="183527"/>
                </a:lnTo>
                <a:lnTo>
                  <a:pt x="2200656" y="182880"/>
                </a:lnTo>
                <a:lnTo>
                  <a:pt x="2215896" y="170688"/>
                </a:lnTo>
                <a:lnTo>
                  <a:pt x="2228088" y="155448"/>
                </a:lnTo>
                <a:lnTo>
                  <a:pt x="2235708" y="138684"/>
                </a:lnTo>
                <a:lnTo>
                  <a:pt x="2240280" y="120396"/>
                </a:lnTo>
                <a:lnTo>
                  <a:pt x="2243328" y="99060"/>
                </a:lnTo>
                <a:close/>
              </a:path>
              <a:path w="3211195" h="338455">
                <a:moveTo>
                  <a:pt x="2500884" y="210312"/>
                </a:moveTo>
                <a:lnTo>
                  <a:pt x="2491740" y="161544"/>
                </a:lnTo>
                <a:lnTo>
                  <a:pt x="2468880" y="123444"/>
                </a:lnTo>
                <a:lnTo>
                  <a:pt x="2459736" y="115138"/>
                </a:lnTo>
                <a:lnTo>
                  <a:pt x="2459736" y="213360"/>
                </a:lnTo>
                <a:lnTo>
                  <a:pt x="2458212" y="234696"/>
                </a:lnTo>
                <a:lnTo>
                  <a:pt x="2439924" y="281940"/>
                </a:lnTo>
                <a:lnTo>
                  <a:pt x="2403348" y="303276"/>
                </a:lnTo>
                <a:lnTo>
                  <a:pt x="2389632" y="304800"/>
                </a:lnTo>
                <a:lnTo>
                  <a:pt x="2375916" y="303276"/>
                </a:lnTo>
                <a:lnTo>
                  <a:pt x="2339340" y="281940"/>
                </a:lnTo>
                <a:lnTo>
                  <a:pt x="2321052" y="234696"/>
                </a:lnTo>
                <a:lnTo>
                  <a:pt x="2321052" y="193548"/>
                </a:lnTo>
                <a:lnTo>
                  <a:pt x="2339340" y="146304"/>
                </a:lnTo>
                <a:lnTo>
                  <a:pt x="2375916" y="124968"/>
                </a:lnTo>
                <a:lnTo>
                  <a:pt x="2403348" y="124968"/>
                </a:lnTo>
                <a:lnTo>
                  <a:pt x="2439924" y="146304"/>
                </a:lnTo>
                <a:lnTo>
                  <a:pt x="2458212" y="192024"/>
                </a:lnTo>
                <a:lnTo>
                  <a:pt x="2459736" y="213360"/>
                </a:lnTo>
                <a:lnTo>
                  <a:pt x="2459736" y="115138"/>
                </a:lnTo>
                <a:lnTo>
                  <a:pt x="2452116" y="108204"/>
                </a:lnTo>
                <a:lnTo>
                  <a:pt x="2433828" y="99060"/>
                </a:lnTo>
                <a:lnTo>
                  <a:pt x="2412492" y="92964"/>
                </a:lnTo>
                <a:lnTo>
                  <a:pt x="2389632" y="91440"/>
                </a:lnTo>
                <a:lnTo>
                  <a:pt x="2368296" y="92964"/>
                </a:lnTo>
                <a:lnTo>
                  <a:pt x="2331720" y="105156"/>
                </a:lnTo>
                <a:lnTo>
                  <a:pt x="2299716" y="135636"/>
                </a:lnTo>
                <a:lnTo>
                  <a:pt x="2281428" y="182880"/>
                </a:lnTo>
                <a:lnTo>
                  <a:pt x="2279904" y="214884"/>
                </a:lnTo>
                <a:lnTo>
                  <a:pt x="2281428" y="242316"/>
                </a:lnTo>
                <a:lnTo>
                  <a:pt x="2287524" y="266700"/>
                </a:lnTo>
                <a:lnTo>
                  <a:pt x="2296668" y="288036"/>
                </a:lnTo>
                <a:lnTo>
                  <a:pt x="2310384" y="306324"/>
                </a:lnTo>
                <a:lnTo>
                  <a:pt x="2321052" y="315925"/>
                </a:lnTo>
                <a:lnTo>
                  <a:pt x="2325624" y="320040"/>
                </a:lnTo>
                <a:lnTo>
                  <a:pt x="2345436" y="329184"/>
                </a:lnTo>
                <a:lnTo>
                  <a:pt x="2366772" y="335280"/>
                </a:lnTo>
                <a:lnTo>
                  <a:pt x="2389632" y="338328"/>
                </a:lnTo>
                <a:lnTo>
                  <a:pt x="2404872" y="336804"/>
                </a:lnTo>
                <a:lnTo>
                  <a:pt x="2446020" y="323088"/>
                </a:lnTo>
                <a:lnTo>
                  <a:pt x="2479548" y="295656"/>
                </a:lnTo>
                <a:lnTo>
                  <a:pt x="2496312" y="251460"/>
                </a:lnTo>
                <a:lnTo>
                  <a:pt x="2499360" y="233172"/>
                </a:lnTo>
                <a:lnTo>
                  <a:pt x="2500884" y="210312"/>
                </a:lnTo>
                <a:close/>
              </a:path>
              <a:path w="3211195" h="338455">
                <a:moveTo>
                  <a:pt x="2592324" y="96012"/>
                </a:moveTo>
                <a:lnTo>
                  <a:pt x="2551176" y="96012"/>
                </a:lnTo>
                <a:lnTo>
                  <a:pt x="2551176" y="333756"/>
                </a:lnTo>
                <a:lnTo>
                  <a:pt x="2592324" y="333756"/>
                </a:lnTo>
                <a:lnTo>
                  <a:pt x="2592324" y="96012"/>
                </a:lnTo>
                <a:close/>
              </a:path>
              <a:path w="3211195" h="338455">
                <a:moveTo>
                  <a:pt x="2592324" y="6096"/>
                </a:moveTo>
                <a:lnTo>
                  <a:pt x="2551176" y="6096"/>
                </a:lnTo>
                <a:lnTo>
                  <a:pt x="2551176" y="51816"/>
                </a:lnTo>
                <a:lnTo>
                  <a:pt x="2592324" y="51816"/>
                </a:lnTo>
                <a:lnTo>
                  <a:pt x="2592324" y="6096"/>
                </a:lnTo>
                <a:close/>
              </a:path>
              <a:path w="3211195" h="338455">
                <a:moveTo>
                  <a:pt x="2843784" y="187452"/>
                </a:moveTo>
                <a:lnTo>
                  <a:pt x="2842260" y="175260"/>
                </a:lnTo>
                <a:lnTo>
                  <a:pt x="2842260" y="155448"/>
                </a:lnTo>
                <a:lnTo>
                  <a:pt x="2840736" y="147828"/>
                </a:lnTo>
                <a:lnTo>
                  <a:pt x="2817876" y="108204"/>
                </a:lnTo>
                <a:lnTo>
                  <a:pt x="2763012" y="91440"/>
                </a:lnTo>
                <a:lnTo>
                  <a:pt x="2740152" y="92964"/>
                </a:lnTo>
                <a:lnTo>
                  <a:pt x="2720340" y="100584"/>
                </a:lnTo>
                <a:lnTo>
                  <a:pt x="2703576" y="112776"/>
                </a:lnTo>
                <a:lnTo>
                  <a:pt x="2689860" y="129540"/>
                </a:lnTo>
                <a:lnTo>
                  <a:pt x="2689860" y="96012"/>
                </a:lnTo>
                <a:lnTo>
                  <a:pt x="2653284" y="96012"/>
                </a:lnTo>
                <a:lnTo>
                  <a:pt x="2653284" y="333756"/>
                </a:lnTo>
                <a:lnTo>
                  <a:pt x="2694432" y="333756"/>
                </a:lnTo>
                <a:lnTo>
                  <a:pt x="2694432" y="182880"/>
                </a:lnTo>
                <a:lnTo>
                  <a:pt x="2697480" y="166116"/>
                </a:lnTo>
                <a:lnTo>
                  <a:pt x="2703576" y="152400"/>
                </a:lnTo>
                <a:lnTo>
                  <a:pt x="2711196" y="141732"/>
                </a:lnTo>
                <a:lnTo>
                  <a:pt x="2721864" y="135636"/>
                </a:lnTo>
                <a:lnTo>
                  <a:pt x="2731008" y="129540"/>
                </a:lnTo>
                <a:lnTo>
                  <a:pt x="2743200" y="126492"/>
                </a:lnTo>
                <a:lnTo>
                  <a:pt x="2753868" y="126492"/>
                </a:lnTo>
                <a:lnTo>
                  <a:pt x="2790444" y="141732"/>
                </a:lnTo>
                <a:lnTo>
                  <a:pt x="2801112" y="167640"/>
                </a:lnTo>
                <a:lnTo>
                  <a:pt x="2801112" y="178308"/>
                </a:lnTo>
                <a:lnTo>
                  <a:pt x="2802636" y="188976"/>
                </a:lnTo>
                <a:lnTo>
                  <a:pt x="2802636" y="333756"/>
                </a:lnTo>
                <a:lnTo>
                  <a:pt x="2843784" y="333756"/>
                </a:lnTo>
                <a:lnTo>
                  <a:pt x="2843784" y="187452"/>
                </a:lnTo>
                <a:close/>
              </a:path>
              <a:path w="3211195" h="338455">
                <a:moveTo>
                  <a:pt x="2997708" y="333756"/>
                </a:moveTo>
                <a:lnTo>
                  <a:pt x="2991612" y="298704"/>
                </a:lnTo>
                <a:lnTo>
                  <a:pt x="2980944" y="298704"/>
                </a:lnTo>
                <a:lnTo>
                  <a:pt x="2973324" y="300228"/>
                </a:lnTo>
                <a:lnTo>
                  <a:pt x="2965704" y="298704"/>
                </a:lnTo>
                <a:lnTo>
                  <a:pt x="2959608" y="297180"/>
                </a:lnTo>
                <a:lnTo>
                  <a:pt x="2953512" y="289560"/>
                </a:lnTo>
                <a:lnTo>
                  <a:pt x="2951988" y="284988"/>
                </a:lnTo>
                <a:lnTo>
                  <a:pt x="2951988" y="128016"/>
                </a:lnTo>
                <a:lnTo>
                  <a:pt x="2991612" y="128016"/>
                </a:lnTo>
                <a:lnTo>
                  <a:pt x="2991612" y="96012"/>
                </a:lnTo>
                <a:lnTo>
                  <a:pt x="2951988" y="96012"/>
                </a:lnTo>
                <a:lnTo>
                  <a:pt x="2951988" y="12192"/>
                </a:lnTo>
                <a:lnTo>
                  <a:pt x="2910840" y="36576"/>
                </a:lnTo>
                <a:lnTo>
                  <a:pt x="2910840" y="96012"/>
                </a:lnTo>
                <a:lnTo>
                  <a:pt x="2881884" y="96012"/>
                </a:lnTo>
                <a:lnTo>
                  <a:pt x="2881884" y="128016"/>
                </a:lnTo>
                <a:lnTo>
                  <a:pt x="2910840" y="128016"/>
                </a:lnTo>
                <a:lnTo>
                  <a:pt x="2910840" y="294132"/>
                </a:lnTo>
                <a:lnTo>
                  <a:pt x="2912364" y="304800"/>
                </a:lnTo>
                <a:lnTo>
                  <a:pt x="2947416" y="335280"/>
                </a:lnTo>
                <a:lnTo>
                  <a:pt x="2965704" y="338328"/>
                </a:lnTo>
                <a:lnTo>
                  <a:pt x="2980944" y="336804"/>
                </a:lnTo>
                <a:lnTo>
                  <a:pt x="2997708" y="333756"/>
                </a:lnTo>
                <a:close/>
              </a:path>
              <a:path w="3211195" h="338455">
                <a:moveTo>
                  <a:pt x="3211068" y="262128"/>
                </a:moveTo>
                <a:lnTo>
                  <a:pt x="3188208" y="216408"/>
                </a:lnTo>
                <a:lnTo>
                  <a:pt x="3162300" y="204216"/>
                </a:lnTo>
                <a:lnTo>
                  <a:pt x="3150108" y="199644"/>
                </a:lnTo>
                <a:lnTo>
                  <a:pt x="3133344" y="193548"/>
                </a:lnTo>
                <a:lnTo>
                  <a:pt x="3102864" y="185928"/>
                </a:lnTo>
                <a:lnTo>
                  <a:pt x="3092196" y="182880"/>
                </a:lnTo>
                <a:lnTo>
                  <a:pt x="3086100" y="179832"/>
                </a:lnTo>
                <a:lnTo>
                  <a:pt x="3081528" y="178308"/>
                </a:lnTo>
                <a:lnTo>
                  <a:pt x="3072384" y="173736"/>
                </a:lnTo>
                <a:lnTo>
                  <a:pt x="3063240" y="161544"/>
                </a:lnTo>
                <a:lnTo>
                  <a:pt x="3063240" y="153924"/>
                </a:lnTo>
                <a:lnTo>
                  <a:pt x="3098292" y="124968"/>
                </a:lnTo>
                <a:lnTo>
                  <a:pt x="3110484" y="124968"/>
                </a:lnTo>
                <a:lnTo>
                  <a:pt x="3130296" y="126492"/>
                </a:lnTo>
                <a:lnTo>
                  <a:pt x="3145536" y="135636"/>
                </a:lnTo>
                <a:lnTo>
                  <a:pt x="3154680" y="147828"/>
                </a:lnTo>
                <a:lnTo>
                  <a:pt x="3160776" y="166116"/>
                </a:lnTo>
                <a:lnTo>
                  <a:pt x="3201924" y="160020"/>
                </a:lnTo>
                <a:lnTo>
                  <a:pt x="3188208" y="121920"/>
                </a:lnTo>
                <a:lnTo>
                  <a:pt x="3156204" y="99060"/>
                </a:lnTo>
                <a:lnTo>
                  <a:pt x="3107436" y="91440"/>
                </a:lnTo>
                <a:lnTo>
                  <a:pt x="3090672" y="91440"/>
                </a:lnTo>
                <a:lnTo>
                  <a:pt x="3048000" y="106680"/>
                </a:lnTo>
                <a:lnTo>
                  <a:pt x="3023616" y="143256"/>
                </a:lnTo>
                <a:lnTo>
                  <a:pt x="3022092" y="158496"/>
                </a:lnTo>
                <a:lnTo>
                  <a:pt x="3023616" y="175260"/>
                </a:lnTo>
                <a:lnTo>
                  <a:pt x="3029712" y="190500"/>
                </a:lnTo>
                <a:lnTo>
                  <a:pt x="3041904" y="204216"/>
                </a:lnTo>
                <a:lnTo>
                  <a:pt x="3057144" y="213360"/>
                </a:lnTo>
                <a:lnTo>
                  <a:pt x="3063240" y="215963"/>
                </a:lnTo>
                <a:lnTo>
                  <a:pt x="3067812" y="217932"/>
                </a:lnTo>
                <a:lnTo>
                  <a:pt x="3081528" y="222504"/>
                </a:lnTo>
                <a:lnTo>
                  <a:pt x="3096768" y="227076"/>
                </a:lnTo>
                <a:lnTo>
                  <a:pt x="3116580" y="233172"/>
                </a:lnTo>
                <a:lnTo>
                  <a:pt x="3130296" y="236220"/>
                </a:lnTo>
                <a:lnTo>
                  <a:pt x="3142488" y="239268"/>
                </a:lnTo>
                <a:lnTo>
                  <a:pt x="3150108" y="243840"/>
                </a:lnTo>
                <a:lnTo>
                  <a:pt x="3156204" y="245364"/>
                </a:lnTo>
                <a:lnTo>
                  <a:pt x="3162300" y="249936"/>
                </a:lnTo>
                <a:lnTo>
                  <a:pt x="3165348" y="254508"/>
                </a:lnTo>
                <a:lnTo>
                  <a:pt x="3168396" y="260604"/>
                </a:lnTo>
                <a:lnTo>
                  <a:pt x="3169920" y="266700"/>
                </a:lnTo>
                <a:lnTo>
                  <a:pt x="3168396" y="274320"/>
                </a:lnTo>
                <a:lnTo>
                  <a:pt x="3165348" y="280416"/>
                </a:lnTo>
                <a:lnTo>
                  <a:pt x="3162300" y="288036"/>
                </a:lnTo>
                <a:lnTo>
                  <a:pt x="3116580" y="304800"/>
                </a:lnTo>
                <a:lnTo>
                  <a:pt x="3102864" y="303276"/>
                </a:lnTo>
                <a:lnTo>
                  <a:pt x="3063240" y="275844"/>
                </a:lnTo>
                <a:lnTo>
                  <a:pt x="3057144" y="256032"/>
                </a:lnTo>
                <a:lnTo>
                  <a:pt x="3015996" y="262128"/>
                </a:lnTo>
                <a:lnTo>
                  <a:pt x="3034284" y="307848"/>
                </a:lnTo>
                <a:lnTo>
                  <a:pt x="3075432" y="332232"/>
                </a:lnTo>
                <a:lnTo>
                  <a:pt x="3115056" y="338328"/>
                </a:lnTo>
                <a:lnTo>
                  <a:pt x="3142488" y="335280"/>
                </a:lnTo>
                <a:lnTo>
                  <a:pt x="3165348" y="327660"/>
                </a:lnTo>
                <a:lnTo>
                  <a:pt x="3169920" y="325196"/>
                </a:lnTo>
                <a:lnTo>
                  <a:pt x="3185160" y="316992"/>
                </a:lnTo>
                <a:lnTo>
                  <a:pt x="3198876" y="300228"/>
                </a:lnTo>
                <a:lnTo>
                  <a:pt x="3208020" y="281940"/>
                </a:lnTo>
                <a:lnTo>
                  <a:pt x="3211068" y="262128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1572" y="2000868"/>
            <a:ext cx="6384290" cy="9772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Not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left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Middle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3100"/>
                </a:solidFill>
                <a:latin typeface="Arial MT"/>
                <a:cs typeface="Arial MT"/>
              </a:rPr>
              <a:t>included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5" dirty="0">
                <a:latin typeface="Arial MT"/>
                <a:cs typeface="Arial MT"/>
              </a:rPr>
              <a:t> convex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hull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5260" y="3506152"/>
            <a:ext cx="2219325" cy="1152525"/>
            <a:chOff x="3735260" y="3506152"/>
            <a:chExt cx="2219325" cy="1152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5260" y="35061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9660" y="39633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2660" y="4496752"/>
              <a:ext cx="161544" cy="161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6032" y="3586924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0" y="0"/>
                  </a:moveTo>
                  <a:lnTo>
                    <a:pt x="2057400" y="990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93</a:t>
            </a:fld>
            <a:endParaRPr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6764" y="1256728"/>
            <a:ext cx="2900680" cy="332740"/>
          </a:xfrm>
          <a:custGeom>
            <a:avLst/>
            <a:gdLst/>
            <a:ahLst/>
            <a:cxnLst/>
            <a:rect l="l" t="t" r="r" b="b"/>
            <a:pathLst>
              <a:path w="2900679" h="332740">
                <a:moveTo>
                  <a:pt x="301752" y="0"/>
                </a:moveTo>
                <a:lnTo>
                  <a:pt x="257556" y="0"/>
                </a:lnTo>
                <a:lnTo>
                  <a:pt x="167640" y="237744"/>
                </a:lnTo>
                <a:lnTo>
                  <a:pt x="149352" y="291084"/>
                </a:lnTo>
                <a:lnTo>
                  <a:pt x="141732" y="265176"/>
                </a:lnTo>
                <a:lnTo>
                  <a:pt x="132588" y="237744"/>
                </a:lnTo>
                <a:lnTo>
                  <a:pt x="47244" y="0"/>
                </a:lnTo>
                <a:lnTo>
                  <a:pt x="0" y="0"/>
                </a:lnTo>
                <a:lnTo>
                  <a:pt x="126492" y="327660"/>
                </a:lnTo>
                <a:lnTo>
                  <a:pt x="172212" y="327660"/>
                </a:lnTo>
                <a:lnTo>
                  <a:pt x="301752" y="0"/>
                </a:lnTo>
                <a:close/>
              </a:path>
              <a:path w="2900679" h="332740">
                <a:moveTo>
                  <a:pt x="537972" y="208788"/>
                </a:moveTo>
                <a:lnTo>
                  <a:pt x="530352" y="155448"/>
                </a:lnTo>
                <a:lnTo>
                  <a:pt x="507492" y="117348"/>
                </a:lnTo>
                <a:lnTo>
                  <a:pt x="472440" y="92964"/>
                </a:lnTo>
                <a:lnTo>
                  <a:pt x="428244" y="85344"/>
                </a:lnTo>
                <a:lnTo>
                  <a:pt x="403860" y="86868"/>
                </a:lnTo>
                <a:lnTo>
                  <a:pt x="364236" y="103632"/>
                </a:lnTo>
                <a:lnTo>
                  <a:pt x="333756" y="135636"/>
                </a:lnTo>
                <a:lnTo>
                  <a:pt x="318516" y="181356"/>
                </a:lnTo>
                <a:lnTo>
                  <a:pt x="316992" y="210312"/>
                </a:lnTo>
                <a:lnTo>
                  <a:pt x="318516" y="237744"/>
                </a:lnTo>
                <a:lnTo>
                  <a:pt x="324612" y="260604"/>
                </a:lnTo>
                <a:lnTo>
                  <a:pt x="333756" y="281940"/>
                </a:lnTo>
                <a:lnTo>
                  <a:pt x="347472" y="300228"/>
                </a:lnTo>
                <a:lnTo>
                  <a:pt x="358140" y="308956"/>
                </a:lnTo>
                <a:lnTo>
                  <a:pt x="358140" y="219456"/>
                </a:lnTo>
                <a:lnTo>
                  <a:pt x="359664" y="219456"/>
                </a:lnTo>
                <a:lnTo>
                  <a:pt x="359664" y="185928"/>
                </a:lnTo>
                <a:lnTo>
                  <a:pt x="361188" y="170688"/>
                </a:lnTo>
                <a:lnTo>
                  <a:pt x="381000" y="137160"/>
                </a:lnTo>
                <a:lnTo>
                  <a:pt x="414528" y="118872"/>
                </a:lnTo>
                <a:lnTo>
                  <a:pt x="428244" y="118872"/>
                </a:lnTo>
                <a:lnTo>
                  <a:pt x="469392" y="131064"/>
                </a:lnTo>
                <a:lnTo>
                  <a:pt x="493776" y="172212"/>
                </a:lnTo>
                <a:lnTo>
                  <a:pt x="496824" y="185928"/>
                </a:lnTo>
                <a:lnTo>
                  <a:pt x="496824" y="219456"/>
                </a:lnTo>
                <a:lnTo>
                  <a:pt x="536448" y="219456"/>
                </a:lnTo>
                <a:lnTo>
                  <a:pt x="536448" y="211836"/>
                </a:lnTo>
                <a:lnTo>
                  <a:pt x="537972" y="208788"/>
                </a:lnTo>
                <a:close/>
              </a:path>
              <a:path w="2900679" h="332740">
                <a:moveTo>
                  <a:pt x="536448" y="256032"/>
                </a:moveTo>
                <a:lnTo>
                  <a:pt x="495300" y="249936"/>
                </a:lnTo>
                <a:lnTo>
                  <a:pt x="490728" y="260604"/>
                </a:lnTo>
                <a:lnTo>
                  <a:pt x="484632" y="271272"/>
                </a:lnTo>
                <a:lnTo>
                  <a:pt x="477012" y="280416"/>
                </a:lnTo>
                <a:lnTo>
                  <a:pt x="469392" y="286512"/>
                </a:lnTo>
                <a:lnTo>
                  <a:pt x="452628" y="295656"/>
                </a:lnTo>
                <a:lnTo>
                  <a:pt x="431292" y="298704"/>
                </a:lnTo>
                <a:lnTo>
                  <a:pt x="416052" y="297180"/>
                </a:lnTo>
                <a:lnTo>
                  <a:pt x="379476" y="277368"/>
                </a:lnTo>
                <a:lnTo>
                  <a:pt x="359664" y="236220"/>
                </a:lnTo>
                <a:lnTo>
                  <a:pt x="358140" y="219456"/>
                </a:lnTo>
                <a:lnTo>
                  <a:pt x="358140" y="308956"/>
                </a:lnTo>
                <a:lnTo>
                  <a:pt x="364236" y="313944"/>
                </a:lnTo>
                <a:lnTo>
                  <a:pt x="384048" y="323088"/>
                </a:lnTo>
                <a:lnTo>
                  <a:pt x="405384" y="329184"/>
                </a:lnTo>
                <a:lnTo>
                  <a:pt x="429768" y="332232"/>
                </a:lnTo>
                <a:lnTo>
                  <a:pt x="451104" y="330708"/>
                </a:lnTo>
                <a:lnTo>
                  <a:pt x="499872" y="310896"/>
                </a:lnTo>
                <a:lnTo>
                  <a:pt x="530352" y="272796"/>
                </a:lnTo>
                <a:lnTo>
                  <a:pt x="536448" y="256032"/>
                </a:lnTo>
                <a:close/>
              </a:path>
              <a:path w="2900679" h="332740">
                <a:moveTo>
                  <a:pt x="496824" y="219456"/>
                </a:moveTo>
                <a:lnTo>
                  <a:pt x="496824" y="185928"/>
                </a:lnTo>
                <a:lnTo>
                  <a:pt x="359664" y="185928"/>
                </a:lnTo>
                <a:lnTo>
                  <a:pt x="359664" y="219456"/>
                </a:lnTo>
                <a:lnTo>
                  <a:pt x="496824" y="219456"/>
                </a:lnTo>
                <a:close/>
              </a:path>
              <a:path w="2900679" h="332740">
                <a:moveTo>
                  <a:pt x="714756" y="97536"/>
                </a:moveTo>
                <a:lnTo>
                  <a:pt x="693420" y="88392"/>
                </a:lnTo>
                <a:lnTo>
                  <a:pt x="673608" y="85344"/>
                </a:lnTo>
                <a:lnTo>
                  <a:pt x="659892" y="86868"/>
                </a:lnTo>
                <a:lnTo>
                  <a:pt x="629412" y="114300"/>
                </a:lnTo>
                <a:lnTo>
                  <a:pt x="623316" y="124968"/>
                </a:lnTo>
                <a:lnTo>
                  <a:pt x="623316" y="89916"/>
                </a:lnTo>
                <a:lnTo>
                  <a:pt x="588264" y="89916"/>
                </a:lnTo>
                <a:lnTo>
                  <a:pt x="588264" y="327660"/>
                </a:lnTo>
                <a:lnTo>
                  <a:pt x="629412" y="327660"/>
                </a:lnTo>
                <a:lnTo>
                  <a:pt x="629412" y="202692"/>
                </a:lnTo>
                <a:lnTo>
                  <a:pt x="630936" y="178308"/>
                </a:lnTo>
                <a:lnTo>
                  <a:pt x="649224" y="134112"/>
                </a:lnTo>
                <a:lnTo>
                  <a:pt x="672084" y="126492"/>
                </a:lnTo>
                <a:lnTo>
                  <a:pt x="685800" y="128016"/>
                </a:lnTo>
                <a:lnTo>
                  <a:pt x="699516" y="134112"/>
                </a:lnTo>
                <a:lnTo>
                  <a:pt x="714756" y="97536"/>
                </a:lnTo>
                <a:close/>
              </a:path>
              <a:path w="2900679" h="332740">
                <a:moveTo>
                  <a:pt x="745236" y="121920"/>
                </a:moveTo>
                <a:lnTo>
                  <a:pt x="745236" y="89916"/>
                </a:lnTo>
                <a:lnTo>
                  <a:pt x="716280" y="89916"/>
                </a:lnTo>
                <a:lnTo>
                  <a:pt x="716280" y="121920"/>
                </a:lnTo>
                <a:lnTo>
                  <a:pt x="745236" y="121920"/>
                </a:lnTo>
                <a:close/>
              </a:path>
              <a:path w="2900679" h="332740">
                <a:moveTo>
                  <a:pt x="832104" y="327660"/>
                </a:moveTo>
                <a:lnTo>
                  <a:pt x="826008" y="292608"/>
                </a:lnTo>
                <a:lnTo>
                  <a:pt x="815340" y="292608"/>
                </a:lnTo>
                <a:lnTo>
                  <a:pt x="807720" y="294132"/>
                </a:lnTo>
                <a:lnTo>
                  <a:pt x="800100" y="292608"/>
                </a:lnTo>
                <a:lnTo>
                  <a:pt x="794004" y="291084"/>
                </a:lnTo>
                <a:lnTo>
                  <a:pt x="787908" y="283464"/>
                </a:lnTo>
                <a:lnTo>
                  <a:pt x="786384" y="278892"/>
                </a:lnTo>
                <a:lnTo>
                  <a:pt x="786384" y="6096"/>
                </a:lnTo>
                <a:lnTo>
                  <a:pt x="745236" y="30480"/>
                </a:lnTo>
                <a:lnTo>
                  <a:pt x="745236" y="288036"/>
                </a:lnTo>
                <a:lnTo>
                  <a:pt x="746760" y="298704"/>
                </a:lnTo>
                <a:lnTo>
                  <a:pt x="781812" y="329184"/>
                </a:lnTo>
                <a:lnTo>
                  <a:pt x="800100" y="332232"/>
                </a:lnTo>
                <a:lnTo>
                  <a:pt x="815340" y="330708"/>
                </a:lnTo>
                <a:lnTo>
                  <a:pt x="832104" y="327660"/>
                </a:lnTo>
                <a:close/>
              </a:path>
              <a:path w="2900679" h="332740">
                <a:moveTo>
                  <a:pt x="826008" y="121920"/>
                </a:moveTo>
                <a:lnTo>
                  <a:pt x="826008" y="89916"/>
                </a:lnTo>
                <a:lnTo>
                  <a:pt x="786384" y="89916"/>
                </a:lnTo>
                <a:lnTo>
                  <a:pt x="786384" y="121920"/>
                </a:lnTo>
                <a:lnTo>
                  <a:pt x="826008" y="121920"/>
                </a:lnTo>
                <a:close/>
              </a:path>
              <a:path w="2900679" h="332740">
                <a:moveTo>
                  <a:pt x="908304" y="45720"/>
                </a:moveTo>
                <a:lnTo>
                  <a:pt x="908304" y="0"/>
                </a:lnTo>
                <a:lnTo>
                  <a:pt x="867156" y="0"/>
                </a:lnTo>
                <a:lnTo>
                  <a:pt x="867156" y="45720"/>
                </a:lnTo>
                <a:lnTo>
                  <a:pt x="908304" y="45720"/>
                </a:lnTo>
                <a:close/>
              </a:path>
              <a:path w="2900679" h="332740">
                <a:moveTo>
                  <a:pt x="908304" y="327660"/>
                </a:moveTo>
                <a:lnTo>
                  <a:pt x="908304" y="89916"/>
                </a:lnTo>
                <a:lnTo>
                  <a:pt x="867156" y="89916"/>
                </a:lnTo>
                <a:lnTo>
                  <a:pt x="867156" y="327660"/>
                </a:lnTo>
                <a:lnTo>
                  <a:pt x="908304" y="327660"/>
                </a:lnTo>
                <a:close/>
              </a:path>
              <a:path w="2900679" h="332740">
                <a:moveTo>
                  <a:pt x="1156716" y="160020"/>
                </a:moveTo>
                <a:lnTo>
                  <a:pt x="1135380" y="114300"/>
                </a:lnTo>
                <a:lnTo>
                  <a:pt x="1097280" y="89916"/>
                </a:lnTo>
                <a:lnTo>
                  <a:pt x="1080516" y="85344"/>
                </a:lnTo>
                <a:lnTo>
                  <a:pt x="1046988" y="85344"/>
                </a:lnTo>
                <a:lnTo>
                  <a:pt x="1005840" y="99060"/>
                </a:lnTo>
                <a:lnTo>
                  <a:pt x="975360" y="128016"/>
                </a:lnTo>
                <a:lnTo>
                  <a:pt x="955548" y="190500"/>
                </a:lnTo>
                <a:lnTo>
                  <a:pt x="955548" y="208788"/>
                </a:lnTo>
                <a:lnTo>
                  <a:pt x="961644" y="262128"/>
                </a:lnTo>
                <a:lnTo>
                  <a:pt x="984504" y="300228"/>
                </a:lnTo>
                <a:lnTo>
                  <a:pt x="996696" y="310203"/>
                </a:lnTo>
                <a:lnTo>
                  <a:pt x="996696" y="185928"/>
                </a:lnTo>
                <a:lnTo>
                  <a:pt x="1001268" y="167640"/>
                </a:lnTo>
                <a:lnTo>
                  <a:pt x="1024128" y="131064"/>
                </a:lnTo>
                <a:lnTo>
                  <a:pt x="1048512" y="118872"/>
                </a:lnTo>
                <a:lnTo>
                  <a:pt x="1062228" y="118872"/>
                </a:lnTo>
                <a:lnTo>
                  <a:pt x="1080516" y="121920"/>
                </a:lnTo>
                <a:lnTo>
                  <a:pt x="1095756" y="129540"/>
                </a:lnTo>
                <a:lnTo>
                  <a:pt x="1107948" y="144780"/>
                </a:lnTo>
                <a:lnTo>
                  <a:pt x="1115568" y="166116"/>
                </a:lnTo>
                <a:lnTo>
                  <a:pt x="1156716" y="160020"/>
                </a:lnTo>
                <a:close/>
              </a:path>
              <a:path w="2900679" h="332740">
                <a:moveTo>
                  <a:pt x="1162812" y="246888"/>
                </a:moveTo>
                <a:lnTo>
                  <a:pt x="1121664" y="240792"/>
                </a:lnTo>
                <a:lnTo>
                  <a:pt x="1118616" y="254508"/>
                </a:lnTo>
                <a:lnTo>
                  <a:pt x="1114044" y="265176"/>
                </a:lnTo>
                <a:lnTo>
                  <a:pt x="1083564" y="294132"/>
                </a:lnTo>
                <a:lnTo>
                  <a:pt x="1062228" y="298704"/>
                </a:lnTo>
                <a:lnTo>
                  <a:pt x="1046988" y="297180"/>
                </a:lnTo>
                <a:lnTo>
                  <a:pt x="1013460" y="277368"/>
                </a:lnTo>
                <a:lnTo>
                  <a:pt x="996696" y="230124"/>
                </a:lnTo>
                <a:lnTo>
                  <a:pt x="996696" y="310203"/>
                </a:lnTo>
                <a:lnTo>
                  <a:pt x="1001268" y="313944"/>
                </a:lnTo>
                <a:lnTo>
                  <a:pt x="1019556" y="323088"/>
                </a:lnTo>
                <a:lnTo>
                  <a:pt x="1039368" y="329184"/>
                </a:lnTo>
                <a:lnTo>
                  <a:pt x="1063752" y="332232"/>
                </a:lnTo>
                <a:lnTo>
                  <a:pt x="1082040" y="330708"/>
                </a:lnTo>
                <a:lnTo>
                  <a:pt x="1129284" y="309372"/>
                </a:lnTo>
                <a:lnTo>
                  <a:pt x="1158240" y="265176"/>
                </a:lnTo>
                <a:lnTo>
                  <a:pt x="1162812" y="246888"/>
                </a:lnTo>
                <a:close/>
              </a:path>
              <a:path w="2900679" h="332740">
                <a:moveTo>
                  <a:pt x="1350264" y="208788"/>
                </a:moveTo>
                <a:lnTo>
                  <a:pt x="1350264" y="166116"/>
                </a:lnTo>
                <a:lnTo>
                  <a:pt x="1348740" y="169164"/>
                </a:lnTo>
                <a:lnTo>
                  <a:pt x="1348740" y="176784"/>
                </a:lnTo>
                <a:lnTo>
                  <a:pt x="1336548" y="179832"/>
                </a:lnTo>
                <a:lnTo>
                  <a:pt x="1319784" y="184404"/>
                </a:lnTo>
                <a:lnTo>
                  <a:pt x="1299972" y="187452"/>
                </a:lnTo>
                <a:lnTo>
                  <a:pt x="1277112" y="190500"/>
                </a:lnTo>
                <a:lnTo>
                  <a:pt x="1255776" y="193548"/>
                </a:lnTo>
                <a:lnTo>
                  <a:pt x="1211580" y="208788"/>
                </a:lnTo>
                <a:lnTo>
                  <a:pt x="1185672" y="246888"/>
                </a:lnTo>
                <a:lnTo>
                  <a:pt x="1184148" y="263652"/>
                </a:lnTo>
                <a:lnTo>
                  <a:pt x="1184148" y="277368"/>
                </a:lnTo>
                <a:lnTo>
                  <a:pt x="1203960" y="312420"/>
                </a:lnTo>
                <a:lnTo>
                  <a:pt x="1226820" y="325120"/>
                </a:lnTo>
                <a:lnTo>
                  <a:pt x="1226820" y="252984"/>
                </a:lnTo>
                <a:lnTo>
                  <a:pt x="1231392" y="243840"/>
                </a:lnTo>
                <a:lnTo>
                  <a:pt x="1239012" y="236220"/>
                </a:lnTo>
                <a:lnTo>
                  <a:pt x="1254252" y="228600"/>
                </a:lnTo>
                <a:lnTo>
                  <a:pt x="1261872" y="227076"/>
                </a:lnTo>
                <a:lnTo>
                  <a:pt x="1271016" y="225552"/>
                </a:lnTo>
                <a:lnTo>
                  <a:pt x="1283208" y="222504"/>
                </a:lnTo>
                <a:lnTo>
                  <a:pt x="1304544" y="219456"/>
                </a:lnTo>
                <a:lnTo>
                  <a:pt x="1321308" y="216408"/>
                </a:lnTo>
                <a:lnTo>
                  <a:pt x="1336548" y="211836"/>
                </a:lnTo>
                <a:lnTo>
                  <a:pt x="1350264" y="208788"/>
                </a:lnTo>
                <a:close/>
              </a:path>
              <a:path w="2900679" h="332740">
                <a:moveTo>
                  <a:pt x="1402080" y="327660"/>
                </a:moveTo>
                <a:lnTo>
                  <a:pt x="1395984" y="312420"/>
                </a:lnTo>
                <a:lnTo>
                  <a:pt x="1391412" y="297180"/>
                </a:lnTo>
                <a:lnTo>
                  <a:pt x="1389888" y="288036"/>
                </a:lnTo>
                <a:lnTo>
                  <a:pt x="1389888" y="173736"/>
                </a:lnTo>
                <a:lnTo>
                  <a:pt x="1388364" y="161544"/>
                </a:lnTo>
                <a:lnTo>
                  <a:pt x="1388364" y="143256"/>
                </a:lnTo>
                <a:lnTo>
                  <a:pt x="1386840" y="137160"/>
                </a:lnTo>
                <a:lnTo>
                  <a:pt x="1362456" y="100584"/>
                </a:lnTo>
                <a:lnTo>
                  <a:pt x="1324356" y="86868"/>
                </a:lnTo>
                <a:lnTo>
                  <a:pt x="1296924" y="85344"/>
                </a:lnTo>
                <a:lnTo>
                  <a:pt x="1267968" y="86868"/>
                </a:lnTo>
                <a:lnTo>
                  <a:pt x="1222248" y="103632"/>
                </a:lnTo>
                <a:lnTo>
                  <a:pt x="1196340" y="135636"/>
                </a:lnTo>
                <a:lnTo>
                  <a:pt x="1190244" y="158496"/>
                </a:lnTo>
                <a:lnTo>
                  <a:pt x="1231392" y="164592"/>
                </a:lnTo>
                <a:lnTo>
                  <a:pt x="1234440" y="152400"/>
                </a:lnTo>
                <a:lnTo>
                  <a:pt x="1239012" y="141732"/>
                </a:lnTo>
                <a:lnTo>
                  <a:pt x="1278636" y="118872"/>
                </a:lnTo>
                <a:lnTo>
                  <a:pt x="1306068" y="118872"/>
                </a:lnTo>
                <a:lnTo>
                  <a:pt x="1342644" y="137160"/>
                </a:lnTo>
                <a:lnTo>
                  <a:pt x="1350264" y="166116"/>
                </a:lnTo>
                <a:lnTo>
                  <a:pt x="1350264" y="300736"/>
                </a:lnTo>
                <a:lnTo>
                  <a:pt x="1353312" y="298704"/>
                </a:lnTo>
                <a:lnTo>
                  <a:pt x="1354836" y="313944"/>
                </a:lnTo>
                <a:lnTo>
                  <a:pt x="1360932" y="327660"/>
                </a:lnTo>
                <a:lnTo>
                  <a:pt x="1402080" y="327660"/>
                </a:lnTo>
                <a:close/>
              </a:path>
              <a:path w="2900679" h="332740">
                <a:moveTo>
                  <a:pt x="1350264" y="300736"/>
                </a:moveTo>
                <a:lnTo>
                  <a:pt x="1350264" y="208788"/>
                </a:lnTo>
                <a:lnTo>
                  <a:pt x="1348740" y="222504"/>
                </a:lnTo>
                <a:lnTo>
                  <a:pt x="1348740" y="234696"/>
                </a:lnTo>
                <a:lnTo>
                  <a:pt x="1347216" y="245364"/>
                </a:lnTo>
                <a:lnTo>
                  <a:pt x="1316736" y="289560"/>
                </a:lnTo>
                <a:lnTo>
                  <a:pt x="1274064" y="300228"/>
                </a:lnTo>
                <a:lnTo>
                  <a:pt x="1254252" y="297180"/>
                </a:lnTo>
                <a:lnTo>
                  <a:pt x="1239012" y="289560"/>
                </a:lnTo>
                <a:lnTo>
                  <a:pt x="1232916" y="283464"/>
                </a:lnTo>
                <a:lnTo>
                  <a:pt x="1229868" y="277368"/>
                </a:lnTo>
                <a:lnTo>
                  <a:pt x="1226820" y="269748"/>
                </a:lnTo>
                <a:lnTo>
                  <a:pt x="1226820" y="325120"/>
                </a:lnTo>
                <a:lnTo>
                  <a:pt x="1229868" y="326136"/>
                </a:lnTo>
                <a:lnTo>
                  <a:pt x="1246632" y="330708"/>
                </a:lnTo>
                <a:lnTo>
                  <a:pt x="1264920" y="332232"/>
                </a:lnTo>
                <a:lnTo>
                  <a:pt x="1287780" y="329184"/>
                </a:lnTo>
                <a:lnTo>
                  <a:pt x="1309116" y="324612"/>
                </a:lnTo>
                <a:lnTo>
                  <a:pt x="1330452" y="313944"/>
                </a:lnTo>
                <a:lnTo>
                  <a:pt x="1350264" y="300736"/>
                </a:lnTo>
                <a:close/>
              </a:path>
              <a:path w="2900679" h="332740">
                <a:moveTo>
                  <a:pt x="1490472" y="327660"/>
                </a:moveTo>
                <a:lnTo>
                  <a:pt x="1490472" y="0"/>
                </a:lnTo>
                <a:lnTo>
                  <a:pt x="1449324" y="0"/>
                </a:lnTo>
                <a:lnTo>
                  <a:pt x="1449324" y="327660"/>
                </a:lnTo>
                <a:lnTo>
                  <a:pt x="1490472" y="327660"/>
                </a:lnTo>
                <a:close/>
              </a:path>
              <a:path w="2900679" h="332740">
                <a:moveTo>
                  <a:pt x="1930908" y="92964"/>
                </a:moveTo>
                <a:lnTo>
                  <a:pt x="1920240" y="48768"/>
                </a:lnTo>
                <a:lnTo>
                  <a:pt x="1894332" y="18288"/>
                </a:lnTo>
                <a:lnTo>
                  <a:pt x="1854708" y="3048"/>
                </a:lnTo>
                <a:lnTo>
                  <a:pt x="1833372" y="0"/>
                </a:lnTo>
                <a:lnTo>
                  <a:pt x="1684020" y="0"/>
                </a:lnTo>
                <a:lnTo>
                  <a:pt x="1684020" y="327660"/>
                </a:lnTo>
                <a:lnTo>
                  <a:pt x="1728216" y="327660"/>
                </a:lnTo>
                <a:lnTo>
                  <a:pt x="1728216" y="38100"/>
                </a:lnTo>
                <a:lnTo>
                  <a:pt x="1833372" y="38100"/>
                </a:lnTo>
                <a:lnTo>
                  <a:pt x="1842516" y="39624"/>
                </a:lnTo>
                <a:lnTo>
                  <a:pt x="1848612" y="39624"/>
                </a:lnTo>
                <a:lnTo>
                  <a:pt x="1863852" y="47244"/>
                </a:lnTo>
                <a:lnTo>
                  <a:pt x="1876044" y="59436"/>
                </a:lnTo>
                <a:lnTo>
                  <a:pt x="1883664" y="76200"/>
                </a:lnTo>
                <a:lnTo>
                  <a:pt x="1886712" y="94488"/>
                </a:lnTo>
                <a:lnTo>
                  <a:pt x="1886712" y="177437"/>
                </a:lnTo>
                <a:lnTo>
                  <a:pt x="1888236" y="176784"/>
                </a:lnTo>
                <a:lnTo>
                  <a:pt x="1903476" y="164592"/>
                </a:lnTo>
                <a:lnTo>
                  <a:pt x="1915668" y="149352"/>
                </a:lnTo>
                <a:lnTo>
                  <a:pt x="1923288" y="132588"/>
                </a:lnTo>
                <a:lnTo>
                  <a:pt x="1927860" y="114300"/>
                </a:lnTo>
                <a:lnTo>
                  <a:pt x="1930908" y="92964"/>
                </a:lnTo>
                <a:close/>
              </a:path>
              <a:path w="2900679" h="332740">
                <a:moveTo>
                  <a:pt x="1886712" y="177437"/>
                </a:moveTo>
                <a:lnTo>
                  <a:pt x="1886712" y="94488"/>
                </a:lnTo>
                <a:lnTo>
                  <a:pt x="1885188" y="108204"/>
                </a:lnTo>
                <a:lnTo>
                  <a:pt x="1882140" y="120396"/>
                </a:lnTo>
                <a:lnTo>
                  <a:pt x="1845564" y="150876"/>
                </a:lnTo>
                <a:lnTo>
                  <a:pt x="1810512" y="155448"/>
                </a:lnTo>
                <a:lnTo>
                  <a:pt x="1728216" y="155448"/>
                </a:lnTo>
                <a:lnTo>
                  <a:pt x="1728216" y="193548"/>
                </a:lnTo>
                <a:lnTo>
                  <a:pt x="1810512" y="193548"/>
                </a:lnTo>
                <a:lnTo>
                  <a:pt x="1840992" y="190500"/>
                </a:lnTo>
                <a:lnTo>
                  <a:pt x="1866900" y="185928"/>
                </a:lnTo>
                <a:lnTo>
                  <a:pt x="1886712" y="177437"/>
                </a:lnTo>
                <a:close/>
              </a:path>
              <a:path w="2900679" h="332740">
                <a:moveTo>
                  <a:pt x="2188464" y="204216"/>
                </a:moveTo>
                <a:lnTo>
                  <a:pt x="2179320" y="155448"/>
                </a:lnTo>
                <a:lnTo>
                  <a:pt x="2156460" y="117348"/>
                </a:lnTo>
                <a:lnTo>
                  <a:pt x="2121408" y="92964"/>
                </a:lnTo>
                <a:lnTo>
                  <a:pt x="2077212" y="85344"/>
                </a:lnTo>
                <a:lnTo>
                  <a:pt x="2055876" y="86868"/>
                </a:lnTo>
                <a:lnTo>
                  <a:pt x="2019300" y="99060"/>
                </a:lnTo>
                <a:lnTo>
                  <a:pt x="1987296" y="129540"/>
                </a:lnTo>
                <a:lnTo>
                  <a:pt x="1969008" y="176784"/>
                </a:lnTo>
                <a:lnTo>
                  <a:pt x="1967484" y="208788"/>
                </a:lnTo>
                <a:lnTo>
                  <a:pt x="1969008" y="236220"/>
                </a:lnTo>
                <a:lnTo>
                  <a:pt x="1975104" y="260604"/>
                </a:lnTo>
                <a:lnTo>
                  <a:pt x="1984248" y="281940"/>
                </a:lnTo>
                <a:lnTo>
                  <a:pt x="1997964" y="300228"/>
                </a:lnTo>
                <a:lnTo>
                  <a:pt x="2008632" y="309829"/>
                </a:lnTo>
                <a:lnTo>
                  <a:pt x="2008632" y="187452"/>
                </a:lnTo>
                <a:lnTo>
                  <a:pt x="2013204" y="169164"/>
                </a:lnTo>
                <a:lnTo>
                  <a:pt x="2037588" y="131064"/>
                </a:lnTo>
                <a:lnTo>
                  <a:pt x="2063496" y="118872"/>
                </a:lnTo>
                <a:lnTo>
                  <a:pt x="2090928" y="118872"/>
                </a:lnTo>
                <a:lnTo>
                  <a:pt x="2127504" y="140208"/>
                </a:lnTo>
                <a:lnTo>
                  <a:pt x="2145792" y="185928"/>
                </a:lnTo>
                <a:lnTo>
                  <a:pt x="2147316" y="207264"/>
                </a:lnTo>
                <a:lnTo>
                  <a:pt x="2147316" y="309372"/>
                </a:lnTo>
                <a:lnTo>
                  <a:pt x="2157984" y="300228"/>
                </a:lnTo>
                <a:lnTo>
                  <a:pt x="2180844" y="262128"/>
                </a:lnTo>
                <a:lnTo>
                  <a:pt x="2186940" y="227076"/>
                </a:lnTo>
                <a:lnTo>
                  <a:pt x="2188464" y="204216"/>
                </a:lnTo>
                <a:close/>
              </a:path>
              <a:path w="2900679" h="332740">
                <a:moveTo>
                  <a:pt x="2147316" y="309372"/>
                </a:moveTo>
                <a:lnTo>
                  <a:pt x="2147316" y="207264"/>
                </a:lnTo>
                <a:lnTo>
                  <a:pt x="2145792" y="228600"/>
                </a:lnTo>
                <a:lnTo>
                  <a:pt x="2141220" y="246888"/>
                </a:lnTo>
                <a:lnTo>
                  <a:pt x="2116836" y="284988"/>
                </a:lnTo>
                <a:lnTo>
                  <a:pt x="2077212" y="298704"/>
                </a:lnTo>
                <a:lnTo>
                  <a:pt x="2063496" y="297180"/>
                </a:lnTo>
                <a:lnTo>
                  <a:pt x="2026920" y="275844"/>
                </a:lnTo>
                <a:lnTo>
                  <a:pt x="2008632" y="228600"/>
                </a:lnTo>
                <a:lnTo>
                  <a:pt x="2008632" y="309829"/>
                </a:lnTo>
                <a:lnTo>
                  <a:pt x="2013204" y="313944"/>
                </a:lnTo>
                <a:lnTo>
                  <a:pt x="2033016" y="323088"/>
                </a:lnTo>
                <a:lnTo>
                  <a:pt x="2054352" y="329184"/>
                </a:lnTo>
                <a:lnTo>
                  <a:pt x="2077212" y="332232"/>
                </a:lnTo>
                <a:lnTo>
                  <a:pt x="2092452" y="330708"/>
                </a:lnTo>
                <a:lnTo>
                  <a:pt x="2107692" y="327660"/>
                </a:lnTo>
                <a:lnTo>
                  <a:pt x="2121408" y="323088"/>
                </a:lnTo>
                <a:lnTo>
                  <a:pt x="2133600" y="316992"/>
                </a:lnTo>
                <a:lnTo>
                  <a:pt x="2147316" y="309372"/>
                </a:lnTo>
                <a:close/>
              </a:path>
              <a:path w="2900679" h="332740">
                <a:moveTo>
                  <a:pt x="2279904" y="45720"/>
                </a:moveTo>
                <a:lnTo>
                  <a:pt x="2279904" y="0"/>
                </a:lnTo>
                <a:lnTo>
                  <a:pt x="2238756" y="0"/>
                </a:lnTo>
                <a:lnTo>
                  <a:pt x="2238756" y="45720"/>
                </a:lnTo>
                <a:lnTo>
                  <a:pt x="2279904" y="45720"/>
                </a:lnTo>
                <a:close/>
              </a:path>
              <a:path w="2900679" h="332740">
                <a:moveTo>
                  <a:pt x="2279904" y="327660"/>
                </a:moveTo>
                <a:lnTo>
                  <a:pt x="2279904" y="89916"/>
                </a:lnTo>
                <a:lnTo>
                  <a:pt x="2238756" y="89916"/>
                </a:lnTo>
                <a:lnTo>
                  <a:pt x="2238756" y="327660"/>
                </a:lnTo>
                <a:lnTo>
                  <a:pt x="2279904" y="327660"/>
                </a:lnTo>
                <a:close/>
              </a:path>
              <a:path w="2900679" h="332740">
                <a:moveTo>
                  <a:pt x="2531364" y="327660"/>
                </a:moveTo>
                <a:lnTo>
                  <a:pt x="2531364" y="181356"/>
                </a:lnTo>
                <a:lnTo>
                  <a:pt x="2529840" y="169164"/>
                </a:lnTo>
                <a:lnTo>
                  <a:pt x="2529840" y="149352"/>
                </a:lnTo>
                <a:lnTo>
                  <a:pt x="2516124" y="112776"/>
                </a:lnTo>
                <a:lnTo>
                  <a:pt x="2471928" y="86868"/>
                </a:lnTo>
                <a:lnTo>
                  <a:pt x="2450592" y="85344"/>
                </a:lnTo>
                <a:lnTo>
                  <a:pt x="2427732" y="86868"/>
                </a:lnTo>
                <a:lnTo>
                  <a:pt x="2407920" y="94488"/>
                </a:lnTo>
                <a:lnTo>
                  <a:pt x="2391156" y="106680"/>
                </a:lnTo>
                <a:lnTo>
                  <a:pt x="2377440" y="123444"/>
                </a:lnTo>
                <a:lnTo>
                  <a:pt x="2377440" y="89916"/>
                </a:lnTo>
                <a:lnTo>
                  <a:pt x="2340864" y="89916"/>
                </a:lnTo>
                <a:lnTo>
                  <a:pt x="2340864" y="327660"/>
                </a:lnTo>
                <a:lnTo>
                  <a:pt x="2382012" y="327660"/>
                </a:lnTo>
                <a:lnTo>
                  <a:pt x="2382012" y="176784"/>
                </a:lnTo>
                <a:lnTo>
                  <a:pt x="2385060" y="160020"/>
                </a:lnTo>
                <a:lnTo>
                  <a:pt x="2391156" y="146304"/>
                </a:lnTo>
                <a:lnTo>
                  <a:pt x="2398776" y="135636"/>
                </a:lnTo>
                <a:lnTo>
                  <a:pt x="2409444" y="129540"/>
                </a:lnTo>
                <a:lnTo>
                  <a:pt x="2418588" y="123444"/>
                </a:lnTo>
                <a:lnTo>
                  <a:pt x="2430780" y="120396"/>
                </a:lnTo>
                <a:lnTo>
                  <a:pt x="2441448" y="120396"/>
                </a:lnTo>
                <a:lnTo>
                  <a:pt x="2478024" y="135636"/>
                </a:lnTo>
                <a:lnTo>
                  <a:pt x="2488692" y="161544"/>
                </a:lnTo>
                <a:lnTo>
                  <a:pt x="2488692" y="172212"/>
                </a:lnTo>
                <a:lnTo>
                  <a:pt x="2490216" y="182880"/>
                </a:lnTo>
                <a:lnTo>
                  <a:pt x="2490216" y="327660"/>
                </a:lnTo>
                <a:lnTo>
                  <a:pt x="2531364" y="327660"/>
                </a:lnTo>
                <a:close/>
              </a:path>
              <a:path w="2900679" h="332740">
                <a:moveTo>
                  <a:pt x="2599944" y="121920"/>
                </a:moveTo>
                <a:lnTo>
                  <a:pt x="2599944" y="89916"/>
                </a:lnTo>
                <a:lnTo>
                  <a:pt x="2570988" y="89916"/>
                </a:lnTo>
                <a:lnTo>
                  <a:pt x="2570988" y="121920"/>
                </a:lnTo>
                <a:lnTo>
                  <a:pt x="2599944" y="121920"/>
                </a:lnTo>
                <a:close/>
              </a:path>
              <a:path w="2900679" h="332740">
                <a:moveTo>
                  <a:pt x="2686812" y="327660"/>
                </a:moveTo>
                <a:lnTo>
                  <a:pt x="2680716" y="292608"/>
                </a:lnTo>
                <a:lnTo>
                  <a:pt x="2670048" y="292608"/>
                </a:lnTo>
                <a:lnTo>
                  <a:pt x="2662428" y="294132"/>
                </a:lnTo>
                <a:lnTo>
                  <a:pt x="2654808" y="292608"/>
                </a:lnTo>
                <a:lnTo>
                  <a:pt x="2648712" y="291084"/>
                </a:lnTo>
                <a:lnTo>
                  <a:pt x="2642616" y="283464"/>
                </a:lnTo>
                <a:lnTo>
                  <a:pt x="2641092" y="278892"/>
                </a:lnTo>
                <a:lnTo>
                  <a:pt x="2641092" y="6096"/>
                </a:lnTo>
                <a:lnTo>
                  <a:pt x="2599944" y="30480"/>
                </a:lnTo>
                <a:lnTo>
                  <a:pt x="2599944" y="288036"/>
                </a:lnTo>
                <a:lnTo>
                  <a:pt x="2601468" y="298704"/>
                </a:lnTo>
                <a:lnTo>
                  <a:pt x="2636520" y="329184"/>
                </a:lnTo>
                <a:lnTo>
                  <a:pt x="2654808" y="332232"/>
                </a:lnTo>
                <a:lnTo>
                  <a:pt x="2670048" y="330708"/>
                </a:lnTo>
                <a:lnTo>
                  <a:pt x="2686812" y="327660"/>
                </a:lnTo>
                <a:close/>
              </a:path>
              <a:path w="2900679" h="332740">
                <a:moveTo>
                  <a:pt x="2680716" y="121920"/>
                </a:moveTo>
                <a:lnTo>
                  <a:pt x="2680716" y="89916"/>
                </a:lnTo>
                <a:lnTo>
                  <a:pt x="2641092" y="89916"/>
                </a:lnTo>
                <a:lnTo>
                  <a:pt x="2641092" y="121920"/>
                </a:lnTo>
                <a:lnTo>
                  <a:pt x="2680716" y="121920"/>
                </a:lnTo>
                <a:close/>
              </a:path>
              <a:path w="2900679" h="332740">
                <a:moveTo>
                  <a:pt x="2859024" y="319102"/>
                </a:moveTo>
                <a:lnTo>
                  <a:pt x="2859024" y="260604"/>
                </a:lnTo>
                <a:lnTo>
                  <a:pt x="2857500" y="268224"/>
                </a:lnTo>
                <a:lnTo>
                  <a:pt x="2854452" y="274320"/>
                </a:lnTo>
                <a:lnTo>
                  <a:pt x="2817876" y="297180"/>
                </a:lnTo>
                <a:lnTo>
                  <a:pt x="2805684" y="298704"/>
                </a:lnTo>
                <a:lnTo>
                  <a:pt x="2791968" y="297180"/>
                </a:lnTo>
                <a:lnTo>
                  <a:pt x="2752344" y="269748"/>
                </a:lnTo>
                <a:lnTo>
                  <a:pt x="2746248" y="249936"/>
                </a:lnTo>
                <a:lnTo>
                  <a:pt x="2705100" y="256032"/>
                </a:lnTo>
                <a:lnTo>
                  <a:pt x="2723388" y="301752"/>
                </a:lnTo>
                <a:lnTo>
                  <a:pt x="2764536" y="326136"/>
                </a:lnTo>
                <a:lnTo>
                  <a:pt x="2804160" y="332232"/>
                </a:lnTo>
                <a:lnTo>
                  <a:pt x="2831592" y="329184"/>
                </a:lnTo>
                <a:lnTo>
                  <a:pt x="2854452" y="321564"/>
                </a:lnTo>
                <a:lnTo>
                  <a:pt x="2859024" y="319102"/>
                </a:lnTo>
                <a:close/>
              </a:path>
              <a:path w="2900679" h="332740">
                <a:moveTo>
                  <a:pt x="2891028" y="153924"/>
                </a:moveTo>
                <a:lnTo>
                  <a:pt x="2877312" y="115824"/>
                </a:lnTo>
                <a:lnTo>
                  <a:pt x="2845308" y="92964"/>
                </a:lnTo>
                <a:lnTo>
                  <a:pt x="2796540" y="85344"/>
                </a:lnTo>
                <a:lnTo>
                  <a:pt x="2779776" y="85344"/>
                </a:lnTo>
                <a:lnTo>
                  <a:pt x="2737104" y="100584"/>
                </a:lnTo>
                <a:lnTo>
                  <a:pt x="2712720" y="137160"/>
                </a:lnTo>
                <a:lnTo>
                  <a:pt x="2711196" y="152400"/>
                </a:lnTo>
                <a:lnTo>
                  <a:pt x="2712720" y="169164"/>
                </a:lnTo>
                <a:lnTo>
                  <a:pt x="2718816" y="184404"/>
                </a:lnTo>
                <a:lnTo>
                  <a:pt x="2731008" y="198120"/>
                </a:lnTo>
                <a:lnTo>
                  <a:pt x="2746248" y="207264"/>
                </a:lnTo>
                <a:lnTo>
                  <a:pt x="2752344" y="209876"/>
                </a:lnTo>
                <a:lnTo>
                  <a:pt x="2752344" y="147828"/>
                </a:lnTo>
                <a:lnTo>
                  <a:pt x="2753868" y="137160"/>
                </a:lnTo>
                <a:lnTo>
                  <a:pt x="2763012" y="126492"/>
                </a:lnTo>
                <a:lnTo>
                  <a:pt x="2769108" y="123444"/>
                </a:lnTo>
                <a:lnTo>
                  <a:pt x="2778252" y="120396"/>
                </a:lnTo>
                <a:lnTo>
                  <a:pt x="2787396" y="118872"/>
                </a:lnTo>
                <a:lnTo>
                  <a:pt x="2799588" y="118872"/>
                </a:lnTo>
                <a:lnTo>
                  <a:pt x="2819400" y="120396"/>
                </a:lnTo>
                <a:lnTo>
                  <a:pt x="2834640" y="129540"/>
                </a:lnTo>
                <a:lnTo>
                  <a:pt x="2843784" y="141732"/>
                </a:lnTo>
                <a:lnTo>
                  <a:pt x="2849880" y="160020"/>
                </a:lnTo>
                <a:lnTo>
                  <a:pt x="2891028" y="153924"/>
                </a:lnTo>
                <a:close/>
              </a:path>
              <a:path w="2900679" h="332740">
                <a:moveTo>
                  <a:pt x="2900172" y="256032"/>
                </a:moveTo>
                <a:lnTo>
                  <a:pt x="2877312" y="210312"/>
                </a:lnTo>
                <a:lnTo>
                  <a:pt x="2851404" y="198120"/>
                </a:lnTo>
                <a:lnTo>
                  <a:pt x="2839212" y="193548"/>
                </a:lnTo>
                <a:lnTo>
                  <a:pt x="2822448" y="187452"/>
                </a:lnTo>
                <a:lnTo>
                  <a:pt x="2791968" y="179832"/>
                </a:lnTo>
                <a:lnTo>
                  <a:pt x="2781300" y="176784"/>
                </a:lnTo>
                <a:lnTo>
                  <a:pt x="2775204" y="173736"/>
                </a:lnTo>
                <a:lnTo>
                  <a:pt x="2770632" y="172212"/>
                </a:lnTo>
                <a:lnTo>
                  <a:pt x="2761488" y="167640"/>
                </a:lnTo>
                <a:lnTo>
                  <a:pt x="2752344" y="155448"/>
                </a:lnTo>
                <a:lnTo>
                  <a:pt x="2752344" y="209876"/>
                </a:lnTo>
                <a:lnTo>
                  <a:pt x="2756916" y="211836"/>
                </a:lnTo>
                <a:lnTo>
                  <a:pt x="2770632" y="216408"/>
                </a:lnTo>
                <a:lnTo>
                  <a:pt x="2785872" y="220980"/>
                </a:lnTo>
                <a:lnTo>
                  <a:pt x="2805684" y="227076"/>
                </a:lnTo>
                <a:lnTo>
                  <a:pt x="2819400" y="230124"/>
                </a:lnTo>
                <a:lnTo>
                  <a:pt x="2831592" y="233172"/>
                </a:lnTo>
                <a:lnTo>
                  <a:pt x="2839212" y="237744"/>
                </a:lnTo>
                <a:lnTo>
                  <a:pt x="2845308" y="239268"/>
                </a:lnTo>
                <a:lnTo>
                  <a:pt x="2851404" y="243840"/>
                </a:lnTo>
                <a:lnTo>
                  <a:pt x="2854452" y="248412"/>
                </a:lnTo>
                <a:lnTo>
                  <a:pt x="2857500" y="254508"/>
                </a:lnTo>
                <a:lnTo>
                  <a:pt x="2859024" y="260604"/>
                </a:lnTo>
                <a:lnTo>
                  <a:pt x="2859024" y="319102"/>
                </a:lnTo>
                <a:lnTo>
                  <a:pt x="2874264" y="310896"/>
                </a:lnTo>
                <a:lnTo>
                  <a:pt x="2887980" y="294132"/>
                </a:lnTo>
                <a:lnTo>
                  <a:pt x="2897124" y="275844"/>
                </a:lnTo>
                <a:lnTo>
                  <a:pt x="2900172" y="256032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5372" y="1924668"/>
            <a:ext cx="3942079" cy="14147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Sort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First </a:t>
            </a:r>
            <a:r>
              <a:rPr sz="2400" spc="-5" dirty="0">
                <a:solidFill>
                  <a:srgbClr val="FF3100"/>
                </a:solidFill>
                <a:latin typeface="Arial MT"/>
                <a:cs typeface="Arial MT"/>
              </a:rPr>
              <a:t>increasing</a:t>
            </a:r>
            <a:r>
              <a:rPr sz="2400" spc="-1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Second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3100"/>
                </a:solidFill>
                <a:latin typeface="Arial MT"/>
                <a:cs typeface="Arial MT"/>
              </a:rPr>
              <a:t>decreasing</a:t>
            </a:r>
            <a:r>
              <a:rPr sz="2400" spc="-10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 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0260" y="3582352"/>
            <a:ext cx="695325" cy="1228725"/>
            <a:chOff x="1830260" y="3582352"/>
            <a:chExt cx="695325" cy="1228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3660" y="3963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3660" y="4649152"/>
              <a:ext cx="161544" cy="1615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34832" y="3586924"/>
              <a:ext cx="609600" cy="1143000"/>
            </a:xfrm>
            <a:custGeom>
              <a:avLst/>
              <a:gdLst/>
              <a:ahLst/>
              <a:cxnLst/>
              <a:rect l="l" t="t" r="r" b="b"/>
              <a:pathLst>
                <a:path w="609600" h="1143000">
                  <a:moveTo>
                    <a:pt x="609600" y="457200"/>
                  </a:moveTo>
                  <a:lnTo>
                    <a:pt x="609600" y="1143000"/>
                  </a:lnTo>
                </a:path>
                <a:path w="609600" h="1143000">
                  <a:moveTo>
                    <a:pt x="0" y="0"/>
                  </a:moveTo>
                  <a:lnTo>
                    <a:pt x="609600" y="457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3660" y="5182552"/>
            <a:ext cx="161544" cy="1615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3660" y="5868352"/>
            <a:ext cx="161544" cy="1615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282632" y="5062156"/>
            <a:ext cx="457200" cy="99060"/>
            <a:chOff x="3282632" y="5062156"/>
            <a:chExt cx="457200" cy="99060"/>
          </a:xfrm>
        </p:grpSpPr>
        <p:sp>
          <p:nvSpPr>
            <p:cNvPr id="11" name="object 11"/>
            <p:cNvSpPr/>
            <p:nvPr/>
          </p:nvSpPr>
          <p:spPr>
            <a:xfrm>
              <a:off x="3282632" y="5110924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4">
                  <a:moveTo>
                    <a:pt x="0" y="0"/>
                  </a:moveTo>
                  <a:lnTo>
                    <a:pt x="36118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40772" y="5062156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60">
                  <a:moveTo>
                    <a:pt x="99060" y="48768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60" y="48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887660" y="3582352"/>
            <a:ext cx="695325" cy="1762125"/>
            <a:chOff x="3887660" y="3582352"/>
            <a:chExt cx="695325" cy="176212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3963352"/>
              <a:ext cx="161544" cy="161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4649152"/>
              <a:ext cx="161544" cy="1615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060" y="51825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01832" y="4044124"/>
              <a:ext cx="0" cy="1219200"/>
            </a:xfrm>
            <a:custGeom>
              <a:avLst/>
              <a:gdLst/>
              <a:ahLst/>
              <a:cxnLst/>
              <a:rect l="l" t="t" r="r" b="b"/>
              <a:pathLst>
                <a:path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92232" y="3586924"/>
              <a:ext cx="609600" cy="457200"/>
            </a:xfrm>
            <a:custGeom>
              <a:avLst/>
              <a:gdLst/>
              <a:ahLst/>
              <a:cxnLst/>
              <a:rect l="l" t="t" r="r" b="b"/>
              <a:pathLst>
                <a:path w="609600" h="457200">
                  <a:moveTo>
                    <a:pt x="0" y="0"/>
                  </a:moveTo>
                  <a:lnTo>
                    <a:pt x="609600" y="457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1060" y="5868352"/>
            <a:ext cx="161544" cy="161544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340032" y="5062156"/>
            <a:ext cx="457200" cy="99060"/>
            <a:chOff x="5340032" y="5062156"/>
            <a:chExt cx="457200" cy="99060"/>
          </a:xfrm>
        </p:grpSpPr>
        <p:sp>
          <p:nvSpPr>
            <p:cNvPr id="21" name="object 21"/>
            <p:cNvSpPr/>
            <p:nvPr/>
          </p:nvSpPr>
          <p:spPr>
            <a:xfrm>
              <a:off x="5340032" y="5110924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4">
                  <a:moveTo>
                    <a:pt x="0" y="0"/>
                  </a:moveTo>
                  <a:lnTo>
                    <a:pt x="36118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98172" y="5062156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60">
                  <a:moveTo>
                    <a:pt x="99060" y="48768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60" y="48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945060" y="3582352"/>
            <a:ext cx="695325" cy="2447925"/>
            <a:chOff x="5945060" y="3582352"/>
            <a:chExt cx="695325" cy="244792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3963352"/>
              <a:ext cx="161544" cy="161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4649152"/>
              <a:ext cx="161544" cy="1615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5182552"/>
              <a:ext cx="161544" cy="161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8460" y="5868352"/>
              <a:ext cx="161544" cy="16154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59232" y="4044124"/>
              <a:ext cx="0" cy="1905000"/>
            </a:xfrm>
            <a:custGeom>
              <a:avLst/>
              <a:gdLst/>
              <a:ahLst/>
              <a:cxnLst/>
              <a:rect l="l" t="t" r="r" b="b"/>
              <a:pathLst>
                <a:path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49632" y="3586924"/>
              <a:ext cx="609600" cy="457200"/>
            </a:xfrm>
            <a:custGeom>
              <a:avLst/>
              <a:gdLst/>
              <a:ahLst/>
              <a:cxnLst/>
              <a:rect l="l" t="t" r="r" b="b"/>
              <a:pathLst>
                <a:path w="609600" h="457200">
                  <a:moveTo>
                    <a:pt x="0" y="0"/>
                  </a:moveTo>
                  <a:lnTo>
                    <a:pt x="609600" y="457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94</a:t>
            </a:fld>
            <a:endParaRPr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300" y="1252156"/>
            <a:ext cx="4223004" cy="4282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7038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3100"/>
                </a:solidFill>
                <a:latin typeface="Arial MT"/>
                <a:cs typeface="Arial MT"/>
              </a:rPr>
              <a:t>Slope</a:t>
            </a:r>
            <a:r>
              <a:rPr sz="2800" dirty="0">
                <a:solidFill>
                  <a:srgbClr val="FF3100"/>
                </a:solidFill>
                <a:latin typeface="Arial MT"/>
                <a:cs typeface="Arial MT"/>
              </a:rPr>
              <a:t> increases </a:t>
            </a:r>
            <a:r>
              <a:rPr sz="2800" spc="-5" dirty="0">
                <a:latin typeface="Arial MT"/>
                <a:cs typeface="Arial MT"/>
              </a:rPr>
              <a:t>from </a:t>
            </a:r>
            <a:r>
              <a:rPr sz="2800" dirty="0">
                <a:latin typeface="Arial MT"/>
                <a:cs typeface="Arial MT"/>
              </a:rPr>
              <a:t>one segment </a:t>
            </a:r>
            <a:r>
              <a:rPr sz="2800" spc="-10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next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5260" y="3201352"/>
            <a:ext cx="1990725" cy="619125"/>
            <a:chOff x="3735260" y="3201352"/>
            <a:chExt cx="1990725" cy="6191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5260" y="32013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9660" y="36585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060" y="3277552"/>
              <a:ext cx="161544" cy="161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16032" y="3282124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0" y="0"/>
                  </a:moveTo>
                  <a:lnTo>
                    <a:pt x="914400" y="457200"/>
                  </a:lnTo>
                  <a:lnTo>
                    <a:pt x="1828800" y="762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31172" y="2850324"/>
            <a:ext cx="781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(p</a:t>
            </a:r>
            <a:r>
              <a:rPr sz="1950" spc="-7" baseline="-21367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,p</a:t>
            </a:r>
            <a:r>
              <a:rPr sz="1950" spc="-7" baseline="-21367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2773" y="3764723"/>
            <a:ext cx="781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(q</a:t>
            </a:r>
            <a:r>
              <a:rPr sz="1950" spc="-7" baseline="-21367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,q</a:t>
            </a:r>
            <a:r>
              <a:rPr sz="1950" spc="-7" baseline="-21367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8171" y="2926525"/>
            <a:ext cx="6673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(r</a:t>
            </a:r>
            <a:r>
              <a:rPr sz="1950" spc="-7" baseline="-21367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,r</a:t>
            </a:r>
            <a:r>
              <a:rPr sz="1950" spc="-7" baseline="-21367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99724" y="4908232"/>
            <a:ext cx="894715" cy="0"/>
          </a:xfrm>
          <a:custGeom>
            <a:avLst/>
            <a:gdLst/>
            <a:ahLst/>
            <a:cxnLst/>
            <a:rect l="l" t="t" r="r" b="b"/>
            <a:pathLst>
              <a:path w="894714">
                <a:moveTo>
                  <a:pt x="0" y="0"/>
                </a:moveTo>
                <a:lnTo>
                  <a:pt x="894588" y="0"/>
                </a:lnTo>
              </a:path>
            </a:pathLst>
          </a:custGeom>
          <a:ln w="12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12828" y="4908232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>
                <a:moveTo>
                  <a:pt x="0" y="0"/>
                </a:moveTo>
                <a:lnTo>
                  <a:pt x="803148" y="0"/>
                </a:lnTo>
              </a:path>
            </a:pathLst>
          </a:custGeom>
          <a:ln w="126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65689" y="4410934"/>
            <a:ext cx="205867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 marR="43180" indent="-35560">
              <a:lnSpc>
                <a:spcPct val="117500"/>
              </a:lnSpc>
              <a:spcBef>
                <a:spcPts val="100"/>
              </a:spcBef>
              <a:tabLst>
                <a:tab pos="1289685" algn="l"/>
              </a:tabLst>
            </a:pPr>
            <a:r>
              <a:rPr sz="2400" spc="5" dirty="0">
                <a:latin typeface="Arial MT"/>
                <a:cs typeface="Arial MT"/>
              </a:rPr>
              <a:t>q</a:t>
            </a:r>
            <a:r>
              <a:rPr sz="2100" baseline="-23809" dirty="0">
                <a:latin typeface="Arial MT"/>
                <a:cs typeface="Arial MT"/>
              </a:rPr>
              <a:t>2 </a:t>
            </a:r>
            <a:r>
              <a:rPr sz="2100" spc="-232" baseline="-23809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Arial MT"/>
                <a:cs typeface="Arial MT"/>
              </a:rPr>
              <a:t>p</a:t>
            </a:r>
            <a:r>
              <a:rPr sz="2100" baseline="-23809" dirty="0">
                <a:latin typeface="Arial MT"/>
                <a:cs typeface="Arial MT"/>
              </a:rPr>
              <a:t>2 </a:t>
            </a:r>
            <a:r>
              <a:rPr sz="2100" spc="254" baseline="-23809" dirty="0">
                <a:latin typeface="Arial MT"/>
                <a:cs typeface="Arial MT"/>
              </a:rPr>
              <a:t> </a:t>
            </a:r>
            <a:r>
              <a:rPr sz="3600" baseline="-34722" dirty="0">
                <a:latin typeface="Symbol"/>
                <a:cs typeface="Symbol"/>
              </a:rPr>
              <a:t></a:t>
            </a:r>
            <a:r>
              <a:rPr sz="3600" spc="52" baseline="-34722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Arial MT"/>
                <a:cs typeface="Arial MT"/>
              </a:rPr>
              <a:t>r</a:t>
            </a:r>
            <a:r>
              <a:rPr sz="2100" baseline="-23809" dirty="0">
                <a:latin typeface="Arial MT"/>
                <a:cs typeface="Arial MT"/>
              </a:rPr>
              <a:t>2 </a:t>
            </a:r>
            <a:r>
              <a:rPr sz="2100" spc="-217" baseline="-23809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Arial MT"/>
                <a:cs typeface="Arial MT"/>
              </a:rPr>
              <a:t>q</a:t>
            </a:r>
            <a:r>
              <a:rPr sz="2100" baseline="-23809" dirty="0">
                <a:latin typeface="Arial MT"/>
                <a:cs typeface="Arial MT"/>
              </a:rPr>
              <a:t>2  </a:t>
            </a:r>
            <a:r>
              <a:rPr sz="2400" spc="-100" dirty="0">
                <a:latin typeface="Arial MT"/>
                <a:cs typeface="Arial MT"/>
              </a:rPr>
              <a:t>q</a:t>
            </a:r>
            <a:r>
              <a:rPr sz="2100" baseline="-23809" dirty="0">
                <a:latin typeface="Arial MT"/>
                <a:cs typeface="Arial MT"/>
              </a:rPr>
              <a:t>1</a:t>
            </a:r>
            <a:r>
              <a:rPr sz="2100" spc="97" baseline="-23809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Arial MT"/>
                <a:cs typeface="Arial MT"/>
              </a:rPr>
              <a:t>p</a:t>
            </a:r>
            <a:r>
              <a:rPr sz="2100" baseline="-23809" dirty="0">
                <a:latin typeface="Arial MT"/>
                <a:cs typeface="Arial MT"/>
              </a:rPr>
              <a:t>1	</a:t>
            </a:r>
            <a:r>
              <a:rPr sz="2400" spc="-200" dirty="0">
                <a:latin typeface="Arial MT"/>
                <a:cs typeface="Arial MT"/>
              </a:rPr>
              <a:t>r</a:t>
            </a:r>
            <a:r>
              <a:rPr sz="2100" baseline="-23809" dirty="0">
                <a:latin typeface="Arial MT"/>
                <a:cs typeface="Arial MT"/>
              </a:rPr>
              <a:t>1</a:t>
            </a:r>
            <a:r>
              <a:rPr sz="2100" spc="97" baseline="-23809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Arial MT"/>
                <a:cs typeface="Arial MT"/>
              </a:rPr>
              <a:t>q</a:t>
            </a:r>
            <a:r>
              <a:rPr sz="2100" baseline="-23809" dirty="0">
                <a:latin typeface="Arial MT"/>
                <a:cs typeface="Arial MT"/>
              </a:rPr>
              <a:t>1</a:t>
            </a:r>
            <a:endParaRPr sz="2100" baseline="-23809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95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85172" y="4755324"/>
            <a:ext cx="87121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left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turn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3643" y="5631987"/>
            <a:ext cx="436054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spc="-15" dirty="0">
                <a:latin typeface="Arial MT"/>
                <a:cs typeface="Arial MT"/>
              </a:rPr>
              <a:t>q</a:t>
            </a:r>
            <a:r>
              <a:rPr sz="2100" spc="-7" baseline="-23809" dirty="0">
                <a:latin typeface="Arial MT"/>
                <a:cs typeface="Arial MT"/>
              </a:rPr>
              <a:t>2</a:t>
            </a:r>
            <a:r>
              <a:rPr sz="2100" baseline="-23809" dirty="0">
                <a:latin typeface="Arial MT"/>
                <a:cs typeface="Arial MT"/>
              </a:rPr>
              <a:t> </a:t>
            </a:r>
            <a:r>
              <a:rPr sz="2100" spc="-209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Symbol"/>
                <a:cs typeface="Symbol"/>
              </a:rPr>
              <a:t>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Arial MT"/>
                <a:cs typeface="Arial MT"/>
              </a:rPr>
              <a:t>p</a:t>
            </a:r>
            <a:r>
              <a:rPr sz="2100" spc="-7" baseline="-23809" dirty="0">
                <a:latin typeface="Arial MT"/>
                <a:cs typeface="Arial MT"/>
              </a:rPr>
              <a:t>2</a:t>
            </a:r>
            <a:r>
              <a:rPr sz="2100" spc="-202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r>
              <a:rPr sz="2400" spc="-70" dirty="0">
                <a:latin typeface="Times New Roman"/>
                <a:cs typeface="Times New Roman"/>
              </a:rPr>
              <a:t>(</a:t>
            </a:r>
            <a:r>
              <a:rPr sz="2400" spc="-204" dirty="0">
                <a:latin typeface="Arial MT"/>
                <a:cs typeface="Arial MT"/>
              </a:rPr>
              <a:t>r</a:t>
            </a:r>
            <a:r>
              <a:rPr sz="2100" spc="-7" baseline="-23809" dirty="0">
                <a:latin typeface="Arial MT"/>
                <a:cs typeface="Arial MT"/>
              </a:rPr>
              <a:t>1</a:t>
            </a:r>
            <a:r>
              <a:rPr sz="2100" spc="97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Symbol"/>
                <a:cs typeface="Symbol"/>
              </a:rPr>
              <a:t>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Arial MT"/>
                <a:cs typeface="Arial MT"/>
              </a:rPr>
              <a:t>q</a:t>
            </a:r>
            <a:r>
              <a:rPr sz="2100" spc="120" baseline="-23809" dirty="0">
                <a:latin typeface="Arial MT"/>
                <a:cs typeface="Arial MT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ymbol"/>
                <a:cs typeface="Symbol"/>
              </a:rPr>
              <a:t>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(</a:t>
            </a:r>
            <a:r>
              <a:rPr sz="2400" spc="-100" dirty="0">
                <a:latin typeface="Arial MT"/>
                <a:cs typeface="Arial MT"/>
              </a:rPr>
              <a:t>r</a:t>
            </a:r>
            <a:r>
              <a:rPr sz="2100" spc="-7" baseline="-23809" dirty="0">
                <a:latin typeface="Arial MT"/>
                <a:cs typeface="Arial MT"/>
              </a:rPr>
              <a:t>2</a:t>
            </a:r>
            <a:r>
              <a:rPr sz="2100" baseline="-23809" dirty="0">
                <a:latin typeface="Arial MT"/>
                <a:cs typeface="Arial MT"/>
              </a:rPr>
              <a:t> </a:t>
            </a:r>
            <a:r>
              <a:rPr sz="2100" spc="-209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Symbol"/>
                <a:cs typeface="Symbol"/>
              </a:rPr>
              <a:t>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Arial MT"/>
                <a:cs typeface="Arial MT"/>
              </a:rPr>
              <a:t>q</a:t>
            </a:r>
            <a:r>
              <a:rPr sz="2100" spc="-7" baseline="-23809" dirty="0">
                <a:latin typeface="Arial MT"/>
                <a:cs typeface="Arial MT"/>
              </a:rPr>
              <a:t>2</a:t>
            </a:r>
            <a:r>
              <a:rPr sz="2100" spc="-187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r>
              <a:rPr sz="2400" spc="5" dirty="0">
                <a:latin typeface="Times New Roman"/>
                <a:cs typeface="Times New Roman"/>
              </a:rPr>
              <a:t>(</a:t>
            </a:r>
            <a:r>
              <a:rPr sz="2400" spc="-105" dirty="0">
                <a:latin typeface="Arial MT"/>
                <a:cs typeface="Arial MT"/>
              </a:rPr>
              <a:t>q</a:t>
            </a:r>
            <a:r>
              <a:rPr sz="2100" spc="-7" baseline="-23809" dirty="0">
                <a:latin typeface="Arial MT"/>
                <a:cs typeface="Arial MT"/>
              </a:rPr>
              <a:t>1</a:t>
            </a:r>
            <a:r>
              <a:rPr sz="2100" spc="97" baseline="-23809" dirty="0">
                <a:latin typeface="Arial MT"/>
                <a:cs typeface="Arial MT"/>
              </a:rPr>
              <a:t> </a:t>
            </a:r>
            <a:r>
              <a:rPr sz="2400" spc="-5" dirty="0">
                <a:latin typeface="Symbol"/>
                <a:cs typeface="Symbol"/>
              </a:rPr>
              <a:t></a:t>
            </a:r>
            <a:r>
              <a:rPr sz="2400" spc="-30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Arial MT"/>
                <a:cs typeface="Arial MT"/>
              </a:rPr>
              <a:t>p</a:t>
            </a:r>
            <a:r>
              <a:rPr sz="2100" spc="120" baseline="-23809" dirty="0">
                <a:latin typeface="Arial MT"/>
                <a:cs typeface="Arial MT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0772" y="5669724"/>
            <a:ext cx="2750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avoid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dividing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zero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260" y="1250632"/>
            <a:ext cx="7147560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0" y="1999323"/>
            <a:ext cx="7574915" cy="43218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Sorting – O(n log </a:t>
            </a:r>
            <a:r>
              <a:rPr sz="2800" dirty="0">
                <a:latin typeface="Arial MT"/>
                <a:cs typeface="Arial MT"/>
              </a:rPr>
              <a:t>n)</a:t>
            </a:r>
            <a:endParaRPr sz="28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During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“visited”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most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twice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Initial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visit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back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up visit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(happens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once)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  <a:tab pos="1363980" algn="l"/>
              </a:tabLst>
            </a:pPr>
            <a:r>
              <a:rPr sz="2800" spc="-5" dirty="0">
                <a:latin typeface="Arial MT"/>
                <a:cs typeface="Arial MT"/>
              </a:rPr>
              <a:t>Scan	-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O(n)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Total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5" dirty="0">
                <a:latin typeface="Arial MT"/>
                <a:cs typeface="Arial MT"/>
              </a:rPr>
              <a:t> O(n log </a:t>
            </a:r>
            <a:r>
              <a:rPr sz="2800" dirty="0">
                <a:latin typeface="Arial MT"/>
                <a:cs typeface="Arial MT"/>
              </a:rPr>
              <a:t>n)</a:t>
            </a:r>
            <a:endParaRPr sz="2800">
              <a:latin typeface="Arial MT"/>
              <a:cs typeface="Arial MT"/>
            </a:endParaRPr>
          </a:p>
          <a:p>
            <a:pPr marL="355600" marR="1033780" indent="-343535">
              <a:lnSpc>
                <a:spcPct val="100400"/>
              </a:lnSpc>
              <a:spcBef>
                <a:spcPts val="65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This is </a:t>
            </a:r>
            <a:r>
              <a:rPr sz="2800" dirty="0">
                <a:latin typeface="Arial MT"/>
                <a:cs typeface="Arial MT"/>
              </a:rPr>
              <a:t>best possible because sorting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reducible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finding convex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hull.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96</a:t>
            </a:fld>
            <a:endParaRPr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484" y="1250632"/>
            <a:ext cx="4352544" cy="3383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6172" y="2000868"/>
            <a:ext cx="7418070" cy="36823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Arial MT"/>
                <a:cs typeface="Arial MT"/>
              </a:rPr>
              <a:t>O(n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log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n)</a:t>
            </a:r>
            <a:endParaRPr sz="2800">
              <a:latin typeface="Arial MT"/>
              <a:cs typeface="Arial MT"/>
            </a:endParaRPr>
          </a:p>
          <a:p>
            <a:pPr marL="7816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Graham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(1972)</a:t>
            </a:r>
            <a:endParaRPr sz="24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spc="-5" dirty="0">
                <a:latin typeface="Arial MT"/>
                <a:cs typeface="Arial MT"/>
              </a:rPr>
              <a:t>O(n log</a:t>
            </a:r>
            <a:r>
              <a:rPr sz="2800" dirty="0">
                <a:latin typeface="Arial MT"/>
                <a:cs typeface="Arial MT"/>
              </a:rPr>
              <a:t> h) algorithm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where 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 size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hull</a:t>
            </a:r>
            <a:endParaRPr sz="2800">
              <a:latin typeface="Arial MT"/>
              <a:cs typeface="Arial MT"/>
            </a:endParaRPr>
          </a:p>
          <a:p>
            <a:pPr marL="7816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Kirkpatrick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Seidel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(1986)</a:t>
            </a:r>
            <a:endParaRPr sz="2400">
              <a:latin typeface="Arial MT"/>
              <a:cs typeface="Arial MT"/>
            </a:endParaRPr>
          </a:p>
          <a:p>
            <a:pPr marL="7816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82320" algn="l"/>
              </a:tabLst>
            </a:pPr>
            <a:r>
              <a:rPr sz="2400" spc="-5" dirty="0">
                <a:latin typeface="Arial MT"/>
                <a:cs typeface="Arial MT"/>
              </a:rPr>
              <a:t>Output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sensitive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endParaRPr sz="24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680"/>
              </a:spcBef>
              <a:buChar char="•"/>
              <a:tabLst>
                <a:tab pos="380365" algn="l"/>
                <a:tab pos="381000" algn="l"/>
              </a:tabLst>
            </a:pPr>
            <a:r>
              <a:rPr sz="2800" dirty="0">
                <a:latin typeface="Arial MT"/>
                <a:cs typeface="Arial MT"/>
              </a:rPr>
              <a:t>d-dimensional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Convex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Hull</a:t>
            </a:r>
            <a:endParaRPr sz="2800">
              <a:latin typeface="Arial MT"/>
              <a:cs typeface="Arial MT"/>
            </a:endParaRPr>
          </a:p>
          <a:p>
            <a:pPr marL="781685" marR="30480" lvl="1" indent="-287020">
              <a:lnSpc>
                <a:spcPts val="2840"/>
              </a:lnSpc>
              <a:spcBef>
                <a:spcPts val="730"/>
              </a:spcBef>
              <a:buFont typeface="Arial MT"/>
              <a:buChar char="–"/>
              <a:tabLst>
                <a:tab pos="865505" algn="l"/>
                <a:tab pos="866140" algn="l"/>
              </a:tabLst>
            </a:pPr>
            <a:r>
              <a:rPr dirty="0"/>
              <a:t>	</a:t>
            </a:r>
            <a:r>
              <a:rPr sz="2400" spc="-5" dirty="0">
                <a:latin typeface="Symbol"/>
                <a:cs typeface="Symbol"/>
              </a:rPr>
              <a:t></a:t>
            </a:r>
            <a:r>
              <a:rPr sz="2400" spc="-5" dirty="0">
                <a:latin typeface="Arial MT"/>
                <a:cs typeface="Arial MT"/>
              </a:rPr>
              <a:t>(n</a:t>
            </a:r>
            <a:r>
              <a:rPr sz="2400" spc="-7" baseline="24305" dirty="0">
                <a:latin typeface="Arial MT"/>
                <a:cs typeface="Arial MT"/>
              </a:rPr>
              <a:t>d/2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worst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because</a:t>
            </a:r>
            <a:r>
              <a:rPr sz="2400" dirty="0">
                <a:latin typeface="Arial MT"/>
                <a:cs typeface="Arial MT"/>
              </a:rPr>
              <a:t> the </a:t>
            </a:r>
            <a:r>
              <a:rPr sz="2400" spc="-5" dirty="0">
                <a:latin typeface="Arial MT"/>
                <a:cs typeface="Arial MT"/>
              </a:rPr>
              <a:t>output can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large.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97</a:t>
            </a:fld>
            <a:endParaRPr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3984" y="1256728"/>
            <a:ext cx="1697989" cy="332740"/>
          </a:xfrm>
          <a:custGeom>
            <a:avLst/>
            <a:gdLst/>
            <a:ahLst/>
            <a:cxnLst/>
            <a:rect l="l" t="t" r="r" b="b"/>
            <a:pathLst>
              <a:path w="1697989" h="33274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697989" h="33274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697989" h="33274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697989" h="33274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697989" h="33274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697989" h="33274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697989" h="332740">
                <a:moveTo>
                  <a:pt x="733044" y="208788"/>
                </a:moveTo>
                <a:lnTo>
                  <a:pt x="725424" y="155448"/>
                </a:lnTo>
                <a:lnTo>
                  <a:pt x="702564" y="117348"/>
                </a:lnTo>
                <a:lnTo>
                  <a:pt x="667512" y="92964"/>
                </a:lnTo>
                <a:lnTo>
                  <a:pt x="623316" y="85344"/>
                </a:lnTo>
                <a:lnTo>
                  <a:pt x="598932" y="86868"/>
                </a:lnTo>
                <a:lnTo>
                  <a:pt x="559308" y="103632"/>
                </a:lnTo>
                <a:lnTo>
                  <a:pt x="528828" y="135636"/>
                </a:lnTo>
                <a:lnTo>
                  <a:pt x="513588" y="181356"/>
                </a:lnTo>
                <a:lnTo>
                  <a:pt x="512064" y="210312"/>
                </a:lnTo>
                <a:lnTo>
                  <a:pt x="513588" y="237744"/>
                </a:lnTo>
                <a:lnTo>
                  <a:pt x="519684" y="260604"/>
                </a:lnTo>
                <a:lnTo>
                  <a:pt x="528828" y="281940"/>
                </a:lnTo>
                <a:lnTo>
                  <a:pt x="542544" y="300228"/>
                </a:lnTo>
                <a:lnTo>
                  <a:pt x="553212" y="308956"/>
                </a:lnTo>
                <a:lnTo>
                  <a:pt x="553212" y="219456"/>
                </a:lnTo>
                <a:lnTo>
                  <a:pt x="554736" y="219456"/>
                </a:lnTo>
                <a:lnTo>
                  <a:pt x="554736" y="185928"/>
                </a:lnTo>
                <a:lnTo>
                  <a:pt x="556260" y="170688"/>
                </a:lnTo>
                <a:lnTo>
                  <a:pt x="576072" y="137160"/>
                </a:lnTo>
                <a:lnTo>
                  <a:pt x="609600" y="118872"/>
                </a:lnTo>
                <a:lnTo>
                  <a:pt x="623316" y="118872"/>
                </a:lnTo>
                <a:lnTo>
                  <a:pt x="664464" y="131064"/>
                </a:lnTo>
                <a:lnTo>
                  <a:pt x="688848" y="172212"/>
                </a:lnTo>
                <a:lnTo>
                  <a:pt x="691896" y="185928"/>
                </a:lnTo>
                <a:lnTo>
                  <a:pt x="691896" y="219456"/>
                </a:lnTo>
                <a:lnTo>
                  <a:pt x="731520" y="219456"/>
                </a:lnTo>
                <a:lnTo>
                  <a:pt x="731520" y="211836"/>
                </a:lnTo>
                <a:lnTo>
                  <a:pt x="733044" y="208788"/>
                </a:lnTo>
                <a:close/>
              </a:path>
              <a:path w="1697989" h="332740">
                <a:moveTo>
                  <a:pt x="731520" y="256032"/>
                </a:moveTo>
                <a:lnTo>
                  <a:pt x="690372" y="249936"/>
                </a:lnTo>
                <a:lnTo>
                  <a:pt x="685800" y="260604"/>
                </a:lnTo>
                <a:lnTo>
                  <a:pt x="679704" y="271272"/>
                </a:lnTo>
                <a:lnTo>
                  <a:pt x="672084" y="280416"/>
                </a:lnTo>
                <a:lnTo>
                  <a:pt x="664464" y="286512"/>
                </a:lnTo>
                <a:lnTo>
                  <a:pt x="647700" y="295656"/>
                </a:lnTo>
                <a:lnTo>
                  <a:pt x="626364" y="298704"/>
                </a:lnTo>
                <a:lnTo>
                  <a:pt x="611124" y="297180"/>
                </a:lnTo>
                <a:lnTo>
                  <a:pt x="574548" y="277368"/>
                </a:lnTo>
                <a:lnTo>
                  <a:pt x="554736" y="236220"/>
                </a:lnTo>
                <a:lnTo>
                  <a:pt x="553212" y="219456"/>
                </a:lnTo>
                <a:lnTo>
                  <a:pt x="553212" y="308956"/>
                </a:lnTo>
                <a:lnTo>
                  <a:pt x="559308" y="313944"/>
                </a:lnTo>
                <a:lnTo>
                  <a:pt x="579120" y="323088"/>
                </a:lnTo>
                <a:lnTo>
                  <a:pt x="600456" y="329184"/>
                </a:lnTo>
                <a:lnTo>
                  <a:pt x="624840" y="332232"/>
                </a:lnTo>
                <a:lnTo>
                  <a:pt x="646176" y="330708"/>
                </a:lnTo>
                <a:lnTo>
                  <a:pt x="694944" y="310896"/>
                </a:lnTo>
                <a:lnTo>
                  <a:pt x="725424" y="272796"/>
                </a:lnTo>
                <a:lnTo>
                  <a:pt x="731520" y="256032"/>
                </a:lnTo>
                <a:close/>
              </a:path>
              <a:path w="1697989" h="332740">
                <a:moveTo>
                  <a:pt x="691896" y="219456"/>
                </a:moveTo>
                <a:lnTo>
                  <a:pt x="691896" y="185928"/>
                </a:lnTo>
                <a:lnTo>
                  <a:pt x="554736" y="185928"/>
                </a:lnTo>
                <a:lnTo>
                  <a:pt x="554736" y="219456"/>
                </a:lnTo>
                <a:lnTo>
                  <a:pt x="691896" y="219456"/>
                </a:lnTo>
                <a:close/>
              </a:path>
              <a:path w="1697989" h="332740">
                <a:moveTo>
                  <a:pt x="909828" y="97536"/>
                </a:moveTo>
                <a:lnTo>
                  <a:pt x="888492" y="88392"/>
                </a:lnTo>
                <a:lnTo>
                  <a:pt x="868680" y="85344"/>
                </a:lnTo>
                <a:lnTo>
                  <a:pt x="854964" y="86868"/>
                </a:lnTo>
                <a:lnTo>
                  <a:pt x="824484" y="114300"/>
                </a:lnTo>
                <a:lnTo>
                  <a:pt x="818388" y="124968"/>
                </a:lnTo>
                <a:lnTo>
                  <a:pt x="818388" y="89916"/>
                </a:lnTo>
                <a:lnTo>
                  <a:pt x="783336" y="89916"/>
                </a:lnTo>
                <a:lnTo>
                  <a:pt x="783336" y="327660"/>
                </a:lnTo>
                <a:lnTo>
                  <a:pt x="824484" y="327660"/>
                </a:lnTo>
                <a:lnTo>
                  <a:pt x="824484" y="202692"/>
                </a:lnTo>
                <a:lnTo>
                  <a:pt x="826008" y="178308"/>
                </a:lnTo>
                <a:lnTo>
                  <a:pt x="844296" y="134112"/>
                </a:lnTo>
                <a:lnTo>
                  <a:pt x="867156" y="126492"/>
                </a:lnTo>
                <a:lnTo>
                  <a:pt x="880872" y="128016"/>
                </a:lnTo>
                <a:lnTo>
                  <a:pt x="894588" y="134112"/>
                </a:lnTo>
                <a:lnTo>
                  <a:pt x="909828" y="97536"/>
                </a:lnTo>
                <a:close/>
              </a:path>
              <a:path w="1697989" h="332740">
                <a:moveTo>
                  <a:pt x="1123188" y="160020"/>
                </a:moveTo>
                <a:lnTo>
                  <a:pt x="1101852" y="114300"/>
                </a:lnTo>
                <a:lnTo>
                  <a:pt x="1063752" y="89916"/>
                </a:lnTo>
                <a:lnTo>
                  <a:pt x="1046988" y="85344"/>
                </a:lnTo>
                <a:lnTo>
                  <a:pt x="1013460" y="85344"/>
                </a:lnTo>
                <a:lnTo>
                  <a:pt x="972312" y="99060"/>
                </a:lnTo>
                <a:lnTo>
                  <a:pt x="941832" y="128016"/>
                </a:lnTo>
                <a:lnTo>
                  <a:pt x="922020" y="190500"/>
                </a:lnTo>
                <a:lnTo>
                  <a:pt x="922020" y="208788"/>
                </a:lnTo>
                <a:lnTo>
                  <a:pt x="928116" y="262128"/>
                </a:lnTo>
                <a:lnTo>
                  <a:pt x="950976" y="300228"/>
                </a:lnTo>
                <a:lnTo>
                  <a:pt x="963168" y="310203"/>
                </a:lnTo>
                <a:lnTo>
                  <a:pt x="963168" y="185928"/>
                </a:lnTo>
                <a:lnTo>
                  <a:pt x="967740" y="167640"/>
                </a:lnTo>
                <a:lnTo>
                  <a:pt x="990600" y="131064"/>
                </a:lnTo>
                <a:lnTo>
                  <a:pt x="1014984" y="118872"/>
                </a:lnTo>
                <a:lnTo>
                  <a:pt x="1028700" y="118872"/>
                </a:lnTo>
                <a:lnTo>
                  <a:pt x="1046988" y="121920"/>
                </a:lnTo>
                <a:lnTo>
                  <a:pt x="1062228" y="129540"/>
                </a:lnTo>
                <a:lnTo>
                  <a:pt x="1074420" y="144780"/>
                </a:lnTo>
                <a:lnTo>
                  <a:pt x="1082040" y="166116"/>
                </a:lnTo>
                <a:lnTo>
                  <a:pt x="1123188" y="160020"/>
                </a:lnTo>
                <a:close/>
              </a:path>
              <a:path w="1697989" h="332740">
                <a:moveTo>
                  <a:pt x="1129284" y="246888"/>
                </a:moveTo>
                <a:lnTo>
                  <a:pt x="1088136" y="240792"/>
                </a:lnTo>
                <a:lnTo>
                  <a:pt x="1085088" y="254508"/>
                </a:lnTo>
                <a:lnTo>
                  <a:pt x="1080516" y="265176"/>
                </a:lnTo>
                <a:lnTo>
                  <a:pt x="1050036" y="294132"/>
                </a:lnTo>
                <a:lnTo>
                  <a:pt x="1028700" y="298704"/>
                </a:lnTo>
                <a:lnTo>
                  <a:pt x="1013460" y="297180"/>
                </a:lnTo>
                <a:lnTo>
                  <a:pt x="979932" y="277368"/>
                </a:lnTo>
                <a:lnTo>
                  <a:pt x="963168" y="230124"/>
                </a:lnTo>
                <a:lnTo>
                  <a:pt x="963168" y="310203"/>
                </a:lnTo>
                <a:lnTo>
                  <a:pt x="967740" y="313944"/>
                </a:lnTo>
                <a:lnTo>
                  <a:pt x="986028" y="323088"/>
                </a:lnTo>
                <a:lnTo>
                  <a:pt x="1005840" y="329184"/>
                </a:lnTo>
                <a:lnTo>
                  <a:pt x="1030224" y="332232"/>
                </a:lnTo>
                <a:lnTo>
                  <a:pt x="1048512" y="330708"/>
                </a:lnTo>
                <a:lnTo>
                  <a:pt x="1095756" y="309372"/>
                </a:lnTo>
                <a:lnTo>
                  <a:pt x="1124712" y="265176"/>
                </a:lnTo>
                <a:lnTo>
                  <a:pt x="1129284" y="246888"/>
                </a:lnTo>
                <a:close/>
              </a:path>
              <a:path w="1697989" h="332740">
                <a:moveTo>
                  <a:pt x="1205484" y="45720"/>
                </a:moveTo>
                <a:lnTo>
                  <a:pt x="1205484" y="0"/>
                </a:lnTo>
                <a:lnTo>
                  <a:pt x="1164336" y="0"/>
                </a:lnTo>
                <a:lnTo>
                  <a:pt x="1164336" y="45720"/>
                </a:lnTo>
                <a:lnTo>
                  <a:pt x="1205484" y="45720"/>
                </a:lnTo>
                <a:close/>
              </a:path>
              <a:path w="1697989" h="332740">
                <a:moveTo>
                  <a:pt x="1205484" y="327660"/>
                </a:moveTo>
                <a:lnTo>
                  <a:pt x="1205484" y="89916"/>
                </a:lnTo>
                <a:lnTo>
                  <a:pt x="1164336" y="89916"/>
                </a:lnTo>
                <a:lnTo>
                  <a:pt x="1164336" y="327660"/>
                </a:lnTo>
                <a:lnTo>
                  <a:pt x="1205484" y="327660"/>
                </a:lnTo>
                <a:close/>
              </a:path>
              <a:path w="1697989" h="332740">
                <a:moveTo>
                  <a:pt x="1403604" y="319102"/>
                </a:moveTo>
                <a:lnTo>
                  <a:pt x="1403604" y="260604"/>
                </a:lnTo>
                <a:lnTo>
                  <a:pt x="1402080" y="268224"/>
                </a:lnTo>
                <a:lnTo>
                  <a:pt x="1399032" y="274320"/>
                </a:lnTo>
                <a:lnTo>
                  <a:pt x="1362456" y="297180"/>
                </a:lnTo>
                <a:lnTo>
                  <a:pt x="1350264" y="298704"/>
                </a:lnTo>
                <a:lnTo>
                  <a:pt x="1336548" y="297180"/>
                </a:lnTo>
                <a:lnTo>
                  <a:pt x="1296924" y="269748"/>
                </a:lnTo>
                <a:lnTo>
                  <a:pt x="1290828" y="249936"/>
                </a:lnTo>
                <a:lnTo>
                  <a:pt x="1249680" y="256032"/>
                </a:lnTo>
                <a:lnTo>
                  <a:pt x="1267968" y="301752"/>
                </a:lnTo>
                <a:lnTo>
                  <a:pt x="1309116" y="326136"/>
                </a:lnTo>
                <a:lnTo>
                  <a:pt x="1348740" y="332232"/>
                </a:lnTo>
                <a:lnTo>
                  <a:pt x="1376172" y="329184"/>
                </a:lnTo>
                <a:lnTo>
                  <a:pt x="1399032" y="321564"/>
                </a:lnTo>
                <a:lnTo>
                  <a:pt x="1403604" y="319102"/>
                </a:lnTo>
                <a:close/>
              </a:path>
              <a:path w="1697989" h="332740">
                <a:moveTo>
                  <a:pt x="1435608" y="153924"/>
                </a:moveTo>
                <a:lnTo>
                  <a:pt x="1421892" y="115824"/>
                </a:lnTo>
                <a:lnTo>
                  <a:pt x="1389888" y="92964"/>
                </a:lnTo>
                <a:lnTo>
                  <a:pt x="1341120" y="85344"/>
                </a:lnTo>
                <a:lnTo>
                  <a:pt x="1324356" y="85344"/>
                </a:lnTo>
                <a:lnTo>
                  <a:pt x="1281684" y="100584"/>
                </a:lnTo>
                <a:lnTo>
                  <a:pt x="1257300" y="137160"/>
                </a:lnTo>
                <a:lnTo>
                  <a:pt x="1255776" y="152400"/>
                </a:lnTo>
                <a:lnTo>
                  <a:pt x="1257300" y="169164"/>
                </a:lnTo>
                <a:lnTo>
                  <a:pt x="1263396" y="184404"/>
                </a:lnTo>
                <a:lnTo>
                  <a:pt x="1275588" y="198120"/>
                </a:lnTo>
                <a:lnTo>
                  <a:pt x="1290828" y="207264"/>
                </a:lnTo>
                <a:lnTo>
                  <a:pt x="1296924" y="209876"/>
                </a:lnTo>
                <a:lnTo>
                  <a:pt x="1296924" y="147828"/>
                </a:lnTo>
                <a:lnTo>
                  <a:pt x="1298448" y="137160"/>
                </a:lnTo>
                <a:lnTo>
                  <a:pt x="1307592" y="126492"/>
                </a:lnTo>
                <a:lnTo>
                  <a:pt x="1313688" y="123444"/>
                </a:lnTo>
                <a:lnTo>
                  <a:pt x="1322832" y="120396"/>
                </a:lnTo>
                <a:lnTo>
                  <a:pt x="1331976" y="118872"/>
                </a:lnTo>
                <a:lnTo>
                  <a:pt x="1344168" y="118872"/>
                </a:lnTo>
                <a:lnTo>
                  <a:pt x="1363980" y="120396"/>
                </a:lnTo>
                <a:lnTo>
                  <a:pt x="1379220" y="129540"/>
                </a:lnTo>
                <a:lnTo>
                  <a:pt x="1388364" y="141732"/>
                </a:lnTo>
                <a:lnTo>
                  <a:pt x="1394460" y="160020"/>
                </a:lnTo>
                <a:lnTo>
                  <a:pt x="1435608" y="153924"/>
                </a:lnTo>
                <a:close/>
              </a:path>
              <a:path w="1697989" h="332740">
                <a:moveTo>
                  <a:pt x="1444752" y="256032"/>
                </a:moveTo>
                <a:lnTo>
                  <a:pt x="1421892" y="210312"/>
                </a:lnTo>
                <a:lnTo>
                  <a:pt x="1395984" y="198120"/>
                </a:lnTo>
                <a:lnTo>
                  <a:pt x="1383792" y="193548"/>
                </a:lnTo>
                <a:lnTo>
                  <a:pt x="1367028" y="187452"/>
                </a:lnTo>
                <a:lnTo>
                  <a:pt x="1336548" y="179832"/>
                </a:lnTo>
                <a:lnTo>
                  <a:pt x="1325880" y="176784"/>
                </a:lnTo>
                <a:lnTo>
                  <a:pt x="1319784" y="173736"/>
                </a:lnTo>
                <a:lnTo>
                  <a:pt x="1315212" y="172212"/>
                </a:lnTo>
                <a:lnTo>
                  <a:pt x="1306068" y="167640"/>
                </a:lnTo>
                <a:lnTo>
                  <a:pt x="1296924" y="155448"/>
                </a:lnTo>
                <a:lnTo>
                  <a:pt x="1296924" y="209876"/>
                </a:lnTo>
                <a:lnTo>
                  <a:pt x="1301496" y="211836"/>
                </a:lnTo>
                <a:lnTo>
                  <a:pt x="1315212" y="216408"/>
                </a:lnTo>
                <a:lnTo>
                  <a:pt x="1330452" y="220980"/>
                </a:lnTo>
                <a:lnTo>
                  <a:pt x="1350264" y="227076"/>
                </a:lnTo>
                <a:lnTo>
                  <a:pt x="1363980" y="230124"/>
                </a:lnTo>
                <a:lnTo>
                  <a:pt x="1376172" y="233172"/>
                </a:lnTo>
                <a:lnTo>
                  <a:pt x="1383792" y="237744"/>
                </a:lnTo>
                <a:lnTo>
                  <a:pt x="1389888" y="239268"/>
                </a:lnTo>
                <a:lnTo>
                  <a:pt x="1395984" y="243840"/>
                </a:lnTo>
                <a:lnTo>
                  <a:pt x="1399032" y="248412"/>
                </a:lnTo>
                <a:lnTo>
                  <a:pt x="1402080" y="254508"/>
                </a:lnTo>
                <a:lnTo>
                  <a:pt x="1403604" y="260604"/>
                </a:lnTo>
                <a:lnTo>
                  <a:pt x="1403604" y="319102"/>
                </a:lnTo>
                <a:lnTo>
                  <a:pt x="1418844" y="310896"/>
                </a:lnTo>
                <a:lnTo>
                  <a:pt x="1432560" y="294132"/>
                </a:lnTo>
                <a:lnTo>
                  <a:pt x="1441704" y="275844"/>
                </a:lnTo>
                <a:lnTo>
                  <a:pt x="1444752" y="256032"/>
                </a:lnTo>
                <a:close/>
              </a:path>
              <a:path w="1697989" h="332740">
                <a:moveTo>
                  <a:pt x="1697736" y="208788"/>
                </a:moveTo>
                <a:lnTo>
                  <a:pt x="1690116" y="155448"/>
                </a:lnTo>
                <a:lnTo>
                  <a:pt x="1667256" y="117348"/>
                </a:lnTo>
                <a:lnTo>
                  <a:pt x="1632204" y="92964"/>
                </a:lnTo>
                <a:lnTo>
                  <a:pt x="1588008" y="85344"/>
                </a:lnTo>
                <a:lnTo>
                  <a:pt x="1563624" y="86868"/>
                </a:lnTo>
                <a:lnTo>
                  <a:pt x="1524000" y="103632"/>
                </a:lnTo>
                <a:lnTo>
                  <a:pt x="1493520" y="135636"/>
                </a:lnTo>
                <a:lnTo>
                  <a:pt x="1478280" y="181356"/>
                </a:lnTo>
                <a:lnTo>
                  <a:pt x="1476756" y="210312"/>
                </a:lnTo>
                <a:lnTo>
                  <a:pt x="1478280" y="237744"/>
                </a:lnTo>
                <a:lnTo>
                  <a:pt x="1484376" y="260604"/>
                </a:lnTo>
                <a:lnTo>
                  <a:pt x="1493520" y="281940"/>
                </a:lnTo>
                <a:lnTo>
                  <a:pt x="1507236" y="300228"/>
                </a:lnTo>
                <a:lnTo>
                  <a:pt x="1517904" y="308956"/>
                </a:lnTo>
                <a:lnTo>
                  <a:pt x="1517904" y="219456"/>
                </a:lnTo>
                <a:lnTo>
                  <a:pt x="1519428" y="219456"/>
                </a:lnTo>
                <a:lnTo>
                  <a:pt x="1519428" y="185928"/>
                </a:lnTo>
                <a:lnTo>
                  <a:pt x="1520952" y="170688"/>
                </a:lnTo>
                <a:lnTo>
                  <a:pt x="1540764" y="137160"/>
                </a:lnTo>
                <a:lnTo>
                  <a:pt x="1574292" y="118872"/>
                </a:lnTo>
                <a:lnTo>
                  <a:pt x="1588008" y="118872"/>
                </a:lnTo>
                <a:lnTo>
                  <a:pt x="1629156" y="131064"/>
                </a:lnTo>
                <a:lnTo>
                  <a:pt x="1653540" y="172212"/>
                </a:lnTo>
                <a:lnTo>
                  <a:pt x="1656588" y="185928"/>
                </a:lnTo>
                <a:lnTo>
                  <a:pt x="1656588" y="219456"/>
                </a:lnTo>
                <a:lnTo>
                  <a:pt x="1696212" y="219456"/>
                </a:lnTo>
                <a:lnTo>
                  <a:pt x="1696212" y="211836"/>
                </a:lnTo>
                <a:lnTo>
                  <a:pt x="1697736" y="208788"/>
                </a:lnTo>
                <a:close/>
              </a:path>
              <a:path w="1697989" h="332740">
                <a:moveTo>
                  <a:pt x="1696212" y="256032"/>
                </a:moveTo>
                <a:lnTo>
                  <a:pt x="1655064" y="249936"/>
                </a:lnTo>
                <a:lnTo>
                  <a:pt x="1650492" y="260604"/>
                </a:lnTo>
                <a:lnTo>
                  <a:pt x="1644396" y="271272"/>
                </a:lnTo>
                <a:lnTo>
                  <a:pt x="1636776" y="280416"/>
                </a:lnTo>
                <a:lnTo>
                  <a:pt x="1629156" y="286512"/>
                </a:lnTo>
                <a:lnTo>
                  <a:pt x="1612392" y="295656"/>
                </a:lnTo>
                <a:lnTo>
                  <a:pt x="1591056" y="298704"/>
                </a:lnTo>
                <a:lnTo>
                  <a:pt x="1575816" y="297180"/>
                </a:lnTo>
                <a:lnTo>
                  <a:pt x="1539240" y="277368"/>
                </a:lnTo>
                <a:lnTo>
                  <a:pt x="1519428" y="236220"/>
                </a:lnTo>
                <a:lnTo>
                  <a:pt x="1517904" y="219456"/>
                </a:lnTo>
                <a:lnTo>
                  <a:pt x="1517904" y="308956"/>
                </a:lnTo>
                <a:lnTo>
                  <a:pt x="1524000" y="313944"/>
                </a:lnTo>
                <a:lnTo>
                  <a:pt x="1543812" y="323088"/>
                </a:lnTo>
                <a:lnTo>
                  <a:pt x="1565148" y="329184"/>
                </a:lnTo>
                <a:lnTo>
                  <a:pt x="1589532" y="332232"/>
                </a:lnTo>
                <a:lnTo>
                  <a:pt x="1610868" y="330708"/>
                </a:lnTo>
                <a:lnTo>
                  <a:pt x="1659636" y="310896"/>
                </a:lnTo>
                <a:lnTo>
                  <a:pt x="1690116" y="272796"/>
                </a:lnTo>
                <a:lnTo>
                  <a:pt x="1696212" y="256032"/>
                </a:lnTo>
                <a:close/>
              </a:path>
              <a:path w="1697989" h="332740">
                <a:moveTo>
                  <a:pt x="1656588" y="219456"/>
                </a:moveTo>
                <a:lnTo>
                  <a:pt x="1656588" y="185928"/>
                </a:lnTo>
                <a:lnTo>
                  <a:pt x="1519428" y="185928"/>
                </a:lnTo>
                <a:lnTo>
                  <a:pt x="1519428" y="219456"/>
                </a:lnTo>
                <a:lnTo>
                  <a:pt x="1656588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1572" y="2086800"/>
            <a:ext cx="6067425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400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Given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two</a:t>
            </a:r>
            <a:r>
              <a:rPr sz="2800" dirty="0">
                <a:latin typeface="Arial MT"/>
                <a:cs typeface="Arial MT"/>
              </a:rPr>
              <a:t> convex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hulls </a:t>
            </a:r>
            <a:r>
              <a:rPr sz="2800" spc="-5" dirty="0">
                <a:latin typeface="Arial MT"/>
                <a:cs typeface="Arial MT"/>
              </a:rPr>
              <a:t>compute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combined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convex </a:t>
            </a:r>
            <a:r>
              <a:rPr sz="2800" spc="-5" dirty="0">
                <a:latin typeface="Arial MT"/>
                <a:cs typeface="Arial MT"/>
              </a:rPr>
              <a:t>hull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 linear </a:t>
            </a:r>
            <a:r>
              <a:rPr sz="2800" spc="-5" dirty="0">
                <a:latin typeface="Arial MT"/>
                <a:cs typeface="Arial MT"/>
              </a:rPr>
              <a:t>time.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44660" y="3658552"/>
            <a:ext cx="4276725" cy="2219325"/>
            <a:chOff x="2744660" y="3658552"/>
            <a:chExt cx="4276725" cy="22193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7060" y="3887152"/>
              <a:ext cx="161544" cy="16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3860" y="4572952"/>
              <a:ext cx="161544" cy="161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9660" y="3658552"/>
              <a:ext cx="161544" cy="1615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660" y="3658552"/>
              <a:ext cx="161544" cy="161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8260" y="5639752"/>
              <a:ext cx="161544" cy="161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4660" y="5030152"/>
              <a:ext cx="161544" cy="161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3860" y="5563552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4460" y="3963352"/>
              <a:ext cx="161544" cy="161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5060" y="4649152"/>
              <a:ext cx="161544" cy="161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25432" y="3739324"/>
              <a:ext cx="3200400" cy="1905000"/>
            </a:xfrm>
            <a:custGeom>
              <a:avLst/>
              <a:gdLst/>
              <a:ahLst/>
              <a:cxnLst/>
              <a:rect l="l" t="t" r="r" b="b"/>
              <a:pathLst>
                <a:path w="3200400" h="1905000">
                  <a:moveTo>
                    <a:pt x="0" y="1371600"/>
                  </a:moveTo>
                  <a:lnTo>
                    <a:pt x="152400" y="228600"/>
                  </a:lnTo>
                  <a:lnTo>
                    <a:pt x="1143000" y="0"/>
                  </a:lnTo>
                  <a:lnTo>
                    <a:pt x="2209800" y="304800"/>
                  </a:lnTo>
                  <a:lnTo>
                    <a:pt x="3200400" y="990600"/>
                  </a:lnTo>
                  <a:lnTo>
                    <a:pt x="1219200" y="1905000"/>
                  </a:lnTo>
                </a:path>
                <a:path w="3200400" h="1905000">
                  <a:moveTo>
                    <a:pt x="0" y="1371600"/>
                  </a:moveTo>
                  <a:lnTo>
                    <a:pt x="1219200" y="19050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9460" y="3963352"/>
              <a:ext cx="161544" cy="1615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2660" y="5715952"/>
              <a:ext cx="161544" cy="1615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44632" y="3739324"/>
              <a:ext cx="2895600" cy="2057400"/>
            </a:xfrm>
            <a:custGeom>
              <a:avLst/>
              <a:gdLst/>
              <a:ahLst/>
              <a:cxnLst/>
              <a:rect l="l" t="t" r="r" b="b"/>
              <a:pathLst>
                <a:path w="2895600" h="2057400">
                  <a:moveTo>
                    <a:pt x="0" y="914400"/>
                  </a:moveTo>
                  <a:lnTo>
                    <a:pt x="685800" y="0"/>
                  </a:lnTo>
                  <a:lnTo>
                    <a:pt x="2895600" y="304800"/>
                  </a:lnTo>
                  <a:lnTo>
                    <a:pt x="1828800" y="2057400"/>
                  </a:lnTo>
                  <a:lnTo>
                    <a:pt x="914400" y="1981200"/>
                  </a:lnTo>
                  <a:lnTo>
                    <a:pt x="0" y="9144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98</a:t>
            </a:fld>
            <a:endParaRPr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028" y="1250632"/>
            <a:ext cx="7075932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4044" y="3225736"/>
            <a:ext cx="3542029" cy="2246630"/>
            <a:chOff x="864044" y="3225736"/>
            <a:chExt cx="3542029" cy="2246630"/>
          </a:xfrm>
        </p:grpSpPr>
        <p:sp>
          <p:nvSpPr>
            <p:cNvPr id="4" name="object 4"/>
            <p:cNvSpPr/>
            <p:nvPr/>
          </p:nvSpPr>
          <p:spPr>
            <a:xfrm>
              <a:off x="1682432" y="3282124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685800"/>
                  </a:moveTo>
                  <a:lnTo>
                    <a:pt x="15240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6044" y="3911536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0044" y="3225736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72832" y="3434524"/>
              <a:ext cx="3276600" cy="381000"/>
            </a:xfrm>
            <a:custGeom>
              <a:avLst/>
              <a:gdLst/>
              <a:ahLst/>
              <a:cxnLst/>
              <a:rect l="l" t="t" r="r" b="b"/>
              <a:pathLst>
                <a:path w="3276600" h="381000">
                  <a:moveTo>
                    <a:pt x="0" y="381000"/>
                  </a:moveTo>
                  <a:lnTo>
                    <a:pt x="32766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6444" y="3759136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044" y="3378136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58832" y="3282124"/>
              <a:ext cx="457200" cy="2133600"/>
            </a:xfrm>
            <a:custGeom>
              <a:avLst/>
              <a:gdLst/>
              <a:ahLst/>
              <a:cxnLst/>
              <a:rect l="l" t="t" r="r" b="b"/>
              <a:pathLst>
                <a:path w="457200" h="2133600">
                  <a:moveTo>
                    <a:pt x="0" y="2133600"/>
                  </a:moveTo>
                  <a:lnTo>
                    <a:pt x="4572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2444" y="5359336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9644" y="3225736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25232" y="3510724"/>
              <a:ext cx="2514600" cy="1371600"/>
            </a:xfrm>
            <a:custGeom>
              <a:avLst/>
              <a:gdLst/>
              <a:ahLst/>
              <a:cxnLst/>
              <a:rect l="l" t="t" r="r" b="b"/>
              <a:pathLst>
                <a:path w="2514600" h="1371600">
                  <a:moveTo>
                    <a:pt x="0" y="0"/>
                  </a:moveTo>
                  <a:lnTo>
                    <a:pt x="2514600" y="1371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844" y="3454336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3444" y="4825936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77632" y="3586924"/>
              <a:ext cx="2971800" cy="685800"/>
            </a:xfrm>
            <a:custGeom>
              <a:avLst/>
              <a:gdLst/>
              <a:ahLst/>
              <a:cxnLst/>
              <a:rect l="l" t="t" r="r" b="b"/>
              <a:pathLst>
                <a:path w="2971800" h="685800">
                  <a:moveTo>
                    <a:pt x="0" y="685800"/>
                  </a:moveTo>
                  <a:lnTo>
                    <a:pt x="29718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1244" y="4216336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044" y="3530536"/>
              <a:ext cx="112776" cy="1127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0432" y="3282124"/>
              <a:ext cx="1066800" cy="1371600"/>
            </a:xfrm>
            <a:custGeom>
              <a:avLst/>
              <a:gdLst/>
              <a:ahLst/>
              <a:cxnLst/>
              <a:rect l="l" t="t" r="r" b="b"/>
              <a:pathLst>
                <a:path w="1066800" h="1371600">
                  <a:moveTo>
                    <a:pt x="1066800" y="137160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0844" y="4597336"/>
              <a:ext cx="112776" cy="1127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044" y="3225736"/>
              <a:ext cx="112776" cy="1127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96832" y="4196524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685800"/>
                  </a:moveTo>
                  <a:lnTo>
                    <a:pt x="15240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0444" y="4825936"/>
              <a:ext cx="112776" cy="1127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444" y="4140136"/>
              <a:ext cx="112776" cy="112776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359844" y="3225736"/>
            <a:ext cx="3542029" cy="2246630"/>
            <a:chOff x="5359844" y="3225736"/>
            <a:chExt cx="3542029" cy="2246630"/>
          </a:xfrm>
        </p:grpSpPr>
        <p:sp>
          <p:nvSpPr>
            <p:cNvPr id="26" name="object 26"/>
            <p:cNvSpPr/>
            <p:nvPr/>
          </p:nvSpPr>
          <p:spPr>
            <a:xfrm>
              <a:off x="6178232" y="3282124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685800"/>
                  </a:moveTo>
                  <a:lnTo>
                    <a:pt x="15240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5844" y="3225736"/>
              <a:ext cx="112776" cy="1127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1844" y="3911536"/>
              <a:ext cx="112776" cy="1127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568632" y="3434524"/>
              <a:ext cx="3276600" cy="381000"/>
            </a:xfrm>
            <a:custGeom>
              <a:avLst/>
              <a:gdLst/>
              <a:ahLst/>
              <a:cxnLst/>
              <a:rect l="l" t="t" r="r" b="b"/>
              <a:pathLst>
                <a:path w="3276600" h="381000">
                  <a:moveTo>
                    <a:pt x="0" y="381000"/>
                  </a:moveTo>
                  <a:lnTo>
                    <a:pt x="32766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2244" y="3759136"/>
              <a:ext cx="112776" cy="1127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8844" y="3378136"/>
              <a:ext cx="112776" cy="11277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854632" y="3282124"/>
              <a:ext cx="457200" cy="2133600"/>
            </a:xfrm>
            <a:custGeom>
              <a:avLst/>
              <a:gdLst/>
              <a:ahLst/>
              <a:cxnLst/>
              <a:rect l="l" t="t" r="r" b="b"/>
              <a:pathLst>
                <a:path w="457200" h="2133600">
                  <a:moveTo>
                    <a:pt x="0" y="2133600"/>
                  </a:moveTo>
                  <a:lnTo>
                    <a:pt x="4572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5444" y="3225736"/>
              <a:ext cx="112776" cy="1127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8244" y="5359336"/>
              <a:ext cx="112776" cy="1127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721032" y="3510724"/>
              <a:ext cx="2514600" cy="1371600"/>
            </a:xfrm>
            <a:custGeom>
              <a:avLst/>
              <a:gdLst/>
              <a:ahLst/>
              <a:cxnLst/>
              <a:rect l="l" t="t" r="r" b="b"/>
              <a:pathLst>
                <a:path w="2514600" h="1371600">
                  <a:moveTo>
                    <a:pt x="0" y="0"/>
                  </a:moveTo>
                  <a:lnTo>
                    <a:pt x="2514600" y="1371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4644" y="3454336"/>
              <a:ext cx="112776" cy="1127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9244" y="4825936"/>
              <a:ext cx="112776" cy="11277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873432" y="3586924"/>
              <a:ext cx="2971800" cy="685800"/>
            </a:xfrm>
            <a:custGeom>
              <a:avLst/>
              <a:gdLst/>
              <a:ahLst/>
              <a:cxnLst/>
              <a:rect l="l" t="t" r="r" b="b"/>
              <a:pathLst>
                <a:path w="2971800" h="685800">
                  <a:moveTo>
                    <a:pt x="0" y="685800"/>
                  </a:moveTo>
                  <a:lnTo>
                    <a:pt x="29718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7044" y="4216336"/>
              <a:ext cx="112776" cy="1127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8844" y="3530536"/>
              <a:ext cx="112776" cy="11277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416232" y="3282124"/>
              <a:ext cx="1066800" cy="1371600"/>
            </a:xfrm>
            <a:custGeom>
              <a:avLst/>
              <a:gdLst/>
              <a:ahLst/>
              <a:cxnLst/>
              <a:rect l="l" t="t" r="r" b="b"/>
              <a:pathLst>
                <a:path w="1066800" h="1371600">
                  <a:moveTo>
                    <a:pt x="1066800" y="137160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6644" y="4597336"/>
              <a:ext cx="112776" cy="1127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9844" y="3225736"/>
              <a:ext cx="112776" cy="11277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92632" y="4196524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685800"/>
                  </a:moveTo>
                  <a:lnTo>
                    <a:pt x="152400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6244" y="4825936"/>
              <a:ext cx="112776" cy="11277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0244" y="4140136"/>
              <a:ext cx="112776" cy="11277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6460" y="3734752"/>
              <a:ext cx="161544" cy="1615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1260" y="4115752"/>
              <a:ext cx="161544" cy="1615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6060" y="3810952"/>
              <a:ext cx="161544" cy="16154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860" y="3963352"/>
              <a:ext cx="161544" cy="16154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4860" y="3658552"/>
              <a:ext cx="161544" cy="16154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1460" y="4496752"/>
              <a:ext cx="161544" cy="16154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460" y="4344352"/>
              <a:ext cx="161544" cy="16154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6260" y="4649152"/>
              <a:ext cx="161544" cy="1615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4860" y="3429952"/>
              <a:ext cx="161544" cy="1615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7060" y="3582352"/>
              <a:ext cx="161544" cy="1615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7460" y="3658552"/>
              <a:ext cx="161544" cy="161544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751772" y="2469324"/>
            <a:ext cx="591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nput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18983" y="2469324"/>
            <a:ext cx="7321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ou</a:t>
            </a:r>
            <a:r>
              <a:rPr sz="2000" spc="-5" dirty="0">
                <a:latin typeface="Arial MT"/>
                <a:cs typeface="Arial MT"/>
              </a:rPr>
              <a:t>t</a:t>
            </a:r>
            <a:r>
              <a:rPr sz="2000" dirty="0">
                <a:latin typeface="Arial MT"/>
                <a:cs typeface="Arial MT"/>
              </a:rPr>
              <a:t>p</a:t>
            </a:r>
            <a:r>
              <a:rPr sz="2000" spc="-15" dirty="0">
                <a:latin typeface="Arial MT"/>
                <a:cs typeface="Arial MT"/>
              </a:rPr>
              <a:t>u</a:t>
            </a:r>
            <a:r>
              <a:rPr sz="2000" dirty="0">
                <a:latin typeface="Arial MT"/>
                <a:cs typeface="Arial MT"/>
              </a:rPr>
              <a:t>t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725860" y="4039552"/>
            <a:ext cx="466725" cy="236220"/>
            <a:chOff x="4725860" y="4039552"/>
            <a:chExt cx="466725" cy="236220"/>
          </a:xfrm>
        </p:grpSpPr>
        <p:sp>
          <p:nvSpPr>
            <p:cNvPr id="61" name="object 61"/>
            <p:cNvSpPr/>
            <p:nvPr/>
          </p:nvSpPr>
          <p:spPr>
            <a:xfrm>
              <a:off x="4730432" y="4044124"/>
              <a:ext cx="457200" cy="227329"/>
            </a:xfrm>
            <a:custGeom>
              <a:avLst/>
              <a:gdLst/>
              <a:ahLst/>
              <a:cxnLst/>
              <a:rect l="l" t="t" r="r" b="b"/>
              <a:pathLst>
                <a:path w="457200" h="227329">
                  <a:moveTo>
                    <a:pt x="457200" y="112776"/>
                  </a:moveTo>
                  <a:lnTo>
                    <a:pt x="342900" y="0"/>
                  </a:lnTo>
                  <a:lnTo>
                    <a:pt x="342900" y="56388"/>
                  </a:lnTo>
                  <a:lnTo>
                    <a:pt x="0" y="56388"/>
                  </a:lnTo>
                  <a:lnTo>
                    <a:pt x="0" y="170688"/>
                  </a:lnTo>
                  <a:lnTo>
                    <a:pt x="342900" y="170688"/>
                  </a:lnTo>
                  <a:lnTo>
                    <a:pt x="342900" y="227076"/>
                  </a:lnTo>
                  <a:lnTo>
                    <a:pt x="457200" y="112776"/>
                  </a:lnTo>
                  <a:close/>
                </a:path>
              </a:pathLst>
            </a:custGeom>
            <a:solidFill>
              <a:srgbClr val="00CD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30432" y="4044124"/>
              <a:ext cx="457200" cy="227329"/>
            </a:xfrm>
            <a:custGeom>
              <a:avLst/>
              <a:gdLst/>
              <a:ahLst/>
              <a:cxnLst/>
              <a:rect l="l" t="t" r="r" b="b"/>
              <a:pathLst>
                <a:path w="457200" h="227329">
                  <a:moveTo>
                    <a:pt x="342900" y="0"/>
                  </a:moveTo>
                  <a:lnTo>
                    <a:pt x="342900" y="56388"/>
                  </a:lnTo>
                  <a:lnTo>
                    <a:pt x="0" y="56388"/>
                  </a:lnTo>
                  <a:lnTo>
                    <a:pt x="0" y="170688"/>
                  </a:lnTo>
                  <a:lnTo>
                    <a:pt x="342900" y="170688"/>
                  </a:lnTo>
                  <a:lnTo>
                    <a:pt x="342900" y="227076"/>
                  </a:lnTo>
                  <a:lnTo>
                    <a:pt x="457200" y="112776"/>
                  </a:lnTo>
                  <a:lnTo>
                    <a:pt x="34290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99</a:t>
            </a:fld>
            <a:endParaRPr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D35836-447A-5941-901F-EEA6AA00C9F1}"/>
              </a:ext>
            </a:extLst>
          </p:cNvPr>
          <p:cNvSpPr txBox="1"/>
          <p:nvPr/>
        </p:nvSpPr>
        <p:spPr>
          <a:xfrm>
            <a:off x="495300" y="1752600"/>
            <a:ext cx="9067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 two line segments (p1, q1) and (p2, q2), find if the given line segments intersect with each other.</a:t>
            </a:r>
          </a:p>
          <a:p>
            <a:endParaRPr lang="en-US" dirty="0"/>
          </a:p>
          <a:p>
            <a:r>
              <a:rPr lang="en-US" dirty="0"/>
              <a:t>Orientation of an ordered triplet of points in the plane can be </a:t>
            </a:r>
          </a:p>
          <a:p>
            <a:r>
              <a:rPr lang="en-US" b="1" dirty="0"/>
              <a:t>–counterclockwise </a:t>
            </a:r>
          </a:p>
          <a:p>
            <a:r>
              <a:rPr lang="en-US" b="1" dirty="0"/>
              <a:t>–clockwise </a:t>
            </a:r>
          </a:p>
          <a:p>
            <a:r>
              <a:rPr lang="en-US" b="1" dirty="0"/>
              <a:t>–collinear 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0EA8B-CB5F-AE00-2D9D-F669D7669FD6}"/>
              </a:ext>
            </a:extLst>
          </p:cNvPr>
          <p:cNvSpPr/>
          <p:nvPr/>
        </p:nvSpPr>
        <p:spPr>
          <a:xfrm>
            <a:off x="381000" y="228600"/>
            <a:ext cx="35057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Orientation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151DD-907E-075C-E052-4DAE9BC6A333}"/>
              </a:ext>
            </a:extLst>
          </p:cNvPr>
          <p:cNvSpPr txBox="1"/>
          <p:nvPr/>
        </p:nvSpPr>
        <p:spPr>
          <a:xfrm>
            <a:off x="609600" y="4061429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following diagram shows different possible orientations of (a, b, c)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7657F7-7385-3634-AE7F-B07EA1BD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4" y="4876800"/>
            <a:ext cx="7294756" cy="248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838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0FB6-CF9D-774D-E0F8-F3779519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69376E-5D45-0BF7-926A-E82C060D7A67}"/>
              </a:ext>
            </a:extLst>
          </p:cNvPr>
          <p:cNvSpPr txBox="1"/>
          <p:nvPr/>
        </p:nvSpPr>
        <p:spPr>
          <a:xfrm>
            <a:off x="685800" y="685800"/>
            <a:ext cx="891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Two segments (p1,q1) and (p2,q2) intersect if and only if one of the following two conditions is verified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7FE76-6EDD-E45B-E0DB-7B761627730B}"/>
              </a:ext>
            </a:extLst>
          </p:cNvPr>
          <p:cNvSpPr txBox="1"/>
          <p:nvPr/>
        </p:nvSpPr>
        <p:spPr>
          <a:xfrm>
            <a:off x="657922" y="1676400"/>
            <a:ext cx="8105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1. General Case: </a:t>
            </a:r>
          </a:p>
          <a:p>
            <a:r>
              <a:rPr lang="en-US"/>
              <a:t>– (p1, q1, p2) and (p1, q1, q2) have different orientations and </a:t>
            </a:r>
          </a:p>
          <a:p>
            <a:r>
              <a:rPr lang="en-US"/>
              <a:t>– (p2, q2, p1) and (p2, q2, q1) have different orientations.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B59DE-AA7B-C165-071D-3AD2484FE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22" y="2770149"/>
            <a:ext cx="68103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529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39A2E-41BE-22C7-3E65-52CE144F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14" y="0"/>
            <a:ext cx="10055886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5885" cy="77724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52142"/>
            <a:ext cx="9940202" cy="4639080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180349" y="1291270"/>
            <a:ext cx="3169322" cy="586783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89119" y="-108709"/>
            <a:ext cx="452628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959556"/>
            <a:ext cx="5029196" cy="806085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352869" y="6769235"/>
            <a:ext cx="145732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D545931-27A1-B49F-66B5-8C1FEE67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71" y="1331628"/>
            <a:ext cx="8945528" cy="243765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64539" y="995778"/>
            <a:ext cx="304800" cy="354559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8374447" y="4840286"/>
            <a:ext cx="1565755" cy="2150936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4C321-0DBF-D5ED-D94B-65D8DA61DFFA}"/>
              </a:ext>
            </a:extLst>
          </p:cNvPr>
          <p:cNvSpPr txBox="1"/>
          <p:nvPr/>
        </p:nvSpPr>
        <p:spPr>
          <a:xfrm>
            <a:off x="1334805" y="4553895"/>
            <a:ext cx="8131588" cy="241354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Special Case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– (p1, q1, p2), (p1, q1, q2), (p2, q2, p1), and (p2, q2, q1) are all collinear and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– the x-projections of (p1, q1) and (p2, q2) intersect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– the y-projections of (p1, q1) and (p2, q2) intersect</a:t>
            </a:r>
          </a:p>
        </p:txBody>
      </p:sp>
    </p:spTree>
    <p:extLst>
      <p:ext uri="{BB962C8B-B14F-4D97-AF65-F5344CB8AC3E}">
        <p14:creationId xmlns:p14="http://schemas.microsoft.com/office/powerpoint/2010/main" val="13423636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86A8-95F2-BBAD-21DD-3D63613F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057FEF-25E7-E931-C4EB-C0552B5F81BA}"/>
              </a:ext>
            </a:extLst>
          </p:cNvPr>
          <p:cNvSpPr txBox="1"/>
          <p:nvPr/>
        </p:nvSpPr>
        <p:spPr>
          <a:xfrm>
            <a:off x="762000" y="1905000"/>
            <a:ext cx="8915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Given n line segments (p1, q1), (p2, q2), … (</a:t>
            </a:r>
            <a:r>
              <a:rPr lang="en-IN" dirty="0" err="1"/>
              <a:t>pn</a:t>
            </a:r>
            <a:r>
              <a:rPr lang="en-IN" dirty="0"/>
              <a:t>, qn), find if the given line segments intersect with each other or not.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Input:  {{1, 5}, {4, 5}}, {{2, 5}, {10, 1}},{{3, 2}, {10, 3}},{{6, 4}, {9, 4}},{{7, 1}, {8, 1}}</a:t>
            </a:r>
          </a:p>
          <a:p>
            <a:r>
              <a:rPr lang="en-IN" dirty="0"/>
              <a:t>Output:  2</a:t>
            </a:r>
          </a:p>
          <a:p>
            <a:endParaRPr lang="en-IN" dirty="0"/>
          </a:p>
          <a:p>
            <a:r>
              <a:rPr lang="en-IN" dirty="0"/>
              <a:t>Explanation: Lines {{1, 5}, {4, 5}}, {{2, 5}, {10, 1}} are intersecting, as well as {{2, 5}, {10, 1}},{{3, 2}, {10, 3}}.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14460-D5BF-B46F-BA71-B9F0067B800A}"/>
              </a:ext>
            </a:extLst>
          </p:cNvPr>
          <p:cNvSpPr txBox="1"/>
          <p:nvPr/>
        </p:nvSpPr>
        <p:spPr>
          <a:xfrm>
            <a:off x="762000" y="5527573"/>
            <a:ext cx="861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Naive Algorithm A naive solution to solve this problem is to check every pair of lines and check if the pair intersects or not. </a:t>
            </a:r>
          </a:p>
          <a:p>
            <a:r>
              <a:rPr lang="en-US" dirty="0"/>
              <a:t>We can check two  line segments in O(1) time. </a:t>
            </a:r>
          </a:p>
          <a:p>
            <a:r>
              <a:rPr lang="en-US" dirty="0"/>
              <a:t>Therefore, this approach takes O(n</a:t>
            </a:r>
            <a:r>
              <a:rPr lang="en-US" baseline="30000" dirty="0"/>
              <a:t>2</a:t>
            </a:r>
            <a:r>
              <a:rPr lang="en-US" dirty="0"/>
              <a:t>).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DC9CE-BA02-1AA8-3B91-CB553D1E9C44}"/>
              </a:ext>
            </a:extLst>
          </p:cNvPr>
          <p:cNvSpPr/>
          <p:nvPr/>
        </p:nvSpPr>
        <p:spPr>
          <a:xfrm>
            <a:off x="762000" y="422328"/>
            <a:ext cx="673453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Line Segment Intersection Problem</a:t>
            </a:r>
          </a:p>
        </p:txBody>
      </p:sp>
    </p:spTree>
    <p:extLst>
      <p:ext uri="{BB962C8B-B14F-4D97-AF65-F5344CB8AC3E}">
        <p14:creationId xmlns:p14="http://schemas.microsoft.com/office/powerpoint/2010/main" val="28620923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3398" y="2209800"/>
            <a:ext cx="4534462" cy="47632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20798" y="507206"/>
            <a:ext cx="6322822" cy="387670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dirty="0"/>
              <a:t>Geometric</a:t>
            </a:r>
            <a:r>
              <a:rPr spc="-110" dirty="0"/>
              <a:t> </a:t>
            </a:r>
            <a:r>
              <a:rPr spc="-6" dirty="0"/>
              <a:t>Intersections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104</a:t>
            </a:fld>
            <a:endParaRPr spc="11" dirty="0"/>
          </a:p>
        </p:txBody>
      </p:sp>
      <p:sp>
        <p:nvSpPr>
          <p:cNvPr id="4" name="object 4"/>
          <p:cNvSpPr txBox="1"/>
          <p:nvPr/>
        </p:nvSpPr>
        <p:spPr>
          <a:xfrm>
            <a:off x="336677" y="2209800"/>
            <a:ext cx="4692523" cy="3741537"/>
          </a:xfrm>
          <a:prstGeom prst="rect">
            <a:avLst/>
          </a:prstGeom>
        </p:spPr>
        <p:txBody>
          <a:bodyPr vert="horz" wrap="square" lIns="0" tIns="67056" rIns="0" bIns="0" rtlCol="0">
            <a:spAutoFit/>
          </a:bodyPr>
          <a:lstStyle/>
          <a:p>
            <a:pPr marL="391160" marR="317119" indent="-377889">
              <a:lnSpc>
                <a:spcPts val="3300"/>
              </a:lnSpc>
              <a:spcBef>
                <a:spcPts val="528"/>
              </a:spcBef>
              <a:buChar char="•"/>
              <a:tabLst>
                <a:tab pos="391160" algn="l"/>
                <a:tab pos="391859" algn="l"/>
              </a:tabLst>
            </a:pPr>
            <a:r>
              <a:rPr sz="2000" spc="22" dirty="0">
                <a:latin typeface="Times New Roman"/>
                <a:cs typeface="Times New Roman"/>
              </a:rPr>
              <a:t>Important </a:t>
            </a:r>
            <a:r>
              <a:rPr sz="2000" spc="17" dirty="0">
                <a:latin typeface="Times New Roman"/>
                <a:cs typeface="Times New Roman"/>
              </a:rPr>
              <a:t>problem </a:t>
            </a:r>
            <a:r>
              <a:rPr sz="2000" spc="38" dirty="0">
                <a:latin typeface="Times New Roman"/>
                <a:cs typeface="Times New Roman"/>
              </a:rPr>
              <a:t>in </a:t>
            </a:r>
            <a:r>
              <a:rPr sz="2000" spc="44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Computational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Geometry</a:t>
            </a:r>
            <a:endParaRPr sz="2000" dirty="0">
              <a:latin typeface="Times New Roman"/>
              <a:cs typeface="Times New Roman"/>
            </a:endParaRPr>
          </a:p>
          <a:p>
            <a:pPr marL="391160" marR="518287" indent="-377889">
              <a:lnSpc>
                <a:spcPct val="91800"/>
              </a:lnSpc>
              <a:spcBef>
                <a:spcPts val="666"/>
              </a:spcBef>
              <a:buChar char="•"/>
              <a:tabLst>
                <a:tab pos="391160" algn="l"/>
                <a:tab pos="391859" algn="l"/>
              </a:tabLst>
            </a:pPr>
            <a:r>
              <a:rPr sz="2000" spc="11" dirty="0">
                <a:latin typeface="Times New Roman"/>
                <a:cs typeface="Times New Roman"/>
              </a:rPr>
              <a:t>Solid</a:t>
            </a:r>
            <a:r>
              <a:rPr sz="2000" spc="17" dirty="0">
                <a:latin typeface="Times New Roman"/>
                <a:cs typeface="Times New Roman"/>
              </a:rPr>
              <a:t> modeling:</a:t>
            </a:r>
            <a:r>
              <a:rPr sz="2000" spc="33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Build </a:t>
            </a:r>
            <a:r>
              <a:rPr sz="2000" spc="17" dirty="0">
                <a:latin typeface="Times New Roman"/>
                <a:cs typeface="Times New Roman"/>
              </a:rPr>
              <a:t> shapes </a:t>
            </a:r>
            <a:r>
              <a:rPr sz="2000" spc="-11" dirty="0">
                <a:latin typeface="Times New Roman"/>
                <a:cs typeface="Times New Roman"/>
              </a:rPr>
              <a:t>by</a:t>
            </a:r>
            <a:r>
              <a:rPr sz="2000" spc="11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applying</a:t>
            </a:r>
            <a:r>
              <a:rPr sz="2000" spc="11" dirty="0">
                <a:latin typeface="Times New Roman"/>
                <a:cs typeface="Times New Roman"/>
              </a:rPr>
              <a:t> set </a:t>
            </a:r>
            <a:r>
              <a:rPr sz="2000" spc="17" dirty="0">
                <a:latin typeface="Times New Roman"/>
                <a:cs typeface="Times New Roman"/>
              </a:rPr>
              <a:t> operations </a:t>
            </a:r>
            <a:r>
              <a:rPr sz="2000" spc="11" dirty="0">
                <a:latin typeface="Times New Roman"/>
                <a:cs typeface="Times New Roman"/>
              </a:rPr>
              <a:t>(intersection, </a:t>
            </a:r>
            <a:r>
              <a:rPr sz="2000" spc="-743" dirty="0">
                <a:latin typeface="Times New Roman"/>
                <a:cs typeface="Times New Roman"/>
              </a:rPr>
              <a:t> </a:t>
            </a:r>
            <a:r>
              <a:rPr sz="2000" spc="22" dirty="0">
                <a:latin typeface="Times New Roman"/>
                <a:cs typeface="Times New Roman"/>
              </a:rPr>
              <a:t>union).</a:t>
            </a:r>
            <a:endParaRPr sz="2000" dirty="0">
              <a:latin typeface="Times New Roman"/>
              <a:cs typeface="Times New Roman"/>
            </a:endParaRPr>
          </a:p>
          <a:p>
            <a:pPr marL="391160" marR="517587" indent="-377889">
              <a:lnSpc>
                <a:spcPts val="3388"/>
              </a:lnSpc>
              <a:spcBef>
                <a:spcPts val="732"/>
              </a:spcBef>
              <a:buChar char="•"/>
              <a:tabLst>
                <a:tab pos="391160" algn="l"/>
                <a:tab pos="391859" algn="l"/>
              </a:tabLst>
            </a:pPr>
            <a:r>
              <a:rPr sz="2000" spc="22" dirty="0">
                <a:latin typeface="Times New Roman"/>
                <a:cs typeface="Times New Roman"/>
              </a:rPr>
              <a:t>Robotics: </a:t>
            </a:r>
            <a:r>
              <a:rPr sz="2000" spc="11" dirty="0">
                <a:latin typeface="Times New Roman"/>
                <a:cs typeface="Times New Roman"/>
              </a:rPr>
              <a:t>Collision </a:t>
            </a:r>
            <a:r>
              <a:rPr sz="2000" spc="17" dirty="0">
                <a:latin typeface="Times New Roman"/>
                <a:cs typeface="Times New Roman"/>
              </a:rPr>
              <a:t> detection</a:t>
            </a:r>
            <a:r>
              <a:rPr sz="2000" spc="-22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and</a:t>
            </a:r>
            <a:r>
              <a:rPr sz="2000" spc="-22" dirty="0">
                <a:latin typeface="Times New Roman"/>
                <a:cs typeface="Times New Roman"/>
              </a:rPr>
              <a:t> </a:t>
            </a:r>
            <a:r>
              <a:rPr sz="2000" spc="22" dirty="0">
                <a:latin typeface="Times New Roman"/>
                <a:cs typeface="Times New Roman"/>
              </a:rPr>
              <a:t>avoidance</a:t>
            </a:r>
            <a:endParaRPr sz="2000" dirty="0">
              <a:latin typeface="Times New Roman"/>
              <a:cs typeface="Times New Roman"/>
            </a:endParaRPr>
          </a:p>
          <a:p>
            <a:pPr marL="391160" marR="5588" indent="-377889">
              <a:lnSpc>
                <a:spcPct val="91800"/>
              </a:lnSpc>
              <a:spcBef>
                <a:spcPts val="644"/>
              </a:spcBef>
              <a:buChar char="•"/>
              <a:tabLst>
                <a:tab pos="391160" algn="l"/>
                <a:tab pos="391859" algn="l"/>
              </a:tabLst>
            </a:pPr>
            <a:r>
              <a:rPr sz="2000" spc="22" dirty="0">
                <a:latin typeface="Times New Roman"/>
                <a:cs typeface="Times New Roman"/>
              </a:rPr>
              <a:t>Geographic information </a:t>
            </a:r>
            <a:r>
              <a:rPr sz="2000" spc="28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systems:</a:t>
            </a:r>
            <a:r>
              <a:rPr sz="2000" spc="28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Overlay</a:t>
            </a:r>
            <a:r>
              <a:rPr sz="2000" spc="17" dirty="0">
                <a:latin typeface="Times New Roman"/>
                <a:cs typeface="Times New Roman"/>
              </a:rPr>
              <a:t> </a:t>
            </a:r>
            <a:r>
              <a:rPr sz="2000" spc="38" dirty="0">
                <a:latin typeface="Times New Roman"/>
                <a:cs typeface="Times New Roman"/>
              </a:rPr>
              <a:t>two </a:t>
            </a:r>
            <a:r>
              <a:rPr sz="2000" spc="44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subdivisions </a:t>
            </a:r>
            <a:r>
              <a:rPr sz="2000" spc="11" dirty="0">
                <a:latin typeface="Times New Roman"/>
                <a:cs typeface="Times New Roman"/>
              </a:rPr>
              <a:t>(e.g.,</a:t>
            </a:r>
            <a:r>
              <a:rPr sz="2000" spc="33" dirty="0">
                <a:latin typeface="Times New Roman"/>
                <a:cs typeface="Times New Roman"/>
              </a:rPr>
              <a:t> </a:t>
            </a:r>
            <a:r>
              <a:rPr sz="2000" spc="22" dirty="0">
                <a:latin typeface="Times New Roman"/>
                <a:cs typeface="Times New Roman"/>
              </a:rPr>
              <a:t>road </a:t>
            </a:r>
            <a:r>
              <a:rPr sz="2000" spc="28" dirty="0">
                <a:latin typeface="Times New Roman"/>
                <a:cs typeface="Times New Roman"/>
              </a:rPr>
              <a:t> </a:t>
            </a:r>
            <a:r>
              <a:rPr sz="2000" spc="22" dirty="0">
                <a:latin typeface="Times New Roman"/>
                <a:cs typeface="Times New Roman"/>
              </a:rPr>
              <a:t>network</a:t>
            </a:r>
            <a:r>
              <a:rPr sz="2000" spc="6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and</a:t>
            </a:r>
            <a:r>
              <a:rPr sz="2000" spc="6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river</a:t>
            </a:r>
            <a:r>
              <a:rPr sz="2000" spc="22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network)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0BB9CC-338E-7B8A-DA09-D3D722724540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072" y="379581"/>
            <a:ext cx="6932613" cy="387670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dirty="0"/>
              <a:t>Line</a:t>
            </a:r>
            <a:r>
              <a:rPr spc="-11" dirty="0"/>
              <a:t> Segment</a:t>
            </a:r>
            <a:r>
              <a:rPr spc="33" dirty="0"/>
              <a:t> </a:t>
            </a:r>
            <a:r>
              <a:rPr spc="-6" dirty="0"/>
              <a:t>Intersection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8072" y="1934661"/>
            <a:ext cx="10220928" cy="1344792"/>
          </a:xfrm>
          <a:prstGeom prst="rect">
            <a:avLst/>
          </a:prstGeom>
        </p:spPr>
        <p:txBody>
          <a:bodyPr vert="horz" wrap="square" lIns="0" tIns="99886" rIns="0" bIns="0" rtlCol="0">
            <a:spAutoFit/>
          </a:bodyPr>
          <a:lstStyle/>
          <a:p>
            <a:pPr marL="405130" marR="1390714" indent="-377889">
              <a:lnSpc>
                <a:spcPts val="2970"/>
              </a:lnSpc>
              <a:spcBef>
                <a:spcPts val="787"/>
              </a:spcBef>
              <a:buChar char="•"/>
              <a:tabLst>
                <a:tab pos="405130" algn="l"/>
                <a:tab pos="405829" algn="l"/>
              </a:tabLst>
            </a:pPr>
            <a:r>
              <a:rPr sz="3025" spc="17" dirty="0">
                <a:latin typeface="Times New Roman"/>
                <a:cs typeface="Times New Roman"/>
              </a:rPr>
              <a:t>Input:</a:t>
            </a:r>
            <a:r>
              <a:rPr sz="3025" spc="33" dirty="0">
                <a:latin typeface="Times New Roman"/>
                <a:cs typeface="Times New Roman"/>
              </a:rPr>
              <a:t> </a:t>
            </a:r>
            <a:r>
              <a:rPr sz="3025" spc="17" dirty="0">
                <a:latin typeface="Times New Roman"/>
                <a:cs typeface="Times New Roman"/>
              </a:rPr>
              <a:t>A</a:t>
            </a:r>
            <a:r>
              <a:rPr sz="3025" spc="-6" dirty="0">
                <a:latin typeface="Times New Roman"/>
                <a:cs typeface="Times New Roman"/>
              </a:rPr>
              <a:t> </a:t>
            </a:r>
            <a:r>
              <a:rPr sz="3025" spc="11" dirty="0">
                <a:latin typeface="Times New Roman"/>
                <a:cs typeface="Times New Roman"/>
              </a:rPr>
              <a:t>set</a:t>
            </a:r>
            <a:r>
              <a:rPr sz="3025" spc="28" dirty="0">
                <a:latin typeface="Times New Roman"/>
                <a:cs typeface="Times New Roman"/>
              </a:rPr>
              <a:t> </a:t>
            </a:r>
            <a:r>
              <a:rPr sz="3025" i="1" spc="17" dirty="0">
                <a:solidFill>
                  <a:srgbClr val="008380"/>
                </a:solidFill>
                <a:latin typeface="Times New Roman"/>
                <a:cs typeface="Times New Roman"/>
              </a:rPr>
              <a:t>S</a:t>
            </a:r>
            <a:r>
              <a:rPr sz="3025" spc="17" dirty="0">
                <a:solidFill>
                  <a:srgbClr val="008380"/>
                </a:solidFill>
                <a:latin typeface="Times New Roman"/>
                <a:cs typeface="Times New Roman"/>
              </a:rPr>
              <a:t>={</a:t>
            </a:r>
            <a:r>
              <a:rPr sz="3025" i="1" spc="17" dirty="0">
                <a:solidFill>
                  <a:srgbClr val="008380"/>
                </a:solidFill>
                <a:latin typeface="Times New Roman"/>
                <a:cs typeface="Times New Roman"/>
              </a:rPr>
              <a:t>s</a:t>
            </a:r>
            <a:r>
              <a:rPr sz="3053" spc="24" baseline="-18018" dirty="0">
                <a:solidFill>
                  <a:srgbClr val="008380"/>
                </a:solidFill>
                <a:latin typeface="Times New Roman"/>
                <a:cs typeface="Times New Roman"/>
              </a:rPr>
              <a:t>1</a:t>
            </a:r>
            <a:r>
              <a:rPr sz="3025" spc="17" dirty="0">
                <a:solidFill>
                  <a:srgbClr val="008380"/>
                </a:solidFill>
                <a:latin typeface="Times New Roman"/>
                <a:cs typeface="Times New Roman"/>
              </a:rPr>
              <a:t>,</a:t>
            </a:r>
            <a:r>
              <a:rPr sz="3025" spc="38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3025" spc="17" dirty="0">
                <a:solidFill>
                  <a:srgbClr val="008380"/>
                </a:solidFill>
                <a:latin typeface="Times New Roman"/>
                <a:cs typeface="Times New Roman"/>
              </a:rPr>
              <a:t>…, </a:t>
            </a:r>
            <a:r>
              <a:rPr sz="3025" i="1" spc="11" dirty="0">
                <a:solidFill>
                  <a:srgbClr val="008380"/>
                </a:solidFill>
                <a:latin typeface="Times New Roman"/>
                <a:cs typeface="Times New Roman"/>
              </a:rPr>
              <a:t>s</a:t>
            </a:r>
            <a:r>
              <a:rPr sz="3053" spc="17" baseline="-18018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3025" spc="11" dirty="0">
                <a:solidFill>
                  <a:srgbClr val="008380"/>
                </a:solidFill>
                <a:latin typeface="Times New Roman"/>
                <a:cs typeface="Times New Roman"/>
              </a:rPr>
              <a:t>}</a:t>
            </a:r>
            <a:r>
              <a:rPr sz="3025" spc="33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3025" spc="28" dirty="0">
                <a:latin typeface="Times New Roman"/>
                <a:cs typeface="Times New Roman"/>
              </a:rPr>
              <a:t>of </a:t>
            </a:r>
            <a:r>
              <a:rPr sz="3025" spc="11" dirty="0">
                <a:latin typeface="Times New Roman"/>
                <a:cs typeface="Times New Roman"/>
              </a:rPr>
              <a:t>(closed)</a:t>
            </a:r>
            <a:r>
              <a:rPr sz="3025" spc="28" dirty="0">
                <a:latin typeface="Times New Roman"/>
                <a:cs typeface="Times New Roman"/>
              </a:rPr>
              <a:t> </a:t>
            </a:r>
            <a:r>
              <a:rPr sz="3025" spc="6" dirty="0">
                <a:latin typeface="Times New Roman"/>
                <a:cs typeface="Times New Roman"/>
              </a:rPr>
              <a:t>line </a:t>
            </a:r>
            <a:r>
              <a:rPr sz="3025" spc="-737" dirty="0">
                <a:latin typeface="Times New Roman"/>
                <a:cs typeface="Times New Roman"/>
              </a:rPr>
              <a:t> </a:t>
            </a:r>
            <a:r>
              <a:rPr sz="3025" spc="17" dirty="0">
                <a:latin typeface="Times New Roman"/>
                <a:cs typeface="Times New Roman"/>
              </a:rPr>
              <a:t>segments</a:t>
            </a:r>
            <a:r>
              <a:rPr sz="3025" spc="22" dirty="0">
                <a:latin typeface="Times New Roman"/>
                <a:cs typeface="Times New Roman"/>
              </a:rPr>
              <a:t> </a:t>
            </a:r>
            <a:r>
              <a:rPr sz="3025" spc="-6" dirty="0">
                <a:latin typeface="Times New Roman"/>
                <a:cs typeface="Times New Roman"/>
              </a:rPr>
              <a:t>in</a:t>
            </a:r>
            <a:r>
              <a:rPr sz="3025" spc="72" dirty="0">
                <a:latin typeface="Times New Roman"/>
                <a:cs typeface="Times New Roman"/>
              </a:rPr>
              <a:t> </a:t>
            </a:r>
            <a:r>
              <a:rPr sz="3025" b="1" spc="28" dirty="0">
                <a:solidFill>
                  <a:srgbClr val="008380"/>
                </a:solidFill>
                <a:latin typeface="Times New Roman"/>
                <a:cs typeface="Times New Roman"/>
              </a:rPr>
              <a:t>R</a:t>
            </a:r>
            <a:r>
              <a:rPr sz="3053" spc="41" baseline="24024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endParaRPr sz="3053" baseline="24024" dirty="0">
              <a:latin typeface="Times New Roman"/>
              <a:cs typeface="Times New Roman"/>
            </a:endParaRPr>
          </a:p>
          <a:p>
            <a:pPr marL="405130" marR="19558" indent="-377889">
              <a:lnSpc>
                <a:spcPts val="2981"/>
              </a:lnSpc>
              <a:spcBef>
                <a:spcPts val="743"/>
              </a:spcBef>
              <a:buChar char="•"/>
              <a:tabLst>
                <a:tab pos="405130" algn="l"/>
                <a:tab pos="405829" algn="l"/>
              </a:tabLst>
            </a:pPr>
            <a:r>
              <a:rPr sz="3025" spc="22" dirty="0">
                <a:latin typeface="Times New Roman"/>
                <a:cs typeface="Times New Roman"/>
              </a:rPr>
              <a:t>Output:</a:t>
            </a:r>
            <a:r>
              <a:rPr sz="3025" spc="-50" dirty="0">
                <a:latin typeface="Times New Roman"/>
                <a:cs typeface="Times New Roman"/>
              </a:rPr>
              <a:t> </a:t>
            </a:r>
            <a:r>
              <a:rPr sz="3025" spc="33" dirty="0">
                <a:latin typeface="Times New Roman"/>
                <a:cs typeface="Times New Roman"/>
              </a:rPr>
              <a:t>All</a:t>
            </a:r>
            <a:r>
              <a:rPr sz="3025" spc="6" dirty="0">
                <a:latin typeface="Times New Roman"/>
                <a:cs typeface="Times New Roman"/>
              </a:rPr>
              <a:t> </a:t>
            </a:r>
            <a:r>
              <a:rPr sz="3025" b="1" spc="22" dirty="0">
                <a:solidFill>
                  <a:srgbClr val="CC0000"/>
                </a:solidFill>
                <a:latin typeface="Times New Roman"/>
                <a:cs typeface="Times New Roman"/>
              </a:rPr>
              <a:t>intersection</a:t>
            </a:r>
            <a:r>
              <a:rPr sz="3025" b="1" spc="11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025" b="1" spc="17" dirty="0">
                <a:solidFill>
                  <a:srgbClr val="CC0000"/>
                </a:solidFill>
                <a:latin typeface="Times New Roman"/>
                <a:cs typeface="Times New Roman"/>
              </a:rPr>
              <a:t>points</a:t>
            </a:r>
            <a:r>
              <a:rPr sz="3025" b="1" spc="6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025" spc="22" dirty="0">
                <a:latin typeface="Times New Roman"/>
                <a:cs typeface="Times New Roman"/>
              </a:rPr>
              <a:t>between</a:t>
            </a:r>
            <a:r>
              <a:rPr sz="3025" spc="17" dirty="0">
                <a:latin typeface="Times New Roman"/>
                <a:cs typeface="Times New Roman"/>
              </a:rPr>
              <a:t> segments </a:t>
            </a:r>
            <a:r>
              <a:rPr sz="3025" spc="-743" dirty="0">
                <a:latin typeface="Times New Roman"/>
                <a:cs typeface="Times New Roman"/>
              </a:rPr>
              <a:t> </a:t>
            </a:r>
            <a:r>
              <a:rPr sz="3025" spc="-6" dirty="0">
                <a:latin typeface="Times New Roman"/>
                <a:cs typeface="Times New Roman"/>
              </a:rPr>
              <a:t>in</a:t>
            </a:r>
            <a:r>
              <a:rPr sz="3025" spc="50" dirty="0">
                <a:latin typeface="Times New Roman"/>
                <a:cs typeface="Times New Roman"/>
              </a:rPr>
              <a:t> </a:t>
            </a:r>
            <a:r>
              <a:rPr sz="3025" i="1" spc="11" dirty="0">
                <a:solidFill>
                  <a:srgbClr val="008380"/>
                </a:solidFill>
                <a:latin typeface="Times New Roman"/>
                <a:cs typeface="Times New Roman"/>
              </a:rPr>
              <a:t>S</a:t>
            </a:r>
            <a:endParaRPr sz="3025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69770" y="3896678"/>
            <a:ext cx="5605463" cy="2566988"/>
            <a:chOff x="1790700" y="3438525"/>
            <a:chExt cx="5095875" cy="2333625"/>
          </a:xfrm>
        </p:grpSpPr>
        <p:sp>
          <p:nvSpPr>
            <p:cNvPr id="5" name="object 5"/>
            <p:cNvSpPr/>
            <p:nvPr/>
          </p:nvSpPr>
          <p:spPr>
            <a:xfrm>
              <a:off x="1809750" y="3457575"/>
              <a:ext cx="5057775" cy="2295525"/>
            </a:xfrm>
            <a:custGeom>
              <a:avLst/>
              <a:gdLst/>
              <a:ahLst/>
              <a:cxnLst/>
              <a:rect l="l" t="t" r="r" b="b"/>
              <a:pathLst>
                <a:path w="5057775" h="2295525">
                  <a:moveTo>
                    <a:pt x="0" y="2162175"/>
                  </a:moveTo>
                  <a:lnTo>
                    <a:pt x="1247775" y="1323975"/>
                  </a:lnTo>
                </a:path>
                <a:path w="5057775" h="2295525">
                  <a:moveTo>
                    <a:pt x="609600" y="1285875"/>
                  </a:moveTo>
                  <a:lnTo>
                    <a:pt x="3219450" y="2295525"/>
                  </a:lnTo>
                </a:path>
                <a:path w="5057775" h="2295525">
                  <a:moveTo>
                    <a:pt x="1781175" y="304800"/>
                  </a:moveTo>
                  <a:lnTo>
                    <a:pt x="2314575" y="1647825"/>
                  </a:lnTo>
                </a:path>
                <a:path w="5057775" h="2295525">
                  <a:moveTo>
                    <a:pt x="2933700" y="942975"/>
                  </a:moveTo>
                  <a:lnTo>
                    <a:pt x="2924175" y="0"/>
                  </a:lnTo>
                </a:path>
                <a:path w="5057775" h="2295525">
                  <a:moveTo>
                    <a:pt x="2609850" y="2286000"/>
                  </a:moveTo>
                  <a:lnTo>
                    <a:pt x="4152900" y="885825"/>
                  </a:lnTo>
                </a:path>
                <a:path w="5057775" h="2295525">
                  <a:moveTo>
                    <a:pt x="2705100" y="304800"/>
                  </a:moveTo>
                  <a:lnTo>
                    <a:pt x="5057775" y="20859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8350" y="4865750"/>
              <a:ext cx="107950" cy="107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1901" y="5532501"/>
              <a:ext cx="98425" cy="983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4301" y="3884676"/>
              <a:ext cx="98425" cy="984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9176" y="4570475"/>
              <a:ext cx="107950" cy="9842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105</a:t>
            </a:fld>
            <a:endParaRPr spc="1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16F6B-1B35-4381-3510-A08AB614A804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29600"/>
            <a:ext cx="6932613" cy="387670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dirty="0"/>
              <a:t>Line</a:t>
            </a:r>
            <a:r>
              <a:rPr spc="-11" dirty="0"/>
              <a:t> Segment</a:t>
            </a:r>
            <a:r>
              <a:rPr spc="33" dirty="0"/>
              <a:t> </a:t>
            </a:r>
            <a:r>
              <a:rPr spc="-6" dirty="0"/>
              <a:t>Intersection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9967" y="1843724"/>
            <a:ext cx="7945438" cy="4203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1160" indent="-377889">
              <a:spcBef>
                <a:spcPts val="110"/>
              </a:spcBef>
              <a:buClr>
                <a:srgbClr val="000000"/>
              </a:buClr>
              <a:buFont typeface="Times New Roman"/>
              <a:buChar char="•"/>
              <a:tabLst>
                <a:tab pos="391160" algn="l"/>
                <a:tab pos="391859" algn="l"/>
              </a:tabLst>
            </a:pPr>
            <a:r>
              <a:rPr sz="2640" i="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640" i="1" spc="-6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line</a:t>
            </a:r>
            <a:r>
              <a:rPr sz="2640" spc="-17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segments</a:t>
            </a:r>
            <a:r>
              <a:rPr sz="2640" spc="50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can</a:t>
            </a:r>
            <a:r>
              <a:rPr sz="2640" dirty="0">
                <a:latin typeface="Times New Roman"/>
                <a:cs typeface="Times New Roman"/>
              </a:rPr>
              <a:t> intersect</a:t>
            </a:r>
            <a:r>
              <a:rPr sz="2640" spc="-66" dirty="0">
                <a:latin typeface="Times New Roman"/>
                <a:cs typeface="Times New Roman"/>
              </a:rPr>
              <a:t> </a:t>
            </a:r>
            <a:r>
              <a:rPr sz="2640" spc="33" dirty="0">
                <a:latin typeface="Times New Roman"/>
                <a:cs typeface="Times New Roman"/>
              </a:rPr>
              <a:t>as</a:t>
            </a:r>
            <a:r>
              <a:rPr sz="2640" spc="-38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few </a:t>
            </a:r>
            <a:r>
              <a:rPr sz="2640" spc="-11" dirty="0">
                <a:latin typeface="Times New Roman"/>
                <a:cs typeface="Times New Roman"/>
              </a:rPr>
              <a:t>as</a:t>
            </a:r>
            <a:r>
              <a:rPr sz="2640" dirty="0">
                <a:latin typeface="Times New Roman"/>
                <a:cs typeface="Times New Roman"/>
              </a:rPr>
              <a:t> </a:t>
            </a:r>
            <a:r>
              <a:rPr sz="2640" dirty="0">
                <a:solidFill>
                  <a:srgbClr val="008380"/>
                </a:solidFill>
                <a:latin typeface="Times New Roman"/>
                <a:cs typeface="Times New Roman"/>
              </a:rPr>
              <a:t>0 </a:t>
            </a:r>
            <a:r>
              <a:rPr sz="2640" spc="-11" dirty="0">
                <a:latin typeface="Times New Roman"/>
                <a:cs typeface="Times New Roman"/>
              </a:rPr>
              <a:t>and</a:t>
            </a:r>
            <a:r>
              <a:rPr sz="2640" spc="6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as</a:t>
            </a:r>
            <a:r>
              <a:rPr sz="2640" spc="38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many</a:t>
            </a:r>
            <a:r>
              <a:rPr sz="2640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as</a:t>
            </a:r>
            <a:endParaRPr sz="264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8800" y="2353691"/>
            <a:ext cx="1831467" cy="421077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41910">
              <a:spcBef>
                <a:spcPts val="116"/>
              </a:spcBef>
            </a:pPr>
            <a:r>
              <a:rPr sz="2640" dirty="0">
                <a:solidFill>
                  <a:srgbClr val="008380"/>
                </a:solidFill>
                <a:latin typeface="Times New Roman"/>
                <a:cs typeface="Times New Roman"/>
              </a:rPr>
              <a:t>=O(</a:t>
            </a:r>
            <a:r>
              <a:rPr sz="2640" i="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558" baseline="26881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2640" dirty="0">
                <a:solidFill>
                  <a:srgbClr val="008380"/>
                </a:solidFill>
                <a:latin typeface="Times New Roman"/>
                <a:cs typeface="Times New Roman"/>
              </a:rPr>
              <a:t>)</a:t>
            </a:r>
            <a:r>
              <a:rPr sz="2640" spc="-55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times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4128" y="2995769"/>
            <a:ext cx="7439025" cy="2341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3070" indent="-377889">
              <a:lnSpc>
                <a:spcPts val="2987"/>
              </a:lnSpc>
              <a:spcBef>
                <a:spcPts val="110"/>
              </a:spcBef>
              <a:buChar char="•"/>
              <a:tabLst>
                <a:tab pos="433070" algn="l"/>
                <a:tab pos="433769" algn="l"/>
              </a:tabLst>
            </a:pPr>
            <a:r>
              <a:rPr sz="2640" spc="-11" dirty="0">
                <a:latin typeface="Times New Roman"/>
                <a:cs typeface="Times New Roman"/>
              </a:rPr>
              <a:t>Simple</a:t>
            </a:r>
            <a:r>
              <a:rPr sz="2640" spc="50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algorithm:</a:t>
            </a:r>
            <a:r>
              <a:rPr sz="2640" spc="6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Try</a:t>
            </a:r>
            <a:r>
              <a:rPr sz="2640" spc="-6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out</a:t>
            </a:r>
            <a:r>
              <a:rPr sz="2640" spc="-6" dirty="0">
                <a:latin typeface="Times New Roman"/>
                <a:cs typeface="Times New Roman"/>
              </a:rPr>
              <a:t> all</a:t>
            </a:r>
            <a:r>
              <a:rPr sz="2640" spc="-72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pairs</a:t>
            </a:r>
            <a:r>
              <a:rPr sz="2640" spc="33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of</a:t>
            </a:r>
            <a:r>
              <a:rPr sz="2640" spc="-66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line</a:t>
            </a:r>
            <a:r>
              <a:rPr sz="2640" spc="-28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segments</a:t>
            </a:r>
          </a:p>
          <a:p>
            <a:pPr marL="433070">
              <a:lnSpc>
                <a:spcPts val="2849"/>
              </a:lnSpc>
            </a:pPr>
            <a:r>
              <a:rPr sz="2640" spc="6" dirty="0">
                <a:latin typeface="Times New Roman"/>
                <a:cs typeface="Times New Roman"/>
              </a:rPr>
              <a:t>→</a:t>
            </a:r>
            <a:r>
              <a:rPr sz="2640" spc="-17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Takes</a:t>
            </a:r>
            <a:r>
              <a:rPr sz="2640" spc="-17" dirty="0">
                <a:latin typeface="Times New Roman"/>
                <a:cs typeface="Times New Roman"/>
              </a:rPr>
              <a:t> </a:t>
            </a:r>
            <a:r>
              <a:rPr sz="2640" dirty="0">
                <a:solidFill>
                  <a:srgbClr val="008380"/>
                </a:solidFill>
                <a:latin typeface="Times New Roman"/>
                <a:cs typeface="Times New Roman"/>
              </a:rPr>
              <a:t>O(</a:t>
            </a:r>
            <a:r>
              <a:rPr sz="2640" i="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558" baseline="26881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2640" dirty="0">
                <a:solidFill>
                  <a:srgbClr val="008380"/>
                </a:solidFill>
                <a:latin typeface="Times New Roman"/>
                <a:cs typeface="Times New Roman"/>
              </a:rPr>
              <a:t>)</a:t>
            </a:r>
            <a:r>
              <a:rPr sz="2640" spc="-17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640" spc="6" dirty="0">
                <a:latin typeface="Times New Roman"/>
                <a:cs typeface="Times New Roman"/>
              </a:rPr>
              <a:t>time</a:t>
            </a:r>
            <a:endParaRPr sz="2640" dirty="0">
              <a:latin typeface="Times New Roman"/>
              <a:cs typeface="Times New Roman"/>
            </a:endParaRPr>
          </a:p>
          <a:p>
            <a:pPr marL="433070">
              <a:lnSpc>
                <a:spcPts val="3031"/>
              </a:lnSpc>
            </a:pPr>
            <a:r>
              <a:rPr sz="2640" dirty="0">
                <a:latin typeface="Times New Roman"/>
                <a:cs typeface="Times New Roman"/>
              </a:rPr>
              <a:t>→</a:t>
            </a:r>
            <a:r>
              <a:rPr sz="2640" spc="-6" dirty="0">
                <a:latin typeface="Times New Roman"/>
                <a:cs typeface="Times New Roman"/>
              </a:rPr>
              <a:t> </a:t>
            </a:r>
            <a:r>
              <a:rPr sz="2640" spc="11" dirty="0">
                <a:latin typeface="Times New Roman"/>
                <a:cs typeface="Times New Roman"/>
              </a:rPr>
              <a:t>Is</a:t>
            </a:r>
            <a:r>
              <a:rPr sz="2640" spc="-44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optimal </a:t>
            </a:r>
            <a:r>
              <a:rPr sz="2640" spc="6" dirty="0">
                <a:latin typeface="Times New Roman"/>
                <a:cs typeface="Times New Roman"/>
              </a:rPr>
              <a:t>in</a:t>
            </a:r>
            <a:r>
              <a:rPr sz="2640" spc="-6" dirty="0">
                <a:latin typeface="Times New Roman"/>
                <a:cs typeface="Times New Roman"/>
              </a:rPr>
              <a:t> </a:t>
            </a:r>
            <a:r>
              <a:rPr sz="2640" spc="-11" dirty="0">
                <a:latin typeface="Times New Roman"/>
                <a:cs typeface="Times New Roman"/>
              </a:rPr>
              <a:t>worst</a:t>
            </a:r>
            <a:r>
              <a:rPr sz="2640" spc="-6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case</a:t>
            </a:r>
          </a:p>
          <a:p>
            <a:pPr marL="433070" indent="-377889">
              <a:spcBef>
                <a:spcPts val="303"/>
              </a:spcBef>
              <a:buChar char="•"/>
              <a:tabLst>
                <a:tab pos="433070" algn="l"/>
                <a:tab pos="433769" algn="l"/>
              </a:tabLst>
            </a:pPr>
            <a:r>
              <a:rPr sz="2640" dirty="0">
                <a:latin typeface="Times New Roman"/>
                <a:cs typeface="Times New Roman"/>
              </a:rPr>
              <a:t>Challenge:</a:t>
            </a:r>
            <a:r>
              <a:rPr sz="2640" spc="-83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Develop </a:t>
            </a:r>
            <a:r>
              <a:rPr sz="2640" spc="-11" dirty="0">
                <a:latin typeface="Times New Roman"/>
                <a:cs typeface="Times New Roman"/>
              </a:rPr>
              <a:t>an</a:t>
            </a:r>
            <a:r>
              <a:rPr sz="2640" spc="6" dirty="0">
                <a:latin typeface="Times New Roman"/>
                <a:cs typeface="Times New Roman"/>
              </a:rPr>
              <a:t> </a:t>
            </a:r>
            <a:r>
              <a:rPr sz="2640" b="1" spc="-6" dirty="0">
                <a:solidFill>
                  <a:srgbClr val="CC0000"/>
                </a:solidFill>
                <a:latin typeface="Times New Roman"/>
                <a:cs typeface="Times New Roman"/>
              </a:rPr>
              <a:t>output-sensitive</a:t>
            </a:r>
            <a:r>
              <a:rPr sz="2640" b="1" spc="66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640" b="1" spc="-6" dirty="0">
                <a:solidFill>
                  <a:srgbClr val="CC0000"/>
                </a:solidFill>
                <a:latin typeface="Times New Roman"/>
                <a:cs typeface="Times New Roman"/>
              </a:rPr>
              <a:t>algorithm</a:t>
            </a:r>
            <a:endParaRPr sz="2640" dirty="0">
              <a:latin typeface="Times New Roman"/>
              <a:cs typeface="Times New Roman"/>
            </a:endParaRPr>
          </a:p>
          <a:p>
            <a:pPr marL="873125" lvl="1" indent="-315024">
              <a:spcBef>
                <a:spcPts val="330"/>
              </a:spcBef>
              <a:buChar char="–"/>
              <a:tabLst>
                <a:tab pos="873125" algn="l"/>
                <a:tab pos="873824" algn="l"/>
              </a:tabLst>
            </a:pPr>
            <a:r>
              <a:rPr sz="2200" dirty="0">
                <a:latin typeface="Times New Roman"/>
                <a:cs typeface="Times New Roman"/>
              </a:rPr>
              <a:t>Runtime</a:t>
            </a:r>
            <a:r>
              <a:rPr sz="2200" spc="-66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depends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28" dirty="0">
                <a:latin typeface="Times New Roman"/>
                <a:cs typeface="Times New Roman"/>
              </a:rPr>
              <a:t>on</a:t>
            </a:r>
            <a:r>
              <a:rPr sz="2200" spc="-33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size</a:t>
            </a:r>
            <a:r>
              <a:rPr sz="2200" spc="17" dirty="0">
                <a:latin typeface="Times New Roman"/>
                <a:cs typeface="Times New Roman"/>
              </a:rPr>
              <a:t> </a:t>
            </a:r>
            <a:r>
              <a:rPr sz="2200" i="1" spc="11" dirty="0">
                <a:solidFill>
                  <a:srgbClr val="008380"/>
                </a:solidFill>
                <a:latin typeface="Times New Roman"/>
                <a:cs typeface="Times New Roman"/>
              </a:rPr>
              <a:t>k</a:t>
            </a:r>
            <a:r>
              <a:rPr sz="2200" i="1" spc="-2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of</a:t>
            </a:r>
            <a:r>
              <a:rPr sz="2200" spc="17" dirty="0">
                <a:latin typeface="Times New Roman"/>
                <a:cs typeface="Times New Roman"/>
              </a:rPr>
              <a:t> </a:t>
            </a:r>
            <a:r>
              <a:rPr sz="2200" spc="6" dirty="0">
                <a:latin typeface="Times New Roman"/>
                <a:cs typeface="Times New Roman"/>
              </a:rPr>
              <a:t>the</a:t>
            </a:r>
            <a:r>
              <a:rPr sz="2200" spc="-7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</a:p>
          <a:p>
            <a:pPr marL="873125" lvl="1" indent="-315024">
              <a:spcBef>
                <a:spcPts val="252"/>
              </a:spcBef>
              <a:buChar char="–"/>
              <a:tabLst>
                <a:tab pos="873125" algn="l"/>
                <a:tab pos="873824" algn="l"/>
              </a:tabLst>
            </a:pPr>
            <a:r>
              <a:rPr sz="2200" dirty="0">
                <a:latin typeface="Times New Roman"/>
                <a:cs typeface="Times New Roman"/>
              </a:rPr>
              <a:t>Here:</a:t>
            </a:r>
            <a:r>
              <a:rPr sz="2200" spc="-38" dirty="0">
                <a:latin typeface="Times New Roman"/>
                <a:cs typeface="Times New Roman"/>
              </a:rPr>
              <a:t> </a:t>
            </a:r>
            <a:r>
              <a:rPr sz="2200" spc="11" dirty="0">
                <a:solidFill>
                  <a:srgbClr val="008380"/>
                </a:solidFill>
                <a:latin typeface="Times New Roman"/>
                <a:cs typeface="Times New Roman"/>
              </a:rPr>
              <a:t>0</a:t>
            </a:r>
            <a:r>
              <a:rPr sz="2200" spc="-28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17" dirty="0">
                <a:solidFill>
                  <a:srgbClr val="008380"/>
                </a:solidFill>
                <a:latin typeface="Symbol"/>
                <a:cs typeface="Symbol"/>
              </a:rPr>
              <a:t></a:t>
            </a:r>
            <a:r>
              <a:rPr sz="2200" spc="-28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i="1" spc="11" dirty="0">
                <a:solidFill>
                  <a:srgbClr val="008380"/>
                </a:solidFill>
                <a:latin typeface="Times New Roman"/>
                <a:cs typeface="Times New Roman"/>
              </a:rPr>
              <a:t>k</a:t>
            </a:r>
            <a:r>
              <a:rPr sz="2200" i="1" spc="-2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17" dirty="0">
                <a:solidFill>
                  <a:srgbClr val="008380"/>
                </a:solidFill>
                <a:latin typeface="Symbol"/>
                <a:cs typeface="Symbol"/>
              </a:rPr>
              <a:t></a:t>
            </a:r>
            <a:r>
              <a:rPr sz="2200" spc="51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228" baseline="24691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endParaRPr sz="2228" baseline="2469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3529" y="5523577"/>
            <a:ext cx="5932361" cy="658835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41910">
              <a:lnSpc>
                <a:spcPts val="2519"/>
              </a:lnSpc>
              <a:spcBef>
                <a:spcPts val="138"/>
              </a:spcBef>
              <a:tabLst>
                <a:tab pos="356235" algn="l"/>
                <a:tab pos="5093462" algn="l"/>
              </a:tabLst>
            </a:pPr>
            <a:r>
              <a:rPr sz="2200" spc="11" dirty="0">
                <a:latin typeface="Times New Roman"/>
                <a:cs typeface="Times New Roman"/>
              </a:rPr>
              <a:t>–	</a:t>
            </a:r>
            <a:r>
              <a:rPr sz="2200" dirty="0">
                <a:latin typeface="Times New Roman"/>
                <a:cs typeface="Times New Roman"/>
              </a:rPr>
              <a:t>Best</a:t>
            </a:r>
            <a:r>
              <a:rPr sz="2200" spc="-17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possible</a:t>
            </a:r>
            <a:r>
              <a:rPr sz="2200" spc="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runtime: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8380"/>
                </a:solidFill>
                <a:latin typeface="Times New Roman"/>
                <a:cs typeface="Times New Roman"/>
              </a:rPr>
              <a:t>O(</a:t>
            </a:r>
            <a:r>
              <a:rPr sz="2200" i="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200" i="1" spc="-11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11" dirty="0">
                <a:solidFill>
                  <a:srgbClr val="008380"/>
                </a:solidFill>
                <a:latin typeface="Times New Roman"/>
                <a:cs typeface="Times New Roman"/>
              </a:rPr>
              <a:t>log</a:t>
            </a:r>
            <a:r>
              <a:rPr sz="2200" spc="-38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i="1" spc="11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200" i="1" spc="-11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i="1" spc="17" dirty="0">
                <a:solidFill>
                  <a:srgbClr val="008380"/>
                </a:solidFill>
                <a:latin typeface="Times New Roman"/>
                <a:cs typeface="Times New Roman"/>
              </a:rPr>
              <a:t>+ </a:t>
            </a:r>
            <a:r>
              <a:rPr sz="2200" i="1" spc="-11" dirty="0">
                <a:solidFill>
                  <a:srgbClr val="008380"/>
                </a:solidFill>
                <a:latin typeface="Times New Roman"/>
                <a:cs typeface="Times New Roman"/>
              </a:rPr>
              <a:t>k</a:t>
            </a:r>
            <a:r>
              <a:rPr sz="2200" spc="-11" dirty="0">
                <a:solidFill>
                  <a:srgbClr val="008380"/>
                </a:solidFill>
                <a:latin typeface="Times New Roman"/>
                <a:cs typeface="Times New Roman"/>
              </a:rPr>
              <a:t>)	</a:t>
            </a:r>
            <a:r>
              <a:rPr sz="2200" spc="6" dirty="0">
                <a:solidFill>
                  <a:srgbClr val="008380"/>
                </a:solidFill>
                <a:latin typeface="Times New Roman"/>
                <a:cs typeface="Times New Roman"/>
              </a:rPr>
              <a:t>(why?)</a:t>
            </a:r>
            <a:endParaRPr sz="2200" dirty="0">
              <a:latin typeface="Times New Roman"/>
              <a:cs typeface="Times New Roman"/>
            </a:endParaRPr>
          </a:p>
          <a:p>
            <a:pPr marL="356235">
              <a:lnSpc>
                <a:spcPts val="2519"/>
              </a:lnSpc>
            </a:pPr>
            <a:r>
              <a:rPr sz="2200" spc="28" dirty="0">
                <a:latin typeface="Times New Roman"/>
                <a:cs typeface="Times New Roman"/>
              </a:rPr>
              <a:t>→</a:t>
            </a:r>
            <a:r>
              <a:rPr sz="2200" spc="-33" dirty="0">
                <a:latin typeface="Times New Roman"/>
                <a:cs typeface="Times New Roman"/>
              </a:rPr>
              <a:t> </a:t>
            </a:r>
            <a:r>
              <a:rPr sz="2200" spc="-6" dirty="0">
                <a:solidFill>
                  <a:srgbClr val="008380"/>
                </a:solidFill>
                <a:latin typeface="Times New Roman"/>
                <a:cs typeface="Times New Roman"/>
              </a:rPr>
              <a:t>O(</a:t>
            </a:r>
            <a:r>
              <a:rPr sz="2200" i="1" spc="-6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2228" spc="-8" baseline="24691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2200" spc="-6" dirty="0">
                <a:solidFill>
                  <a:srgbClr val="008380"/>
                </a:solidFill>
                <a:latin typeface="Times New Roman"/>
                <a:cs typeface="Times New Roman"/>
              </a:rPr>
              <a:t>)</a:t>
            </a:r>
            <a:r>
              <a:rPr sz="2200" spc="-2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in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worst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case,</a:t>
            </a:r>
            <a:r>
              <a:rPr sz="2200" spc="-38" dirty="0">
                <a:latin typeface="Times New Roman"/>
                <a:cs typeface="Times New Roman"/>
              </a:rPr>
              <a:t> </a:t>
            </a:r>
            <a:r>
              <a:rPr sz="2200" spc="6" dirty="0">
                <a:latin typeface="Times New Roman"/>
                <a:cs typeface="Times New Roman"/>
              </a:rPr>
              <a:t>but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28" dirty="0">
                <a:latin typeface="Times New Roman"/>
                <a:cs typeface="Times New Roman"/>
              </a:rPr>
              <a:t>in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general</a:t>
            </a:r>
          </a:p>
        </p:txBody>
      </p:sp>
      <p:sp>
        <p:nvSpPr>
          <p:cNvPr id="7" name="object 7"/>
          <p:cNvSpPr/>
          <p:nvPr/>
        </p:nvSpPr>
        <p:spPr>
          <a:xfrm>
            <a:off x="1346358" y="2403704"/>
            <a:ext cx="67056" cy="471488"/>
          </a:xfrm>
          <a:custGeom>
            <a:avLst/>
            <a:gdLst/>
            <a:ahLst/>
            <a:cxnLst/>
            <a:rect l="l" t="t" r="r" b="b"/>
            <a:pathLst>
              <a:path w="60959" h="428625">
                <a:moveTo>
                  <a:pt x="60388" y="428625"/>
                </a:moveTo>
                <a:lnTo>
                  <a:pt x="36872" y="423876"/>
                </a:lnTo>
                <a:lnTo>
                  <a:pt x="17678" y="410924"/>
                </a:lnTo>
                <a:lnTo>
                  <a:pt x="4742" y="391709"/>
                </a:lnTo>
                <a:lnTo>
                  <a:pt x="0" y="368173"/>
                </a:lnTo>
                <a:lnTo>
                  <a:pt x="0" y="60325"/>
                </a:lnTo>
                <a:lnTo>
                  <a:pt x="4742" y="36808"/>
                </a:lnTo>
                <a:lnTo>
                  <a:pt x="17678" y="17637"/>
                </a:lnTo>
                <a:lnTo>
                  <a:pt x="36872" y="4728"/>
                </a:lnTo>
                <a:lnTo>
                  <a:pt x="60388" y="0"/>
                </a:lnTo>
              </a:path>
            </a:pathLst>
          </a:custGeom>
          <a:ln w="25400">
            <a:solidFill>
              <a:srgbClr val="008380"/>
            </a:solidFill>
          </a:ln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8" name="object 8"/>
          <p:cNvSpPr/>
          <p:nvPr/>
        </p:nvSpPr>
        <p:spPr>
          <a:xfrm>
            <a:off x="1678076" y="2403704"/>
            <a:ext cx="67056" cy="471488"/>
          </a:xfrm>
          <a:custGeom>
            <a:avLst/>
            <a:gdLst/>
            <a:ahLst/>
            <a:cxnLst/>
            <a:rect l="l" t="t" r="r" b="b"/>
            <a:pathLst>
              <a:path w="60959" h="428625">
                <a:moveTo>
                  <a:pt x="0" y="0"/>
                </a:moveTo>
                <a:lnTo>
                  <a:pt x="23536" y="4728"/>
                </a:lnTo>
                <a:lnTo>
                  <a:pt x="42751" y="17637"/>
                </a:lnTo>
                <a:lnTo>
                  <a:pt x="55703" y="36808"/>
                </a:lnTo>
                <a:lnTo>
                  <a:pt x="60451" y="60325"/>
                </a:lnTo>
                <a:lnTo>
                  <a:pt x="60451" y="368173"/>
                </a:lnTo>
                <a:lnTo>
                  <a:pt x="55703" y="391709"/>
                </a:lnTo>
                <a:lnTo>
                  <a:pt x="42751" y="410924"/>
                </a:lnTo>
                <a:lnTo>
                  <a:pt x="23536" y="423876"/>
                </a:lnTo>
                <a:lnTo>
                  <a:pt x="0" y="428625"/>
                </a:lnTo>
              </a:path>
            </a:pathLst>
          </a:custGeom>
          <a:ln w="25399">
            <a:solidFill>
              <a:srgbClr val="008380"/>
            </a:solidFill>
          </a:ln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9" name="object 9"/>
          <p:cNvSpPr txBox="1"/>
          <p:nvPr/>
        </p:nvSpPr>
        <p:spPr>
          <a:xfrm>
            <a:off x="1461261" y="2249265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spc="11" dirty="0">
                <a:solidFill>
                  <a:srgbClr val="009999"/>
                </a:solidFill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106</a:t>
            </a:fld>
            <a:endParaRPr spc="11" dirty="0"/>
          </a:p>
        </p:txBody>
      </p:sp>
      <p:sp>
        <p:nvSpPr>
          <p:cNvPr id="10" name="object 10"/>
          <p:cNvSpPr txBox="1"/>
          <p:nvPr/>
        </p:nvSpPr>
        <p:spPr>
          <a:xfrm>
            <a:off x="1461261" y="2584824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spc="11" dirty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0050C-FCBC-D50E-21FE-5F2E484D3B27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5033" y="4144855"/>
            <a:ext cx="2034171" cy="149566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775335">
              <a:spcBef>
                <a:spcPts val="143"/>
              </a:spcBef>
            </a:pPr>
            <a:r>
              <a:rPr spc="-6" dirty="0"/>
              <a:t>Output</a:t>
            </a:r>
            <a:r>
              <a:rPr spc="-44" dirty="0"/>
              <a:t> </a:t>
            </a:r>
            <a:r>
              <a:rPr spc="17" dirty="0"/>
              <a:t>size</a:t>
            </a:r>
            <a:r>
              <a:rPr spc="-83" dirty="0"/>
              <a:t> </a:t>
            </a:r>
            <a:r>
              <a:rPr spc="6" dirty="0"/>
              <a:t>for</a:t>
            </a:r>
            <a:r>
              <a:rPr spc="-6" dirty="0"/>
              <a:t> intersections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0" y="1636050"/>
            <a:ext cx="4183317" cy="559320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391160" indent="-377889">
              <a:spcBef>
                <a:spcPts val="138"/>
              </a:spcBef>
              <a:buChar char="•"/>
              <a:tabLst>
                <a:tab pos="391160" algn="l"/>
                <a:tab pos="391859" algn="l"/>
              </a:tabLst>
            </a:pPr>
            <a:r>
              <a:rPr sz="3520" spc="11" dirty="0">
                <a:latin typeface="Times New Roman"/>
                <a:cs typeface="Times New Roman"/>
              </a:rPr>
              <a:t>k</a:t>
            </a:r>
            <a:r>
              <a:rPr sz="3520" spc="-38" dirty="0">
                <a:latin typeface="Times New Roman"/>
                <a:cs typeface="Times New Roman"/>
              </a:rPr>
              <a:t> </a:t>
            </a:r>
            <a:r>
              <a:rPr sz="3520" spc="17" dirty="0">
                <a:latin typeface="Times New Roman"/>
                <a:cs typeface="Times New Roman"/>
              </a:rPr>
              <a:t>=</a:t>
            </a:r>
            <a:r>
              <a:rPr sz="3520" spc="-11" dirty="0">
                <a:latin typeface="Times New Roman"/>
                <a:cs typeface="Times New Roman"/>
              </a:rPr>
              <a:t> </a:t>
            </a:r>
            <a:r>
              <a:rPr sz="3520" spc="11" dirty="0">
                <a:latin typeface="Times New Roman"/>
                <a:cs typeface="Times New Roman"/>
              </a:rPr>
              <a:t>#</a:t>
            </a:r>
            <a:r>
              <a:rPr sz="3520" spc="-33" dirty="0">
                <a:latin typeface="Times New Roman"/>
                <a:cs typeface="Times New Roman"/>
              </a:rPr>
              <a:t> </a:t>
            </a:r>
            <a:r>
              <a:rPr sz="3520" spc="-11" dirty="0">
                <a:latin typeface="Times New Roman"/>
                <a:cs typeface="Times New Roman"/>
              </a:rPr>
              <a:t>of</a:t>
            </a:r>
            <a:r>
              <a:rPr sz="3520" spc="-17" dirty="0">
                <a:latin typeface="Times New Roman"/>
                <a:cs typeface="Times New Roman"/>
              </a:rPr>
              <a:t> </a:t>
            </a:r>
            <a:r>
              <a:rPr sz="3520" spc="-6" dirty="0">
                <a:latin typeface="Times New Roman"/>
                <a:cs typeface="Times New Roman"/>
              </a:rPr>
              <a:t>intersections</a:t>
            </a:r>
            <a:endParaRPr sz="352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089" y="4114626"/>
            <a:ext cx="7337164" cy="23005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52153" y="6410230"/>
            <a:ext cx="954848" cy="560025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520" spc="-77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520" spc="-5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2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107</a:t>
            </a:fld>
            <a:endParaRPr spc="11" dirty="0"/>
          </a:p>
        </p:txBody>
      </p:sp>
      <p:sp>
        <p:nvSpPr>
          <p:cNvPr id="6" name="object 6"/>
          <p:cNvSpPr txBox="1"/>
          <p:nvPr/>
        </p:nvSpPr>
        <p:spPr>
          <a:xfrm>
            <a:off x="6554025" y="6410230"/>
            <a:ext cx="1175576" cy="560025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520" spc="-77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520" spc="-5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-6" dirty="0">
                <a:solidFill>
                  <a:srgbClr val="009999"/>
                </a:solidFill>
                <a:latin typeface="Times New Roman"/>
                <a:cs typeface="Times New Roman"/>
              </a:rPr>
              <a:t>18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029F8-6767-FD98-FCCB-D3B3225483BF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04FB79-0F7A-C19E-DDB3-5275639B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781"/>
            <a:ext cx="7797460" cy="1182727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4101" y="1967350"/>
            <a:ext cx="8395970" cy="1101007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419100" marR="33528" indent="-377889">
              <a:spcBef>
                <a:spcPts val="138"/>
              </a:spcBef>
              <a:buFont typeface="Times New Roman"/>
              <a:buChar char="•"/>
              <a:tabLst>
                <a:tab pos="419100" algn="l"/>
                <a:tab pos="419799" algn="l"/>
              </a:tabLst>
            </a:pPr>
            <a:r>
              <a:rPr sz="3520" dirty="0">
                <a:latin typeface="Times New Roman"/>
                <a:cs typeface="Times New Roman"/>
              </a:rPr>
              <a:t>Range</a:t>
            </a:r>
            <a:r>
              <a:rPr sz="3520" spc="6" dirty="0">
                <a:latin typeface="Times New Roman"/>
                <a:cs typeface="Times New Roman"/>
              </a:rPr>
              <a:t> </a:t>
            </a:r>
            <a:r>
              <a:rPr sz="3520" spc="-11" dirty="0">
                <a:latin typeface="Times New Roman"/>
                <a:cs typeface="Times New Roman"/>
              </a:rPr>
              <a:t>of</a:t>
            </a:r>
            <a:r>
              <a:rPr sz="3520" spc="-6" dirty="0">
                <a:latin typeface="Times New Roman"/>
                <a:cs typeface="Times New Roman"/>
              </a:rPr>
              <a:t> </a:t>
            </a:r>
            <a:r>
              <a:rPr sz="3520" spc="11" dirty="0">
                <a:latin typeface="Times New Roman"/>
                <a:cs typeface="Times New Roman"/>
              </a:rPr>
              <a:t>k</a:t>
            </a:r>
            <a:r>
              <a:rPr sz="3520" spc="-22" dirty="0">
                <a:latin typeface="Times New Roman"/>
                <a:cs typeface="Times New Roman"/>
              </a:rPr>
              <a:t> </a:t>
            </a:r>
            <a:r>
              <a:rPr sz="3520" spc="6" dirty="0">
                <a:latin typeface="Times New Roman"/>
                <a:cs typeface="Times New Roman"/>
              </a:rPr>
              <a:t>can</a:t>
            </a:r>
            <a:r>
              <a:rPr sz="3520" spc="-28" dirty="0">
                <a:latin typeface="Times New Roman"/>
                <a:cs typeface="Times New Roman"/>
              </a:rPr>
              <a:t> </a:t>
            </a:r>
            <a:r>
              <a:rPr sz="3520" spc="-11" dirty="0">
                <a:latin typeface="Times New Roman"/>
                <a:cs typeface="Times New Roman"/>
              </a:rPr>
              <a:t>go</a:t>
            </a:r>
            <a:r>
              <a:rPr sz="3520" spc="-22" dirty="0">
                <a:latin typeface="Times New Roman"/>
                <a:cs typeface="Times New Roman"/>
              </a:rPr>
              <a:t> </a:t>
            </a:r>
            <a:r>
              <a:rPr sz="3520" spc="6" dirty="0">
                <a:latin typeface="Times New Roman"/>
                <a:cs typeface="Times New Roman"/>
              </a:rPr>
              <a:t>from</a:t>
            </a:r>
            <a:r>
              <a:rPr sz="3520" spc="-11" dirty="0">
                <a:latin typeface="Times New Roman"/>
                <a:cs typeface="Times New Roman"/>
              </a:rPr>
              <a:t> </a:t>
            </a:r>
            <a:r>
              <a:rPr sz="3520" spc="11" dirty="0">
                <a:latin typeface="Times New Roman"/>
                <a:cs typeface="Times New Roman"/>
              </a:rPr>
              <a:t>0</a:t>
            </a:r>
            <a:r>
              <a:rPr sz="3520" spc="-28" dirty="0">
                <a:latin typeface="Times New Roman"/>
                <a:cs typeface="Times New Roman"/>
              </a:rPr>
              <a:t> </a:t>
            </a:r>
            <a:r>
              <a:rPr sz="3520" spc="11" dirty="0">
                <a:latin typeface="Times New Roman"/>
                <a:cs typeface="Times New Roman"/>
              </a:rPr>
              <a:t>to</a:t>
            </a:r>
            <a:r>
              <a:rPr sz="3520" spc="-17" dirty="0">
                <a:latin typeface="Times New Roman"/>
                <a:cs typeface="Times New Roman"/>
              </a:rPr>
              <a:t> </a:t>
            </a:r>
            <a:r>
              <a:rPr lang="en-IN" sz="3520" spc="-17" dirty="0">
                <a:latin typeface="Times New Roman"/>
                <a:cs typeface="Times New Roman"/>
              </a:rPr>
              <a:t>order of </a:t>
            </a:r>
            <a:r>
              <a:rPr sz="3520" spc="11" dirty="0">
                <a:latin typeface="Times New Roman"/>
                <a:cs typeface="Times New Roman"/>
              </a:rPr>
              <a:t>n</a:t>
            </a:r>
            <a:r>
              <a:rPr lang="en-IN" sz="3520" spc="11" baseline="30000" dirty="0">
                <a:latin typeface="Times New Roman"/>
                <a:cs typeface="Times New Roman"/>
              </a:rPr>
              <a:t>2</a:t>
            </a:r>
            <a:r>
              <a:rPr sz="3520" spc="-11" dirty="0">
                <a:latin typeface="Times New Roman"/>
                <a:cs typeface="Times New Roman"/>
              </a:rPr>
              <a:t>,</a:t>
            </a:r>
            <a:r>
              <a:rPr sz="3520" spc="38" dirty="0">
                <a:latin typeface="Times New Roman"/>
                <a:cs typeface="Times New Roman"/>
              </a:rPr>
              <a:t> </a:t>
            </a:r>
            <a:r>
              <a:rPr sz="3520" spc="-6" dirty="0">
                <a:latin typeface="Times New Roman"/>
                <a:cs typeface="Times New Roman"/>
              </a:rPr>
              <a:t>i.e., </a:t>
            </a:r>
            <a:r>
              <a:rPr sz="3520" spc="-864" dirty="0">
                <a:latin typeface="Times New Roman"/>
                <a:cs typeface="Times New Roman"/>
              </a:rPr>
              <a:t> </a:t>
            </a:r>
            <a:r>
              <a:rPr sz="3520" dirty="0">
                <a:latin typeface="Times New Roman"/>
                <a:cs typeface="Times New Roman"/>
              </a:rPr>
              <a:t>n(n-1)/2,</a:t>
            </a:r>
            <a:r>
              <a:rPr sz="3520" spc="-50" dirty="0">
                <a:latin typeface="Times New Roman"/>
                <a:cs typeface="Times New Roman"/>
              </a:rPr>
              <a:t> </a:t>
            </a:r>
            <a:r>
              <a:rPr sz="3520" spc="6" dirty="0">
                <a:latin typeface="Times New Roman"/>
                <a:cs typeface="Times New Roman"/>
              </a:rPr>
              <a:t>which</a:t>
            </a:r>
            <a:r>
              <a:rPr sz="3520" spc="-22" dirty="0">
                <a:latin typeface="Times New Roman"/>
                <a:cs typeface="Times New Roman"/>
              </a:rPr>
              <a:t> </a:t>
            </a:r>
            <a:r>
              <a:rPr sz="3520" spc="6" dirty="0">
                <a:latin typeface="Times New Roman"/>
                <a:cs typeface="Times New Roman"/>
              </a:rPr>
              <a:t>is</a:t>
            </a:r>
            <a:r>
              <a:rPr sz="3520" spc="-44" dirty="0">
                <a:latin typeface="Times New Roman"/>
                <a:cs typeface="Times New Roman"/>
              </a:rPr>
              <a:t> </a:t>
            </a:r>
            <a:r>
              <a:rPr sz="3520" dirty="0">
                <a:latin typeface="Times New Roman"/>
                <a:cs typeface="Times New Roman"/>
              </a:rPr>
              <a:t>O(n</a:t>
            </a:r>
            <a:r>
              <a:rPr sz="3465" baseline="26455" dirty="0">
                <a:latin typeface="Times New Roman"/>
                <a:cs typeface="Times New Roman"/>
              </a:rPr>
              <a:t>2</a:t>
            </a:r>
            <a:r>
              <a:rPr sz="3520" dirty="0">
                <a:latin typeface="Times New Roman"/>
                <a:cs typeface="Times New Roman"/>
              </a:rPr>
              <a:t>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9179" y="3715408"/>
            <a:ext cx="2329078" cy="25106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2794" y="3550920"/>
            <a:ext cx="2744407" cy="44922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775335">
              <a:spcBef>
                <a:spcPts val="143"/>
              </a:spcBef>
            </a:pPr>
            <a:r>
              <a:rPr sz="14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  <a:r>
              <a:rPr sz="1400" b="1" spc="-4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1400" b="1" spc="1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</a:t>
            </a:r>
            <a:r>
              <a:rPr sz="1400" b="1" spc="-8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1400" b="1" spc="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14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intersections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73618" y="6584855"/>
            <a:ext cx="956247" cy="560025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520" spc="-77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520" spc="-5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0</a:t>
            </a:r>
            <a:endParaRPr sz="352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6965" y="6584855"/>
            <a:ext cx="2744407" cy="560025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k</a:t>
            </a:r>
            <a:r>
              <a:rPr sz="3520" spc="-5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520" spc="-33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dirty="0">
                <a:solidFill>
                  <a:srgbClr val="009999"/>
                </a:solidFill>
                <a:latin typeface="Times New Roman"/>
                <a:cs typeface="Times New Roman"/>
              </a:rPr>
              <a:t>6(5)/2</a:t>
            </a:r>
            <a:r>
              <a:rPr sz="3520" spc="-44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17" dirty="0">
                <a:solidFill>
                  <a:srgbClr val="009999"/>
                </a:solidFill>
                <a:latin typeface="Times New Roman"/>
                <a:cs typeface="Times New Roman"/>
              </a:rPr>
              <a:t>=</a:t>
            </a:r>
            <a:r>
              <a:rPr sz="3520" spc="-10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3520" spc="33" dirty="0">
                <a:solidFill>
                  <a:srgbClr val="009999"/>
                </a:solidFill>
                <a:latin typeface="Times New Roman"/>
                <a:cs typeface="Times New Roman"/>
              </a:rPr>
              <a:t>15</a:t>
            </a:r>
            <a:endParaRPr sz="352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318" y="3550920"/>
            <a:ext cx="3447098" cy="31537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108</a:t>
            </a:fld>
            <a:endParaRPr spc="1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852E6-6D9F-EC17-AE62-282C89BB8FB1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EDD053-5C2B-1992-2052-20508C90C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0781"/>
            <a:ext cx="7797460" cy="1182727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6463" y="378003"/>
            <a:ext cx="1262380" cy="332740"/>
          </a:xfrm>
          <a:custGeom>
            <a:avLst/>
            <a:gdLst/>
            <a:ahLst/>
            <a:cxnLst/>
            <a:rect l="l" t="t" r="r" b="b"/>
            <a:pathLst>
              <a:path w="1262379" h="332740">
                <a:moveTo>
                  <a:pt x="44196" y="327660"/>
                </a:moveTo>
                <a:lnTo>
                  <a:pt x="44196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close/>
              </a:path>
              <a:path w="1262379" h="332740">
                <a:moveTo>
                  <a:pt x="254508" y="319102"/>
                </a:moveTo>
                <a:lnTo>
                  <a:pt x="254508" y="260604"/>
                </a:lnTo>
                <a:lnTo>
                  <a:pt x="252984" y="268224"/>
                </a:lnTo>
                <a:lnTo>
                  <a:pt x="249936" y="274320"/>
                </a:lnTo>
                <a:lnTo>
                  <a:pt x="213360" y="297180"/>
                </a:lnTo>
                <a:lnTo>
                  <a:pt x="201168" y="298704"/>
                </a:lnTo>
                <a:lnTo>
                  <a:pt x="187452" y="297180"/>
                </a:lnTo>
                <a:lnTo>
                  <a:pt x="147828" y="269748"/>
                </a:lnTo>
                <a:lnTo>
                  <a:pt x="141732" y="249936"/>
                </a:lnTo>
                <a:lnTo>
                  <a:pt x="100584" y="256032"/>
                </a:lnTo>
                <a:lnTo>
                  <a:pt x="118872" y="301752"/>
                </a:lnTo>
                <a:lnTo>
                  <a:pt x="160020" y="326136"/>
                </a:lnTo>
                <a:lnTo>
                  <a:pt x="199644" y="332232"/>
                </a:lnTo>
                <a:lnTo>
                  <a:pt x="227076" y="329184"/>
                </a:lnTo>
                <a:lnTo>
                  <a:pt x="249936" y="321564"/>
                </a:lnTo>
                <a:lnTo>
                  <a:pt x="254508" y="319102"/>
                </a:lnTo>
                <a:close/>
              </a:path>
              <a:path w="1262379" h="332740">
                <a:moveTo>
                  <a:pt x="286512" y="153924"/>
                </a:moveTo>
                <a:lnTo>
                  <a:pt x="272796" y="115824"/>
                </a:lnTo>
                <a:lnTo>
                  <a:pt x="240792" y="92964"/>
                </a:lnTo>
                <a:lnTo>
                  <a:pt x="192024" y="85344"/>
                </a:lnTo>
                <a:lnTo>
                  <a:pt x="175260" y="85344"/>
                </a:lnTo>
                <a:lnTo>
                  <a:pt x="132588" y="100584"/>
                </a:lnTo>
                <a:lnTo>
                  <a:pt x="108204" y="137160"/>
                </a:lnTo>
                <a:lnTo>
                  <a:pt x="106680" y="152400"/>
                </a:lnTo>
                <a:lnTo>
                  <a:pt x="108204" y="169164"/>
                </a:lnTo>
                <a:lnTo>
                  <a:pt x="114300" y="184404"/>
                </a:lnTo>
                <a:lnTo>
                  <a:pt x="126492" y="198120"/>
                </a:lnTo>
                <a:lnTo>
                  <a:pt x="141732" y="207264"/>
                </a:lnTo>
                <a:lnTo>
                  <a:pt x="147828" y="209876"/>
                </a:lnTo>
                <a:lnTo>
                  <a:pt x="147828" y="147828"/>
                </a:lnTo>
                <a:lnTo>
                  <a:pt x="149352" y="137160"/>
                </a:lnTo>
                <a:lnTo>
                  <a:pt x="158496" y="126492"/>
                </a:lnTo>
                <a:lnTo>
                  <a:pt x="164592" y="123444"/>
                </a:lnTo>
                <a:lnTo>
                  <a:pt x="173736" y="120396"/>
                </a:lnTo>
                <a:lnTo>
                  <a:pt x="182880" y="118872"/>
                </a:lnTo>
                <a:lnTo>
                  <a:pt x="195072" y="118872"/>
                </a:lnTo>
                <a:lnTo>
                  <a:pt x="214884" y="120396"/>
                </a:lnTo>
                <a:lnTo>
                  <a:pt x="230124" y="129540"/>
                </a:lnTo>
                <a:lnTo>
                  <a:pt x="239268" y="141732"/>
                </a:lnTo>
                <a:lnTo>
                  <a:pt x="245364" y="160020"/>
                </a:lnTo>
                <a:lnTo>
                  <a:pt x="286512" y="153924"/>
                </a:lnTo>
                <a:close/>
              </a:path>
              <a:path w="1262379" h="332740">
                <a:moveTo>
                  <a:pt x="295656" y="256032"/>
                </a:moveTo>
                <a:lnTo>
                  <a:pt x="272796" y="210312"/>
                </a:lnTo>
                <a:lnTo>
                  <a:pt x="246888" y="198120"/>
                </a:lnTo>
                <a:lnTo>
                  <a:pt x="234696" y="193548"/>
                </a:lnTo>
                <a:lnTo>
                  <a:pt x="217932" y="187452"/>
                </a:lnTo>
                <a:lnTo>
                  <a:pt x="187452" y="179832"/>
                </a:lnTo>
                <a:lnTo>
                  <a:pt x="176784" y="176784"/>
                </a:lnTo>
                <a:lnTo>
                  <a:pt x="170688" y="173736"/>
                </a:lnTo>
                <a:lnTo>
                  <a:pt x="166116" y="172212"/>
                </a:lnTo>
                <a:lnTo>
                  <a:pt x="156972" y="167640"/>
                </a:lnTo>
                <a:lnTo>
                  <a:pt x="147828" y="155448"/>
                </a:lnTo>
                <a:lnTo>
                  <a:pt x="147828" y="209876"/>
                </a:lnTo>
                <a:lnTo>
                  <a:pt x="152400" y="211836"/>
                </a:lnTo>
                <a:lnTo>
                  <a:pt x="166116" y="216408"/>
                </a:lnTo>
                <a:lnTo>
                  <a:pt x="181356" y="220980"/>
                </a:lnTo>
                <a:lnTo>
                  <a:pt x="201168" y="227076"/>
                </a:lnTo>
                <a:lnTo>
                  <a:pt x="214884" y="230124"/>
                </a:lnTo>
                <a:lnTo>
                  <a:pt x="227076" y="233172"/>
                </a:lnTo>
                <a:lnTo>
                  <a:pt x="234696" y="237744"/>
                </a:lnTo>
                <a:lnTo>
                  <a:pt x="240792" y="239268"/>
                </a:lnTo>
                <a:lnTo>
                  <a:pt x="246888" y="243840"/>
                </a:lnTo>
                <a:lnTo>
                  <a:pt x="249936" y="248412"/>
                </a:lnTo>
                <a:lnTo>
                  <a:pt x="252984" y="254508"/>
                </a:lnTo>
                <a:lnTo>
                  <a:pt x="254508" y="260604"/>
                </a:lnTo>
                <a:lnTo>
                  <a:pt x="254508" y="319102"/>
                </a:lnTo>
                <a:lnTo>
                  <a:pt x="269748" y="310896"/>
                </a:lnTo>
                <a:lnTo>
                  <a:pt x="283464" y="294132"/>
                </a:lnTo>
                <a:lnTo>
                  <a:pt x="292608" y="275844"/>
                </a:lnTo>
                <a:lnTo>
                  <a:pt x="295656" y="256032"/>
                </a:lnTo>
                <a:close/>
              </a:path>
              <a:path w="1262379" h="332740">
                <a:moveTo>
                  <a:pt x="483108" y="319102"/>
                </a:moveTo>
                <a:lnTo>
                  <a:pt x="483108" y="260604"/>
                </a:lnTo>
                <a:lnTo>
                  <a:pt x="481584" y="268224"/>
                </a:lnTo>
                <a:lnTo>
                  <a:pt x="478536" y="274320"/>
                </a:lnTo>
                <a:lnTo>
                  <a:pt x="441960" y="297180"/>
                </a:lnTo>
                <a:lnTo>
                  <a:pt x="429768" y="298704"/>
                </a:lnTo>
                <a:lnTo>
                  <a:pt x="416052" y="297180"/>
                </a:lnTo>
                <a:lnTo>
                  <a:pt x="376428" y="269748"/>
                </a:lnTo>
                <a:lnTo>
                  <a:pt x="370332" y="249936"/>
                </a:lnTo>
                <a:lnTo>
                  <a:pt x="329184" y="256032"/>
                </a:lnTo>
                <a:lnTo>
                  <a:pt x="347472" y="301752"/>
                </a:lnTo>
                <a:lnTo>
                  <a:pt x="388620" y="326136"/>
                </a:lnTo>
                <a:lnTo>
                  <a:pt x="428244" y="332232"/>
                </a:lnTo>
                <a:lnTo>
                  <a:pt x="455676" y="329184"/>
                </a:lnTo>
                <a:lnTo>
                  <a:pt x="478536" y="321564"/>
                </a:lnTo>
                <a:lnTo>
                  <a:pt x="483108" y="319102"/>
                </a:lnTo>
                <a:close/>
              </a:path>
              <a:path w="1262379" h="332740">
                <a:moveTo>
                  <a:pt x="515112" y="153924"/>
                </a:moveTo>
                <a:lnTo>
                  <a:pt x="501396" y="115824"/>
                </a:lnTo>
                <a:lnTo>
                  <a:pt x="469392" y="92964"/>
                </a:lnTo>
                <a:lnTo>
                  <a:pt x="420624" y="85344"/>
                </a:lnTo>
                <a:lnTo>
                  <a:pt x="403860" y="85344"/>
                </a:lnTo>
                <a:lnTo>
                  <a:pt x="361188" y="100584"/>
                </a:lnTo>
                <a:lnTo>
                  <a:pt x="336804" y="137160"/>
                </a:lnTo>
                <a:lnTo>
                  <a:pt x="335280" y="152400"/>
                </a:lnTo>
                <a:lnTo>
                  <a:pt x="336804" y="169164"/>
                </a:lnTo>
                <a:lnTo>
                  <a:pt x="342900" y="184404"/>
                </a:lnTo>
                <a:lnTo>
                  <a:pt x="355092" y="198120"/>
                </a:lnTo>
                <a:lnTo>
                  <a:pt x="370332" y="207264"/>
                </a:lnTo>
                <a:lnTo>
                  <a:pt x="376428" y="209876"/>
                </a:lnTo>
                <a:lnTo>
                  <a:pt x="376428" y="147828"/>
                </a:lnTo>
                <a:lnTo>
                  <a:pt x="377952" y="137160"/>
                </a:lnTo>
                <a:lnTo>
                  <a:pt x="387096" y="126492"/>
                </a:lnTo>
                <a:lnTo>
                  <a:pt x="393192" y="123444"/>
                </a:lnTo>
                <a:lnTo>
                  <a:pt x="402336" y="120396"/>
                </a:lnTo>
                <a:lnTo>
                  <a:pt x="411480" y="118872"/>
                </a:lnTo>
                <a:lnTo>
                  <a:pt x="423672" y="118872"/>
                </a:lnTo>
                <a:lnTo>
                  <a:pt x="443484" y="120396"/>
                </a:lnTo>
                <a:lnTo>
                  <a:pt x="458724" y="129540"/>
                </a:lnTo>
                <a:lnTo>
                  <a:pt x="467868" y="141732"/>
                </a:lnTo>
                <a:lnTo>
                  <a:pt x="473964" y="160020"/>
                </a:lnTo>
                <a:lnTo>
                  <a:pt x="515112" y="153924"/>
                </a:lnTo>
                <a:close/>
              </a:path>
              <a:path w="1262379" h="332740">
                <a:moveTo>
                  <a:pt x="524256" y="256032"/>
                </a:moveTo>
                <a:lnTo>
                  <a:pt x="501396" y="210312"/>
                </a:lnTo>
                <a:lnTo>
                  <a:pt x="475488" y="198120"/>
                </a:lnTo>
                <a:lnTo>
                  <a:pt x="463296" y="193548"/>
                </a:lnTo>
                <a:lnTo>
                  <a:pt x="446532" y="187452"/>
                </a:lnTo>
                <a:lnTo>
                  <a:pt x="416052" y="179832"/>
                </a:lnTo>
                <a:lnTo>
                  <a:pt x="405384" y="176784"/>
                </a:lnTo>
                <a:lnTo>
                  <a:pt x="399288" y="173736"/>
                </a:lnTo>
                <a:lnTo>
                  <a:pt x="394716" y="172212"/>
                </a:lnTo>
                <a:lnTo>
                  <a:pt x="385572" y="167640"/>
                </a:lnTo>
                <a:lnTo>
                  <a:pt x="376428" y="155448"/>
                </a:lnTo>
                <a:lnTo>
                  <a:pt x="376428" y="209876"/>
                </a:lnTo>
                <a:lnTo>
                  <a:pt x="381000" y="211836"/>
                </a:lnTo>
                <a:lnTo>
                  <a:pt x="394716" y="216408"/>
                </a:lnTo>
                <a:lnTo>
                  <a:pt x="409956" y="220980"/>
                </a:lnTo>
                <a:lnTo>
                  <a:pt x="429768" y="227076"/>
                </a:lnTo>
                <a:lnTo>
                  <a:pt x="443484" y="230124"/>
                </a:lnTo>
                <a:lnTo>
                  <a:pt x="455676" y="233172"/>
                </a:lnTo>
                <a:lnTo>
                  <a:pt x="463296" y="237744"/>
                </a:lnTo>
                <a:lnTo>
                  <a:pt x="469392" y="239268"/>
                </a:lnTo>
                <a:lnTo>
                  <a:pt x="475488" y="243840"/>
                </a:lnTo>
                <a:lnTo>
                  <a:pt x="478536" y="248412"/>
                </a:lnTo>
                <a:lnTo>
                  <a:pt x="481584" y="254508"/>
                </a:lnTo>
                <a:lnTo>
                  <a:pt x="483108" y="260604"/>
                </a:lnTo>
                <a:lnTo>
                  <a:pt x="483108" y="319102"/>
                </a:lnTo>
                <a:lnTo>
                  <a:pt x="498348" y="310896"/>
                </a:lnTo>
                <a:lnTo>
                  <a:pt x="512064" y="294132"/>
                </a:lnTo>
                <a:lnTo>
                  <a:pt x="521208" y="275844"/>
                </a:lnTo>
                <a:lnTo>
                  <a:pt x="524256" y="256032"/>
                </a:lnTo>
                <a:close/>
              </a:path>
              <a:path w="1262379" h="332740">
                <a:moveTo>
                  <a:pt x="765048" y="327660"/>
                </a:moveTo>
                <a:lnTo>
                  <a:pt x="765048" y="89916"/>
                </a:lnTo>
                <a:lnTo>
                  <a:pt x="723900" y="89916"/>
                </a:lnTo>
                <a:lnTo>
                  <a:pt x="723900" y="216408"/>
                </a:lnTo>
                <a:lnTo>
                  <a:pt x="722376" y="230124"/>
                </a:lnTo>
                <a:lnTo>
                  <a:pt x="707136" y="275844"/>
                </a:lnTo>
                <a:lnTo>
                  <a:pt x="659892" y="297180"/>
                </a:lnTo>
                <a:lnTo>
                  <a:pt x="644652" y="294132"/>
                </a:lnTo>
                <a:lnTo>
                  <a:pt x="630936" y="288036"/>
                </a:lnTo>
                <a:lnTo>
                  <a:pt x="620268" y="277368"/>
                </a:lnTo>
                <a:lnTo>
                  <a:pt x="614172" y="262128"/>
                </a:lnTo>
                <a:lnTo>
                  <a:pt x="612648" y="256032"/>
                </a:lnTo>
                <a:lnTo>
                  <a:pt x="612648" y="89916"/>
                </a:lnTo>
                <a:lnTo>
                  <a:pt x="571500" y="89916"/>
                </a:lnTo>
                <a:lnTo>
                  <a:pt x="571500" y="266700"/>
                </a:lnTo>
                <a:lnTo>
                  <a:pt x="573024" y="272796"/>
                </a:lnTo>
                <a:lnTo>
                  <a:pt x="597408" y="313944"/>
                </a:lnTo>
                <a:lnTo>
                  <a:pt x="632460" y="329184"/>
                </a:lnTo>
                <a:lnTo>
                  <a:pt x="652272" y="332232"/>
                </a:lnTo>
                <a:lnTo>
                  <a:pt x="675132" y="329184"/>
                </a:lnTo>
                <a:lnTo>
                  <a:pt x="694944" y="321564"/>
                </a:lnTo>
                <a:lnTo>
                  <a:pt x="713232" y="309372"/>
                </a:lnTo>
                <a:lnTo>
                  <a:pt x="728472" y="291084"/>
                </a:lnTo>
                <a:lnTo>
                  <a:pt x="728472" y="327660"/>
                </a:lnTo>
                <a:lnTo>
                  <a:pt x="765048" y="327660"/>
                </a:lnTo>
                <a:close/>
              </a:path>
              <a:path w="1262379" h="332740">
                <a:moveTo>
                  <a:pt x="1033272" y="208788"/>
                </a:moveTo>
                <a:lnTo>
                  <a:pt x="1025652" y="155448"/>
                </a:lnTo>
                <a:lnTo>
                  <a:pt x="1002792" y="117348"/>
                </a:lnTo>
                <a:lnTo>
                  <a:pt x="967740" y="92964"/>
                </a:lnTo>
                <a:lnTo>
                  <a:pt x="923544" y="85344"/>
                </a:lnTo>
                <a:lnTo>
                  <a:pt x="899160" y="86868"/>
                </a:lnTo>
                <a:lnTo>
                  <a:pt x="859536" y="103632"/>
                </a:lnTo>
                <a:lnTo>
                  <a:pt x="829056" y="135636"/>
                </a:lnTo>
                <a:lnTo>
                  <a:pt x="813816" y="181356"/>
                </a:lnTo>
                <a:lnTo>
                  <a:pt x="812292" y="210312"/>
                </a:lnTo>
                <a:lnTo>
                  <a:pt x="813816" y="237744"/>
                </a:lnTo>
                <a:lnTo>
                  <a:pt x="819912" y="260604"/>
                </a:lnTo>
                <a:lnTo>
                  <a:pt x="829056" y="281940"/>
                </a:lnTo>
                <a:lnTo>
                  <a:pt x="842772" y="300228"/>
                </a:lnTo>
                <a:lnTo>
                  <a:pt x="853440" y="308956"/>
                </a:lnTo>
                <a:lnTo>
                  <a:pt x="853440" y="219456"/>
                </a:lnTo>
                <a:lnTo>
                  <a:pt x="854964" y="219456"/>
                </a:lnTo>
                <a:lnTo>
                  <a:pt x="854964" y="185928"/>
                </a:lnTo>
                <a:lnTo>
                  <a:pt x="856488" y="170688"/>
                </a:lnTo>
                <a:lnTo>
                  <a:pt x="876300" y="137160"/>
                </a:lnTo>
                <a:lnTo>
                  <a:pt x="909828" y="118872"/>
                </a:lnTo>
                <a:lnTo>
                  <a:pt x="923544" y="118872"/>
                </a:lnTo>
                <a:lnTo>
                  <a:pt x="964692" y="131064"/>
                </a:lnTo>
                <a:lnTo>
                  <a:pt x="989076" y="172212"/>
                </a:lnTo>
                <a:lnTo>
                  <a:pt x="992124" y="185928"/>
                </a:lnTo>
                <a:lnTo>
                  <a:pt x="992124" y="219456"/>
                </a:lnTo>
                <a:lnTo>
                  <a:pt x="1031748" y="219456"/>
                </a:lnTo>
                <a:lnTo>
                  <a:pt x="1031748" y="211836"/>
                </a:lnTo>
                <a:lnTo>
                  <a:pt x="1033272" y="208788"/>
                </a:lnTo>
                <a:close/>
              </a:path>
              <a:path w="1262379" h="332740">
                <a:moveTo>
                  <a:pt x="1031748" y="256032"/>
                </a:moveTo>
                <a:lnTo>
                  <a:pt x="990600" y="249936"/>
                </a:lnTo>
                <a:lnTo>
                  <a:pt x="986028" y="260604"/>
                </a:lnTo>
                <a:lnTo>
                  <a:pt x="979932" y="271272"/>
                </a:lnTo>
                <a:lnTo>
                  <a:pt x="972312" y="280416"/>
                </a:lnTo>
                <a:lnTo>
                  <a:pt x="964692" y="286512"/>
                </a:lnTo>
                <a:lnTo>
                  <a:pt x="947928" y="295656"/>
                </a:lnTo>
                <a:lnTo>
                  <a:pt x="926592" y="298704"/>
                </a:lnTo>
                <a:lnTo>
                  <a:pt x="911352" y="297180"/>
                </a:lnTo>
                <a:lnTo>
                  <a:pt x="874776" y="277368"/>
                </a:lnTo>
                <a:lnTo>
                  <a:pt x="854964" y="236220"/>
                </a:lnTo>
                <a:lnTo>
                  <a:pt x="853440" y="219456"/>
                </a:lnTo>
                <a:lnTo>
                  <a:pt x="853440" y="308956"/>
                </a:lnTo>
                <a:lnTo>
                  <a:pt x="859536" y="313944"/>
                </a:lnTo>
                <a:lnTo>
                  <a:pt x="879348" y="323088"/>
                </a:lnTo>
                <a:lnTo>
                  <a:pt x="900684" y="329184"/>
                </a:lnTo>
                <a:lnTo>
                  <a:pt x="925068" y="332232"/>
                </a:lnTo>
                <a:lnTo>
                  <a:pt x="946404" y="330708"/>
                </a:lnTo>
                <a:lnTo>
                  <a:pt x="995172" y="310896"/>
                </a:lnTo>
                <a:lnTo>
                  <a:pt x="1025652" y="272796"/>
                </a:lnTo>
                <a:lnTo>
                  <a:pt x="1031748" y="256032"/>
                </a:lnTo>
                <a:close/>
              </a:path>
              <a:path w="1262379" h="332740">
                <a:moveTo>
                  <a:pt x="992124" y="219456"/>
                </a:moveTo>
                <a:lnTo>
                  <a:pt x="992124" y="185928"/>
                </a:lnTo>
                <a:lnTo>
                  <a:pt x="854964" y="185928"/>
                </a:lnTo>
                <a:lnTo>
                  <a:pt x="854964" y="219456"/>
                </a:lnTo>
                <a:lnTo>
                  <a:pt x="992124" y="219456"/>
                </a:lnTo>
                <a:close/>
              </a:path>
              <a:path w="1262379" h="332740">
                <a:moveTo>
                  <a:pt x="1220724" y="319102"/>
                </a:moveTo>
                <a:lnTo>
                  <a:pt x="1220724" y="260604"/>
                </a:lnTo>
                <a:lnTo>
                  <a:pt x="1219200" y="268224"/>
                </a:lnTo>
                <a:lnTo>
                  <a:pt x="1216152" y="274320"/>
                </a:lnTo>
                <a:lnTo>
                  <a:pt x="1179576" y="297180"/>
                </a:lnTo>
                <a:lnTo>
                  <a:pt x="1167384" y="298704"/>
                </a:lnTo>
                <a:lnTo>
                  <a:pt x="1153668" y="297180"/>
                </a:lnTo>
                <a:lnTo>
                  <a:pt x="1114044" y="269748"/>
                </a:lnTo>
                <a:lnTo>
                  <a:pt x="1107948" y="249936"/>
                </a:lnTo>
                <a:lnTo>
                  <a:pt x="1066800" y="256032"/>
                </a:lnTo>
                <a:lnTo>
                  <a:pt x="1085088" y="301752"/>
                </a:lnTo>
                <a:lnTo>
                  <a:pt x="1126236" y="326136"/>
                </a:lnTo>
                <a:lnTo>
                  <a:pt x="1165860" y="332232"/>
                </a:lnTo>
                <a:lnTo>
                  <a:pt x="1193292" y="329184"/>
                </a:lnTo>
                <a:lnTo>
                  <a:pt x="1216152" y="321564"/>
                </a:lnTo>
                <a:lnTo>
                  <a:pt x="1220724" y="319102"/>
                </a:lnTo>
                <a:close/>
              </a:path>
              <a:path w="1262379" h="332740">
                <a:moveTo>
                  <a:pt x="1252728" y="153924"/>
                </a:moveTo>
                <a:lnTo>
                  <a:pt x="1239012" y="115824"/>
                </a:lnTo>
                <a:lnTo>
                  <a:pt x="1207008" y="92964"/>
                </a:lnTo>
                <a:lnTo>
                  <a:pt x="1158240" y="85344"/>
                </a:lnTo>
                <a:lnTo>
                  <a:pt x="1141476" y="85344"/>
                </a:lnTo>
                <a:lnTo>
                  <a:pt x="1098804" y="100584"/>
                </a:lnTo>
                <a:lnTo>
                  <a:pt x="1074420" y="137160"/>
                </a:lnTo>
                <a:lnTo>
                  <a:pt x="1072896" y="152400"/>
                </a:lnTo>
                <a:lnTo>
                  <a:pt x="1074420" y="169164"/>
                </a:lnTo>
                <a:lnTo>
                  <a:pt x="1080516" y="184404"/>
                </a:lnTo>
                <a:lnTo>
                  <a:pt x="1092708" y="198120"/>
                </a:lnTo>
                <a:lnTo>
                  <a:pt x="1107948" y="207264"/>
                </a:lnTo>
                <a:lnTo>
                  <a:pt x="1114044" y="209876"/>
                </a:lnTo>
                <a:lnTo>
                  <a:pt x="1114044" y="147828"/>
                </a:lnTo>
                <a:lnTo>
                  <a:pt x="1115568" y="137160"/>
                </a:lnTo>
                <a:lnTo>
                  <a:pt x="1124712" y="126492"/>
                </a:lnTo>
                <a:lnTo>
                  <a:pt x="1130808" y="123444"/>
                </a:lnTo>
                <a:lnTo>
                  <a:pt x="1139952" y="120396"/>
                </a:lnTo>
                <a:lnTo>
                  <a:pt x="1149096" y="118872"/>
                </a:lnTo>
                <a:lnTo>
                  <a:pt x="1161288" y="118872"/>
                </a:lnTo>
                <a:lnTo>
                  <a:pt x="1181100" y="120396"/>
                </a:lnTo>
                <a:lnTo>
                  <a:pt x="1196340" y="129540"/>
                </a:lnTo>
                <a:lnTo>
                  <a:pt x="1205484" y="141732"/>
                </a:lnTo>
                <a:lnTo>
                  <a:pt x="1211580" y="160020"/>
                </a:lnTo>
                <a:lnTo>
                  <a:pt x="1252728" y="153924"/>
                </a:lnTo>
                <a:close/>
              </a:path>
              <a:path w="1262379" h="332740">
                <a:moveTo>
                  <a:pt x="1261872" y="256032"/>
                </a:moveTo>
                <a:lnTo>
                  <a:pt x="1239012" y="210312"/>
                </a:lnTo>
                <a:lnTo>
                  <a:pt x="1213104" y="198120"/>
                </a:lnTo>
                <a:lnTo>
                  <a:pt x="1200912" y="193548"/>
                </a:lnTo>
                <a:lnTo>
                  <a:pt x="1184148" y="187452"/>
                </a:lnTo>
                <a:lnTo>
                  <a:pt x="1153668" y="179832"/>
                </a:lnTo>
                <a:lnTo>
                  <a:pt x="1143000" y="176784"/>
                </a:lnTo>
                <a:lnTo>
                  <a:pt x="1136904" y="173736"/>
                </a:lnTo>
                <a:lnTo>
                  <a:pt x="1132332" y="172212"/>
                </a:lnTo>
                <a:lnTo>
                  <a:pt x="1123188" y="167640"/>
                </a:lnTo>
                <a:lnTo>
                  <a:pt x="1114044" y="155448"/>
                </a:lnTo>
                <a:lnTo>
                  <a:pt x="1114044" y="209876"/>
                </a:lnTo>
                <a:lnTo>
                  <a:pt x="1118616" y="211836"/>
                </a:lnTo>
                <a:lnTo>
                  <a:pt x="1132332" y="216408"/>
                </a:lnTo>
                <a:lnTo>
                  <a:pt x="1147572" y="220980"/>
                </a:lnTo>
                <a:lnTo>
                  <a:pt x="1167384" y="227076"/>
                </a:lnTo>
                <a:lnTo>
                  <a:pt x="1181100" y="230124"/>
                </a:lnTo>
                <a:lnTo>
                  <a:pt x="1193292" y="233172"/>
                </a:lnTo>
                <a:lnTo>
                  <a:pt x="1200912" y="237744"/>
                </a:lnTo>
                <a:lnTo>
                  <a:pt x="1207008" y="239268"/>
                </a:lnTo>
                <a:lnTo>
                  <a:pt x="1213104" y="243840"/>
                </a:lnTo>
                <a:lnTo>
                  <a:pt x="1216152" y="248412"/>
                </a:lnTo>
                <a:lnTo>
                  <a:pt x="1219200" y="254508"/>
                </a:lnTo>
                <a:lnTo>
                  <a:pt x="1220724" y="260604"/>
                </a:lnTo>
                <a:lnTo>
                  <a:pt x="1220724" y="319102"/>
                </a:lnTo>
                <a:lnTo>
                  <a:pt x="1235964" y="310896"/>
                </a:lnTo>
                <a:lnTo>
                  <a:pt x="1249680" y="294132"/>
                </a:lnTo>
                <a:lnTo>
                  <a:pt x="1258824" y="275844"/>
                </a:lnTo>
                <a:lnTo>
                  <a:pt x="1261872" y="256032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6712" y="1029174"/>
            <a:ext cx="6845300" cy="318036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0" marR="30480" indent="-342900">
              <a:lnSpc>
                <a:spcPct val="100400"/>
              </a:lnSpc>
              <a:spcBef>
                <a:spcPts val="80"/>
              </a:spcBef>
              <a:buChar char="•"/>
              <a:tabLst>
                <a:tab pos="380365" algn="l"/>
                <a:tab pos="381000" algn="l"/>
              </a:tabLst>
            </a:pPr>
            <a:r>
              <a:rPr sz="2000" spc="-5" dirty="0">
                <a:latin typeface="Arial MT"/>
                <a:cs typeface="Arial MT"/>
              </a:rPr>
              <a:t>With 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line</a:t>
            </a:r>
            <a:r>
              <a:rPr sz="2000" dirty="0">
                <a:latin typeface="Arial MT"/>
                <a:cs typeface="Arial MT"/>
              </a:rPr>
              <a:t> segments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may</a:t>
            </a:r>
            <a:r>
              <a:rPr sz="2000" dirty="0">
                <a:latin typeface="Arial MT"/>
                <a:cs typeface="Arial MT"/>
              </a:rPr>
              <a:t> be </a:t>
            </a:r>
            <a:r>
              <a:rPr sz="2000" spc="-5" dirty="0">
                <a:latin typeface="Arial MT"/>
                <a:cs typeface="Arial MT"/>
              </a:rPr>
              <a:t>O(n</a:t>
            </a:r>
            <a:r>
              <a:rPr sz="2000" spc="-7" baseline="23391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) </a:t>
            </a:r>
            <a:r>
              <a:rPr sz="2000" spc="-7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intersections.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6712" y="1532277"/>
            <a:ext cx="6628130" cy="10970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Goal: Good </a:t>
            </a:r>
            <a:r>
              <a:rPr sz="2000" dirty="0">
                <a:latin typeface="Arial MT"/>
                <a:cs typeface="Arial MT"/>
              </a:rPr>
              <a:t>output sensitive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</a:t>
            </a:r>
          </a:p>
          <a:p>
            <a:pPr marL="756285" marR="5080" indent="-287020">
              <a:lnSpc>
                <a:spcPct val="100000"/>
              </a:lnSpc>
              <a:spcBef>
                <a:spcPts val="57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O(n</a:t>
            </a:r>
            <a:r>
              <a:rPr sz="2000" spc="-5" dirty="0">
                <a:latin typeface="Arial MT"/>
                <a:cs typeface="Arial MT"/>
              </a:rPr>
              <a:t> log </a:t>
            </a:r>
            <a:r>
              <a:rPr sz="2000" dirty="0">
                <a:latin typeface="Arial MT"/>
                <a:cs typeface="Arial MT"/>
              </a:rPr>
              <a:t>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s)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would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ideal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65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number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intersections.</a:t>
            </a:r>
            <a:endParaRPr sz="200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14609"/>
              </p:ext>
            </p:extLst>
          </p:nvPr>
        </p:nvGraphicFramePr>
        <p:xfrm>
          <a:off x="3206432" y="3282124"/>
          <a:ext cx="19050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444" y="3225736"/>
            <a:ext cx="112776" cy="1127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444" y="4444936"/>
            <a:ext cx="112776" cy="1127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7244" y="3225736"/>
            <a:ext cx="112776" cy="11277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7244" y="4444936"/>
            <a:ext cx="112776" cy="1127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2044" y="3225736"/>
            <a:ext cx="112776" cy="1127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2044" y="4444936"/>
            <a:ext cx="112776" cy="1127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844" y="3225736"/>
            <a:ext cx="112776" cy="11277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844" y="4444936"/>
            <a:ext cx="112776" cy="11277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644" y="3225736"/>
            <a:ext cx="112776" cy="11277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644" y="4444936"/>
            <a:ext cx="112776" cy="11277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444" y="3225736"/>
            <a:ext cx="112776" cy="11277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444" y="4444936"/>
            <a:ext cx="112776" cy="11277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150044" y="3454336"/>
            <a:ext cx="113030" cy="875030"/>
            <a:chOff x="3150044" y="3454336"/>
            <a:chExt cx="113030" cy="87503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3454336"/>
              <a:ext cx="112776" cy="1127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3606736"/>
              <a:ext cx="112776" cy="1127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3759136"/>
              <a:ext cx="112776" cy="112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39115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4063936"/>
              <a:ext cx="112776" cy="1127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4216336"/>
              <a:ext cx="112776" cy="112776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055044" y="3454336"/>
            <a:ext cx="113030" cy="875030"/>
            <a:chOff x="5055044" y="3454336"/>
            <a:chExt cx="113030" cy="8750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3454336"/>
              <a:ext cx="112776" cy="1127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3606736"/>
              <a:ext cx="112776" cy="1127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3759136"/>
              <a:ext cx="112776" cy="1127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3911536"/>
              <a:ext cx="112776" cy="11277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4063936"/>
              <a:ext cx="112776" cy="1127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044" y="4216336"/>
              <a:ext cx="112776" cy="112776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109</a:t>
            </a:fld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989E7B-D46C-E8D0-DEEE-173D09E40CC3}"/>
              </a:ext>
            </a:extLst>
          </p:cNvPr>
          <p:cNvSpPr txBox="1"/>
          <p:nvPr/>
        </p:nvSpPr>
        <p:spPr>
          <a:xfrm>
            <a:off x="381000" y="4978336"/>
            <a:ext cx="9525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Shamos</a:t>
            </a:r>
            <a:r>
              <a:rPr lang="en-US" dirty="0"/>
              <a:t>–Hoey algorithm applies sweep line technique to solve the line segment intersection detection problem, of determining whether or not a set of line segments has an intersection; </a:t>
            </a:r>
          </a:p>
          <a:p>
            <a:endParaRPr lang="en-US" dirty="0"/>
          </a:p>
          <a:p>
            <a:r>
              <a:rPr lang="en-US" dirty="0"/>
              <a:t>the Bentley–</a:t>
            </a:r>
            <a:r>
              <a:rPr lang="en-US" dirty="0" err="1"/>
              <a:t>Ottmann</a:t>
            </a:r>
            <a:r>
              <a:rPr lang="en-US" dirty="0"/>
              <a:t> algorithm works by the same principle to list all intersections in logarithmic time per intersection.</a:t>
            </a:r>
            <a:endParaRPr lang="en-IN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8164" y="2348734"/>
            <a:ext cx="3410044" cy="36844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795" y="262298"/>
            <a:ext cx="4385882" cy="387670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dirty="0"/>
              <a:t>General</a:t>
            </a:r>
            <a:r>
              <a:rPr spc="-66" dirty="0"/>
              <a:t> </a:t>
            </a:r>
            <a:r>
              <a:rPr spc="-6" dirty="0"/>
              <a:t>position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110</a:t>
            </a:fld>
            <a:endParaRPr spc="11" dirty="0"/>
          </a:p>
        </p:txBody>
      </p:sp>
      <p:sp>
        <p:nvSpPr>
          <p:cNvPr id="4" name="object 4"/>
          <p:cNvSpPr txBox="1"/>
          <p:nvPr/>
        </p:nvSpPr>
        <p:spPr>
          <a:xfrm>
            <a:off x="237522" y="1458163"/>
            <a:ext cx="7476077" cy="2530629"/>
          </a:xfrm>
          <a:prstGeom prst="rect">
            <a:avLst/>
          </a:prstGeom>
        </p:spPr>
        <p:txBody>
          <a:bodyPr vert="horz" wrap="square" lIns="0" tIns="78232" rIns="0" bIns="0" rtlCol="0">
            <a:spAutoFit/>
          </a:bodyPr>
          <a:lstStyle/>
          <a:p>
            <a:pPr marL="391160" marR="1269175" indent="-377889" algn="just">
              <a:lnSpc>
                <a:spcPts val="3806"/>
              </a:lnSpc>
              <a:spcBef>
                <a:spcPts val="616"/>
              </a:spcBef>
            </a:pPr>
            <a:r>
              <a:rPr sz="2400" spc="6" dirty="0">
                <a:cs typeface="Times New Roman"/>
              </a:rPr>
              <a:t>Assume </a:t>
            </a:r>
            <a:r>
              <a:rPr sz="2400" spc="22" dirty="0">
                <a:cs typeface="Times New Roman"/>
              </a:rPr>
              <a:t>that </a:t>
            </a:r>
            <a:r>
              <a:rPr sz="2400" dirty="0">
                <a:cs typeface="Times New Roman"/>
              </a:rPr>
              <a:t>“nasty” </a:t>
            </a:r>
            <a:r>
              <a:rPr sz="2400" spc="-864" dirty="0">
                <a:cs typeface="Times New Roman"/>
              </a:rPr>
              <a:t> </a:t>
            </a:r>
            <a:r>
              <a:rPr sz="2400" spc="6" dirty="0">
                <a:cs typeface="Times New Roman"/>
              </a:rPr>
              <a:t>special</a:t>
            </a:r>
            <a:r>
              <a:rPr sz="2400" spc="-99" dirty="0">
                <a:cs typeface="Times New Roman"/>
              </a:rPr>
              <a:t> </a:t>
            </a:r>
            <a:r>
              <a:rPr sz="2400" spc="11" dirty="0">
                <a:cs typeface="Times New Roman"/>
              </a:rPr>
              <a:t>cases</a:t>
            </a:r>
            <a:r>
              <a:rPr sz="2400" spc="-83" dirty="0">
                <a:cs typeface="Times New Roman"/>
              </a:rPr>
              <a:t> </a:t>
            </a:r>
            <a:r>
              <a:rPr sz="2400" spc="11" dirty="0">
                <a:cs typeface="Times New Roman"/>
              </a:rPr>
              <a:t>don’t </a:t>
            </a:r>
            <a:r>
              <a:rPr sz="2400" spc="-869" dirty="0">
                <a:cs typeface="Times New Roman"/>
              </a:rPr>
              <a:t> </a:t>
            </a:r>
            <a:r>
              <a:rPr sz="2400" spc="-6" dirty="0">
                <a:cs typeface="Times New Roman"/>
              </a:rPr>
              <a:t>happen:</a:t>
            </a:r>
            <a:endParaRPr sz="2400" dirty="0">
              <a:cs typeface="Times New Roman"/>
            </a:endParaRPr>
          </a:p>
          <a:p>
            <a:pPr marL="831914" indent="-315024">
              <a:spcBef>
                <a:spcPts val="418"/>
              </a:spcBef>
              <a:buChar char="–"/>
              <a:tabLst>
                <a:tab pos="831914" algn="l"/>
              </a:tabLst>
            </a:pPr>
            <a:r>
              <a:rPr sz="2400" spc="28" dirty="0">
                <a:latin typeface="Times New Roman"/>
                <a:cs typeface="Times New Roman"/>
              </a:rPr>
              <a:t>No</a:t>
            </a:r>
            <a:r>
              <a:rPr sz="2400" spc="17" dirty="0">
                <a:latin typeface="Times New Roman"/>
                <a:cs typeface="Times New Roman"/>
              </a:rPr>
              <a:t> </a:t>
            </a:r>
            <a:r>
              <a:rPr sz="2400" spc="6" dirty="0">
                <a:latin typeface="Times New Roman"/>
                <a:cs typeface="Times New Roman"/>
              </a:rPr>
              <a:t>line</a:t>
            </a:r>
            <a:r>
              <a:rPr sz="2400" spc="28" dirty="0">
                <a:latin typeface="Times New Roman"/>
                <a:cs typeface="Times New Roman"/>
              </a:rPr>
              <a:t> </a:t>
            </a:r>
            <a:r>
              <a:rPr sz="2400" spc="17" dirty="0">
                <a:latin typeface="Times New Roman"/>
                <a:cs typeface="Times New Roman"/>
              </a:rPr>
              <a:t>segment</a:t>
            </a:r>
            <a:r>
              <a:rPr sz="2400" spc="38" dirty="0">
                <a:latin typeface="Times New Roman"/>
                <a:cs typeface="Times New Roman"/>
              </a:rPr>
              <a:t> </a:t>
            </a:r>
            <a:r>
              <a:rPr sz="2400" spc="-6" dirty="0">
                <a:latin typeface="Times New Roman"/>
                <a:cs typeface="Times New Roman"/>
              </a:rPr>
              <a:t>is</a:t>
            </a:r>
            <a:r>
              <a:rPr sz="2400" spc="33" dirty="0">
                <a:latin typeface="Times New Roman"/>
                <a:cs typeface="Times New Roman"/>
              </a:rPr>
              <a:t> </a:t>
            </a:r>
            <a:r>
              <a:rPr sz="2400" spc="11" dirty="0">
                <a:latin typeface="Times New Roman"/>
                <a:cs typeface="Times New Roman"/>
              </a:rPr>
              <a:t>vertical</a:t>
            </a:r>
            <a:endParaRPr sz="2400" dirty="0">
              <a:latin typeface="Times New Roman"/>
              <a:cs typeface="Times New Roman"/>
            </a:endParaRPr>
          </a:p>
          <a:p>
            <a:pPr marL="831914" marR="98489" indent="-315024">
              <a:lnSpc>
                <a:spcPts val="3300"/>
              </a:lnSpc>
              <a:spcBef>
                <a:spcPts val="803"/>
              </a:spcBef>
              <a:buChar char="–"/>
              <a:tabLst>
                <a:tab pos="831914" algn="l"/>
              </a:tabLst>
            </a:pPr>
            <a:r>
              <a:rPr sz="2400" spc="33" dirty="0">
                <a:latin typeface="Times New Roman"/>
                <a:cs typeface="Times New Roman"/>
              </a:rPr>
              <a:t>Two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7" dirty="0">
                <a:latin typeface="Times New Roman"/>
                <a:cs typeface="Times New Roman"/>
              </a:rPr>
              <a:t>segments intersect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38" dirty="0">
                <a:latin typeface="Times New Roman"/>
                <a:cs typeface="Times New Roman"/>
              </a:rPr>
              <a:t>in </a:t>
            </a:r>
            <a:r>
              <a:rPr sz="2400" spc="-743" dirty="0">
                <a:latin typeface="Times New Roman"/>
                <a:cs typeface="Times New Roman"/>
              </a:rPr>
              <a:t> </a:t>
            </a:r>
            <a:r>
              <a:rPr sz="2400" spc="28" dirty="0">
                <a:latin typeface="Times New Roman"/>
                <a:cs typeface="Times New Roman"/>
              </a:rPr>
              <a:t>at</a:t>
            </a:r>
            <a:r>
              <a:rPr sz="2400" spc="-38" dirty="0">
                <a:latin typeface="Times New Roman"/>
                <a:cs typeface="Times New Roman"/>
              </a:rPr>
              <a:t> </a:t>
            </a:r>
            <a:r>
              <a:rPr sz="2400" spc="17" dirty="0">
                <a:latin typeface="Times New Roman"/>
                <a:cs typeface="Times New Roman"/>
              </a:rPr>
              <a:t>most</a:t>
            </a:r>
            <a:r>
              <a:rPr sz="2400" spc="38" dirty="0">
                <a:latin typeface="Times New Roman"/>
                <a:cs typeface="Times New Roman"/>
              </a:rPr>
              <a:t> </a:t>
            </a:r>
            <a:r>
              <a:rPr sz="2400" spc="11" dirty="0">
                <a:latin typeface="Times New Roman"/>
                <a:cs typeface="Times New Roman"/>
              </a:rPr>
              <a:t>one</a:t>
            </a:r>
            <a:r>
              <a:rPr sz="2400" spc="28" dirty="0">
                <a:latin typeface="Times New Roman"/>
                <a:cs typeface="Times New Roman"/>
              </a:rPr>
              <a:t> point</a:t>
            </a:r>
            <a:endParaRPr sz="2400" dirty="0">
              <a:latin typeface="Times New Roman"/>
              <a:cs typeface="Times New Roman"/>
            </a:endParaRPr>
          </a:p>
          <a:p>
            <a:pPr marL="831914" marR="727837" indent="-315024">
              <a:lnSpc>
                <a:spcPts val="3300"/>
              </a:lnSpc>
              <a:spcBef>
                <a:spcPts val="836"/>
              </a:spcBef>
              <a:buChar char="–"/>
              <a:tabLst>
                <a:tab pos="831914" algn="l"/>
              </a:tabLst>
            </a:pPr>
            <a:r>
              <a:rPr sz="2400" spc="22" dirty="0">
                <a:latin typeface="Times New Roman"/>
                <a:cs typeface="Times New Roman"/>
              </a:rPr>
              <a:t>No</a:t>
            </a:r>
            <a:r>
              <a:rPr sz="2400" spc="17" dirty="0">
                <a:latin typeface="Times New Roman"/>
                <a:cs typeface="Times New Roman"/>
              </a:rPr>
              <a:t> three</a:t>
            </a:r>
            <a:r>
              <a:rPr sz="2400" spc="22" dirty="0">
                <a:latin typeface="Times New Roman"/>
                <a:cs typeface="Times New Roman"/>
              </a:rPr>
              <a:t> </a:t>
            </a:r>
            <a:r>
              <a:rPr sz="2400" spc="17" dirty="0">
                <a:latin typeface="Times New Roman"/>
                <a:cs typeface="Times New Roman"/>
              </a:rPr>
              <a:t>segments </a:t>
            </a:r>
            <a:r>
              <a:rPr sz="2400" spc="22" dirty="0">
                <a:latin typeface="Times New Roman"/>
                <a:cs typeface="Times New Roman"/>
              </a:rPr>
              <a:t> </a:t>
            </a:r>
            <a:r>
              <a:rPr sz="2400" spc="17" dirty="0">
                <a:latin typeface="Times New Roman"/>
                <a:cs typeface="Times New Roman"/>
              </a:rPr>
              <a:t>intersect </a:t>
            </a:r>
            <a:endParaRPr lang="en-IN" sz="2400" spc="17" dirty="0">
              <a:latin typeface="Times New Roman"/>
              <a:cs typeface="Times New Roman"/>
            </a:endParaRPr>
          </a:p>
          <a:p>
            <a:pPr marL="516890" marR="727837">
              <a:lnSpc>
                <a:spcPts val="3300"/>
              </a:lnSpc>
              <a:spcBef>
                <a:spcPts val="836"/>
              </a:spcBef>
              <a:tabLst>
                <a:tab pos="831914" algn="l"/>
              </a:tabLst>
            </a:pPr>
            <a:r>
              <a:rPr lang="en-IN" sz="2400" spc="17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11" dirty="0">
                <a:latin typeface="Times New Roman"/>
                <a:cs typeface="Times New Roman"/>
              </a:rPr>
              <a:t>a </a:t>
            </a:r>
            <a:r>
              <a:rPr sz="2400" spc="28" dirty="0">
                <a:latin typeface="Times New Roman"/>
                <a:cs typeface="Times New Roman"/>
              </a:rPr>
              <a:t>common </a:t>
            </a:r>
            <a:r>
              <a:rPr sz="2400" spc="-743" dirty="0">
                <a:latin typeface="Times New Roman"/>
                <a:cs typeface="Times New Roman"/>
              </a:rPr>
              <a:t> </a:t>
            </a:r>
            <a:r>
              <a:rPr sz="2400" spc="11" dirty="0">
                <a:latin typeface="Times New Roman"/>
                <a:cs typeface="Times New Roman"/>
              </a:rPr>
              <a:t>point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849FF4-6A39-E71A-3C50-01D792758AF0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651" y="472463"/>
            <a:ext cx="2779776" cy="4251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83244" y="4673536"/>
            <a:ext cx="2727960" cy="1103630"/>
            <a:chOff x="2083244" y="4673536"/>
            <a:chExt cx="2727960" cy="1103630"/>
          </a:xfrm>
        </p:grpSpPr>
        <p:sp>
          <p:nvSpPr>
            <p:cNvPr id="4" name="object 4"/>
            <p:cNvSpPr/>
            <p:nvPr/>
          </p:nvSpPr>
          <p:spPr>
            <a:xfrm>
              <a:off x="2139632" y="4729924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0"/>
                  </a:moveTo>
                  <a:lnTo>
                    <a:pt x="990600" y="609600"/>
                  </a:lnTo>
                </a:path>
              </a:pathLst>
            </a:custGeom>
            <a:ln w="18288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3244" y="4673536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844" y="5283136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49232" y="5110924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0"/>
                  </a:moveTo>
                  <a:lnTo>
                    <a:pt x="990600" y="609600"/>
                  </a:lnTo>
                </a:path>
              </a:pathLst>
            </a:custGeom>
            <a:ln w="18288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2844" y="5054536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3444" y="5664136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19920" y="4806124"/>
              <a:ext cx="1887220" cy="289560"/>
            </a:xfrm>
            <a:custGeom>
              <a:avLst/>
              <a:gdLst/>
              <a:ahLst/>
              <a:cxnLst/>
              <a:rect l="l" t="t" r="r" b="b"/>
              <a:pathLst>
                <a:path w="1887220" h="289560">
                  <a:moveTo>
                    <a:pt x="0" y="289560"/>
                  </a:moveTo>
                  <a:lnTo>
                    <a:pt x="188671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25432" y="5046916"/>
              <a:ext cx="106680" cy="99060"/>
            </a:xfrm>
            <a:custGeom>
              <a:avLst/>
              <a:gdLst/>
              <a:ahLst/>
              <a:cxnLst/>
              <a:rect l="l" t="t" r="r" b="b"/>
              <a:pathLst>
                <a:path w="106680" h="99060">
                  <a:moveTo>
                    <a:pt x="106680" y="99060"/>
                  </a:moveTo>
                  <a:lnTo>
                    <a:pt x="91440" y="0"/>
                  </a:lnTo>
                  <a:lnTo>
                    <a:pt x="0" y="64008"/>
                  </a:lnTo>
                  <a:lnTo>
                    <a:pt x="106680" y="99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97872" y="4806124"/>
              <a:ext cx="1508760" cy="429895"/>
            </a:xfrm>
            <a:custGeom>
              <a:avLst/>
              <a:gdLst/>
              <a:ahLst/>
              <a:cxnLst/>
              <a:rect l="l" t="t" r="r" b="b"/>
              <a:pathLst>
                <a:path w="1508760" h="429895">
                  <a:moveTo>
                    <a:pt x="0" y="429768"/>
                  </a:moveTo>
                  <a:lnTo>
                    <a:pt x="150876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6432" y="5188648"/>
              <a:ext cx="111760" cy="96520"/>
            </a:xfrm>
            <a:custGeom>
              <a:avLst/>
              <a:gdLst/>
              <a:ahLst/>
              <a:cxnLst/>
              <a:rect l="l" t="t" r="r" b="b"/>
              <a:pathLst>
                <a:path w="111760" h="96520">
                  <a:moveTo>
                    <a:pt x="111252" y="96012"/>
                  </a:moveTo>
                  <a:lnTo>
                    <a:pt x="82296" y="0"/>
                  </a:lnTo>
                  <a:lnTo>
                    <a:pt x="0" y="74676"/>
                  </a:lnTo>
                  <a:lnTo>
                    <a:pt x="111252" y="96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854644" y="2235136"/>
            <a:ext cx="3566160" cy="1332230"/>
            <a:chOff x="1854644" y="2235136"/>
            <a:chExt cx="3566160" cy="1332230"/>
          </a:xfrm>
        </p:grpSpPr>
        <p:sp>
          <p:nvSpPr>
            <p:cNvPr id="15" name="object 15"/>
            <p:cNvSpPr/>
            <p:nvPr/>
          </p:nvSpPr>
          <p:spPr>
            <a:xfrm>
              <a:off x="2749232" y="2291524"/>
              <a:ext cx="990600" cy="914400"/>
            </a:xfrm>
            <a:custGeom>
              <a:avLst/>
              <a:gdLst/>
              <a:ahLst/>
              <a:cxnLst/>
              <a:rect l="l" t="t" r="r" b="b"/>
              <a:pathLst>
                <a:path w="990600" h="914400">
                  <a:moveTo>
                    <a:pt x="990600" y="0"/>
                  </a:moveTo>
                  <a:lnTo>
                    <a:pt x="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3444" y="2235136"/>
              <a:ext cx="112776" cy="1127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844" y="3149536"/>
              <a:ext cx="112776" cy="1127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11032" y="2824924"/>
              <a:ext cx="2362200" cy="76200"/>
            </a:xfrm>
            <a:custGeom>
              <a:avLst/>
              <a:gdLst/>
              <a:ahLst/>
              <a:cxnLst/>
              <a:rect l="l" t="t" r="r" b="b"/>
              <a:pathLst>
                <a:path w="2362200" h="76200">
                  <a:moveTo>
                    <a:pt x="2362200" y="7620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6844" y="2844736"/>
              <a:ext cx="112776" cy="1127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4644" y="2768536"/>
              <a:ext cx="112776" cy="1127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54032" y="2291524"/>
              <a:ext cx="152400" cy="1219200"/>
            </a:xfrm>
            <a:custGeom>
              <a:avLst/>
              <a:gdLst/>
              <a:ahLst/>
              <a:cxnLst/>
              <a:rect l="l" t="t" r="r" b="b"/>
              <a:pathLst>
                <a:path w="152400" h="1219200">
                  <a:moveTo>
                    <a:pt x="152400" y="0"/>
                  </a:moveTo>
                  <a:lnTo>
                    <a:pt x="0" y="12192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0044" y="22351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644" y="3454336"/>
              <a:ext cx="112776" cy="11277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9460" y="2744152"/>
              <a:ext cx="161544" cy="1615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31044" y="2520124"/>
              <a:ext cx="1885314" cy="218440"/>
            </a:xfrm>
            <a:custGeom>
              <a:avLst/>
              <a:gdLst/>
              <a:ahLst/>
              <a:cxnLst/>
              <a:rect l="l" t="t" r="r" b="b"/>
              <a:pathLst>
                <a:path w="1885314" h="218439">
                  <a:moveTo>
                    <a:pt x="0" y="217932"/>
                  </a:moveTo>
                  <a:lnTo>
                    <a:pt x="188518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35032" y="2689288"/>
              <a:ext cx="105410" cy="99060"/>
            </a:xfrm>
            <a:custGeom>
              <a:avLst/>
              <a:gdLst/>
              <a:ahLst/>
              <a:cxnLst/>
              <a:rect l="l" t="t" r="r" b="b"/>
              <a:pathLst>
                <a:path w="105410" h="99060">
                  <a:moveTo>
                    <a:pt x="105156" y="99060"/>
                  </a:moveTo>
                  <a:lnTo>
                    <a:pt x="94488" y="0"/>
                  </a:lnTo>
                  <a:lnTo>
                    <a:pt x="0" y="59436"/>
                  </a:lnTo>
                  <a:lnTo>
                    <a:pt x="105156" y="99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98732" y="4615116"/>
            <a:ext cx="34956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Report the segment and all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lines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" dirty="0">
                <a:latin typeface="Arial MT"/>
                <a:cs typeface="Arial MT"/>
              </a:rPr>
              <a:t> it.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111</a:t>
            </a:fld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5555939" y="2329125"/>
            <a:ext cx="35648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report the point and all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" dirty="0">
                <a:latin typeface="Arial MT"/>
                <a:cs typeface="Arial MT"/>
              </a:rPr>
              <a:t>lines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there.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7800" y="2492553"/>
            <a:ext cx="2305179" cy="36542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306557"/>
            <a:ext cx="3426143" cy="633891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40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sz="4000" b="1" spc="-10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112</a:t>
            </a:fld>
            <a:endParaRPr spc="11" dirty="0"/>
          </a:p>
        </p:txBody>
      </p:sp>
      <p:sp>
        <p:nvSpPr>
          <p:cNvPr id="4" name="object 4"/>
          <p:cNvSpPr txBox="1"/>
          <p:nvPr/>
        </p:nvSpPr>
        <p:spPr>
          <a:xfrm>
            <a:off x="152400" y="1484783"/>
            <a:ext cx="6373813" cy="4468404"/>
          </a:xfrm>
          <a:prstGeom prst="rect">
            <a:avLst/>
          </a:prstGeom>
        </p:spPr>
        <p:txBody>
          <a:bodyPr vert="horz" wrap="square" lIns="0" tIns="62167" rIns="0" bIns="0" rtlCol="0">
            <a:spAutoFit/>
          </a:bodyPr>
          <a:lstStyle/>
          <a:p>
            <a:pPr marL="391160" indent="-377889">
              <a:spcBef>
                <a:spcPts val="489"/>
              </a:spcBef>
              <a:buChar char="•"/>
              <a:tabLst>
                <a:tab pos="391160" algn="l"/>
                <a:tab pos="391859" algn="l"/>
              </a:tabLst>
            </a:pPr>
            <a:r>
              <a:rPr sz="3025" spc="22" dirty="0">
                <a:latin typeface="Times New Roman"/>
                <a:cs typeface="Times New Roman"/>
              </a:rPr>
              <a:t>Need</a:t>
            </a:r>
            <a:r>
              <a:rPr sz="3025" spc="11" dirty="0">
                <a:latin typeface="Times New Roman"/>
                <a:cs typeface="Times New Roman"/>
              </a:rPr>
              <a:t> </a:t>
            </a:r>
            <a:r>
              <a:rPr sz="3025" spc="-6" dirty="0">
                <a:latin typeface="Times New Roman"/>
                <a:cs typeface="Times New Roman"/>
              </a:rPr>
              <a:t>to</a:t>
            </a:r>
            <a:r>
              <a:rPr sz="3025" spc="17" dirty="0">
                <a:latin typeface="Times New Roman"/>
                <a:cs typeface="Times New Roman"/>
              </a:rPr>
              <a:t> </a:t>
            </a:r>
            <a:r>
              <a:rPr sz="3025" spc="22" dirty="0">
                <a:latin typeface="Times New Roman"/>
                <a:cs typeface="Times New Roman"/>
              </a:rPr>
              <a:t>keep</a:t>
            </a:r>
            <a:r>
              <a:rPr sz="3025" spc="11" dirty="0">
                <a:latin typeface="Times New Roman"/>
                <a:cs typeface="Times New Roman"/>
              </a:rPr>
              <a:t> </a:t>
            </a:r>
            <a:r>
              <a:rPr sz="3025" spc="22" dirty="0">
                <a:latin typeface="Times New Roman"/>
                <a:cs typeface="Times New Roman"/>
              </a:rPr>
              <a:t>events </a:t>
            </a:r>
            <a:r>
              <a:rPr sz="3025" spc="11" dirty="0">
                <a:latin typeface="Times New Roman"/>
                <a:cs typeface="Times New Roman"/>
              </a:rPr>
              <a:t>sorted:</a:t>
            </a:r>
            <a:endParaRPr sz="3025" dirty="0">
              <a:latin typeface="Times New Roman"/>
              <a:cs typeface="Times New Roman"/>
            </a:endParaRPr>
          </a:p>
          <a:p>
            <a:pPr marL="831914" marR="155766" lvl="1" indent="-315024">
              <a:lnSpc>
                <a:spcPct val="90000"/>
              </a:lnSpc>
              <a:spcBef>
                <a:spcPts val="627"/>
              </a:spcBef>
              <a:buChar char="–"/>
              <a:tabLst>
                <a:tab pos="831215" algn="l"/>
                <a:tab pos="831914" algn="l"/>
              </a:tabLst>
            </a:pPr>
            <a:r>
              <a:rPr sz="2400" spc="-6" dirty="0">
                <a:latin typeface="Times New Roman"/>
                <a:cs typeface="Times New Roman"/>
              </a:rPr>
              <a:t>Lexicographic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7" dirty="0">
                <a:latin typeface="Times New Roman"/>
                <a:cs typeface="Times New Roman"/>
              </a:rPr>
              <a:t>order</a:t>
            </a:r>
            <a:r>
              <a:rPr sz="2400" spc="22" dirty="0">
                <a:latin typeface="Times New Roman"/>
                <a:cs typeface="Times New Roman"/>
              </a:rPr>
              <a:t> </a:t>
            </a:r>
            <a:r>
              <a:rPr sz="2400" spc="-11" dirty="0">
                <a:latin typeface="Times New Roman"/>
                <a:cs typeface="Times New Roman"/>
              </a:rPr>
              <a:t>(first</a:t>
            </a:r>
            <a:r>
              <a:rPr sz="2400" spc="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i="1" spc="-6" dirty="0">
                <a:solidFill>
                  <a:srgbClr val="008380"/>
                </a:solidFill>
                <a:latin typeface="Times New Roman"/>
                <a:cs typeface="Times New Roman"/>
              </a:rPr>
              <a:t>x</a:t>
            </a:r>
            <a:r>
              <a:rPr sz="2400" spc="-6" dirty="0">
                <a:latin typeface="Times New Roman"/>
                <a:cs typeface="Times New Roman"/>
              </a:rPr>
              <a:t>- </a:t>
            </a:r>
            <a:r>
              <a:rPr sz="2400" dirty="0">
                <a:latin typeface="Times New Roman"/>
                <a:cs typeface="Times New Roman"/>
              </a:rPr>
              <a:t> coordinate,</a:t>
            </a:r>
            <a:r>
              <a:rPr sz="2400" spc="-11" dirty="0">
                <a:latin typeface="Times New Roman"/>
                <a:cs typeface="Times New Roman"/>
              </a:rPr>
              <a:t> </a:t>
            </a:r>
            <a:r>
              <a:rPr sz="2400" spc="-6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1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6" dirty="0">
                <a:latin typeface="Times New Roman"/>
                <a:cs typeface="Times New Roman"/>
              </a:rPr>
              <a:t> events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" dirty="0">
                <a:latin typeface="Times New Roman"/>
                <a:cs typeface="Times New Roman"/>
              </a:rPr>
              <a:t>have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1" dirty="0">
                <a:latin typeface="Times New Roman"/>
                <a:cs typeface="Times New Roman"/>
              </a:rPr>
              <a:t>same </a:t>
            </a:r>
            <a:r>
              <a:rPr sz="2400" spc="-644" dirty="0">
                <a:latin typeface="Times New Roman"/>
                <a:cs typeface="Times New Roman"/>
              </a:rPr>
              <a:t> </a:t>
            </a:r>
            <a:r>
              <a:rPr sz="2400" i="1" spc="-6" dirty="0">
                <a:solidFill>
                  <a:srgbClr val="008380"/>
                </a:solidFill>
                <a:latin typeface="Times New Roman"/>
                <a:cs typeface="Times New Roman"/>
              </a:rPr>
              <a:t>x</a:t>
            </a:r>
            <a:r>
              <a:rPr sz="2400" spc="-6" dirty="0">
                <a:latin typeface="Times New Roman"/>
                <a:cs typeface="Times New Roman"/>
              </a:rPr>
              <a:t>-coordinate</a:t>
            </a:r>
            <a:r>
              <a:rPr sz="2400" spc="-11" dirty="0">
                <a:latin typeface="Times New Roman"/>
                <a:cs typeface="Times New Roman"/>
              </a:rPr>
              <a:t> </a:t>
            </a:r>
            <a:r>
              <a:rPr sz="2400" spc="-6" dirty="0">
                <a:latin typeface="Times New Roman"/>
                <a:cs typeface="Times New Roman"/>
              </a:rPr>
              <a:t>then</a:t>
            </a:r>
            <a:r>
              <a:rPr sz="2400" dirty="0">
                <a:latin typeface="Times New Roman"/>
                <a:cs typeface="Times New Roman"/>
              </a:rPr>
              <a:t> by</a:t>
            </a:r>
            <a:r>
              <a:rPr sz="2400" spc="-11" dirty="0">
                <a:latin typeface="Times New Roman"/>
                <a:cs typeface="Times New Roman"/>
              </a:rPr>
              <a:t> </a:t>
            </a:r>
            <a:r>
              <a:rPr sz="2400" i="1" spc="-6" dirty="0">
                <a:solidFill>
                  <a:srgbClr val="008380"/>
                </a:solidFill>
                <a:latin typeface="Times New Roman"/>
                <a:cs typeface="Times New Roman"/>
              </a:rPr>
              <a:t>y</a:t>
            </a:r>
            <a:r>
              <a:rPr sz="2400" spc="-6" dirty="0">
                <a:latin typeface="Times New Roman"/>
                <a:cs typeface="Times New Roman"/>
              </a:rPr>
              <a:t>-coordinate)</a:t>
            </a:r>
            <a:endParaRPr sz="2400" dirty="0">
              <a:latin typeface="Times New Roman"/>
              <a:cs typeface="Times New Roman"/>
            </a:endParaRPr>
          </a:p>
          <a:p>
            <a:pPr marL="391160" marR="5588" indent="-377889">
              <a:lnSpc>
                <a:spcPts val="3388"/>
              </a:lnSpc>
              <a:spcBef>
                <a:spcPts val="726"/>
              </a:spcBef>
              <a:buChar char="•"/>
              <a:tabLst>
                <a:tab pos="391160" algn="l"/>
                <a:tab pos="391859" algn="l"/>
              </a:tabLst>
            </a:pPr>
            <a:r>
              <a:rPr sz="3025" spc="17" dirty="0">
                <a:latin typeface="Times New Roman"/>
                <a:cs typeface="Times New Roman"/>
              </a:rPr>
              <a:t>Need </a:t>
            </a:r>
            <a:r>
              <a:rPr sz="3025" spc="-6" dirty="0">
                <a:latin typeface="Times New Roman"/>
                <a:cs typeface="Times New Roman"/>
              </a:rPr>
              <a:t>to </a:t>
            </a:r>
            <a:r>
              <a:rPr sz="3025" spc="33" dirty="0">
                <a:latin typeface="Times New Roman"/>
                <a:cs typeface="Times New Roman"/>
              </a:rPr>
              <a:t>be </a:t>
            </a:r>
            <a:r>
              <a:rPr sz="3025" spc="6" dirty="0">
                <a:latin typeface="Times New Roman"/>
                <a:cs typeface="Times New Roman"/>
              </a:rPr>
              <a:t>able </a:t>
            </a:r>
            <a:r>
              <a:rPr sz="3025" spc="38" dirty="0">
                <a:latin typeface="Times New Roman"/>
                <a:cs typeface="Times New Roman"/>
              </a:rPr>
              <a:t>to </a:t>
            </a:r>
            <a:r>
              <a:rPr sz="3025" spc="17" dirty="0">
                <a:latin typeface="Times New Roman"/>
                <a:cs typeface="Times New Roman"/>
              </a:rPr>
              <a:t>remove </a:t>
            </a:r>
            <a:r>
              <a:rPr sz="3025" spc="22" dirty="0">
                <a:latin typeface="Times New Roman"/>
                <a:cs typeface="Times New Roman"/>
              </a:rPr>
              <a:t>next </a:t>
            </a:r>
            <a:r>
              <a:rPr sz="3025" spc="17" dirty="0">
                <a:latin typeface="Times New Roman"/>
                <a:cs typeface="Times New Roman"/>
              </a:rPr>
              <a:t>point, </a:t>
            </a:r>
            <a:r>
              <a:rPr sz="3025" spc="-743" dirty="0">
                <a:latin typeface="Times New Roman"/>
                <a:cs typeface="Times New Roman"/>
              </a:rPr>
              <a:t> </a:t>
            </a:r>
            <a:r>
              <a:rPr sz="3025" spc="11" dirty="0">
                <a:latin typeface="Times New Roman"/>
                <a:cs typeface="Times New Roman"/>
              </a:rPr>
              <a:t>and </a:t>
            </a:r>
            <a:r>
              <a:rPr sz="3025" spc="22" dirty="0">
                <a:latin typeface="Times New Roman"/>
                <a:cs typeface="Times New Roman"/>
              </a:rPr>
              <a:t>insert</a:t>
            </a:r>
            <a:r>
              <a:rPr sz="3025" spc="-50" dirty="0">
                <a:latin typeface="Times New Roman"/>
                <a:cs typeface="Times New Roman"/>
              </a:rPr>
              <a:t> </a:t>
            </a:r>
            <a:r>
              <a:rPr sz="3025" spc="44" dirty="0">
                <a:latin typeface="Times New Roman"/>
                <a:cs typeface="Times New Roman"/>
              </a:rPr>
              <a:t>new</a:t>
            </a:r>
            <a:r>
              <a:rPr sz="3025" spc="-6" dirty="0">
                <a:latin typeface="Times New Roman"/>
                <a:cs typeface="Times New Roman"/>
              </a:rPr>
              <a:t> </a:t>
            </a:r>
            <a:r>
              <a:rPr sz="3025" spc="22" dirty="0">
                <a:latin typeface="Times New Roman"/>
                <a:cs typeface="Times New Roman"/>
              </a:rPr>
              <a:t>points</a:t>
            </a:r>
            <a:r>
              <a:rPr sz="3025" spc="-55" dirty="0">
                <a:latin typeface="Times New Roman"/>
                <a:cs typeface="Times New Roman"/>
              </a:rPr>
              <a:t> </a:t>
            </a:r>
            <a:r>
              <a:rPr sz="3025" spc="38" dirty="0">
                <a:latin typeface="Times New Roman"/>
                <a:cs typeface="Times New Roman"/>
              </a:rPr>
              <a:t>in</a:t>
            </a:r>
            <a:r>
              <a:rPr sz="3025" spc="17" dirty="0">
                <a:latin typeface="Times New Roman"/>
                <a:cs typeface="Times New Roman"/>
              </a:rPr>
              <a:t> </a:t>
            </a:r>
            <a:r>
              <a:rPr sz="3025" spc="28" dirty="0">
                <a:solidFill>
                  <a:srgbClr val="008380"/>
                </a:solidFill>
                <a:latin typeface="Times New Roman"/>
                <a:cs typeface="Times New Roman"/>
              </a:rPr>
              <a:t>O(log</a:t>
            </a:r>
            <a:r>
              <a:rPr sz="3025" spc="-2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3025" i="1" spc="17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3025" spc="17" dirty="0">
                <a:solidFill>
                  <a:srgbClr val="008380"/>
                </a:solidFill>
                <a:latin typeface="Times New Roman"/>
                <a:cs typeface="Times New Roman"/>
              </a:rPr>
              <a:t>)</a:t>
            </a:r>
            <a:r>
              <a:rPr sz="3025" spc="22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3025" spc="22" dirty="0">
                <a:latin typeface="Times New Roman"/>
                <a:cs typeface="Times New Roman"/>
              </a:rPr>
              <a:t>time</a:t>
            </a:r>
            <a:endParaRPr sz="3025" dirty="0">
              <a:latin typeface="Times New Roman"/>
              <a:cs typeface="Times New Roman"/>
            </a:endParaRPr>
          </a:p>
          <a:p>
            <a:pPr marL="831914" lvl="1" indent="-315024">
              <a:lnSpc>
                <a:spcPts val="3031"/>
              </a:lnSpc>
              <a:spcBef>
                <a:spcPts val="231"/>
              </a:spcBef>
              <a:buChar char="–"/>
              <a:tabLst>
                <a:tab pos="831215" algn="l"/>
                <a:tab pos="831914" algn="l"/>
              </a:tabLst>
            </a:pPr>
            <a:r>
              <a:rPr sz="2400" spc="11" dirty="0">
                <a:latin typeface="Times New Roman"/>
                <a:cs typeface="Times New Roman"/>
              </a:rPr>
              <a:t>Use</a:t>
            </a:r>
            <a:r>
              <a:rPr sz="2400" spc="-1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balanced </a:t>
            </a:r>
            <a:r>
              <a:rPr sz="2400" spc="-11" dirty="0">
                <a:latin typeface="Times New Roman"/>
                <a:cs typeface="Times New Roman"/>
              </a:rPr>
              <a:t>binary</a:t>
            </a:r>
            <a:r>
              <a:rPr sz="2400" spc="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 tree</a:t>
            </a:r>
            <a:r>
              <a:rPr sz="2400" spc="-1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</a:p>
          <a:p>
            <a:pPr marL="831914">
              <a:lnSpc>
                <a:spcPts val="3031"/>
              </a:lnSpc>
            </a:pPr>
            <a:r>
              <a:rPr sz="2400" spc="11" dirty="0">
                <a:latin typeface="Times New Roman"/>
                <a:cs typeface="Times New Roman"/>
              </a:rPr>
              <a:t>WAVL</a:t>
            </a:r>
            <a:r>
              <a:rPr sz="2400" spc="-77" dirty="0">
                <a:latin typeface="Times New Roman"/>
                <a:cs typeface="Times New Roman"/>
              </a:rPr>
              <a:t> </a:t>
            </a:r>
            <a:r>
              <a:rPr sz="2400" spc="-6" dirty="0">
                <a:latin typeface="Times New Roman"/>
                <a:cs typeface="Times New Roman"/>
              </a:rPr>
              <a:t>tree)</a:t>
            </a:r>
            <a:endParaRPr sz="2400" dirty="0">
              <a:latin typeface="Times New Roman"/>
              <a:cs typeface="Times New Roman"/>
            </a:endParaRPr>
          </a:p>
          <a:p>
            <a:pPr marL="391160" marR="404432" indent="-377889">
              <a:lnSpc>
                <a:spcPct val="91800"/>
              </a:lnSpc>
              <a:spcBef>
                <a:spcPts val="710"/>
              </a:spcBef>
              <a:buClr>
                <a:srgbClr val="000000"/>
              </a:buClr>
              <a:buChar char="•"/>
              <a:tabLst>
                <a:tab pos="391160" algn="l"/>
                <a:tab pos="391859" algn="l"/>
              </a:tabLst>
            </a:pPr>
            <a:r>
              <a:rPr sz="2400" spc="22" dirty="0">
                <a:solidFill>
                  <a:srgbClr val="5F5F5F"/>
                </a:solidFill>
                <a:latin typeface="Times New Roman"/>
                <a:cs typeface="Times New Roman"/>
              </a:rPr>
              <a:t>(The </a:t>
            </a:r>
            <a:r>
              <a:rPr sz="2400" spc="33" dirty="0">
                <a:solidFill>
                  <a:srgbClr val="5F5F5F"/>
                </a:solidFill>
                <a:latin typeface="Times New Roman"/>
                <a:cs typeface="Times New Roman"/>
              </a:rPr>
              <a:t>de </a:t>
            </a:r>
            <a:r>
              <a:rPr sz="2400" spc="22" dirty="0">
                <a:solidFill>
                  <a:srgbClr val="5F5F5F"/>
                </a:solidFill>
                <a:latin typeface="Times New Roman"/>
                <a:cs typeface="Times New Roman"/>
              </a:rPr>
              <a:t>Berg book </a:t>
            </a:r>
            <a:r>
              <a:rPr sz="2400" spc="17" dirty="0">
                <a:solidFill>
                  <a:srgbClr val="5F5F5F"/>
                </a:solidFill>
                <a:latin typeface="Times New Roman"/>
                <a:cs typeface="Times New Roman"/>
              </a:rPr>
              <a:t>sweeps top </a:t>
            </a:r>
            <a:r>
              <a:rPr sz="2400" spc="38" dirty="0">
                <a:solidFill>
                  <a:srgbClr val="5F5F5F"/>
                </a:solidFill>
                <a:latin typeface="Times New Roman"/>
                <a:cs typeface="Times New Roman"/>
              </a:rPr>
              <a:t>to </a:t>
            </a:r>
            <a:r>
              <a:rPr sz="2400" spc="44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22" dirty="0">
                <a:solidFill>
                  <a:srgbClr val="5F5F5F"/>
                </a:solidFill>
                <a:latin typeface="Times New Roman"/>
                <a:cs typeface="Times New Roman"/>
              </a:rPr>
              <a:t>bottom, </a:t>
            </a:r>
            <a:r>
              <a:rPr sz="2400" spc="33" dirty="0">
                <a:solidFill>
                  <a:srgbClr val="5F5F5F"/>
                </a:solidFill>
                <a:latin typeface="Times New Roman"/>
                <a:cs typeface="Times New Roman"/>
              </a:rPr>
              <a:t>but </a:t>
            </a:r>
            <a:r>
              <a:rPr lang="en-IN" sz="2400" spc="11" dirty="0">
                <a:solidFill>
                  <a:srgbClr val="5F5F5F"/>
                </a:solidFill>
                <a:latin typeface="Times New Roman"/>
                <a:cs typeface="Times New Roman"/>
              </a:rPr>
              <a:t>here </a:t>
            </a:r>
            <a:r>
              <a:rPr sz="2400" spc="38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11" dirty="0">
                <a:solidFill>
                  <a:srgbClr val="5F5F5F"/>
                </a:solidFill>
                <a:latin typeface="Times New Roman"/>
                <a:cs typeface="Times New Roman"/>
              </a:rPr>
              <a:t>sweep</a:t>
            </a:r>
            <a:r>
              <a:rPr lang="en-IN" sz="2400" spc="11" dirty="0">
                <a:solidFill>
                  <a:srgbClr val="5F5F5F"/>
                </a:solidFill>
                <a:latin typeface="Times New Roman"/>
                <a:cs typeface="Times New Roman"/>
              </a:rPr>
              <a:t> is </a:t>
            </a:r>
            <a:r>
              <a:rPr sz="2400" spc="11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22" dirty="0">
                <a:solidFill>
                  <a:srgbClr val="5F5F5F"/>
                </a:solidFill>
                <a:latin typeface="Times New Roman"/>
                <a:cs typeface="Times New Roman"/>
              </a:rPr>
              <a:t>left-to- </a:t>
            </a:r>
            <a:r>
              <a:rPr sz="2400" spc="28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22" dirty="0">
                <a:solidFill>
                  <a:srgbClr val="5F5F5F"/>
                </a:solidFill>
                <a:latin typeface="Times New Roman"/>
                <a:cs typeface="Times New Roman"/>
              </a:rPr>
              <a:t>right.</a:t>
            </a:r>
            <a:r>
              <a:rPr sz="2400" spc="-50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28" dirty="0">
                <a:solidFill>
                  <a:srgbClr val="5F5F5F"/>
                </a:solidFill>
                <a:latin typeface="Times New Roman"/>
                <a:cs typeface="Times New Roman"/>
              </a:rPr>
              <a:t>So</a:t>
            </a:r>
            <a:r>
              <a:rPr sz="2400" spc="17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lang="en-IN" sz="2400" spc="17" dirty="0">
                <a:solidFill>
                  <a:srgbClr val="5F5F5F"/>
                </a:solidFill>
                <a:latin typeface="Times New Roman"/>
                <a:cs typeface="Times New Roman"/>
              </a:rPr>
              <a:t>sweeps</a:t>
            </a:r>
            <a:r>
              <a:rPr sz="2400" spc="-50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17" dirty="0">
                <a:solidFill>
                  <a:srgbClr val="5F5F5F"/>
                </a:solidFill>
                <a:latin typeface="Times New Roman"/>
                <a:cs typeface="Times New Roman"/>
              </a:rPr>
              <a:t>are </a:t>
            </a:r>
            <a:r>
              <a:rPr sz="2400" spc="-743" dirty="0">
                <a:solidFill>
                  <a:srgbClr val="5F5F5F"/>
                </a:solidFill>
                <a:latin typeface="Times New Roman"/>
                <a:cs typeface="Times New Roman"/>
              </a:rPr>
              <a:t> </a:t>
            </a:r>
            <a:r>
              <a:rPr sz="2400" spc="17" dirty="0">
                <a:solidFill>
                  <a:srgbClr val="5F5F5F"/>
                </a:solidFill>
                <a:latin typeface="Times New Roman"/>
                <a:cs typeface="Times New Roman"/>
              </a:rPr>
              <a:t>“sideways”.)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AD415-2A1C-28EE-AEBC-2B8667C646A9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113</a:t>
            </a:fld>
            <a:endParaRPr spc="11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48375"/>
            <a:ext cx="3426143" cy="57233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6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sz="3600" b="1" spc="-10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8303" y="2667000"/>
            <a:ext cx="8759159" cy="1558120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391160" marR="5588" indent="-377889">
              <a:spcBef>
                <a:spcPts val="138"/>
              </a:spcBef>
              <a:buChar char="•"/>
              <a:tabLst>
                <a:tab pos="391160" algn="l"/>
                <a:tab pos="391859" algn="l"/>
              </a:tabLst>
            </a:pPr>
            <a:r>
              <a:rPr sz="2800" spc="-11" dirty="0">
                <a:latin typeface="Times New Roman"/>
                <a:cs typeface="Times New Roman"/>
              </a:rPr>
              <a:t>The</a:t>
            </a:r>
            <a:r>
              <a:rPr sz="2800" spc="11" dirty="0">
                <a:latin typeface="Times New Roman"/>
                <a:cs typeface="Times New Roman"/>
              </a:rPr>
              <a:t> </a:t>
            </a:r>
            <a:r>
              <a:rPr sz="2800" spc="6" dirty="0">
                <a:latin typeface="Times New Roman"/>
                <a:cs typeface="Times New Roman"/>
              </a:rPr>
              <a:t>events</a:t>
            </a:r>
            <a:r>
              <a:rPr sz="2800" spc="-33" dirty="0">
                <a:latin typeface="Times New Roman"/>
                <a:cs typeface="Times New Roman"/>
              </a:rPr>
              <a:t> </a:t>
            </a:r>
            <a:r>
              <a:rPr sz="2800" spc="11" dirty="0">
                <a:latin typeface="Times New Roman"/>
                <a:cs typeface="Times New Roman"/>
              </a:rPr>
              <a:t>in</a:t>
            </a:r>
            <a:r>
              <a:rPr sz="2800" spc="-17" dirty="0">
                <a:latin typeface="Times New Roman"/>
                <a:cs typeface="Times New Roman"/>
              </a:rPr>
              <a:t> </a:t>
            </a:r>
            <a:r>
              <a:rPr sz="2800" spc="-6" dirty="0">
                <a:latin typeface="Times New Roman"/>
                <a:cs typeface="Times New Roman"/>
              </a:rPr>
              <a:t>the</a:t>
            </a:r>
            <a:r>
              <a:rPr sz="2800" spc="11" dirty="0">
                <a:latin typeface="Times New Roman"/>
                <a:cs typeface="Times New Roman"/>
              </a:rPr>
              <a:t> </a:t>
            </a:r>
            <a:r>
              <a:rPr sz="2800" spc="-11" dirty="0">
                <a:latin typeface="Times New Roman"/>
                <a:cs typeface="Times New Roman"/>
              </a:rPr>
              <a:t>event</a:t>
            </a:r>
            <a:r>
              <a:rPr sz="2800" spc="28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</a:t>
            </a:r>
            <a:r>
              <a:rPr sz="2800" spc="-66" dirty="0">
                <a:latin typeface="Times New Roman"/>
                <a:cs typeface="Times New Roman"/>
              </a:rPr>
              <a:t> </a:t>
            </a:r>
            <a:r>
              <a:rPr sz="2800" spc="6" dirty="0">
                <a:latin typeface="Times New Roman"/>
                <a:cs typeface="Times New Roman"/>
              </a:rPr>
              <a:t>(sorted</a:t>
            </a:r>
            <a:r>
              <a:rPr sz="2800" spc="-28" dirty="0">
                <a:latin typeface="Times New Roman"/>
                <a:cs typeface="Times New Roman"/>
              </a:rPr>
              <a:t> </a:t>
            </a:r>
            <a:r>
              <a:rPr sz="2800" spc="-11" dirty="0">
                <a:latin typeface="Times New Roman"/>
                <a:cs typeface="Times New Roman"/>
              </a:rPr>
              <a:t>by</a:t>
            </a:r>
            <a:r>
              <a:rPr sz="2800" spc="-22" dirty="0">
                <a:latin typeface="Times New Roman"/>
                <a:cs typeface="Times New Roman"/>
              </a:rPr>
              <a:t> </a:t>
            </a:r>
            <a:r>
              <a:rPr sz="2800" spc="38" dirty="0">
                <a:latin typeface="Times New Roman"/>
                <a:cs typeface="Times New Roman"/>
              </a:rPr>
              <a:t>x- </a:t>
            </a:r>
            <a:r>
              <a:rPr sz="2800" spc="-864" dirty="0">
                <a:latin typeface="Times New Roman"/>
                <a:cs typeface="Times New Roman"/>
              </a:rPr>
              <a:t> </a:t>
            </a:r>
            <a:r>
              <a:rPr sz="2800" spc="-6" dirty="0">
                <a:latin typeface="Times New Roman"/>
                <a:cs typeface="Times New Roman"/>
              </a:rPr>
              <a:t>coordinates):</a:t>
            </a:r>
            <a:endParaRPr sz="2800" dirty="0">
              <a:latin typeface="Times New Roman"/>
              <a:cs typeface="Times New Roman"/>
            </a:endParaRPr>
          </a:p>
          <a:p>
            <a:pPr marL="831215" lvl="1" indent="-315024">
              <a:spcBef>
                <a:spcPts val="803"/>
              </a:spcBef>
              <a:buChar char="–"/>
              <a:tabLst>
                <a:tab pos="831914" algn="l"/>
              </a:tabLst>
            </a:pPr>
            <a:r>
              <a:rPr sz="2000" spc="28" dirty="0">
                <a:latin typeface="Times New Roman"/>
                <a:cs typeface="Times New Roman"/>
              </a:rPr>
              <a:t>Every</a:t>
            </a:r>
            <a:r>
              <a:rPr sz="2000" spc="11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line-segment</a:t>
            </a:r>
            <a:r>
              <a:rPr sz="2000" spc="33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endpoint</a:t>
            </a:r>
            <a:r>
              <a:rPr sz="2000" spc="-44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(left</a:t>
            </a:r>
            <a:r>
              <a:rPr sz="2000" spc="33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and </a:t>
            </a:r>
            <a:r>
              <a:rPr sz="2000" spc="22" dirty="0">
                <a:latin typeface="Times New Roman"/>
                <a:cs typeface="Times New Roman"/>
              </a:rPr>
              <a:t>right)</a:t>
            </a:r>
            <a:endParaRPr sz="2000" dirty="0">
              <a:latin typeface="Times New Roman"/>
              <a:cs typeface="Times New Roman"/>
            </a:endParaRPr>
          </a:p>
          <a:p>
            <a:pPr marL="831215" marR="254953" lvl="1" indent="-315024">
              <a:lnSpc>
                <a:spcPct val="102400"/>
              </a:lnSpc>
              <a:spcBef>
                <a:spcPts val="743"/>
              </a:spcBef>
              <a:buChar char="–"/>
              <a:tabLst>
                <a:tab pos="831914" algn="l"/>
              </a:tabLst>
            </a:pPr>
            <a:r>
              <a:rPr sz="2000" spc="33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intersection</a:t>
            </a:r>
            <a:r>
              <a:rPr sz="2000" spc="22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point</a:t>
            </a:r>
            <a:r>
              <a:rPr sz="2000" spc="44" dirty="0">
                <a:latin typeface="Times New Roman"/>
                <a:cs typeface="Times New Roman"/>
              </a:rPr>
              <a:t> </a:t>
            </a:r>
            <a:r>
              <a:rPr sz="2000" spc="-11" dirty="0">
                <a:latin typeface="Times New Roman"/>
                <a:cs typeface="Times New Roman"/>
              </a:rPr>
              <a:t>of</a:t>
            </a:r>
            <a:r>
              <a:rPr sz="2000" spc="38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every</a:t>
            </a:r>
            <a:r>
              <a:rPr sz="2000" spc="22" dirty="0">
                <a:latin typeface="Times New Roman"/>
                <a:cs typeface="Times New Roman"/>
              </a:rPr>
              <a:t> pair</a:t>
            </a:r>
            <a:r>
              <a:rPr sz="2000" spc="44" dirty="0">
                <a:latin typeface="Times New Roman"/>
                <a:cs typeface="Times New Roman"/>
              </a:rPr>
              <a:t> </a:t>
            </a:r>
            <a:r>
              <a:rPr sz="2000" spc="-11" dirty="0">
                <a:latin typeface="Times New Roman"/>
                <a:cs typeface="Times New Roman"/>
              </a:rPr>
              <a:t>of</a:t>
            </a:r>
            <a:r>
              <a:rPr sz="2000" spc="38" dirty="0">
                <a:latin typeface="Times New Roman"/>
                <a:cs typeface="Times New Roman"/>
              </a:rPr>
              <a:t> </a:t>
            </a:r>
            <a:r>
              <a:rPr sz="2000" spc="6" dirty="0">
                <a:latin typeface="Times New Roman"/>
                <a:cs typeface="Times New Roman"/>
              </a:rPr>
              <a:t>line </a:t>
            </a:r>
            <a:r>
              <a:rPr sz="2000" spc="11" dirty="0">
                <a:latin typeface="Times New Roman"/>
                <a:cs typeface="Times New Roman"/>
              </a:rPr>
              <a:t> </a:t>
            </a:r>
            <a:r>
              <a:rPr sz="2000" spc="17" dirty="0">
                <a:latin typeface="Times New Roman"/>
                <a:cs typeface="Times New Roman"/>
              </a:rPr>
              <a:t>segments </a:t>
            </a:r>
            <a:r>
              <a:rPr sz="2000" spc="22" dirty="0">
                <a:latin typeface="Times New Roman"/>
                <a:cs typeface="Times New Roman"/>
              </a:rPr>
              <a:t>that </a:t>
            </a:r>
            <a:r>
              <a:rPr sz="2000" spc="17" dirty="0">
                <a:latin typeface="Times New Roman"/>
                <a:cs typeface="Times New Roman"/>
              </a:rPr>
              <a:t>are </a:t>
            </a:r>
            <a:r>
              <a:rPr sz="2000" spc="11" dirty="0">
                <a:latin typeface="Times New Roman"/>
                <a:cs typeface="Times New Roman"/>
              </a:rPr>
              <a:t>consecutive </a:t>
            </a:r>
            <a:r>
              <a:rPr sz="2000" spc="38" dirty="0">
                <a:latin typeface="Times New Roman"/>
                <a:cs typeface="Times New Roman"/>
              </a:rPr>
              <a:t>in </a:t>
            </a:r>
            <a:r>
              <a:rPr sz="2000" spc="11" dirty="0">
                <a:latin typeface="Times New Roman"/>
                <a:cs typeface="Times New Roman"/>
              </a:rPr>
              <a:t>the </a:t>
            </a:r>
            <a:r>
              <a:rPr sz="2000" spc="17" dirty="0">
                <a:latin typeface="Times New Roman"/>
                <a:cs typeface="Times New Roman"/>
              </a:rPr>
              <a:t>ordering </a:t>
            </a:r>
            <a:r>
              <a:rPr sz="2000" spc="-743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along</a:t>
            </a:r>
            <a:r>
              <a:rPr sz="2000" spc="17" dirty="0">
                <a:latin typeface="Times New Roman"/>
                <a:cs typeface="Times New Roman"/>
              </a:rPr>
              <a:t> </a:t>
            </a:r>
            <a:r>
              <a:rPr sz="2000" spc="11" dirty="0">
                <a:latin typeface="Times New Roman"/>
                <a:cs typeface="Times New Roman"/>
              </a:rPr>
              <a:t>the</a:t>
            </a:r>
            <a:r>
              <a:rPr sz="2000" spc="28" dirty="0">
                <a:latin typeface="Times New Roman"/>
                <a:cs typeface="Times New Roman"/>
              </a:rPr>
              <a:t> </a:t>
            </a:r>
            <a:r>
              <a:rPr sz="2000" spc="22" dirty="0">
                <a:latin typeface="Times New Roman"/>
                <a:cs typeface="Times New Roman"/>
              </a:rPr>
              <a:t>sweep </a:t>
            </a:r>
            <a:r>
              <a:rPr sz="2000" spc="-6" dirty="0">
                <a:latin typeface="Times New Roman"/>
                <a:cs typeface="Times New Roman"/>
              </a:rPr>
              <a:t>line.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1C7AE-24C5-AD3E-BB28-05BE2D340432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353980"/>
            <a:ext cx="4182617" cy="57233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6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sz="3600" b="1" spc="-9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15597" y="3687128"/>
            <a:ext cx="6118860" cy="2451735"/>
            <a:chOff x="2105088" y="3248025"/>
            <a:chExt cx="5562600" cy="222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1513" y="4838763"/>
              <a:ext cx="104775" cy="952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3988" y="3533838"/>
              <a:ext cx="95250" cy="1047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0038" y="3952938"/>
              <a:ext cx="104775" cy="1047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1913" y="4286313"/>
              <a:ext cx="95250" cy="1047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5088" y="4905438"/>
              <a:ext cx="104775" cy="1047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67001" y="4329175"/>
              <a:ext cx="1257300" cy="619125"/>
            </a:xfrm>
            <a:custGeom>
              <a:avLst/>
              <a:gdLst/>
              <a:ahLst/>
              <a:cxnLst/>
              <a:rect l="l" t="t" r="r" b="b"/>
              <a:pathLst>
                <a:path w="1257300" h="619125">
                  <a:moveTo>
                    <a:pt x="0" y="619125"/>
                  </a:moveTo>
                  <a:lnTo>
                    <a:pt x="12573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338" y="3371913"/>
              <a:ext cx="104775" cy="1047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48100" y="3267075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9525" y="0"/>
                  </a:moveTo>
                  <a:lnTo>
                    <a:pt x="0" y="2190750"/>
                  </a:lnTo>
                </a:path>
              </a:pathLst>
            </a:custGeom>
            <a:ln w="38100">
              <a:solidFill>
                <a:srgbClr val="339966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4201" y="3424301"/>
              <a:ext cx="2085975" cy="1066800"/>
            </a:xfrm>
            <a:custGeom>
              <a:avLst/>
              <a:gdLst/>
              <a:ahLst/>
              <a:cxnLst/>
              <a:rect l="l" t="t" r="r" b="b"/>
              <a:pathLst>
                <a:path w="2085975" h="1066800">
                  <a:moveTo>
                    <a:pt x="0" y="0"/>
                  </a:moveTo>
                  <a:lnTo>
                    <a:pt x="2085975" y="106680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033901" y="3576700"/>
              <a:ext cx="752475" cy="1314450"/>
            </a:xfrm>
            <a:custGeom>
              <a:avLst/>
              <a:gdLst/>
              <a:ahLst/>
              <a:cxnLst/>
              <a:rect l="l" t="t" r="r" b="b"/>
              <a:pathLst>
                <a:path w="752475" h="1314450">
                  <a:moveTo>
                    <a:pt x="0" y="1314450"/>
                  </a:moveTo>
                  <a:lnTo>
                    <a:pt x="752475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63" y="4238688"/>
              <a:ext cx="123825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62426" y="4014851"/>
              <a:ext cx="3971925" cy="381000"/>
            </a:xfrm>
            <a:custGeom>
              <a:avLst/>
              <a:gdLst/>
              <a:ahLst/>
              <a:cxnLst/>
              <a:rect l="l" t="t" r="r" b="b"/>
              <a:pathLst>
                <a:path w="3971925" h="381000">
                  <a:moveTo>
                    <a:pt x="0" y="0"/>
                  </a:moveTo>
                  <a:lnTo>
                    <a:pt x="3971925" y="3810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8613" y="5257863"/>
              <a:ext cx="104775" cy="1047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91001" y="4281550"/>
              <a:ext cx="3895725" cy="1028700"/>
            </a:xfrm>
            <a:custGeom>
              <a:avLst/>
              <a:gdLst/>
              <a:ahLst/>
              <a:cxnLst/>
              <a:rect l="l" t="t" r="r" b="b"/>
              <a:pathLst>
                <a:path w="3895725" h="1028700">
                  <a:moveTo>
                    <a:pt x="0" y="1028700"/>
                  </a:moveTo>
                  <a:lnTo>
                    <a:pt x="3895725" y="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3989" y="5106409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053" y="1605730"/>
            <a:ext cx="8409242" cy="3060005"/>
          </a:xfrm>
          <a:prstGeom prst="rect">
            <a:avLst/>
          </a:prstGeom>
        </p:spPr>
        <p:txBody>
          <a:bodyPr vert="horz" wrap="square" lIns="0" tIns="59373" rIns="0" bIns="0" rtlCol="0">
            <a:spAutoFit/>
          </a:bodyPr>
          <a:lstStyle/>
          <a:p>
            <a:pPr marL="601409" indent="-587439">
              <a:spcBef>
                <a:spcPts val="468"/>
              </a:spcBef>
              <a:buAutoNum type="arabicPeriod"/>
              <a:tabLst>
                <a:tab pos="600710" algn="l"/>
                <a:tab pos="601409" algn="l"/>
              </a:tabLst>
            </a:pPr>
            <a:r>
              <a:rPr sz="2640" spc="-17" dirty="0">
                <a:latin typeface="Times New Roman"/>
                <a:cs typeface="Times New Roman"/>
              </a:rPr>
              <a:t>Left</a:t>
            </a:r>
            <a:r>
              <a:rPr sz="2640" spc="-11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segment</a:t>
            </a:r>
            <a:r>
              <a:rPr sz="2640" spc="-11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endpoint</a:t>
            </a:r>
            <a:endParaRPr sz="2640">
              <a:latin typeface="Times New Roman"/>
              <a:cs typeface="Times New Roman"/>
            </a:endParaRPr>
          </a:p>
          <a:p>
            <a:pPr marL="1020509" lvl="1" indent="-503617">
              <a:spcBef>
                <a:spcPts val="330"/>
              </a:spcBef>
              <a:buClr>
                <a:srgbClr val="000000"/>
              </a:buClr>
              <a:buFont typeface="Times New Roman"/>
              <a:buChar char="–"/>
              <a:tabLst>
                <a:tab pos="1020509" algn="l"/>
                <a:tab pos="1021206" algn="l"/>
              </a:tabLst>
            </a:pPr>
            <a:r>
              <a:rPr sz="2200" b="1" dirty="0">
                <a:solidFill>
                  <a:srgbClr val="FFC000"/>
                </a:solidFill>
                <a:latin typeface="Times New Roman"/>
                <a:cs typeface="Times New Roman"/>
              </a:rPr>
              <a:t>Add</a:t>
            </a:r>
            <a:r>
              <a:rPr sz="2200" b="1" spc="6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200" b="1" spc="-17" dirty="0">
                <a:solidFill>
                  <a:srgbClr val="FFC000"/>
                </a:solidFill>
                <a:latin typeface="Times New Roman"/>
                <a:cs typeface="Times New Roman"/>
              </a:rPr>
              <a:t>new</a:t>
            </a:r>
            <a:r>
              <a:rPr sz="2200" b="1" spc="-22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200" b="1" spc="6" dirty="0">
                <a:solidFill>
                  <a:srgbClr val="FFC000"/>
                </a:solidFill>
                <a:latin typeface="Times New Roman"/>
                <a:cs typeface="Times New Roman"/>
              </a:rPr>
              <a:t>segment</a:t>
            </a:r>
            <a:r>
              <a:rPr sz="2200" b="1" spc="-33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to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11" dirty="0">
                <a:latin typeface="Times New Roman"/>
                <a:cs typeface="Times New Roman"/>
              </a:rPr>
              <a:t>sweep</a:t>
            </a:r>
            <a:r>
              <a:rPr sz="2200" spc="-33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line</a:t>
            </a:r>
            <a:r>
              <a:rPr sz="2200" spc="-61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status</a:t>
            </a:r>
            <a:endParaRPr sz="2200">
              <a:latin typeface="Times New Roman"/>
              <a:cs typeface="Times New Roman"/>
            </a:endParaRPr>
          </a:p>
          <a:p>
            <a:pPr marL="1020509" lvl="1" indent="-503617">
              <a:lnSpc>
                <a:spcPts val="2519"/>
              </a:lnSpc>
              <a:spcBef>
                <a:spcPts val="252"/>
              </a:spcBef>
              <a:buChar char="–"/>
              <a:tabLst>
                <a:tab pos="1020509" algn="l"/>
                <a:tab pos="1021206" algn="l"/>
              </a:tabLst>
            </a:pPr>
            <a:r>
              <a:rPr sz="2200" spc="11" dirty="0">
                <a:latin typeface="Times New Roman"/>
                <a:cs typeface="Times New Roman"/>
              </a:rPr>
              <a:t>Test</a:t>
            </a:r>
            <a:r>
              <a:rPr sz="2200" spc="-61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CC"/>
                </a:solidFill>
                <a:latin typeface="Times New Roman"/>
                <a:cs typeface="Times New Roman"/>
              </a:rPr>
              <a:t>adjacent</a:t>
            </a:r>
            <a:r>
              <a:rPr sz="2200" b="1" spc="-6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b="1" spc="6" dirty="0">
                <a:solidFill>
                  <a:srgbClr val="0000CC"/>
                </a:solidFill>
                <a:latin typeface="Times New Roman"/>
                <a:cs typeface="Times New Roman"/>
              </a:rPr>
              <a:t>segments</a:t>
            </a:r>
            <a:r>
              <a:rPr sz="22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on</a:t>
            </a:r>
            <a:r>
              <a:rPr sz="2200" spc="-17" dirty="0">
                <a:latin typeface="Times New Roman"/>
                <a:cs typeface="Times New Roman"/>
              </a:rPr>
              <a:t> </a:t>
            </a:r>
            <a:r>
              <a:rPr sz="2200" spc="11" dirty="0">
                <a:latin typeface="Times New Roman"/>
                <a:cs typeface="Times New Roman"/>
              </a:rPr>
              <a:t>sweep</a:t>
            </a:r>
            <a:r>
              <a:rPr sz="2200" spc="-11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line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i="1" spc="6" dirty="0">
                <a:solidFill>
                  <a:srgbClr val="008380"/>
                </a:solidFill>
                <a:latin typeface="Times New Roman"/>
                <a:cs typeface="Times New Roman"/>
              </a:rPr>
              <a:t>l</a:t>
            </a:r>
            <a:r>
              <a:rPr sz="2200" i="1" spc="-17" dirty="0">
                <a:solidFill>
                  <a:srgbClr val="008380"/>
                </a:solidFill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for</a:t>
            </a:r>
            <a:r>
              <a:rPr sz="2200" spc="22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intersection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33" dirty="0">
                <a:latin typeface="Times New Roman"/>
                <a:cs typeface="Times New Roman"/>
              </a:rPr>
              <a:t> </a:t>
            </a:r>
            <a:r>
              <a:rPr sz="2200" b="1" spc="17" dirty="0">
                <a:solidFill>
                  <a:srgbClr val="FFC000"/>
                </a:solidFill>
                <a:latin typeface="Times New Roman"/>
                <a:cs typeface="Times New Roman"/>
              </a:rPr>
              <a:t>new</a:t>
            </a:r>
            <a:endParaRPr sz="2200">
              <a:latin typeface="Times New Roman"/>
              <a:cs typeface="Times New Roman"/>
            </a:endParaRPr>
          </a:p>
          <a:p>
            <a:pPr marL="1020509">
              <a:lnSpc>
                <a:spcPts val="2519"/>
              </a:lnSpc>
            </a:pPr>
            <a:r>
              <a:rPr sz="2200" b="1" spc="-6" dirty="0">
                <a:solidFill>
                  <a:srgbClr val="FFC000"/>
                </a:solidFill>
                <a:latin typeface="Times New Roman"/>
                <a:cs typeface="Times New Roman"/>
              </a:rPr>
              <a:t>segment</a:t>
            </a:r>
            <a:endParaRPr sz="2200">
              <a:latin typeface="Times New Roman"/>
              <a:cs typeface="Times New Roman"/>
            </a:endParaRPr>
          </a:p>
          <a:p>
            <a:pPr marL="1020509" lvl="1" indent="-503617">
              <a:spcBef>
                <a:spcPts val="248"/>
              </a:spcBef>
              <a:buChar char="–"/>
              <a:tabLst>
                <a:tab pos="1020509" algn="l"/>
                <a:tab pos="1021206" algn="l"/>
              </a:tabLst>
            </a:pPr>
            <a:r>
              <a:rPr sz="2200" spc="11" dirty="0">
                <a:latin typeface="Times New Roman"/>
                <a:cs typeface="Times New Roman"/>
              </a:rPr>
              <a:t>Add</a:t>
            </a:r>
            <a:r>
              <a:rPr sz="2200" spc="-44" dirty="0">
                <a:latin typeface="Times New Roman"/>
                <a:cs typeface="Times New Roman"/>
              </a:rPr>
              <a:t> </a:t>
            </a:r>
            <a:r>
              <a:rPr sz="2200" b="1" spc="17" dirty="0">
                <a:solidFill>
                  <a:srgbClr val="CC0000"/>
                </a:solidFill>
                <a:latin typeface="Times New Roman"/>
                <a:cs typeface="Times New Roman"/>
              </a:rPr>
              <a:t>new</a:t>
            </a:r>
            <a:r>
              <a:rPr sz="2200" b="1" spc="-28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b="1" spc="-6" dirty="0">
                <a:solidFill>
                  <a:srgbClr val="CC0000"/>
                </a:solidFill>
                <a:latin typeface="Times New Roman"/>
                <a:cs typeface="Times New Roman"/>
              </a:rPr>
              <a:t>intersection</a:t>
            </a:r>
            <a:r>
              <a:rPr sz="2200" b="1" spc="-66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b="1" spc="11" dirty="0">
                <a:solidFill>
                  <a:srgbClr val="CC0000"/>
                </a:solidFill>
                <a:latin typeface="Times New Roman"/>
                <a:cs typeface="Times New Roman"/>
              </a:rPr>
              <a:t>points</a:t>
            </a:r>
            <a:r>
              <a:rPr sz="2200" b="1" spc="-38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to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6" dirty="0">
                <a:latin typeface="Times New Roman"/>
                <a:cs typeface="Times New Roman"/>
              </a:rPr>
              <a:t>event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38"/>
              </a:spcBef>
            </a:pPr>
            <a:endParaRPr sz="2805">
              <a:latin typeface="Times New Roman"/>
              <a:cs typeface="Times New Roman"/>
            </a:endParaRPr>
          </a:p>
          <a:p>
            <a:pPr marL="2264537"/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5847144">
              <a:spcBef>
                <a:spcPts val="528"/>
              </a:spcBef>
            </a:pPr>
            <a:r>
              <a:rPr sz="2200" i="1" spc="11" dirty="0"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3711" y="5265807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6642" y="5148319"/>
            <a:ext cx="153670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solidFill>
                  <a:srgbClr val="FFC000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21505" y="3708083"/>
            <a:ext cx="10478" cy="2409825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9525" y="0"/>
                </a:moveTo>
                <a:lnTo>
                  <a:pt x="0" y="2190750"/>
                </a:lnTo>
              </a:path>
            </a:pathLst>
          </a:custGeom>
          <a:ln w="381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23" name="object 23"/>
          <p:cNvSpPr txBox="1"/>
          <p:nvPr/>
        </p:nvSpPr>
        <p:spPr>
          <a:xfrm>
            <a:off x="4172420" y="6038627"/>
            <a:ext cx="356934" cy="1265989"/>
          </a:xfrm>
          <a:prstGeom prst="rect">
            <a:avLst/>
          </a:prstGeom>
        </p:spPr>
        <p:txBody>
          <a:bodyPr vert="horz" wrap="square" lIns="0" tIns="53785" rIns="0" bIns="0" rtlCol="0">
            <a:spAutoFit/>
          </a:bodyPr>
          <a:lstStyle/>
          <a:p>
            <a:pPr marL="13970" marR="5588" indent="7684" algn="just">
              <a:lnSpc>
                <a:spcPct val="89200"/>
              </a:lnSpc>
              <a:spcBef>
                <a:spcPts val="424"/>
              </a:spcBef>
            </a:pPr>
            <a:r>
              <a:rPr sz="2200" i="1" spc="11" dirty="0">
                <a:latin typeface="Times New Roman"/>
                <a:cs typeface="Times New Roman"/>
              </a:rPr>
              <a:t>c</a:t>
            </a:r>
            <a:r>
              <a:rPr sz="2200" i="1" spc="-72" dirty="0">
                <a:latin typeface="Times New Roman"/>
                <a:cs typeface="Times New Roman"/>
              </a:rPr>
              <a:t> </a:t>
            </a:r>
            <a:r>
              <a:rPr sz="2200" i="1" spc="6" dirty="0">
                <a:latin typeface="Times New Roman"/>
                <a:cs typeface="Times New Roman"/>
              </a:rPr>
              <a:t>c  b</a:t>
            </a:r>
            <a:r>
              <a:rPr sz="2200" i="1" spc="-193" dirty="0">
                <a:latin typeface="Times New Roman"/>
                <a:cs typeface="Times New Roman"/>
              </a:rPr>
              <a:t> </a:t>
            </a:r>
            <a:r>
              <a:rPr sz="2200" i="1" spc="6" dirty="0">
                <a:solidFill>
                  <a:srgbClr val="0000CC"/>
                </a:solidFill>
                <a:latin typeface="Times New Roman"/>
                <a:cs typeface="Times New Roman"/>
              </a:rPr>
              <a:t>b  </a:t>
            </a:r>
            <a:r>
              <a:rPr sz="2200" i="1" spc="11" dirty="0">
                <a:latin typeface="Times New Roman"/>
                <a:cs typeface="Times New Roman"/>
              </a:rPr>
              <a:t>d</a:t>
            </a:r>
            <a:r>
              <a:rPr sz="2200" i="1" spc="-132" dirty="0">
                <a:latin typeface="Times New Roman"/>
                <a:cs typeface="Times New Roman"/>
              </a:rPr>
              <a:t> </a:t>
            </a:r>
            <a:r>
              <a:rPr sz="2200" i="1" spc="11" dirty="0">
                <a:solidFill>
                  <a:srgbClr val="FFC000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  <a:p>
            <a:pPr marL="200470">
              <a:lnSpc>
                <a:spcPts val="2393"/>
              </a:lnSpc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56854" y="4808290"/>
            <a:ext cx="461010" cy="282893"/>
            <a:chOff x="4324413" y="4267263"/>
            <a:chExt cx="419100" cy="25717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4413" y="4267263"/>
              <a:ext cx="95250" cy="1047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8738" y="4429188"/>
              <a:ext cx="104775" cy="9525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9344189" y="7544732"/>
            <a:ext cx="411417" cy="213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pc="11" dirty="0"/>
              <a:pPr marL="41910">
                <a:lnSpc>
                  <a:spcPts val="1815"/>
                </a:lnSpc>
              </a:pPr>
              <a:t>114</a:t>
            </a:fld>
            <a:endParaRPr spc="1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4DA230-65C2-5405-64DB-E555B1E7E79F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710" y="295799"/>
            <a:ext cx="4182617" cy="57233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6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sz="3600" b="1" spc="-9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15597" y="3687128"/>
            <a:ext cx="6118860" cy="2451735"/>
            <a:chOff x="2105088" y="3248025"/>
            <a:chExt cx="5562600" cy="222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1513" y="4838763"/>
              <a:ext cx="104775" cy="952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3988" y="3533838"/>
              <a:ext cx="95250" cy="1047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0038" y="3952938"/>
              <a:ext cx="104775" cy="1047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1913" y="4286313"/>
              <a:ext cx="95250" cy="1047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5088" y="4905438"/>
              <a:ext cx="104775" cy="1047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67001" y="4329175"/>
              <a:ext cx="1257300" cy="619125"/>
            </a:xfrm>
            <a:custGeom>
              <a:avLst/>
              <a:gdLst/>
              <a:ahLst/>
              <a:cxnLst/>
              <a:rect l="l" t="t" r="r" b="b"/>
              <a:pathLst>
                <a:path w="1257300" h="619125">
                  <a:moveTo>
                    <a:pt x="0" y="619125"/>
                  </a:moveTo>
                  <a:lnTo>
                    <a:pt x="12573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338" y="3371913"/>
              <a:ext cx="104775" cy="1047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52925" y="3267075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9525" y="0"/>
                  </a:moveTo>
                  <a:lnTo>
                    <a:pt x="0" y="2190750"/>
                  </a:lnTo>
                </a:path>
              </a:pathLst>
            </a:custGeom>
            <a:ln w="38100">
              <a:solidFill>
                <a:srgbClr val="339966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4201" y="3424301"/>
              <a:ext cx="2162175" cy="1466850"/>
            </a:xfrm>
            <a:custGeom>
              <a:avLst/>
              <a:gdLst/>
              <a:ahLst/>
              <a:cxnLst/>
              <a:rect l="l" t="t" r="r" b="b"/>
              <a:pathLst>
                <a:path w="2162175" h="1466850">
                  <a:moveTo>
                    <a:pt x="0" y="0"/>
                  </a:moveTo>
                  <a:lnTo>
                    <a:pt x="2105025" y="1066800"/>
                  </a:lnTo>
                </a:path>
                <a:path w="2162175" h="1466850">
                  <a:moveTo>
                    <a:pt x="1409700" y="1466850"/>
                  </a:moveTo>
                  <a:lnTo>
                    <a:pt x="2162175" y="152400"/>
                  </a:lnTo>
                </a:path>
              </a:pathLst>
            </a:custGeom>
            <a:ln w="254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63" y="4238688"/>
              <a:ext cx="123825" cy="228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62426" y="4014851"/>
              <a:ext cx="3971925" cy="381000"/>
            </a:xfrm>
            <a:custGeom>
              <a:avLst/>
              <a:gdLst/>
              <a:ahLst/>
              <a:cxnLst/>
              <a:rect l="l" t="t" r="r" b="b"/>
              <a:pathLst>
                <a:path w="3971925" h="381000">
                  <a:moveTo>
                    <a:pt x="0" y="0"/>
                  </a:moveTo>
                  <a:lnTo>
                    <a:pt x="3971925" y="38100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8613" y="5257863"/>
              <a:ext cx="104775" cy="1047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91001" y="4281550"/>
              <a:ext cx="3895725" cy="1028700"/>
            </a:xfrm>
            <a:custGeom>
              <a:avLst/>
              <a:gdLst/>
              <a:ahLst/>
              <a:cxnLst/>
              <a:rect l="l" t="t" r="r" b="b"/>
              <a:pathLst>
                <a:path w="3895725" h="1028700">
                  <a:moveTo>
                    <a:pt x="0" y="1028700"/>
                  </a:moveTo>
                  <a:lnTo>
                    <a:pt x="3895725" y="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93989" y="5106409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3753" y="1617471"/>
            <a:ext cx="8025067" cy="3062826"/>
          </a:xfrm>
          <a:prstGeom prst="rect">
            <a:avLst/>
          </a:prstGeom>
        </p:spPr>
        <p:txBody>
          <a:bodyPr vert="horz" wrap="square" lIns="0" tIns="14669" rIns="0" bIns="0" rtlCol="0">
            <a:spAutoFit/>
          </a:bodyPr>
          <a:lstStyle/>
          <a:p>
            <a:pPr marL="349949" indent="-335979">
              <a:spcBef>
                <a:spcPts val="116"/>
              </a:spcBef>
              <a:buAutoNum type="arabicPeriod" startAt="2"/>
              <a:tabLst>
                <a:tab pos="349949" algn="l"/>
              </a:tabLst>
            </a:pPr>
            <a:r>
              <a:rPr sz="2640" dirty="0">
                <a:latin typeface="Times New Roman"/>
                <a:cs typeface="Times New Roman"/>
              </a:rPr>
              <a:t>Intersection</a:t>
            </a:r>
            <a:r>
              <a:rPr sz="2640" spc="-38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point</a:t>
            </a:r>
          </a:p>
          <a:p>
            <a:pPr marL="1105026" lvl="1" indent="-587439">
              <a:buChar char="–"/>
              <a:tabLst>
                <a:tab pos="1104329" algn="l"/>
                <a:tab pos="1105026" algn="l"/>
              </a:tabLst>
            </a:pPr>
            <a:r>
              <a:rPr sz="2200" spc="-6" dirty="0">
                <a:latin typeface="Times New Roman"/>
                <a:cs typeface="Times New Roman"/>
              </a:rPr>
              <a:t>Report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intersection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point</a:t>
            </a:r>
            <a:endParaRPr sz="2200" dirty="0">
              <a:latin typeface="Times New Roman"/>
              <a:cs typeface="Times New Roman"/>
            </a:endParaRPr>
          </a:p>
          <a:p>
            <a:pPr marL="1105026" lvl="1" indent="-587439">
              <a:lnSpc>
                <a:spcPts val="2393"/>
              </a:lnSpc>
              <a:buChar char="–"/>
              <a:tabLst>
                <a:tab pos="1104329" algn="l"/>
                <a:tab pos="1105026" algn="l"/>
              </a:tabLst>
            </a:pPr>
            <a:r>
              <a:rPr sz="2200" spc="11" dirty="0">
                <a:latin typeface="Times New Roman"/>
                <a:cs typeface="Times New Roman"/>
              </a:rPr>
              <a:t>Two</a:t>
            </a:r>
            <a:r>
              <a:rPr sz="2200" spc="-33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segments</a:t>
            </a:r>
            <a:r>
              <a:rPr sz="2200" spc="22" dirty="0">
                <a:latin typeface="Times New Roman"/>
                <a:cs typeface="Times New Roman"/>
              </a:rPr>
              <a:t> </a:t>
            </a:r>
            <a:r>
              <a:rPr sz="2200" b="1" spc="-6" dirty="0">
                <a:solidFill>
                  <a:srgbClr val="CC0000"/>
                </a:solidFill>
                <a:latin typeface="Times New Roman"/>
                <a:cs typeface="Times New Roman"/>
              </a:rPr>
              <a:t>change</a:t>
            </a:r>
            <a:r>
              <a:rPr sz="2200" b="1" spc="17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b="1" spc="6" dirty="0">
                <a:solidFill>
                  <a:srgbClr val="CC0000"/>
                </a:solidFill>
                <a:latin typeface="Times New Roman"/>
                <a:cs typeface="Times New Roman"/>
              </a:rPr>
              <a:t>order</a:t>
            </a:r>
            <a:r>
              <a:rPr sz="2200" b="1" spc="-5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along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i="1" spc="6" dirty="0">
                <a:solidFill>
                  <a:srgbClr val="008380"/>
                </a:solidFill>
                <a:latin typeface="Times New Roman"/>
                <a:cs typeface="Times New Roman"/>
              </a:rPr>
              <a:t>l</a:t>
            </a:r>
            <a:endParaRPr sz="2200" dirty="0">
              <a:latin typeface="Times New Roman"/>
              <a:cs typeface="Times New Roman"/>
            </a:endParaRPr>
          </a:p>
          <a:p>
            <a:pPr marL="1105026" marR="5588">
              <a:lnSpc>
                <a:spcPts val="2145"/>
              </a:lnSpc>
              <a:spcBef>
                <a:spcPts val="241"/>
              </a:spcBef>
            </a:pPr>
            <a:r>
              <a:rPr sz="2200" spc="28" dirty="0">
                <a:latin typeface="Times New Roman"/>
                <a:cs typeface="Times New Roman"/>
              </a:rPr>
              <a:t>→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6" dirty="0">
                <a:latin typeface="Times New Roman"/>
                <a:cs typeface="Times New Roman"/>
              </a:rPr>
              <a:t>Test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Times New Roman"/>
                <a:cs typeface="Times New Roman"/>
              </a:rPr>
              <a:t>new</a:t>
            </a:r>
            <a:r>
              <a:rPr sz="2200" spc="-6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6" dirty="0">
                <a:solidFill>
                  <a:srgbClr val="0000CC"/>
                </a:solidFill>
                <a:latin typeface="Times New Roman"/>
                <a:cs typeface="Times New Roman"/>
              </a:rPr>
              <a:t>adjacent</a:t>
            </a:r>
            <a:r>
              <a:rPr sz="2200" spc="-17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11" dirty="0">
                <a:solidFill>
                  <a:srgbClr val="0000CC"/>
                </a:solidFill>
                <a:latin typeface="Times New Roman"/>
                <a:cs typeface="Times New Roman"/>
              </a:rPr>
              <a:t>segments</a:t>
            </a:r>
            <a:r>
              <a:rPr sz="2200" spc="-17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for</a:t>
            </a:r>
            <a:r>
              <a:rPr sz="2200" spc="2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1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intersection</a:t>
            </a:r>
            <a:r>
              <a:rPr sz="2200" spc="-17" dirty="0">
                <a:latin typeface="Times New Roman"/>
                <a:cs typeface="Times New Roman"/>
              </a:rPr>
              <a:t> points</a:t>
            </a:r>
            <a:r>
              <a:rPr sz="2200" spc="-11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(to </a:t>
            </a:r>
            <a:r>
              <a:rPr sz="2200" spc="-53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insert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into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event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queue)</a:t>
            </a:r>
          </a:p>
          <a:p>
            <a:pPr>
              <a:lnSpc>
                <a:spcPct val="100000"/>
              </a:lnSpc>
            </a:pPr>
            <a:endParaRPr sz="2420" dirty="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1980" dirty="0">
              <a:latin typeface="Times New Roman"/>
              <a:cs typeface="Times New Roman"/>
            </a:endParaRPr>
          </a:p>
          <a:p>
            <a:pPr marL="2124837"/>
            <a:r>
              <a:rPr sz="2200" i="1" spc="11" dirty="0">
                <a:solidFill>
                  <a:srgbClr val="CC0000"/>
                </a:solidFill>
                <a:latin typeface="Times New Roman"/>
                <a:cs typeface="Times New Roman"/>
              </a:rPr>
              <a:t>b</a:t>
            </a:r>
            <a:endParaRPr sz="2200" dirty="0">
              <a:latin typeface="Times New Roman"/>
              <a:cs typeface="Times New Roman"/>
            </a:endParaRPr>
          </a:p>
          <a:p>
            <a:pPr marL="5707444">
              <a:spcBef>
                <a:spcPts val="528"/>
              </a:spcBef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23711" y="5265807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6642" y="5148319"/>
            <a:ext cx="153670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21505" y="3708083"/>
            <a:ext cx="10478" cy="2409825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9525" y="0"/>
                </a:moveTo>
                <a:lnTo>
                  <a:pt x="0" y="2190750"/>
                </a:lnTo>
              </a:path>
            </a:pathLst>
          </a:custGeom>
          <a:ln w="381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22" name="object 22"/>
          <p:cNvSpPr txBox="1"/>
          <p:nvPr/>
        </p:nvSpPr>
        <p:spPr>
          <a:xfrm>
            <a:off x="4359618" y="6038628"/>
            <a:ext cx="537147" cy="12743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21654">
              <a:lnSpc>
                <a:spcPts val="2475"/>
              </a:lnSpc>
              <a:spcBef>
                <a:spcPts val="138"/>
              </a:spcBef>
              <a:tabLst>
                <a:tab pos="388366" algn="l"/>
              </a:tabLst>
            </a:pPr>
            <a:r>
              <a:rPr sz="2200" i="1" spc="11" dirty="0">
                <a:latin typeface="Times New Roman"/>
                <a:cs typeface="Times New Roman"/>
              </a:rPr>
              <a:t>c	</a:t>
            </a: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  <a:p>
            <a:pPr marL="13970">
              <a:lnSpc>
                <a:spcPts val="2354"/>
              </a:lnSpc>
              <a:tabLst>
                <a:tab pos="388366" algn="l"/>
              </a:tabLst>
            </a:pPr>
            <a:r>
              <a:rPr sz="2200" i="1" spc="11" dirty="0">
                <a:solidFill>
                  <a:srgbClr val="CC0000"/>
                </a:solidFill>
                <a:latin typeface="Times New Roman"/>
                <a:cs typeface="Times New Roman"/>
              </a:rPr>
              <a:t>b	e</a:t>
            </a:r>
            <a:endParaRPr sz="2200">
              <a:latin typeface="Times New Roman"/>
              <a:cs typeface="Times New Roman"/>
            </a:endParaRPr>
          </a:p>
          <a:p>
            <a:pPr marL="21654">
              <a:lnSpc>
                <a:spcPts val="2393"/>
              </a:lnSpc>
              <a:tabLst>
                <a:tab pos="380683" algn="l"/>
              </a:tabLst>
            </a:pPr>
            <a:r>
              <a:rPr sz="2200" i="1" spc="11" dirty="0">
                <a:solidFill>
                  <a:srgbClr val="CC0000"/>
                </a:solidFill>
                <a:latin typeface="Times New Roman"/>
                <a:cs typeface="Times New Roman"/>
              </a:rPr>
              <a:t>e	b</a:t>
            </a:r>
            <a:endParaRPr sz="2200">
              <a:latin typeface="Times New Roman"/>
              <a:cs typeface="Times New Roman"/>
            </a:endParaRPr>
          </a:p>
          <a:p>
            <a:pPr marL="13970">
              <a:lnSpc>
                <a:spcPts val="2519"/>
              </a:lnSpc>
              <a:tabLst>
                <a:tab pos="380683" algn="l"/>
              </a:tabLst>
            </a:pPr>
            <a:r>
              <a:rPr sz="2200" i="1" spc="11" dirty="0">
                <a:latin typeface="Times New Roman"/>
                <a:cs typeface="Times New Roman"/>
              </a:rPr>
              <a:t>d	</a:t>
            </a: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56854" y="4808289"/>
            <a:ext cx="5154930" cy="2367915"/>
            <a:chOff x="4324413" y="4267263"/>
            <a:chExt cx="4686300" cy="215265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4413" y="4267263"/>
              <a:ext cx="95250" cy="1047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10175" y="5238750"/>
              <a:ext cx="3800475" cy="1181100"/>
            </a:xfrm>
            <a:custGeom>
              <a:avLst/>
              <a:gdLst/>
              <a:ahLst/>
              <a:cxnLst/>
              <a:rect l="l" t="t" r="r" b="b"/>
              <a:pathLst>
                <a:path w="3800475" h="1181100">
                  <a:moveTo>
                    <a:pt x="380047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3800475" y="1181100"/>
                  </a:lnTo>
                  <a:lnTo>
                    <a:pt x="380047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18505" y="5906960"/>
            <a:ext cx="3366072" cy="1231491"/>
          </a:xfrm>
          <a:prstGeom prst="rect">
            <a:avLst/>
          </a:prstGeom>
        </p:spPr>
        <p:txBody>
          <a:bodyPr vert="horz" wrap="square" lIns="0" tIns="12573" rIns="0" bIns="0" rtlCol="0">
            <a:spAutoFit/>
          </a:bodyPr>
          <a:lstStyle/>
          <a:p>
            <a:pPr marL="13970" marR="5588" algn="just">
              <a:lnSpc>
                <a:spcPct val="100400"/>
              </a:lnSpc>
              <a:spcBef>
                <a:spcPts val="99"/>
              </a:spcBef>
            </a:pPr>
            <a:r>
              <a:rPr sz="2640" spc="-6" dirty="0">
                <a:latin typeface="Times New Roman"/>
                <a:cs typeface="Times New Roman"/>
              </a:rPr>
              <a:t>Note: </a:t>
            </a:r>
            <a:r>
              <a:rPr sz="2640" spc="6" dirty="0">
                <a:latin typeface="Times New Roman"/>
                <a:cs typeface="Times New Roman"/>
              </a:rPr>
              <a:t>“new” </a:t>
            </a:r>
            <a:r>
              <a:rPr sz="2640" spc="-6" dirty="0">
                <a:latin typeface="Times New Roman"/>
                <a:cs typeface="Times New Roman"/>
              </a:rPr>
              <a:t>intersection </a:t>
            </a:r>
            <a:r>
              <a:rPr sz="2640" spc="-649" dirty="0">
                <a:latin typeface="Times New Roman"/>
                <a:cs typeface="Times New Roman"/>
              </a:rPr>
              <a:t> </a:t>
            </a:r>
            <a:r>
              <a:rPr sz="2640" dirty="0">
                <a:latin typeface="Times New Roman"/>
                <a:cs typeface="Times New Roman"/>
              </a:rPr>
              <a:t>might </a:t>
            </a:r>
            <a:r>
              <a:rPr sz="2640" spc="-6" dirty="0">
                <a:latin typeface="Times New Roman"/>
                <a:cs typeface="Times New Roman"/>
              </a:rPr>
              <a:t>have </a:t>
            </a:r>
            <a:r>
              <a:rPr sz="2640" spc="-11" dirty="0">
                <a:latin typeface="Times New Roman"/>
                <a:cs typeface="Times New Roman"/>
              </a:rPr>
              <a:t>been </a:t>
            </a:r>
            <a:r>
              <a:rPr sz="2640" spc="-6" dirty="0">
                <a:latin typeface="Times New Roman"/>
                <a:cs typeface="Times New Roman"/>
              </a:rPr>
              <a:t>already </a:t>
            </a:r>
            <a:r>
              <a:rPr sz="2640" spc="-644" dirty="0">
                <a:latin typeface="Times New Roman"/>
                <a:cs typeface="Times New Roman"/>
              </a:rPr>
              <a:t> </a:t>
            </a:r>
            <a:r>
              <a:rPr sz="2640" spc="-6" dirty="0">
                <a:latin typeface="Times New Roman"/>
                <a:cs typeface="Times New Roman"/>
              </a:rPr>
              <a:t>detected </a:t>
            </a:r>
            <a:r>
              <a:rPr sz="2640" spc="-22" dirty="0">
                <a:latin typeface="Times New Roman"/>
                <a:cs typeface="Times New Roman"/>
              </a:rPr>
              <a:t>earlier.</a:t>
            </a:r>
            <a:endParaRPr sz="264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93062" y="4556830"/>
            <a:ext cx="324803" cy="534353"/>
            <a:chOff x="4448238" y="4038663"/>
            <a:chExt cx="295275" cy="48577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8738" y="4429188"/>
              <a:ext cx="104775" cy="952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8238" y="4038663"/>
              <a:ext cx="104775" cy="10477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001989" y="7296338"/>
            <a:ext cx="21723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ts val="1815"/>
              </a:lnSpc>
            </a:pPr>
            <a:r>
              <a:rPr sz="1540" spc="-33" dirty="0">
                <a:latin typeface="Times New Roman"/>
                <a:cs typeface="Times New Roman"/>
              </a:rPr>
              <a:t>15</a:t>
            </a:r>
            <a:endParaRPr sz="1540">
              <a:latin typeface="Times New Roman"/>
              <a:cs typeface="Times New Roman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AD69CC-82D4-2D71-E966-7293D230C49B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" y="343845"/>
            <a:ext cx="4182617" cy="572336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>
              <a:spcBef>
                <a:spcPts val="143"/>
              </a:spcBef>
            </a:pPr>
            <a:r>
              <a:rPr sz="3600" b="1" spc="-6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sz="3600" b="1" spc="-9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15597" y="3687128"/>
            <a:ext cx="6118860" cy="2451735"/>
            <a:chOff x="2105088" y="3248025"/>
            <a:chExt cx="5562600" cy="222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1513" y="4838763"/>
              <a:ext cx="104775" cy="952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3988" y="3533838"/>
              <a:ext cx="95250" cy="1047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8738" y="4429188"/>
              <a:ext cx="104775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0038" y="3952938"/>
              <a:ext cx="104775" cy="1047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1913" y="4286313"/>
              <a:ext cx="95250" cy="104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5088" y="4905438"/>
              <a:ext cx="104775" cy="104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67001" y="4329175"/>
              <a:ext cx="1257300" cy="619125"/>
            </a:xfrm>
            <a:custGeom>
              <a:avLst/>
              <a:gdLst/>
              <a:ahLst/>
              <a:cxnLst/>
              <a:rect l="l" t="t" r="r" b="b"/>
              <a:pathLst>
                <a:path w="1257300" h="619125">
                  <a:moveTo>
                    <a:pt x="0" y="619125"/>
                  </a:moveTo>
                  <a:lnTo>
                    <a:pt x="12573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338" y="3371913"/>
              <a:ext cx="104775" cy="1047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33900" y="3267075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9525" y="0"/>
                  </a:moveTo>
                  <a:lnTo>
                    <a:pt x="0" y="2190750"/>
                  </a:lnTo>
                </a:path>
              </a:pathLst>
            </a:custGeom>
            <a:ln w="38100">
              <a:solidFill>
                <a:srgbClr val="339966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624201" y="3424301"/>
              <a:ext cx="2162175" cy="1466850"/>
            </a:xfrm>
            <a:custGeom>
              <a:avLst/>
              <a:gdLst/>
              <a:ahLst/>
              <a:cxnLst/>
              <a:rect l="l" t="t" r="r" b="b"/>
              <a:pathLst>
                <a:path w="2162175" h="1466850">
                  <a:moveTo>
                    <a:pt x="0" y="0"/>
                  </a:moveTo>
                  <a:lnTo>
                    <a:pt x="2047875" y="1057275"/>
                  </a:lnTo>
                </a:path>
                <a:path w="2162175" h="1466850">
                  <a:moveTo>
                    <a:pt x="1409700" y="1466850"/>
                  </a:moveTo>
                  <a:lnTo>
                    <a:pt x="2162175" y="1524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63" y="4238688"/>
              <a:ext cx="123825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62426" y="4014851"/>
              <a:ext cx="3971925" cy="381000"/>
            </a:xfrm>
            <a:custGeom>
              <a:avLst/>
              <a:gdLst/>
              <a:ahLst/>
              <a:cxnLst/>
              <a:rect l="l" t="t" r="r" b="b"/>
              <a:pathLst>
                <a:path w="3971925" h="381000">
                  <a:moveTo>
                    <a:pt x="0" y="0"/>
                  </a:moveTo>
                  <a:lnTo>
                    <a:pt x="3971925" y="38100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8613" y="5257863"/>
              <a:ext cx="104775" cy="1047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91001" y="4281550"/>
              <a:ext cx="3895725" cy="1028700"/>
            </a:xfrm>
            <a:custGeom>
              <a:avLst/>
              <a:gdLst/>
              <a:ahLst/>
              <a:cxnLst/>
              <a:rect l="l" t="t" r="r" b="b"/>
              <a:pathLst>
                <a:path w="3895725" h="1028700">
                  <a:moveTo>
                    <a:pt x="0" y="1028700"/>
                  </a:moveTo>
                  <a:lnTo>
                    <a:pt x="3895725" y="0"/>
                  </a:lnTo>
                </a:path>
              </a:pathLst>
            </a:custGeom>
            <a:ln w="25400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 sz="198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3989" y="5106409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053" y="1764997"/>
            <a:ext cx="8444865" cy="2905860"/>
          </a:xfrm>
          <a:prstGeom prst="rect">
            <a:avLst/>
          </a:prstGeom>
        </p:spPr>
        <p:txBody>
          <a:bodyPr vert="horz" wrap="square" lIns="0" tIns="59373" rIns="0" bIns="0" rtlCol="0">
            <a:spAutoFit/>
          </a:bodyPr>
          <a:lstStyle/>
          <a:p>
            <a:pPr marL="349250" indent="-335979">
              <a:spcBef>
                <a:spcPts val="468"/>
              </a:spcBef>
              <a:buAutoNum type="arabicPeriod" startAt="3"/>
              <a:tabLst>
                <a:tab pos="349949" algn="l"/>
              </a:tabLst>
            </a:pPr>
            <a:r>
              <a:rPr sz="2640" spc="-6" dirty="0">
                <a:latin typeface="Times New Roman"/>
                <a:cs typeface="Times New Roman"/>
              </a:rPr>
              <a:t>Right </a:t>
            </a:r>
            <a:r>
              <a:rPr sz="2640" dirty="0">
                <a:latin typeface="Times New Roman"/>
                <a:cs typeface="Times New Roman"/>
              </a:rPr>
              <a:t>segment</a:t>
            </a:r>
            <a:r>
              <a:rPr sz="2640" spc="-6" dirty="0">
                <a:latin typeface="Times New Roman"/>
                <a:cs typeface="Times New Roman"/>
              </a:rPr>
              <a:t> endpoint</a:t>
            </a:r>
            <a:endParaRPr sz="2640">
              <a:latin typeface="Times New Roman"/>
              <a:cs typeface="Times New Roman"/>
            </a:endParaRPr>
          </a:p>
          <a:p>
            <a:pPr marL="936689" lvl="1" indent="-419799">
              <a:spcBef>
                <a:spcPts val="330"/>
              </a:spcBef>
              <a:buChar char="–"/>
              <a:tabLst>
                <a:tab pos="936689" algn="l"/>
                <a:tab pos="937386" algn="l"/>
              </a:tabLst>
            </a:pPr>
            <a:r>
              <a:rPr sz="2200" dirty="0">
                <a:latin typeface="Times New Roman"/>
                <a:cs typeface="Times New Roman"/>
              </a:rPr>
              <a:t>Delete</a:t>
            </a:r>
            <a:r>
              <a:rPr sz="2200" spc="-6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segment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66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sweep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line</a:t>
            </a:r>
            <a:r>
              <a:rPr sz="2200" spc="17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status</a:t>
            </a:r>
            <a:endParaRPr sz="2200">
              <a:latin typeface="Times New Roman"/>
              <a:cs typeface="Times New Roman"/>
            </a:endParaRPr>
          </a:p>
          <a:p>
            <a:pPr marL="936689" marR="5588" lvl="1" indent="-419799">
              <a:lnSpc>
                <a:spcPts val="2398"/>
              </a:lnSpc>
              <a:spcBef>
                <a:spcPts val="532"/>
              </a:spcBef>
              <a:buClr>
                <a:srgbClr val="000000"/>
              </a:buClr>
              <a:buFont typeface="Times New Roman"/>
              <a:buChar char="–"/>
              <a:tabLst>
                <a:tab pos="936689" algn="l"/>
                <a:tab pos="937386" algn="l"/>
              </a:tabLst>
            </a:pPr>
            <a:r>
              <a:rPr sz="2200" b="1" dirty="0">
                <a:solidFill>
                  <a:srgbClr val="0000CC"/>
                </a:solidFill>
                <a:latin typeface="Times New Roman"/>
                <a:cs typeface="Times New Roman"/>
              </a:rPr>
              <a:t>Two </a:t>
            </a:r>
            <a:r>
              <a:rPr sz="2200" b="1" spc="-6" dirty="0">
                <a:solidFill>
                  <a:srgbClr val="0000CC"/>
                </a:solidFill>
                <a:latin typeface="Times New Roman"/>
                <a:cs typeface="Times New Roman"/>
              </a:rPr>
              <a:t>segments </a:t>
            </a:r>
            <a:r>
              <a:rPr sz="2200" b="1" dirty="0">
                <a:solidFill>
                  <a:srgbClr val="0000CC"/>
                </a:solidFill>
                <a:latin typeface="Times New Roman"/>
                <a:cs typeface="Times New Roman"/>
              </a:rPr>
              <a:t>become adjacent</a:t>
            </a:r>
            <a:r>
              <a:rPr sz="2200" dirty="0">
                <a:latin typeface="Times New Roman"/>
                <a:cs typeface="Times New Roman"/>
              </a:rPr>
              <a:t>. </a:t>
            </a:r>
            <a:r>
              <a:rPr sz="2200" spc="6" dirty="0">
                <a:latin typeface="Times New Roman"/>
                <a:cs typeface="Times New Roman"/>
              </a:rPr>
              <a:t>Check </a:t>
            </a:r>
            <a:r>
              <a:rPr sz="2200" spc="-6" dirty="0">
                <a:latin typeface="Times New Roman"/>
                <a:cs typeface="Times New Roman"/>
              </a:rPr>
              <a:t>for intersection </a:t>
            </a:r>
            <a:r>
              <a:rPr sz="2200" spc="-17" dirty="0">
                <a:latin typeface="Times New Roman"/>
                <a:cs typeface="Times New Roman"/>
              </a:rPr>
              <a:t>points </a:t>
            </a:r>
            <a:r>
              <a:rPr sz="2200" spc="-6" dirty="0">
                <a:latin typeface="Times New Roman"/>
                <a:cs typeface="Times New Roman"/>
              </a:rPr>
              <a:t>(to </a:t>
            </a:r>
            <a:r>
              <a:rPr sz="2200" spc="-53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insert</a:t>
            </a:r>
            <a:r>
              <a:rPr sz="2200" spc="-28" dirty="0">
                <a:latin typeface="Times New Roman"/>
                <a:cs typeface="Times New Roman"/>
              </a:rPr>
              <a:t> </a:t>
            </a:r>
            <a:r>
              <a:rPr sz="2200" spc="-11" dirty="0">
                <a:latin typeface="Times New Roman"/>
                <a:cs typeface="Times New Roman"/>
              </a:rPr>
              <a:t>in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spc="-6" dirty="0">
                <a:latin typeface="Times New Roman"/>
                <a:cs typeface="Times New Roman"/>
              </a:rPr>
              <a:t>event</a:t>
            </a:r>
            <a:r>
              <a:rPr sz="2200" spc="-2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20">
              <a:latin typeface="Times New Roman"/>
              <a:cs typeface="Times New Roman"/>
            </a:endParaRPr>
          </a:p>
          <a:p>
            <a:pPr marL="2264537">
              <a:spcBef>
                <a:spcPts val="2078"/>
              </a:spcBef>
            </a:pPr>
            <a:r>
              <a:rPr sz="2200" i="1" spc="11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5847144">
              <a:spcBef>
                <a:spcPts val="528"/>
              </a:spcBef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23711" y="5265807"/>
            <a:ext cx="169736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6642" y="5148319"/>
            <a:ext cx="153670" cy="356188"/>
          </a:xfrm>
          <a:prstGeom prst="rect">
            <a:avLst/>
          </a:prstGeom>
        </p:spPr>
        <p:txBody>
          <a:bodyPr vert="horz" wrap="square" lIns="0" tIns="17463" rIns="0" bIns="0" rtlCol="0">
            <a:spAutoFit/>
          </a:bodyPr>
          <a:lstStyle/>
          <a:p>
            <a:pPr marL="13970">
              <a:spcBef>
                <a:spcPts val="138"/>
              </a:spcBef>
            </a:pPr>
            <a:r>
              <a:rPr sz="2200" i="1" spc="11" dirty="0"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54930" y="3708083"/>
            <a:ext cx="10478" cy="2409825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9525" y="0"/>
                </a:moveTo>
                <a:lnTo>
                  <a:pt x="0" y="2190750"/>
                </a:lnTo>
              </a:path>
            </a:pathLst>
          </a:custGeom>
          <a:ln w="38100">
            <a:solidFill>
              <a:srgbClr val="339966"/>
            </a:solidFill>
          </a:ln>
        </p:spPr>
        <p:txBody>
          <a:bodyPr wrap="square" lIns="0" tIns="0" rIns="0" bIns="0" rtlCol="0"/>
          <a:lstStyle/>
          <a:p>
            <a:endParaRPr sz="1980"/>
          </a:p>
        </p:txBody>
      </p:sp>
      <p:sp>
        <p:nvSpPr>
          <p:cNvPr id="23" name="object 23"/>
          <p:cNvSpPr txBox="1"/>
          <p:nvPr/>
        </p:nvSpPr>
        <p:spPr>
          <a:xfrm>
            <a:off x="4927918" y="6038627"/>
            <a:ext cx="340868" cy="1271695"/>
          </a:xfrm>
          <a:prstGeom prst="rect">
            <a:avLst/>
          </a:prstGeom>
        </p:spPr>
        <p:txBody>
          <a:bodyPr vert="horz" wrap="square" lIns="0" tIns="52388" rIns="0" bIns="0" rtlCol="0">
            <a:spAutoFit/>
          </a:bodyPr>
          <a:lstStyle/>
          <a:p>
            <a:pPr marL="13970" marR="5588" indent="7684" algn="just">
              <a:lnSpc>
                <a:spcPct val="89700"/>
              </a:lnSpc>
              <a:spcBef>
                <a:spcPts val="413"/>
              </a:spcBef>
            </a:pPr>
            <a:r>
              <a:rPr sz="2200" i="1" spc="11" dirty="0">
                <a:latin typeface="Times New Roman"/>
                <a:cs typeface="Times New Roman"/>
              </a:rPr>
              <a:t>e</a:t>
            </a:r>
            <a:r>
              <a:rPr sz="2200" i="1" spc="-193" dirty="0">
                <a:latin typeface="Times New Roman"/>
                <a:cs typeface="Times New Roman"/>
              </a:rPr>
              <a:t> </a:t>
            </a:r>
            <a:r>
              <a:rPr sz="2200" i="1" spc="6" dirty="0">
                <a:latin typeface="Times New Roman"/>
                <a:cs typeface="Times New Roman"/>
              </a:rPr>
              <a:t>e  </a:t>
            </a: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sz="2200" i="1" spc="-19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i="1" spc="6" dirty="0">
                <a:solidFill>
                  <a:srgbClr val="0000CC"/>
                </a:solidFill>
                <a:latin typeface="Times New Roman"/>
                <a:cs typeface="Times New Roman"/>
              </a:rPr>
              <a:t>c  </a:t>
            </a:r>
            <a:r>
              <a:rPr sz="2200" i="1" spc="242" dirty="0">
                <a:latin typeface="Times New Roman"/>
                <a:cs typeface="Times New Roman"/>
              </a:rPr>
              <a:t>b</a:t>
            </a:r>
            <a:r>
              <a:rPr sz="2200" i="1" spc="6" dirty="0">
                <a:solidFill>
                  <a:srgbClr val="0000CC"/>
                </a:solidFill>
                <a:latin typeface="Times New Roman"/>
                <a:cs typeface="Times New Roman"/>
              </a:rPr>
              <a:t>d  </a:t>
            </a:r>
            <a:r>
              <a:rPr sz="2200" i="1" spc="11" dirty="0">
                <a:solidFill>
                  <a:srgbClr val="0000CC"/>
                </a:solidFill>
                <a:latin typeface="Times New Roman"/>
                <a:cs typeface="Times New Roman"/>
              </a:rPr>
              <a:t>d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56855" y="4808289"/>
            <a:ext cx="3300413" cy="167640"/>
            <a:chOff x="4324413" y="4267263"/>
            <a:chExt cx="3000375" cy="15240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4413" y="4267263"/>
              <a:ext cx="95250" cy="1047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20013" y="4314888"/>
              <a:ext cx="104775" cy="10477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974049" y="7296338"/>
            <a:ext cx="27311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">
              <a:lnSpc>
                <a:spcPts val="1815"/>
              </a:lnSpc>
            </a:pPr>
            <a:fld id="{81D60167-4931-47E6-BA6A-407CBD079E47}" type="slidenum">
              <a:rPr sz="1540" spc="11" dirty="0">
                <a:latin typeface="Times New Roman"/>
                <a:cs typeface="Times New Roman"/>
              </a:rPr>
              <a:pPr marL="41910">
                <a:lnSpc>
                  <a:spcPts val="1815"/>
                </a:lnSpc>
              </a:pPr>
              <a:t>116</a:t>
            </a:fld>
            <a:endParaRPr sz="1540">
              <a:latin typeface="Times New Roman"/>
              <a:cs typeface="Times New Roman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36FC49-25F0-518D-849B-90EA1B5DC333}"/>
              </a:ext>
            </a:extLst>
          </p:cNvPr>
          <p:cNvSpPr/>
          <p:nvPr/>
        </p:nvSpPr>
        <p:spPr>
          <a:xfrm>
            <a:off x="3975561" y="1037438"/>
            <a:ext cx="2215674" cy="60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3774-923A-0EA9-D9AF-C1062FA9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2B2FAA-11B8-BF9C-2ADE-90595DC5ACC4}"/>
              </a:ext>
            </a:extLst>
          </p:cNvPr>
          <p:cNvSpPr txBox="1"/>
          <p:nvPr/>
        </p:nvSpPr>
        <p:spPr>
          <a:xfrm>
            <a:off x="228600" y="1371600"/>
            <a:ext cx="9601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Sweep Line Algorithm: We can solve this problem in O(</a:t>
            </a:r>
            <a:r>
              <a:rPr lang="en-US" dirty="0" err="1"/>
              <a:t>nLogn</a:t>
            </a:r>
            <a:r>
              <a:rPr lang="en-US" dirty="0"/>
              <a:t>) time using Sweep Line Algorithm.</a:t>
            </a:r>
          </a:p>
          <a:p>
            <a:endParaRPr lang="en-US" dirty="0"/>
          </a:p>
          <a:p>
            <a:r>
              <a:rPr lang="en-US" dirty="0"/>
              <a:t> The algorithm first sorts the end points along the x axis from left to right, then it passes a vertical line through all points from left to right and checks for intersections. </a:t>
            </a:r>
          </a:p>
          <a:p>
            <a:endParaRPr lang="en-US" dirty="0"/>
          </a:p>
          <a:p>
            <a:r>
              <a:rPr lang="en-US" dirty="0"/>
              <a:t>Following are detailed steps. </a:t>
            </a:r>
          </a:p>
          <a:p>
            <a:pPr marL="342900" indent="-342900">
              <a:buAutoNum type="arabicParenR"/>
            </a:pPr>
            <a:r>
              <a:rPr lang="en-US" dirty="0"/>
              <a:t>Let there be n given lines. </a:t>
            </a:r>
          </a:p>
          <a:p>
            <a:r>
              <a:rPr lang="en-US" dirty="0"/>
              <a:t>      There must be 2n end points to represent the n lines. </a:t>
            </a:r>
          </a:p>
          <a:p>
            <a:r>
              <a:rPr lang="en-US" dirty="0"/>
              <a:t>      Sort all points according to x coordinates. </a:t>
            </a:r>
          </a:p>
          <a:p>
            <a:r>
              <a:rPr lang="en-US" dirty="0"/>
              <a:t>      While sorting maintain a flag to indicate whether this point is left point of its line or right point.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DB3531-93BB-D5AD-360F-B47D37873B10}"/>
              </a:ext>
            </a:extLst>
          </p:cNvPr>
          <p:cNvSpPr/>
          <p:nvPr/>
        </p:nvSpPr>
        <p:spPr>
          <a:xfrm>
            <a:off x="228600" y="76200"/>
            <a:ext cx="63075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Sweep Line Algorithm</a:t>
            </a:r>
          </a:p>
        </p:txBody>
      </p:sp>
    </p:spTree>
    <p:extLst>
      <p:ext uri="{BB962C8B-B14F-4D97-AF65-F5344CB8AC3E}">
        <p14:creationId xmlns:p14="http://schemas.microsoft.com/office/powerpoint/2010/main" val="35196887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4987-DD19-F418-7D23-BD134B6E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91CC0-EABB-C821-4AFB-C554E4430692}"/>
              </a:ext>
            </a:extLst>
          </p:cNvPr>
          <p:cNvSpPr txBox="1"/>
          <p:nvPr/>
        </p:nvSpPr>
        <p:spPr>
          <a:xfrm>
            <a:off x="685800" y="1347044"/>
            <a:ext cx="906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2) Start from the leftmost point. </a:t>
            </a:r>
          </a:p>
          <a:p>
            <a:r>
              <a:rPr lang="en-US" dirty="0"/>
              <a:t>      Do following for every point </a:t>
            </a:r>
          </a:p>
          <a:p>
            <a:r>
              <a:rPr lang="en-US" dirty="0"/>
              <a:t>…..a) If the current point is a left point of its line segment, check for intersection of its line segment with the segments just above and below it. </a:t>
            </a:r>
          </a:p>
          <a:p>
            <a:r>
              <a:rPr lang="en-US" dirty="0"/>
              <a:t> And add its line to active line segments </a:t>
            </a:r>
          </a:p>
          <a:p>
            <a:r>
              <a:rPr lang="en-US" dirty="0"/>
              <a:t>(line segments for which left end point is seen, but right end point is not seen yet).  </a:t>
            </a:r>
          </a:p>
          <a:p>
            <a:r>
              <a:rPr lang="en-US" dirty="0"/>
              <a:t>Note that we consider only those neighbors which are still active. </a:t>
            </a:r>
          </a:p>
          <a:p>
            <a:endParaRPr lang="en-US" dirty="0"/>
          </a:p>
          <a:p>
            <a:r>
              <a:rPr lang="en-US" dirty="0"/>
              <a:t>….b) If the current point is a right point, remove its line segment from active list </a:t>
            </a:r>
          </a:p>
          <a:p>
            <a:r>
              <a:rPr lang="en-US" dirty="0"/>
              <a:t>   and check whether its two active neighbors (points just above and below) intersect with each other. </a:t>
            </a:r>
          </a:p>
          <a:p>
            <a:endParaRPr lang="en-US" dirty="0"/>
          </a:p>
          <a:p>
            <a:r>
              <a:rPr lang="en-US" dirty="0"/>
              <a:t>The step 2 is like passing a vertical line from all points starting from the leftmost point to the rightmost point. That is why this algorithm is called Sweep Line Algorithm.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745D45-C050-571E-318E-2BE80350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6968332" cy="15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835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892" y="1250632"/>
            <a:ext cx="4683252" cy="42976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63432" y="4673536"/>
            <a:ext cx="4953000" cy="1941830"/>
            <a:chOff x="2063432" y="4673536"/>
            <a:chExt cx="4953000" cy="1941830"/>
          </a:xfrm>
        </p:grpSpPr>
        <p:sp>
          <p:nvSpPr>
            <p:cNvPr id="4" name="object 4"/>
            <p:cNvSpPr/>
            <p:nvPr/>
          </p:nvSpPr>
          <p:spPr>
            <a:xfrm>
              <a:off x="2063432" y="5644324"/>
              <a:ext cx="4953000" cy="0"/>
            </a:xfrm>
            <a:custGeom>
              <a:avLst/>
              <a:gdLst/>
              <a:ahLst/>
              <a:cxnLst/>
              <a:rect l="l" t="t" r="r" b="b"/>
              <a:pathLst>
                <a:path w="4953000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7432" y="53395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1044" y="5283136"/>
              <a:ext cx="112776" cy="1127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044" y="6197536"/>
              <a:ext cx="112776" cy="1127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11232" y="5034724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9244" y="4978336"/>
              <a:ext cx="112776" cy="1127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4844" y="6426136"/>
              <a:ext cx="112776" cy="1127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96832" y="51109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0444" y="5054536"/>
              <a:ext cx="112776" cy="1127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2444" y="5968936"/>
              <a:ext cx="112776" cy="1127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73032" y="5034724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381000" y="0"/>
                  </a:moveTo>
                  <a:lnTo>
                    <a:pt x="0" y="15240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7644" y="4978336"/>
              <a:ext cx="112776" cy="1127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6644" y="6502336"/>
              <a:ext cx="112776" cy="1127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06632" y="51871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0244" y="5130736"/>
              <a:ext cx="112776" cy="1127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2244" y="6045136"/>
              <a:ext cx="112776" cy="1127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8232" y="4729924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0" y="0"/>
                  </a:moveTo>
                  <a:lnTo>
                    <a:pt x="457200" y="16002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1844" y="4673536"/>
              <a:ext cx="112776" cy="112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9044" y="62737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7660" y="5715952"/>
              <a:ext cx="161544" cy="161544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501064" y="5187124"/>
            <a:ext cx="99060" cy="762000"/>
            <a:chOff x="7501064" y="5187124"/>
            <a:chExt cx="99060" cy="762000"/>
          </a:xfrm>
        </p:grpSpPr>
        <p:sp>
          <p:nvSpPr>
            <p:cNvPr id="25" name="object 25"/>
            <p:cNvSpPr/>
            <p:nvPr/>
          </p:nvSpPr>
          <p:spPr>
            <a:xfrm>
              <a:off x="7549832" y="5187124"/>
              <a:ext cx="0" cy="666115"/>
            </a:xfrm>
            <a:custGeom>
              <a:avLst/>
              <a:gdLst/>
              <a:ahLst/>
              <a:cxnLst/>
              <a:rect l="l" t="t" r="r" b="b"/>
              <a:pathLst>
                <a:path h="666114">
                  <a:moveTo>
                    <a:pt x="0" y="0"/>
                  </a:moveTo>
                  <a:lnTo>
                    <a:pt x="0" y="66598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01064" y="5850064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60">
                  <a:moveTo>
                    <a:pt x="99060" y="0"/>
                  </a:moveTo>
                  <a:lnTo>
                    <a:pt x="0" y="0"/>
                  </a:lnTo>
                  <a:lnTo>
                    <a:pt x="48768" y="99060"/>
                  </a:lnTo>
                  <a:lnTo>
                    <a:pt x="99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1552" y="2051748"/>
            <a:ext cx="7616825" cy="36442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424815" indent="-342900">
              <a:lnSpc>
                <a:spcPts val="3020"/>
              </a:lnSpc>
              <a:spcBef>
                <a:spcPts val="48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Sweep a</a:t>
            </a:r>
            <a:r>
              <a:rPr sz="2800" dirty="0">
                <a:latin typeface="Arial MT"/>
                <a:cs typeface="Arial MT"/>
              </a:rPr>
              <a:t> plane vertically </a:t>
            </a:r>
            <a:r>
              <a:rPr sz="2800" spc="-5" dirty="0">
                <a:latin typeface="Arial MT"/>
                <a:cs typeface="Arial MT"/>
              </a:rPr>
              <a:t>from top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bottom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maintaining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set</a:t>
            </a:r>
            <a:r>
              <a:rPr sz="2800" dirty="0">
                <a:latin typeface="Arial MT"/>
                <a:cs typeface="Arial MT"/>
              </a:rPr>
              <a:t> 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known</a:t>
            </a:r>
            <a:r>
              <a:rPr sz="2800" dirty="0">
                <a:latin typeface="Arial MT"/>
                <a:cs typeface="Arial MT"/>
              </a:rPr>
              <a:t> future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events.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0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Events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7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Beginning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segment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segment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Intersection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“adjacent”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segments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>
              <a:latin typeface="Arial MT"/>
              <a:cs typeface="Arial MT"/>
            </a:endParaRPr>
          </a:p>
          <a:p>
            <a:pPr marL="6642100" marR="5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sweep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15" dirty="0">
                <a:latin typeface="Arial MT"/>
                <a:cs typeface="Arial MT"/>
              </a:rPr>
              <a:t>e</a:t>
            </a:r>
            <a:r>
              <a:rPr sz="2000" spc="5" dirty="0">
                <a:latin typeface="Arial MT"/>
                <a:cs typeface="Arial MT"/>
              </a:rPr>
              <a:t>c</a:t>
            </a:r>
            <a:r>
              <a:rPr sz="2000" spc="-5" dirty="0">
                <a:latin typeface="Arial MT"/>
                <a:cs typeface="Arial MT"/>
              </a:rPr>
              <a:t>ti</a:t>
            </a:r>
            <a:r>
              <a:rPr sz="2000" dirty="0">
                <a:latin typeface="Arial MT"/>
                <a:cs typeface="Arial MT"/>
              </a:rPr>
              <a:t>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053465" marR="5080" indent="-1041400">
              <a:lnSpc>
                <a:spcPts val="1670"/>
              </a:lnSpc>
              <a:spcBef>
                <a:spcPts val="35"/>
              </a:spcBef>
            </a:pPr>
            <a:r>
              <a:rPr spc="-5" dirty="0"/>
              <a:t>CSE</a:t>
            </a:r>
            <a:r>
              <a:rPr spc="-10" dirty="0"/>
              <a:t> </a:t>
            </a:r>
            <a:r>
              <a:rPr spc="-5" dirty="0"/>
              <a:t>589</a:t>
            </a:r>
            <a:r>
              <a:rPr spc="-2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Lecture</a:t>
            </a:r>
            <a:r>
              <a:rPr spc="-20" dirty="0"/>
              <a:t> </a:t>
            </a:r>
            <a:r>
              <a:rPr spc="-5" dirty="0"/>
              <a:t>10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5" dirty="0"/>
              <a:t>Autumn </a:t>
            </a:r>
            <a:r>
              <a:rPr spc="-375" dirty="0"/>
              <a:t> </a:t>
            </a:r>
            <a:r>
              <a:rPr spc="-5" dirty="0"/>
              <a:t>2001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119</a:t>
            </a:fld>
            <a:endParaRPr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1544" y="1250632"/>
            <a:ext cx="2642870" cy="429895"/>
          </a:xfrm>
          <a:custGeom>
            <a:avLst/>
            <a:gdLst/>
            <a:ahLst/>
            <a:cxnLst/>
            <a:rect l="l" t="t" r="r" b="b"/>
            <a:pathLst>
              <a:path w="2642870" h="429894">
                <a:moveTo>
                  <a:pt x="214884" y="317373"/>
                </a:moveTo>
                <a:lnTo>
                  <a:pt x="214884" y="243840"/>
                </a:lnTo>
                <a:lnTo>
                  <a:pt x="211836" y="257556"/>
                </a:lnTo>
                <a:lnTo>
                  <a:pt x="205740" y="271272"/>
                </a:lnTo>
                <a:lnTo>
                  <a:pt x="193548" y="283464"/>
                </a:lnTo>
                <a:lnTo>
                  <a:pt x="178308" y="292608"/>
                </a:lnTo>
                <a:lnTo>
                  <a:pt x="156972" y="297180"/>
                </a:lnTo>
                <a:lnTo>
                  <a:pt x="134112" y="300228"/>
                </a:lnTo>
                <a:lnTo>
                  <a:pt x="109728" y="297180"/>
                </a:lnTo>
                <a:lnTo>
                  <a:pt x="67056" y="278892"/>
                </a:lnTo>
                <a:lnTo>
                  <a:pt x="45720" y="245364"/>
                </a:lnTo>
                <a:lnTo>
                  <a:pt x="41148" y="224028"/>
                </a:lnTo>
                <a:lnTo>
                  <a:pt x="0" y="227076"/>
                </a:lnTo>
                <a:lnTo>
                  <a:pt x="0" y="242316"/>
                </a:lnTo>
                <a:lnTo>
                  <a:pt x="9144" y="272796"/>
                </a:lnTo>
                <a:lnTo>
                  <a:pt x="38100" y="307848"/>
                </a:lnTo>
                <a:lnTo>
                  <a:pt x="79248" y="330708"/>
                </a:lnTo>
                <a:lnTo>
                  <a:pt x="117348" y="336804"/>
                </a:lnTo>
                <a:lnTo>
                  <a:pt x="138684" y="338328"/>
                </a:lnTo>
                <a:lnTo>
                  <a:pt x="155448" y="336804"/>
                </a:lnTo>
                <a:lnTo>
                  <a:pt x="185928" y="330708"/>
                </a:lnTo>
                <a:lnTo>
                  <a:pt x="201168" y="324612"/>
                </a:lnTo>
                <a:lnTo>
                  <a:pt x="213360" y="318516"/>
                </a:lnTo>
                <a:lnTo>
                  <a:pt x="214884" y="317373"/>
                </a:lnTo>
                <a:close/>
              </a:path>
              <a:path w="2642870" h="429894">
                <a:moveTo>
                  <a:pt x="249936" y="97536"/>
                </a:moveTo>
                <a:lnTo>
                  <a:pt x="233172" y="45720"/>
                </a:lnTo>
                <a:lnTo>
                  <a:pt x="204216" y="18288"/>
                </a:lnTo>
                <a:lnTo>
                  <a:pt x="160020" y="3048"/>
                </a:lnTo>
                <a:lnTo>
                  <a:pt x="126492" y="0"/>
                </a:lnTo>
                <a:lnTo>
                  <a:pt x="94488" y="1524"/>
                </a:lnTo>
                <a:lnTo>
                  <a:pt x="53340" y="16764"/>
                </a:lnTo>
                <a:lnTo>
                  <a:pt x="19812" y="54864"/>
                </a:lnTo>
                <a:lnTo>
                  <a:pt x="12192" y="77724"/>
                </a:lnTo>
                <a:lnTo>
                  <a:pt x="12192" y="89916"/>
                </a:lnTo>
                <a:lnTo>
                  <a:pt x="13716" y="111252"/>
                </a:lnTo>
                <a:lnTo>
                  <a:pt x="22860" y="131064"/>
                </a:lnTo>
                <a:lnTo>
                  <a:pt x="30480" y="138684"/>
                </a:lnTo>
                <a:lnTo>
                  <a:pt x="38100" y="147828"/>
                </a:lnTo>
                <a:lnTo>
                  <a:pt x="47244" y="153924"/>
                </a:lnTo>
                <a:lnTo>
                  <a:pt x="56388" y="159639"/>
                </a:lnTo>
                <a:lnTo>
                  <a:pt x="56388" y="76200"/>
                </a:lnTo>
                <a:lnTo>
                  <a:pt x="59436" y="68580"/>
                </a:lnTo>
                <a:lnTo>
                  <a:pt x="96012" y="41148"/>
                </a:lnTo>
                <a:lnTo>
                  <a:pt x="111252" y="38100"/>
                </a:lnTo>
                <a:lnTo>
                  <a:pt x="144780" y="38100"/>
                </a:lnTo>
                <a:lnTo>
                  <a:pt x="182880" y="53340"/>
                </a:lnTo>
                <a:lnTo>
                  <a:pt x="205740" y="99060"/>
                </a:lnTo>
                <a:lnTo>
                  <a:pt x="249936" y="97536"/>
                </a:lnTo>
                <a:close/>
              </a:path>
              <a:path w="2642870" h="429894">
                <a:moveTo>
                  <a:pt x="259080" y="239268"/>
                </a:moveTo>
                <a:lnTo>
                  <a:pt x="243840" y="193548"/>
                </a:lnTo>
                <a:lnTo>
                  <a:pt x="214884" y="167640"/>
                </a:lnTo>
                <a:lnTo>
                  <a:pt x="173736" y="150876"/>
                </a:lnTo>
                <a:lnTo>
                  <a:pt x="153924" y="144780"/>
                </a:lnTo>
                <a:lnTo>
                  <a:pt x="108204" y="132588"/>
                </a:lnTo>
                <a:lnTo>
                  <a:pt x="89916" y="128016"/>
                </a:lnTo>
                <a:lnTo>
                  <a:pt x="76200" y="121920"/>
                </a:lnTo>
                <a:lnTo>
                  <a:pt x="68580" y="115824"/>
                </a:lnTo>
                <a:lnTo>
                  <a:pt x="59436" y="102108"/>
                </a:lnTo>
                <a:lnTo>
                  <a:pt x="56388" y="94488"/>
                </a:lnTo>
                <a:lnTo>
                  <a:pt x="56388" y="159639"/>
                </a:lnTo>
                <a:lnTo>
                  <a:pt x="59436" y="161544"/>
                </a:lnTo>
                <a:lnTo>
                  <a:pt x="70104" y="166116"/>
                </a:lnTo>
                <a:lnTo>
                  <a:pt x="83820" y="170688"/>
                </a:lnTo>
                <a:lnTo>
                  <a:pt x="100584" y="176784"/>
                </a:lnTo>
                <a:lnTo>
                  <a:pt x="140208" y="185928"/>
                </a:lnTo>
                <a:lnTo>
                  <a:pt x="176784" y="198120"/>
                </a:lnTo>
                <a:lnTo>
                  <a:pt x="211836" y="228600"/>
                </a:lnTo>
                <a:lnTo>
                  <a:pt x="214884" y="243840"/>
                </a:lnTo>
                <a:lnTo>
                  <a:pt x="214884" y="317373"/>
                </a:lnTo>
                <a:lnTo>
                  <a:pt x="225552" y="309372"/>
                </a:lnTo>
                <a:lnTo>
                  <a:pt x="249936" y="277368"/>
                </a:lnTo>
                <a:lnTo>
                  <a:pt x="257556" y="252984"/>
                </a:lnTo>
                <a:lnTo>
                  <a:pt x="259080" y="239268"/>
                </a:lnTo>
                <a:close/>
              </a:path>
              <a:path w="2642870" h="429894">
                <a:moveTo>
                  <a:pt x="519684" y="214884"/>
                </a:moveTo>
                <a:lnTo>
                  <a:pt x="512064" y="161544"/>
                </a:lnTo>
                <a:lnTo>
                  <a:pt x="489204" y="123444"/>
                </a:lnTo>
                <a:lnTo>
                  <a:pt x="454152" y="99060"/>
                </a:lnTo>
                <a:lnTo>
                  <a:pt x="409956" y="91440"/>
                </a:lnTo>
                <a:lnTo>
                  <a:pt x="385572" y="92964"/>
                </a:lnTo>
                <a:lnTo>
                  <a:pt x="345948" y="109728"/>
                </a:lnTo>
                <a:lnTo>
                  <a:pt x="315468" y="141732"/>
                </a:lnTo>
                <a:lnTo>
                  <a:pt x="300228" y="187452"/>
                </a:lnTo>
                <a:lnTo>
                  <a:pt x="298704" y="216408"/>
                </a:lnTo>
                <a:lnTo>
                  <a:pt x="300228" y="243840"/>
                </a:lnTo>
                <a:lnTo>
                  <a:pt x="306324" y="266700"/>
                </a:lnTo>
                <a:lnTo>
                  <a:pt x="315468" y="288036"/>
                </a:lnTo>
                <a:lnTo>
                  <a:pt x="329184" y="306324"/>
                </a:lnTo>
                <a:lnTo>
                  <a:pt x="339852" y="315052"/>
                </a:lnTo>
                <a:lnTo>
                  <a:pt x="339852" y="225552"/>
                </a:lnTo>
                <a:lnTo>
                  <a:pt x="341376" y="225552"/>
                </a:lnTo>
                <a:lnTo>
                  <a:pt x="341376" y="192024"/>
                </a:lnTo>
                <a:lnTo>
                  <a:pt x="342900" y="176784"/>
                </a:lnTo>
                <a:lnTo>
                  <a:pt x="362712" y="143256"/>
                </a:lnTo>
                <a:lnTo>
                  <a:pt x="396240" y="124968"/>
                </a:lnTo>
                <a:lnTo>
                  <a:pt x="409956" y="124968"/>
                </a:lnTo>
                <a:lnTo>
                  <a:pt x="451104" y="137160"/>
                </a:lnTo>
                <a:lnTo>
                  <a:pt x="475488" y="178308"/>
                </a:lnTo>
                <a:lnTo>
                  <a:pt x="478536" y="192024"/>
                </a:lnTo>
                <a:lnTo>
                  <a:pt x="478536" y="225552"/>
                </a:lnTo>
                <a:lnTo>
                  <a:pt x="518160" y="225552"/>
                </a:lnTo>
                <a:lnTo>
                  <a:pt x="518160" y="217932"/>
                </a:lnTo>
                <a:lnTo>
                  <a:pt x="519684" y="214884"/>
                </a:lnTo>
                <a:close/>
              </a:path>
              <a:path w="2642870" h="429894">
                <a:moveTo>
                  <a:pt x="518160" y="262128"/>
                </a:moveTo>
                <a:lnTo>
                  <a:pt x="477012" y="256032"/>
                </a:lnTo>
                <a:lnTo>
                  <a:pt x="472440" y="266700"/>
                </a:lnTo>
                <a:lnTo>
                  <a:pt x="466344" y="277368"/>
                </a:lnTo>
                <a:lnTo>
                  <a:pt x="458724" y="286512"/>
                </a:lnTo>
                <a:lnTo>
                  <a:pt x="451104" y="292608"/>
                </a:lnTo>
                <a:lnTo>
                  <a:pt x="434340" y="301752"/>
                </a:lnTo>
                <a:lnTo>
                  <a:pt x="413004" y="304800"/>
                </a:lnTo>
                <a:lnTo>
                  <a:pt x="397764" y="303276"/>
                </a:lnTo>
                <a:lnTo>
                  <a:pt x="361188" y="283464"/>
                </a:lnTo>
                <a:lnTo>
                  <a:pt x="341376" y="242316"/>
                </a:lnTo>
                <a:lnTo>
                  <a:pt x="339852" y="225552"/>
                </a:lnTo>
                <a:lnTo>
                  <a:pt x="339852" y="315052"/>
                </a:lnTo>
                <a:lnTo>
                  <a:pt x="345948" y="320040"/>
                </a:lnTo>
                <a:lnTo>
                  <a:pt x="365760" y="329184"/>
                </a:lnTo>
                <a:lnTo>
                  <a:pt x="387096" y="335280"/>
                </a:lnTo>
                <a:lnTo>
                  <a:pt x="411480" y="338328"/>
                </a:lnTo>
                <a:lnTo>
                  <a:pt x="432816" y="336804"/>
                </a:lnTo>
                <a:lnTo>
                  <a:pt x="481584" y="316992"/>
                </a:lnTo>
                <a:lnTo>
                  <a:pt x="512064" y="278892"/>
                </a:lnTo>
                <a:lnTo>
                  <a:pt x="518160" y="262128"/>
                </a:lnTo>
                <a:close/>
              </a:path>
              <a:path w="2642870" h="429894">
                <a:moveTo>
                  <a:pt x="478536" y="225552"/>
                </a:moveTo>
                <a:lnTo>
                  <a:pt x="478536" y="192024"/>
                </a:lnTo>
                <a:lnTo>
                  <a:pt x="341376" y="192024"/>
                </a:lnTo>
                <a:lnTo>
                  <a:pt x="341376" y="225552"/>
                </a:lnTo>
                <a:lnTo>
                  <a:pt x="478536" y="225552"/>
                </a:lnTo>
                <a:close/>
              </a:path>
              <a:path w="2642870" h="429894">
                <a:moveTo>
                  <a:pt x="760476" y="326136"/>
                </a:moveTo>
                <a:lnTo>
                  <a:pt x="760476" y="96012"/>
                </a:lnTo>
                <a:lnTo>
                  <a:pt x="723900" y="96012"/>
                </a:lnTo>
                <a:lnTo>
                  <a:pt x="723900" y="126492"/>
                </a:lnTo>
                <a:lnTo>
                  <a:pt x="710184" y="111252"/>
                </a:lnTo>
                <a:lnTo>
                  <a:pt x="693420" y="99060"/>
                </a:lnTo>
                <a:lnTo>
                  <a:pt x="675132" y="92964"/>
                </a:lnTo>
                <a:lnTo>
                  <a:pt x="655320" y="91440"/>
                </a:lnTo>
                <a:lnTo>
                  <a:pt x="640080" y="91440"/>
                </a:lnTo>
                <a:lnTo>
                  <a:pt x="600456" y="106680"/>
                </a:lnTo>
                <a:lnTo>
                  <a:pt x="571500" y="137160"/>
                </a:lnTo>
                <a:lnTo>
                  <a:pt x="554736" y="181356"/>
                </a:lnTo>
                <a:lnTo>
                  <a:pt x="551688" y="213360"/>
                </a:lnTo>
                <a:lnTo>
                  <a:pt x="554736" y="237744"/>
                </a:lnTo>
                <a:lnTo>
                  <a:pt x="559308" y="259080"/>
                </a:lnTo>
                <a:lnTo>
                  <a:pt x="566928" y="278892"/>
                </a:lnTo>
                <a:lnTo>
                  <a:pt x="579120" y="297180"/>
                </a:lnTo>
                <a:lnTo>
                  <a:pt x="592836" y="312267"/>
                </a:lnTo>
                <a:lnTo>
                  <a:pt x="592836" y="210312"/>
                </a:lnTo>
                <a:lnTo>
                  <a:pt x="594360" y="190500"/>
                </a:lnTo>
                <a:lnTo>
                  <a:pt x="612648" y="146304"/>
                </a:lnTo>
                <a:lnTo>
                  <a:pt x="644652" y="124968"/>
                </a:lnTo>
                <a:lnTo>
                  <a:pt x="670560" y="124968"/>
                </a:lnTo>
                <a:lnTo>
                  <a:pt x="704088" y="146304"/>
                </a:lnTo>
                <a:lnTo>
                  <a:pt x="722376" y="192024"/>
                </a:lnTo>
                <a:lnTo>
                  <a:pt x="722376" y="410609"/>
                </a:lnTo>
                <a:lnTo>
                  <a:pt x="725424" y="408432"/>
                </a:lnTo>
                <a:lnTo>
                  <a:pt x="754380" y="365760"/>
                </a:lnTo>
                <a:lnTo>
                  <a:pt x="758952" y="347472"/>
                </a:lnTo>
                <a:lnTo>
                  <a:pt x="760476" y="326136"/>
                </a:lnTo>
                <a:close/>
              </a:path>
              <a:path w="2642870" h="429894">
                <a:moveTo>
                  <a:pt x="719328" y="412786"/>
                </a:moveTo>
                <a:lnTo>
                  <a:pt x="719328" y="335280"/>
                </a:lnTo>
                <a:lnTo>
                  <a:pt x="717804" y="345948"/>
                </a:lnTo>
                <a:lnTo>
                  <a:pt x="717804" y="353568"/>
                </a:lnTo>
                <a:lnTo>
                  <a:pt x="710184" y="371856"/>
                </a:lnTo>
                <a:lnTo>
                  <a:pt x="696468" y="384048"/>
                </a:lnTo>
                <a:lnTo>
                  <a:pt x="688848" y="390144"/>
                </a:lnTo>
                <a:lnTo>
                  <a:pt x="679704" y="393192"/>
                </a:lnTo>
                <a:lnTo>
                  <a:pt x="655320" y="396240"/>
                </a:lnTo>
                <a:lnTo>
                  <a:pt x="632460" y="393192"/>
                </a:lnTo>
                <a:lnTo>
                  <a:pt x="614172" y="384048"/>
                </a:lnTo>
                <a:lnTo>
                  <a:pt x="605028" y="373380"/>
                </a:lnTo>
                <a:lnTo>
                  <a:pt x="600456" y="358140"/>
                </a:lnTo>
                <a:lnTo>
                  <a:pt x="559308" y="352044"/>
                </a:lnTo>
                <a:lnTo>
                  <a:pt x="574548" y="399288"/>
                </a:lnTo>
                <a:lnTo>
                  <a:pt x="615696" y="423672"/>
                </a:lnTo>
                <a:lnTo>
                  <a:pt x="653796" y="429768"/>
                </a:lnTo>
                <a:lnTo>
                  <a:pt x="670560" y="428244"/>
                </a:lnTo>
                <a:lnTo>
                  <a:pt x="687324" y="425196"/>
                </a:lnTo>
                <a:lnTo>
                  <a:pt x="701040" y="422148"/>
                </a:lnTo>
                <a:lnTo>
                  <a:pt x="714756" y="416052"/>
                </a:lnTo>
                <a:lnTo>
                  <a:pt x="719328" y="412786"/>
                </a:lnTo>
                <a:close/>
              </a:path>
              <a:path w="2642870" h="429894">
                <a:moveTo>
                  <a:pt x="722376" y="410609"/>
                </a:moveTo>
                <a:lnTo>
                  <a:pt x="722376" y="233172"/>
                </a:lnTo>
                <a:lnTo>
                  <a:pt x="717804" y="251460"/>
                </a:lnTo>
                <a:lnTo>
                  <a:pt x="713232" y="266700"/>
                </a:lnTo>
                <a:lnTo>
                  <a:pt x="684276" y="294132"/>
                </a:lnTo>
                <a:lnTo>
                  <a:pt x="658368" y="300228"/>
                </a:lnTo>
                <a:lnTo>
                  <a:pt x="644652" y="298704"/>
                </a:lnTo>
                <a:lnTo>
                  <a:pt x="603504" y="266700"/>
                </a:lnTo>
                <a:lnTo>
                  <a:pt x="592836" y="210312"/>
                </a:lnTo>
                <a:lnTo>
                  <a:pt x="592836" y="312267"/>
                </a:lnTo>
                <a:lnTo>
                  <a:pt x="594360" y="313944"/>
                </a:lnTo>
                <a:lnTo>
                  <a:pt x="611124" y="324612"/>
                </a:lnTo>
                <a:lnTo>
                  <a:pt x="630936" y="330708"/>
                </a:lnTo>
                <a:lnTo>
                  <a:pt x="653796" y="333756"/>
                </a:lnTo>
                <a:lnTo>
                  <a:pt x="673608" y="330708"/>
                </a:lnTo>
                <a:lnTo>
                  <a:pt x="690372" y="326136"/>
                </a:lnTo>
                <a:lnTo>
                  <a:pt x="705612" y="316992"/>
                </a:lnTo>
                <a:lnTo>
                  <a:pt x="719328" y="304800"/>
                </a:lnTo>
                <a:lnTo>
                  <a:pt x="719328" y="412786"/>
                </a:lnTo>
                <a:lnTo>
                  <a:pt x="722376" y="410609"/>
                </a:lnTo>
                <a:close/>
              </a:path>
              <a:path w="2642870" h="429894">
                <a:moveTo>
                  <a:pt x="1143000" y="333756"/>
                </a:moveTo>
                <a:lnTo>
                  <a:pt x="1143000" y="150876"/>
                </a:lnTo>
                <a:lnTo>
                  <a:pt x="1138428" y="135636"/>
                </a:lnTo>
                <a:lnTo>
                  <a:pt x="1114044" y="102108"/>
                </a:lnTo>
                <a:lnTo>
                  <a:pt x="1086612" y="91440"/>
                </a:lnTo>
                <a:lnTo>
                  <a:pt x="1069848" y="91440"/>
                </a:lnTo>
                <a:lnTo>
                  <a:pt x="1048512" y="92964"/>
                </a:lnTo>
                <a:lnTo>
                  <a:pt x="1028700" y="100584"/>
                </a:lnTo>
                <a:lnTo>
                  <a:pt x="1011936" y="114300"/>
                </a:lnTo>
                <a:lnTo>
                  <a:pt x="996696" y="132588"/>
                </a:lnTo>
                <a:lnTo>
                  <a:pt x="987552" y="114300"/>
                </a:lnTo>
                <a:lnTo>
                  <a:pt x="973836" y="102108"/>
                </a:lnTo>
                <a:lnTo>
                  <a:pt x="954024" y="92964"/>
                </a:lnTo>
                <a:lnTo>
                  <a:pt x="929640" y="91440"/>
                </a:lnTo>
                <a:lnTo>
                  <a:pt x="908304" y="92964"/>
                </a:lnTo>
                <a:lnTo>
                  <a:pt x="888492" y="102108"/>
                </a:lnTo>
                <a:lnTo>
                  <a:pt x="871728" y="114300"/>
                </a:lnTo>
                <a:lnTo>
                  <a:pt x="858012" y="129540"/>
                </a:lnTo>
                <a:lnTo>
                  <a:pt x="858012" y="96012"/>
                </a:lnTo>
                <a:lnTo>
                  <a:pt x="821436" y="96012"/>
                </a:lnTo>
                <a:lnTo>
                  <a:pt x="821436" y="333756"/>
                </a:lnTo>
                <a:lnTo>
                  <a:pt x="862584" y="333756"/>
                </a:lnTo>
                <a:lnTo>
                  <a:pt x="862584" y="210312"/>
                </a:lnTo>
                <a:lnTo>
                  <a:pt x="864108" y="195072"/>
                </a:lnTo>
                <a:lnTo>
                  <a:pt x="864108" y="181356"/>
                </a:lnTo>
                <a:lnTo>
                  <a:pt x="867156" y="170688"/>
                </a:lnTo>
                <a:lnTo>
                  <a:pt x="868680" y="161544"/>
                </a:lnTo>
                <a:lnTo>
                  <a:pt x="877824" y="146304"/>
                </a:lnTo>
                <a:lnTo>
                  <a:pt x="890016" y="134112"/>
                </a:lnTo>
                <a:lnTo>
                  <a:pt x="905256" y="128016"/>
                </a:lnTo>
                <a:lnTo>
                  <a:pt x="920496" y="126492"/>
                </a:lnTo>
                <a:lnTo>
                  <a:pt x="931164" y="126492"/>
                </a:lnTo>
                <a:lnTo>
                  <a:pt x="960120" y="155448"/>
                </a:lnTo>
                <a:lnTo>
                  <a:pt x="961644" y="166116"/>
                </a:lnTo>
                <a:lnTo>
                  <a:pt x="961644" y="333756"/>
                </a:lnTo>
                <a:lnTo>
                  <a:pt x="1002792" y="333756"/>
                </a:lnTo>
                <a:lnTo>
                  <a:pt x="1002792" y="195072"/>
                </a:lnTo>
                <a:lnTo>
                  <a:pt x="1004316" y="178308"/>
                </a:lnTo>
                <a:lnTo>
                  <a:pt x="1019556" y="141732"/>
                </a:lnTo>
                <a:lnTo>
                  <a:pt x="1048512" y="126492"/>
                </a:lnTo>
                <a:lnTo>
                  <a:pt x="1060704" y="126492"/>
                </a:lnTo>
                <a:lnTo>
                  <a:pt x="1098804" y="149352"/>
                </a:lnTo>
                <a:lnTo>
                  <a:pt x="1101852" y="163068"/>
                </a:lnTo>
                <a:lnTo>
                  <a:pt x="1101852" y="333756"/>
                </a:lnTo>
                <a:lnTo>
                  <a:pt x="1143000" y="333756"/>
                </a:lnTo>
                <a:close/>
              </a:path>
              <a:path w="2642870" h="429894">
                <a:moveTo>
                  <a:pt x="1409700" y="214884"/>
                </a:moveTo>
                <a:lnTo>
                  <a:pt x="1402080" y="161544"/>
                </a:lnTo>
                <a:lnTo>
                  <a:pt x="1379220" y="123444"/>
                </a:lnTo>
                <a:lnTo>
                  <a:pt x="1344168" y="99060"/>
                </a:lnTo>
                <a:lnTo>
                  <a:pt x="1299972" y="91440"/>
                </a:lnTo>
                <a:lnTo>
                  <a:pt x="1275588" y="92964"/>
                </a:lnTo>
                <a:lnTo>
                  <a:pt x="1235964" y="109728"/>
                </a:lnTo>
                <a:lnTo>
                  <a:pt x="1205484" y="141732"/>
                </a:lnTo>
                <a:lnTo>
                  <a:pt x="1190244" y="187452"/>
                </a:lnTo>
                <a:lnTo>
                  <a:pt x="1188720" y="216408"/>
                </a:lnTo>
                <a:lnTo>
                  <a:pt x="1190244" y="243840"/>
                </a:lnTo>
                <a:lnTo>
                  <a:pt x="1196340" y="266700"/>
                </a:lnTo>
                <a:lnTo>
                  <a:pt x="1205484" y="288036"/>
                </a:lnTo>
                <a:lnTo>
                  <a:pt x="1219200" y="306324"/>
                </a:lnTo>
                <a:lnTo>
                  <a:pt x="1229868" y="315052"/>
                </a:lnTo>
                <a:lnTo>
                  <a:pt x="1229868" y="225552"/>
                </a:lnTo>
                <a:lnTo>
                  <a:pt x="1231392" y="225552"/>
                </a:lnTo>
                <a:lnTo>
                  <a:pt x="1231392" y="192024"/>
                </a:lnTo>
                <a:lnTo>
                  <a:pt x="1232916" y="176784"/>
                </a:lnTo>
                <a:lnTo>
                  <a:pt x="1252728" y="143256"/>
                </a:lnTo>
                <a:lnTo>
                  <a:pt x="1286256" y="124968"/>
                </a:lnTo>
                <a:lnTo>
                  <a:pt x="1299972" y="124968"/>
                </a:lnTo>
                <a:lnTo>
                  <a:pt x="1341120" y="137160"/>
                </a:lnTo>
                <a:lnTo>
                  <a:pt x="1365504" y="178308"/>
                </a:lnTo>
                <a:lnTo>
                  <a:pt x="1368552" y="192024"/>
                </a:lnTo>
                <a:lnTo>
                  <a:pt x="1368552" y="225552"/>
                </a:lnTo>
                <a:lnTo>
                  <a:pt x="1408176" y="225552"/>
                </a:lnTo>
                <a:lnTo>
                  <a:pt x="1408176" y="217932"/>
                </a:lnTo>
                <a:lnTo>
                  <a:pt x="1409700" y="214884"/>
                </a:lnTo>
                <a:close/>
              </a:path>
              <a:path w="2642870" h="429894">
                <a:moveTo>
                  <a:pt x="1408176" y="262128"/>
                </a:moveTo>
                <a:lnTo>
                  <a:pt x="1367028" y="256032"/>
                </a:lnTo>
                <a:lnTo>
                  <a:pt x="1362456" y="266700"/>
                </a:lnTo>
                <a:lnTo>
                  <a:pt x="1356360" y="277368"/>
                </a:lnTo>
                <a:lnTo>
                  <a:pt x="1348740" y="286512"/>
                </a:lnTo>
                <a:lnTo>
                  <a:pt x="1341120" y="292608"/>
                </a:lnTo>
                <a:lnTo>
                  <a:pt x="1324356" y="301752"/>
                </a:lnTo>
                <a:lnTo>
                  <a:pt x="1303020" y="304800"/>
                </a:lnTo>
                <a:lnTo>
                  <a:pt x="1287780" y="303276"/>
                </a:lnTo>
                <a:lnTo>
                  <a:pt x="1251204" y="283464"/>
                </a:lnTo>
                <a:lnTo>
                  <a:pt x="1231392" y="242316"/>
                </a:lnTo>
                <a:lnTo>
                  <a:pt x="1229868" y="225552"/>
                </a:lnTo>
                <a:lnTo>
                  <a:pt x="1229868" y="315052"/>
                </a:lnTo>
                <a:lnTo>
                  <a:pt x="1235964" y="320040"/>
                </a:lnTo>
                <a:lnTo>
                  <a:pt x="1255776" y="329184"/>
                </a:lnTo>
                <a:lnTo>
                  <a:pt x="1277112" y="335280"/>
                </a:lnTo>
                <a:lnTo>
                  <a:pt x="1301496" y="338328"/>
                </a:lnTo>
                <a:lnTo>
                  <a:pt x="1322832" y="336804"/>
                </a:lnTo>
                <a:lnTo>
                  <a:pt x="1371600" y="316992"/>
                </a:lnTo>
                <a:lnTo>
                  <a:pt x="1402080" y="278892"/>
                </a:lnTo>
                <a:lnTo>
                  <a:pt x="1408176" y="262128"/>
                </a:lnTo>
                <a:close/>
              </a:path>
              <a:path w="2642870" h="429894">
                <a:moveTo>
                  <a:pt x="1368552" y="225552"/>
                </a:moveTo>
                <a:lnTo>
                  <a:pt x="1368552" y="192024"/>
                </a:lnTo>
                <a:lnTo>
                  <a:pt x="1231392" y="192024"/>
                </a:lnTo>
                <a:lnTo>
                  <a:pt x="1231392" y="225552"/>
                </a:lnTo>
                <a:lnTo>
                  <a:pt x="1368552" y="225552"/>
                </a:lnTo>
                <a:close/>
              </a:path>
              <a:path w="2642870" h="429894">
                <a:moveTo>
                  <a:pt x="1648968" y="333756"/>
                </a:moveTo>
                <a:lnTo>
                  <a:pt x="1648968" y="187452"/>
                </a:lnTo>
                <a:lnTo>
                  <a:pt x="1647444" y="175260"/>
                </a:lnTo>
                <a:lnTo>
                  <a:pt x="1647444" y="155448"/>
                </a:lnTo>
                <a:lnTo>
                  <a:pt x="1633728" y="118872"/>
                </a:lnTo>
                <a:lnTo>
                  <a:pt x="1589532" y="92964"/>
                </a:lnTo>
                <a:lnTo>
                  <a:pt x="1568196" y="91440"/>
                </a:lnTo>
                <a:lnTo>
                  <a:pt x="1545336" y="92964"/>
                </a:lnTo>
                <a:lnTo>
                  <a:pt x="1525524" y="100584"/>
                </a:lnTo>
                <a:lnTo>
                  <a:pt x="1508760" y="112776"/>
                </a:lnTo>
                <a:lnTo>
                  <a:pt x="1495044" y="129540"/>
                </a:lnTo>
                <a:lnTo>
                  <a:pt x="1495044" y="96012"/>
                </a:lnTo>
                <a:lnTo>
                  <a:pt x="1458468" y="96012"/>
                </a:lnTo>
                <a:lnTo>
                  <a:pt x="1458468" y="333756"/>
                </a:lnTo>
                <a:lnTo>
                  <a:pt x="1499616" y="333756"/>
                </a:lnTo>
                <a:lnTo>
                  <a:pt x="1499616" y="182880"/>
                </a:lnTo>
                <a:lnTo>
                  <a:pt x="1502664" y="166116"/>
                </a:lnTo>
                <a:lnTo>
                  <a:pt x="1508760" y="152400"/>
                </a:lnTo>
                <a:lnTo>
                  <a:pt x="1516380" y="141732"/>
                </a:lnTo>
                <a:lnTo>
                  <a:pt x="1527048" y="135636"/>
                </a:lnTo>
                <a:lnTo>
                  <a:pt x="1536192" y="129540"/>
                </a:lnTo>
                <a:lnTo>
                  <a:pt x="1548384" y="126492"/>
                </a:lnTo>
                <a:lnTo>
                  <a:pt x="1559052" y="126492"/>
                </a:lnTo>
                <a:lnTo>
                  <a:pt x="1595628" y="141732"/>
                </a:lnTo>
                <a:lnTo>
                  <a:pt x="1606296" y="167640"/>
                </a:lnTo>
                <a:lnTo>
                  <a:pt x="1606296" y="178308"/>
                </a:lnTo>
                <a:lnTo>
                  <a:pt x="1607820" y="188976"/>
                </a:lnTo>
                <a:lnTo>
                  <a:pt x="1607820" y="333756"/>
                </a:lnTo>
                <a:lnTo>
                  <a:pt x="1648968" y="333756"/>
                </a:lnTo>
                <a:close/>
              </a:path>
              <a:path w="2642870" h="429894">
                <a:moveTo>
                  <a:pt x="1717548" y="128016"/>
                </a:moveTo>
                <a:lnTo>
                  <a:pt x="1717548" y="96012"/>
                </a:lnTo>
                <a:lnTo>
                  <a:pt x="1688592" y="96012"/>
                </a:lnTo>
                <a:lnTo>
                  <a:pt x="1688592" y="128016"/>
                </a:lnTo>
                <a:lnTo>
                  <a:pt x="1717548" y="128016"/>
                </a:lnTo>
                <a:close/>
              </a:path>
              <a:path w="2642870" h="429894">
                <a:moveTo>
                  <a:pt x="1804416" y="333756"/>
                </a:moveTo>
                <a:lnTo>
                  <a:pt x="1798320" y="298704"/>
                </a:lnTo>
                <a:lnTo>
                  <a:pt x="1787652" y="298704"/>
                </a:lnTo>
                <a:lnTo>
                  <a:pt x="1780032" y="300228"/>
                </a:lnTo>
                <a:lnTo>
                  <a:pt x="1772412" y="298704"/>
                </a:lnTo>
                <a:lnTo>
                  <a:pt x="1766316" y="297180"/>
                </a:lnTo>
                <a:lnTo>
                  <a:pt x="1760220" y="289560"/>
                </a:lnTo>
                <a:lnTo>
                  <a:pt x="1758696" y="284988"/>
                </a:lnTo>
                <a:lnTo>
                  <a:pt x="1758696" y="12192"/>
                </a:lnTo>
                <a:lnTo>
                  <a:pt x="1717548" y="36576"/>
                </a:lnTo>
                <a:lnTo>
                  <a:pt x="1717548" y="294132"/>
                </a:lnTo>
                <a:lnTo>
                  <a:pt x="1719072" y="304800"/>
                </a:lnTo>
                <a:lnTo>
                  <a:pt x="1754124" y="335280"/>
                </a:lnTo>
                <a:lnTo>
                  <a:pt x="1772412" y="338328"/>
                </a:lnTo>
                <a:lnTo>
                  <a:pt x="1787652" y="336804"/>
                </a:lnTo>
                <a:lnTo>
                  <a:pt x="1804416" y="333756"/>
                </a:lnTo>
                <a:close/>
              </a:path>
              <a:path w="2642870" h="429894">
                <a:moveTo>
                  <a:pt x="1798320" y="128016"/>
                </a:moveTo>
                <a:lnTo>
                  <a:pt x="1798320" y="96012"/>
                </a:lnTo>
                <a:lnTo>
                  <a:pt x="1758696" y="96012"/>
                </a:lnTo>
                <a:lnTo>
                  <a:pt x="1758696" y="128016"/>
                </a:lnTo>
                <a:lnTo>
                  <a:pt x="1798320" y="128016"/>
                </a:lnTo>
                <a:close/>
              </a:path>
              <a:path w="2642870" h="429894">
                <a:moveTo>
                  <a:pt x="2173224" y="333756"/>
                </a:moveTo>
                <a:lnTo>
                  <a:pt x="2173224" y="295656"/>
                </a:lnTo>
                <a:lnTo>
                  <a:pt x="2011680" y="295656"/>
                </a:lnTo>
                <a:lnTo>
                  <a:pt x="2011680" y="6096"/>
                </a:lnTo>
                <a:lnTo>
                  <a:pt x="1967484" y="6096"/>
                </a:lnTo>
                <a:lnTo>
                  <a:pt x="1967484" y="333756"/>
                </a:lnTo>
                <a:lnTo>
                  <a:pt x="2173224" y="333756"/>
                </a:lnTo>
                <a:close/>
              </a:path>
              <a:path w="2642870" h="429894">
                <a:moveTo>
                  <a:pt x="2261616" y="51816"/>
                </a:moveTo>
                <a:lnTo>
                  <a:pt x="2261616" y="6096"/>
                </a:lnTo>
                <a:lnTo>
                  <a:pt x="2220468" y="6096"/>
                </a:lnTo>
                <a:lnTo>
                  <a:pt x="2220468" y="51816"/>
                </a:lnTo>
                <a:lnTo>
                  <a:pt x="2261616" y="51816"/>
                </a:lnTo>
                <a:close/>
              </a:path>
              <a:path w="2642870" h="429894">
                <a:moveTo>
                  <a:pt x="2261616" y="333756"/>
                </a:moveTo>
                <a:lnTo>
                  <a:pt x="2261616" y="96012"/>
                </a:lnTo>
                <a:lnTo>
                  <a:pt x="2220468" y="96012"/>
                </a:lnTo>
                <a:lnTo>
                  <a:pt x="2220468" y="333756"/>
                </a:lnTo>
                <a:lnTo>
                  <a:pt x="2261616" y="333756"/>
                </a:lnTo>
                <a:close/>
              </a:path>
              <a:path w="2642870" h="429894">
                <a:moveTo>
                  <a:pt x="2459736" y="325198"/>
                </a:moveTo>
                <a:lnTo>
                  <a:pt x="2459736" y="266700"/>
                </a:lnTo>
                <a:lnTo>
                  <a:pt x="2458212" y="274320"/>
                </a:lnTo>
                <a:lnTo>
                  <a:pt x="2455164" y="280416"/>
                </a:lnTo>
                <a:lnTo>
                  <a:pt x="2418588" y="303276"/>
                </a:lnTo>
                <a:lnTo>
                  <a:pt x="2406396" y="304800"/>
                </a:lnTo>
                <a:lnTo>
                  <a:pt x="2392680" y="303276"/>
                </a:lnTo>
                <a:lnTo>
                  <a:pt x="2353056" y="275844"/>
                </a:lnTo>
                <a:lnTo>
                  <a:pt x="2346960" y="256032"/>
                </a:lnTo>
                <a:lnTo>
                  <a:pt x="2305812" y="262128"/>
                </a:lnTo>
                <a:lnTo>
                  <a:pt x="2324100" y="307848"/>
                </a:lnTo>
                <a:lnTo>
                  <a:pt x="2365248" y="332232"/>
                </a:lnTo>
                <a:lnTo>
                  <a:pt x="2404872" y="338328"/>
                </a:lnTo>
                <a:lnTo>
                  <a:pt x="2432304" y="335280"/>
                </a:lnTo>
                <a:lnTo>
                  <a:pt x="2455164" y="327660"/>
                </a:lnTo>
                <a:lnTo>
                  <a:pt x="2459736" y="325198"/>
                </a:lnTo>
                <a:close/>
              </a:path>
              <a:path w="2642870" h="429894">
                <a:moveTo>
                  <a:pt x="2491740" y="160020"/>
                </a:moveTo>
                <a:lnTo>
                  <a:pt x="2478024" y="121920"/>
                </a:lnTo>
                <a:lnTo>
                  <a:pt x="2446020" y="99060"/>
                </a:lnTo>
                <a:lnTo>
                  <a:pt x="2397252" y="91440"/>
                </a:lnTo>
                <a:lnTo>
                  <a:pt x="2380488" y="91440"/>
                </a:lnTo>
                <a:lnTo>
                  <a:pt x="2337816" y="106680"/>
                </a:lnTo>
                <a:lnTo>
                  <a:pt x="2313432" y="143256"/>
                </a:lnTo>
                <a:lnTo>
                  <a:pt x="2311908" y="158496"/>
                </a:lnTo>
                <a:lnTo>
                  <a:pt x="2313432" y="175260"/>
                </a:lnTo>
                <a:lnTo>
                  <a:pt x="2319528" y="190500"/>
                </a:lnTo>
                <a:lnTo>
                  <a:pt x="2331720" y="204216"/>
                </a:lnTo>
                <a:lnTo>
                  <a:pt x="2346960" y="213360"/>
                </a:lnTo>
                <a:lnTo>
                  <a:pt x="2353056" y="215972"/>
                </a:lnTo>
                <a:lnTo>
                  <a:pt x="2353056" y="153924"/>
                </a:lnTo>
                <a:lnTo>
                  <a:pt x="2354580" y="143256"/>
                </a:lnTo>
                <a:lnTo>
                  <a:pt x="2363724" y="132588"/>
                </a:lnTo>
                <a:lnTo>
                  <a:pt x="2369820" y="129540"/>
                </a:lnTo>
                <a:lnTo>
                  <a:pt x="2378964" y="126492"/>
                </a:lnTo>
                <a:lnTo>
                  <a:pt x="2388108" y="124968"/>
                </a:lnTo>
                <a:lnTo>
                  <a:pt x="2400300" y="124968"/>
                </a:lnTo>
                <a:lnTo>
                  <a:pt x="2420112" y="126492"/>
                </a:lnTo>
                <a:lnTo>
                  <a:pt x="2435352" y="135636"/>
                </a:lnTo>
                <a:lnTo>
                  <a:pt x="2444496" y="147828"/>
                </a:lnTo>
                <a:lnTo>
                  <a:pt x="2450592" y="166116"/>
                </a:lnTo>
                <a:lnTo>
                  <a:pt x="2491740" y="160020"/>
                </a:lnTo>
                <a:close/>
              </a:path>
              <a:path w="2642870" h="429894">
                <a:moveTo>
                  <a:pt x="2500884" y="262128"/>
                </a:moveTo>
                <a:lnTo>
                  <a:pt x="2478024" y="216408"/>
                </a:lnTo>
                <a:lnTo>
                  <a:pt x="2452116" y="204216"/>
                </a:lnTo>
                <a:lnTo>
                  <a:pt x="2439924" y="199644"/>
                </a:lnTo>
                <a:lnTo>
                  <a:pt x="2423160" y="193548"/>
                </a:lnTo>
                <a:lnTo>
                  <a:pt x="2392680" y="185928"/>
                </a:lnTo>
                <a:lnTo>
                  <a:pt x="2382012" y="182880"/>
                </a:lnTo>
                <a:lnTo>
                  <a:pt x="2375916" y="179832"/>
                </a:lnTo>
                <a:lnTo>
                  <a:pt x="2371344" y="178308"/>
                </a:lnTo>
                <a:lnTo>
                  <a:pt x="2362200" y="173736"/>
                </a:lnTo>
                <a:lnTo>
                  <a:pt x="2353056" y="161544"/>
                </a:lnTo>
                <a:lnTo>
                  <a:pt x="2353056" y="215972"/>
                </a:lnTo>
                <a:lnTo>
                  <a:pt x="2357628" y="217932"/>
                </a:lnTo>
                <a:lnTo>
                  <a:pt x="2371344" y="222504"/>
                </a:lnTo>
                <a:lnTo>
                  <a:pt x="2386584" y="227076"/>
                </a:lnTo>
                <a:lnTo>
                  <a:pt x="2406396" y="233172"/>
                </a:lnTo>
                <a:lnTo>
                  <a:pt x="2420112" y="236220"/>
                </a:lnTo>
                <a:lnTo>
                  <a:pt x="2432304" y="239268"/>
                </a:lnTo>
                <a:lnTo>
                  <a:pt x="2439924" y="243840"/>
                </a:lnTo>
                <a:lnTo>
                  <a:pt x="2446020" y="245364"/>
                </a:lnTo>
                <a:lnTo>
                  <a:pt x="2452116" y="249936"/>
                </a:lnTo>
                <a:lnTo>
                  <a:pt x="2455164" y="254508"/>
                </a:lnTo>
                <a:lnTo>
                  <a:pt x="2458212" y="260604"/>
                </a:lnTo>
                <a:lnTo>
                  <a:pt x="2459736" y="266700"/>
                </a:lnTo>
                <a:lnTo>
                  <a:pt x="2459736" y="325198"/>
                </a:lnTo>
                <a:lnTo>
                  <a:pt x="2474976" y="316992"/>
                </a:lnTo>
                <a:lnTo>
                  <a:pt x="2488692" y="300228"/>
                </a:lnTo>
                <a:lnTo>
                  <a:pt x="2497836" y="281940"/>
                </a:lnTo>
                <a:lnTo>
                  <a:pt x="2500884" y="262128"/>
                </a:lnTo>
                <a:close/>
              </a:path>
              <a:path w="2642870" h="429894">
                <a:moveTo>
                  <a:pt x="2555748" y="128016"/>
                </a:moveTo>
                <a:lnTo>
                  <a:pt x="2555748" y="96012"/>
                </a:lnTo>
                <a:lnTo>
                  <a:pt x="2526792" y="96012"/>
                </a:lnTo>
                <a:lnTo>
                  <a:pt x="2526792" y="128016"/>
                </a:lnTo>
                <a:lnTo>
                  <a:pt x="2555748" y="128016"/>
                </a:lnTo>
                <a:close/>
              </a:path>
              <a:path w="2642870" h="429894">
                <a:moveTo>
                  <a:pt x="2642616" y="333756"/>
                </a:moveTo>
                <a:lnTo>
                  <a:pt x="2636520" y="298704"/>
                </a:lnTo>
                <a:lnTo>
                  <a:pt x="2625852" y="298704"/>
                </a:lnTo>
                <a:lnTo>
                  <a:pt x="2618232" y="300228"/>
                </a:lnTo>
                <a:lnTo>
                  <a:pt x="2610612" y="298704"/>
                </a:lnTo>
                <a:lnTo>
                  <a:pt x="2604516" y="297180"/>
                </a:lnTo>
                <a:lnTo>
                  <a:pt x="2598420" y="289560"/>
                </a:lnTo>
                <a:lnTo>
                  <a:pt x="2596896" y="284988"/>
                </a:lnTo>
                <a:lnTo>
                  <a:pt x="2596896" y="12192"/>
                </a:lnTo>
                <a:lnTo>
                  <a:pt x="2555748" y="36576"/>
                </a:lnTo>
                <a:lnTo>
                  <a:pt x="2555748" y="294132"/>
                </a:lnTo>
                <a:lnTo>
                  <a:pt x="2557272" y="304800"/>
                </a:lnTo>
                <a:lnTo>
                  <a:pt x="2592324" y="335280"/>
                </a:lnTo>
                <a:lnTo>
                  <a:pt x="2610612" y="338328"/>
                </a:lnTo>
                <a:lnTo>
                  <a:pt x="2625852" y="336804"/>
                </a:lnTo>
                <a:lnTo>
                  <a:pt x="2642616" y="333756"/>
                </a:lnTo>
                <a:close/>
              </a:path>
              <a:path w="2642870" h="429894">
                <a:moveTo>
                  <a:pt x="2636520" y="128016"/>
                </a:moveTo>
                <a:lnTo>
                  <a:pt x="2636520" y="96012"/>
                </a:lnTo>
                <a:lnTo>
                  <a:pt x="2596896" y="96012"/>
                </a:lnTo>
                <a:lnTo>
                  <a:pt x="2596896" y="128016"/>
                </a:lnTo>
                <a:lnTo>
                  <a:pt x="2636520" y="12801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7772" y="1934400"/>
            <a:ext cx="6245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We maintain</a:t>
            </a:r>
            <a:r>
              <a:rPr sz="2800" dirty="0">
                <a:latin typeface="Arial MT"/>
                <a:cs typeface="Arial MT"/>
              </a:rPr>
              <a:t> ordered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 of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segments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92032" y="2768536"/>
            <a:ext cx="4953000" cy="1941830"/>
            <a:chOff x="2292032" y="2768536"/>
            <a:chExt cx="4953000" cy="1941830"/>
          </a:xfrm>
        </p:grpSpPr>
        <p:sp>
          <p:nvSpPr>
            <p:cNvPr id="5" name="object 5"/>
            <p:cNvSpPr/>
            <p:nvPr/>
          </p:nvSpPr>
          <p:spPr>
            <a:xfrm>
              <a:off x="2292032" y="3739324"/>
              <a:ext cx="4953000" cy="0"/>
            </a:xfrm>
            <a:custGeom>
              <a:avLst/>
              <a:gdLst/>
              <a:ahLst/>
              <a:cxnLst/>
              <a:rect l="l" t="t" r="r" b="b"/>
              <a:pathLst>
                <a:path w="4953000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6032" y="34345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9644" y="3378136"/>
              <a:ext cx="112776" cy="1127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1644" y="4292536"/>
              <a:ext cx="112776" cy="1127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9832" y="3129724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844" y="3073336"/>
              <a:ext cx="112776" cy="1127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3444" y="4521136"/>
              <a:ext cx="112776" cy="1127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25432" y="32059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9044" y="3149536"/>
              <a:ext cx="112776" cy="1127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1044" y="4063936"/>
              <a:ext cx="112776" cy="11277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01632" y="3129724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381000" y="0"/>
                  </a:moveTo>
                  <a:lnTo>
                    <a:pt x="0" y="15240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6244" y="3073336"/>
              <a:ext cx="112776" cy="1127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5244" y="4597336"/>
              <a:ext cx="112776" cy="1127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35232" y="32821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8844" y="3225736"/>
              <a:ext cx="112776" cy="1127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0844" y="4140136"/>
              <a:ext cx="112776" cy="1127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6832" y="2824924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0" y="0"/>
                  </a:moveTo>
                  <a:lnTo>
                    <a:pt x="457200" y="16002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0444" y="27685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7644" y="4368736"/>
              <a:ext cx="112776" cy="1127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714172" y="30789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120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3970983" y="3307524"/>
            <a:ext cx="965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f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3184" y="31551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61383" y="2926524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7578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37149" y="354831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94590" y="4755324"/>
            <a:ext cx="4227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ordering</a:t>
            </a:r>
            <a:r>
              <a:rPr sz="2000" spc="-10" dirty="0">
                <a:latin typeface="Arial MT"/>
                <a:cs typeface="Arial MT"/>
              </a:rPr>
              <a:t> 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 </a:t>
            </a:r>
            <a:r>
              <a:rPr sz="2000" spc="-5" dirty="0">
                <a:latin typeface="Arial MT"/>
                <a:cs typeface="Arial MT"/>
              </a:rPr>
              <a:t>c,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b, </a:t>
            </a:r>
            <a:r>
              <a:rPr sz="2000" dirty="0">
                <a:latin typeface="Arial MT"/>
                <a:cs typeface="Arial MT"/>
              </a:rPr>
              <a:t>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42590" y="3155123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36" y="1256728"/>
            <a:ext cx="5041392" cy="4236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62" y="2086800"/>
            <a:ext cx="7414895" cy="2673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>
              <a:lnSpc>
                <a:spcPct val="100200"/>
              </a:lnSpc>
              <a:spcBef>
                <a:spcPts val="9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Just </a:t>
            </a:r>
            <a:r>
              <a:rPr sz="2800" spc="-5" dirty="0">
                <a:latin typeface="Arial MT"/>
                <a:cs typeface="Arial MT"/>
              </a:rPr>
              <a:t>before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intersection event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spc="-10" dirty="0">
                <a:latin typeface="Arial MT"/>
                <a:cs typeface="Arial MT"/>
              </a:rPr>
              <a:t>two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line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segments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must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100"/>
                </a:solidFill>
                <a:latin typeface="Arial MT"/>
                <a:cs typeface="Arial MT"/>
              </a:rPr>
              <a:t>adjacent</a:t>
            </a:r>
            <a:r>
              <a:rPr sz="2800" spc="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segment </a:t>
            </a:r>
            <a:r>
              <a:rPr sz="2800" dirty="0">
                <a:latin typeface="Arial MT"/>
                <a:cs typeface="Arial MT"/>
              </a:rPr>
              <a:t> order.</a:t>
            </a:r>
            <a:endParaRPr sz="2800">
              <a:latin typeface="Arial MT"/>
              <a:cs typeface="Arial MT"/>
            </a:endParaRPr>
          </a:p>
          <a:p>
            <a:pPr marL="355600" marR="121920" indent="-343535">
              <a:lnSpc>
                <a:spcPct val="100200"/>
              </a:lnSpc>
              <a:spcBef>
                <a:spcPts val="665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When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100"/>
                </a:solidFill>
                <a:latin typeface="Arial MT"/>
                <a:cs typeface="Arial MT"/>
              </a:rPr>
              <a:t>new</a:t>
            </a:r>
            <a:r>
              <a:rPr sz="2800" spc="-10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3100"/>
                </a:solidFill>
                <a:latin typeface="Arial MT"/>
                <a:cs typeface="Arial MT"/>
              </a:rPr>
              <a:t>adjacency</a:t>
            </a:r>
            <a:r>
              <a:rPr sz="2800" spc="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occurs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between </a:t>
            </a:r>
            <a:r>
              <a:rPr sz="2800" spc="-5" dirty="0">
                <a:latin typeface="Arial MT"/>
                <a:cs typeface="Arial MT"/>
              </a:rPr>
              <a:t>two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lines </a:t>
            </a:r>
            <a:r>
              <a:rPr sz="2800" spc="-10" dirty="0">
                <a:latin typeface="Arial MT"/>
                <a:cs typeface="Arial MT"/>
              </a:rPr>
              <a:t>we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must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check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possible</a:t>
            </a:r>
            <a:r>
              <a:rPr sz="2800" dirty="0">
                <a:latin typeface="Arial MT"/>
                <a:cs typeface="Arial MT"/>
              </a:rPr>
              <a:t> new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intersection event.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121</a:t>
            </a:fld>
            <a:endParaRPr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80040" y="1256728"/>
            <a:ext cx="2316480" cy="332740"/>
          </a:xfrm>
          <a:custGeom>
            <a:avLst/>
            <a:gdLst/>
            <a:ahLst/>
            <a:cxnLst/>
            <a:rect l="l" t="t" r="r" b="b"/>
            <a:pathLst>
              <a:path w="2316479" h="332740">
                <a:moveTo>
                  <a:pt x="44196" y="327660"/>
                </a:moveTo>
                <a:lnTo>
                  <a:pt x="44196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close/>
              </a:path>
              <a:path w="2316479" h="332740">
                <a:moveTo>
                  <a:pt x="307848" y="327660"/>
                </a:moveTo>
                <a:lnTo>
                  <a:pt x="307848" y="181356"/>
                </a:lnTo>
                <a:lnTo>
                  <a:pt x="306324" y="169164"/>
                </a:lnTo>
                <a:lnTo>
                  <a:pt x="306324" y="149352"/>
                </a:lnTo>
                <a:lnTo>
                  <a:pt x="292608" y="112776"/>
                </a:lnTo>
                <a:lnTo>
                  <a:pt x="248412" y="86868"/>
                </a:lnTo>
                <a:lnTo>
                  <a:pt x="227076" y="85344"/>
                </a:lnTo>
                <a:lnTo>
                  <a:pt x="204216" y="86868"/>
                </a:lnTo>
                <a:lnTo>
                  <a:pt x="184404" y="94488"/>
                </a:lnTo>
                <a:lnTo>
                  <a:pt x="167640" y="106680"/>
                </a:lnTo>
                <a:lnTo>
                  <a:pt x="153924" y="123444"/>
                </a:lnTo>
                <a:lnTo>
                  <a:pt x="153924" y="89916"/>
                </a:lnTo>
                <a:lnTo>
                  <a:pt x="117348" y="89916"/>
                </a:lnTo>
                <a:lnTo>
                  <a:pt x="117348" y="327660"/>
                </a:lnTo>
                <a:lnTo>
                  <a:pt x="158496" y="327660"/>
                </a:lnTo>
                <a:lnTo>
                  <a:pt x="158496" y="176784"/>
                </a:lnTo>
                <a:lnTo>
                  <a:pt x="161544" y="160020"/>
                </a:lnTo>
                <a:lnTo>
                  <a:pt x="167640" y="146304"/>
                </a:lnTo>
                <a:lnTo>
                  <a:pt x="175260" y="135636"/>
                </a:lnTo>
                <a:lnTo>
                  <a:pt x="185928" y="129540"/>
                </a:lnTo>
                <a:lnTo>
                  <a:pt x="195072" y="123444"/>
                </a:lnTo>
                <a:lnTo>
                  <a:pt x="207264" y="120396"/>
                </a:lnTo>
                <a:lnTo>
                  <a:pt x="217932" y="120396"/>
                </a:lnTo>
                <a:lnTo>
                  <a:pt x="254508" y="135636"/>
                </a:lnTo>
                <a:lnTo>
                  <a:pt x="265176" y="161544"/>
                </a:lnTo>
                <a:lnTo>
                  <a:pt x="265176" y="172212"/>
                </a:lnTo>
                <a:lnTo>
                  <a:pt x="266700" y="182880"/>
                </a:lnTo>
                <a:lnTo>
                  <a:pt x="266700" y="327660"/>
                </a:lnTo>
                <a:lnTo>
                  <a:pt x="307848" y="327660"/>
                </a:lnTo>
                <a:close/>
              </a:path>
              <a:path w="2316479" h="332740">
                <a:moveTo>
                  <a:pt x="413004" y="45720"/>
                </a:moveTo>
                <a:lnTo>
                  <a:pt x="413004" y="0"/>
                </a:lnTo>
                <a:lnTo>
                  <a:pt x="371856" y="0"/>
                </a:lnTo>
                <a:lnTo>
                  <a:pt x="371856" y="45720"/>
                </a:lnTo>
                <a:lnTo>
                  <a:pt x="413004" y="45720"/>
                </a:lnTo>
                <a:close/>
              </a:path>
              <a:path w="2316479" h="332740">
                <a:moveTo>
                  <a:pt x="413004" y="327660"/>
                </a:moveTo>
                <a:lnTo>
                  <a:pt x="413004" y="89916"/>
                </a:lnTo>
                <a:lnTo>
                  <a:pt x="371856" y="89916"/>
                </a:lnTo>
                <a:lnTo>
                  <a:pt x="371856" y="327660"/>
                </a:lnTo>
                <a:lnTo>
                  <a:pt x="413004" y="327660"/>
                </a:lnTo>
                <a:close/>
              </a:path>
              <a:path w="2316479" h="332740">
                <a:moveTo>
                  <a:pt x="478536" y="121920"/>
                </a:moveTo>
                <a:lnTo>
                  <a:pt x="478536" y="89916"/>
                </a:lnTo>
                <a:lnTo>
                  <a:pt x="449580" y="89916"/>
                </a:lnTo>
                <a:lnTo>
                  <a:pt x="449580" y="121920"/>
                </a:lnTo>
                <a:lnTo>
                  <a:pt x="478536" y="121920"/>
                </a:lnTo>
                <a:close/>
              </a:path>
              <a:path w="2316479" h="332740">
                <a:moveTo>
                  <a:pt x="565404" y="327660"/>
                </a:moveTo>
                <a:lnTo>
                  <a:pt x="559308" y="292608"/>
                </a:lnTo>
                <a:lnTo>
                  <a:pt x="548640" y="292608"/>
                </a:lnTo>
                <a:lnTo>
                  <a:pt x="541020" y="294132"/>
                </a:lnTo>
                <a:lnTo>
                  <a:pt x="533400" y="292608"/>
                </a:lnTo>
                <a:lnTo>
                  <a:pt x="527304" y="291084"/>
                </a:lnTo>
                <a:lnTo>
                  <a:pt x="521208" y="283464"/>
                </a:lnTo>
                <a:lnTo>
                  <a:pt x="519684" y="278892"/>
                </a:lnTo>
                <a:lnTo>
                  <a:pt x="519684" y="6096"/>
                </a:lnTo>
                <a:lnTo>
                  <a:pt x="478536" y="30480"/>
                </a:lnTo>
                <a:lnTo>
                  <a:pt x="478536" y="288036"/>
                </a:lnTo>
                <a:lnTo>
                  <a:pt x="480060" y="298704"/>
                </a:lnTo>
                <a:lnTo>
                  <a:pt x="515112" y="329184"/>
                </a:lnTo>
                <a:lnTo>
                  <a:pt x="533400" y="332232"/>
                </a:lnTo>
                <a:lnTo>
                  <a:pt x="548640" y="330708"/>
                </a:lnTo>
                <a:lnTo>
                  <a:pt x="565404" y="327660"/>
                </a:lnTo>
                <a:close/>
              </a:path>
              <a:path w="2316479" h="332740">
                <a:moveTo>
                  <a:pt x="559308" y="121920"/>
                </a:moveTo>
                <a:lnTo>
                  <a:pt x="559308" y="89916"/>
                </a:lnTo>
                <a:lnTo>
                  <a:pt x="519684" y="89916"/>
                </a:lnTo>
                <a:lnTo>
                  <a:pt x="519684" y="121920"/>
                </a:lnTo>
                <a:lnTo>
                  <a:pt x="559308" y="121920"/>
                </a:lnTo>
                <a:close/>
              </a:path>
              <a:path w="2316479" h="332740">
                <a:moveTo>
                  <a:pt x="641604" y="45720"/>
                </a:moveTo>
                <a:lnTo>
                  <a:pt x="641604" y="0"/>
                </a:lnTo>
                <a:lnTo>
                  <a:pt x="600456" y="0"/>
                </a:lnTo>
                <a:lnTo>
                  <a:pt x="600456" y="45720"/>
                </a:lnTo>
                <a:lnTo>
                  <a:pt x="641604" y="45720"/>
                </a:lnTo>
                <a:close/>
              </a:path>
              <a:path w="2316479" h="332740">
                <a:moveTo>
                  <a:pt x="641604" y="327660"/>
                </a:moveTo>
                <a:lnTo>
                  <a:pt x="641604" y="89916"/>
                </a:lnTo>
                <a:lnTo>
                  <a:pt x="600456" y="89916"/>
                </a:lnTo>
                <a:lnTo>
                  <a:pt x="600456" y="327660"/>
                </a:lnTo>
                <a:lnTo>
                  <a:pt x="641604" y="327660"/>
                </a:lnTo>
                <a:close/>
              </a:path>
              <a:path w="2316479" h="332740">
                <a:moveTo>
                  <a:pt x="854964" y="208788"/>
                </a:moveTo>
                <a:lnTo>
                  <a:pt x="854964" y="166116"/>
                </a:lnTo>
                <a:lnTo>
                  <a:pt x="853440" y="169164"/>
                </a:lnTo>
                <a:lnTo>
                  <a:pt x="853440" y="176784"/>
                </a:lnTo>
                <a:lnTo>
                  <a:pt x="841248" y="179832"/>
                </a:lnTo>
                <a:lnTo>
                  <a:pt x="824484" y="184404"/>
                </a:lnTo>
                <a:lnTo>
                  <a:pt x="804672" y="187452"/>
                </a:lnTo>
                <a:lnTo>
                  <a:pt x="781812" y="190500"/>
                </a:lnTo>
                <a:lnTo>
                  <a:pt x="760476" y="193548"/>
                </a:lnTo>
                <a:lnTo>
                  <a:pt x="716280" y="208788"/>
                </a:lnTo>
                <a:lnTo>
                  <a:pt x="690372" y="246888"/>
                </a:lnTo>
                <a:lnTo>
                  <a:pt x="688848" y="263652"/>
                </a:lnTo>
                <a:lnTo>
                  <a:pt x="688848" y="277368"/>
                </a:lnTo>
                <a:lnTo>
                  <a:pt x="708660" y="312420"/>
                </a:lnTo>
                <a:lnTo>
                  <a:pt x="731520" y="325120"/>
                </a:lnTo>
                <a:lnTo>
                  <a:pt x="731520" y="252984"/>
                </a:lnTo>
                <a:lnTo>
                  <a:pt x="736092" y="243840"/>
                </a:lnTo>
                <a:lnTo>
                  <a:pt x="743712" y="236220"/>
                </a:lnTo>
                <a:lnTo>
                  <a:pt x="758952" y="228600"/>
                </a:lnTo>
                <a:lnTo>
                  <a:pt x="766572" y="227076"/>
                </a:lnTo>
                <a:lnTo>
                  <a:pt x="775716" y="225552"/>
                </a:lnTo>
                <a:lnTo>
                  <a:pt x="787908" y="222504"/>
                </a:lnTo>
                <a:lnTo>
                  <a:pt x="809244" y="219456"/>
                </a:lnTo>
                <a:lnTo>
                  <a:pt x="826008" y="216408"/>
                </a:lnTo>
                <a:lnTo>
                  <a:pt x="841248" y="211836"/>
                </a:lnTo>
                <a:lnTo>
                  <a:pt x="854964" y="208788"/>
                </a:lnTo>
                <a:close/>
              </a:path>
              <a:path w="2316479" h="332740">
                <a:moveTo>
                  <a:pt x="906780" y="327660"/>
                </a:moveTo>
                <a:lnTo>
                  <a:pt x="900684" y="312420"/>
                </a:lnTo>
                <a:lnTo>
                  <a:pt x="896112" y="297180"/>
                </a:lnTo>
                <a:lnTo>
                  <a:pt x="894588" y="288036"/>
                </a:lnTo>
                <a:lnTo>
                  <a:pt x="894588" y="173736"/>
                </a:lnTo>
                <a:lnTo>
                  <a:pt x="893064" y="161544"/>
                </a:lnTo>
                <a:lnTo>
                  <a:pt x="893064" y="143256"/>
                </a:lnTo>
                <a:lnTo>
                  <a:pt x="891540" y="137160"/>
                </a:lnTo>
                <a:lnTo>
                  <a:pt x="867156" y="100584"/>
                </a:lnTo>
                <a:lnTo>
                  <a:pt x="829056" y="86868"/>
                </a:lnTo>
                <a:lnTo>
                  <a:pt x="801624" y="85344"/>
                </a:lnTo>
                <a:lnTo>
                  <a:pt x="772668" y="86868"/>
                </a:lnTo>
                <a:lnTo>
                  <a:pt x="726948" y="103632"/>
                </a:lnTo>
                <a:lnTo>
                  <a:pt x="701040" y="135636"/>
                </a:lnTo>
                <a:lnTo>
                  <a:pt x="694944" y="158496"/>
                </a:lnTo>
                <a:lnTo>
                  <a:pt x="736092" y="164592"/>
                </a:lnTo>
                <a:lnTo>
                  <a:pt x="739140" y="152400"/>
                </a:lnTo>
                <a:lnTo>
                  <a:pt x="743712" y="141732"/>
                </a:lnTo>
                <a:lnTo>
                  <a:pt x="783336" y="118872"/>
                </a:lnTo>
                <a:lnTo>
                  <a:pt x="810768" y="118872"/>
                </a:lnTo>
                <a:lnTo>
                  <a:pt x="847344" y="137160"/>
                </a:lnTo>
                <a:lnTo>
                  <a:pt x="854964" y="166116"/>
                </a:lnTo>
                <a:lnTo>
                  <a:pt x="854964" y="300736"/>
                </a:lnTo>
                <a:lnTo>
                  <a:pt x="858012" y="298704"/>
                </a:lnTo>
                <a:lnTo>
                  <a:pt x="859536" y="313944"/>
                </a:lnTo>
                <a:lnTo>
                  <a:pt x="865632" y="327660"/>
                </a:lnTo>
                <a:lnTo>
                  <a:pt x="906780" y="327660"/>
                </a:lnTo>
                <a:close/>
              </a:path>
              <a:path w="2316479" h="332740">
                <a:moveTo>
                  <a:pt x="854964" y="300736"/>
                </a:moveTo>
                <a:lnTo>
                  <a:pt x="854964" y="208788"/>
                </a:lnTo>
                <a:lnTo>
                  <a:pt x="853440" y="222504"/>
                </a:lnTo>
                <a:lnTo>
                  <a:pt x="853440" y="234696"/>
                </a:lnTo>
                <a:lnTo>
                  <a:pt x="851916" y="245364"/>
                </a:lnTo>
                <a:lnTo>
                  <a:pt x="821436" y="289560"/>
                </a:lnTo>
                <a:lnTo>
                  <a:pt x="778764" y="300228"/>
                </a:lnTo>
                <a:lnTo>
                  <a:pt x="758952" y="297180"/>
                </a:lnTo>
                <a:lnTo>
                  <a:pt x="743712" y="289560"/>
                </a:lnTo>
                <a:lnTo>
                  <a:pt x="737616" y="283464"/>
                </a:lnTo>
                <a:lnTo>
                  <a:pt x="734568" y="277368"/>
                </a:lnTo>
                <a:lnTo>
                  <a:pt x="731520" y="269748"/>
                </a:lnTo>
                <a:lnTo>
                  <a:pt x="731520" y="325120"/>
                </a:lnTo>
                <a:lnTo>
                  <a:pt x="734568" y="326136"/>
                </a:lnTo>
                <a:lnTo>
                  <a:pt x="751332" y="330708"/>
                </a:lnTo>
                <a:lnTo>
                  <a:pt x="769620" y="332232"/>
                </a:lnTo>
                <a:lnTo>
                  <a:pt x="792480" y="329184"/>
                </a:lnTo>
                <a:lnTo>
                  <a:pt x="813816" y="324612"/>
                </a:lnTo>
                <a:lnTo>
                  <a:pt x="835152" y="313944"/>
                </a:lnTo>
                <a:lnTo>
                  <a:pt x="854964" y="300736"/>
                </a:lnTo>
                <a:close/>
              </a:path>
              <a:path w="2316479" h="332740">
                <a:moveTo>
                  <a:pt x="995172" y="327660"/>
                </a:moveTo>
                <a:lnTo>
                  <a:pt x="995172" y="0"/>
                </a:lnTo>
                <a:lnTo>
                  <a:pt x="954024" y="0"/>
                </a:lnTo>
                <a:lnTo>
                  <a:pt x="954024" y="327660"/>
                </a:lnTo>
                <a:lnTo>
                  <a:pt x="995172" y="327660"/>
                </a:lnTo>
                <a:close/>
              </a:path>
              <a:path w="2316479" h="332740">
                <a:moveTo>
                  <a:pt x="1100328" y="45720"/>
                </a:moveTo>
                <a:lnTo>
                  <a:pt x="1100328" y="0"/>
                </a:lnTo>
                <a:lnTo>
                  <a:pt x="1059180" y="0"/>
                </a:lnTo>
                <a:lnTo>
                  <a:pt x="1059180" y="45720"/>
                </a:lnTo>
                <a:lnTo>
                  <a:pt x="1100328" y="45720"/>
                </a:lnTo>
                <a:close/>
              </a:path>
              <a:path w="2316479" h="332740">
                <a:moveTo>
                  <a:pt x="1100328" y="327660"/>
                </a:moveTo>
                <a:lnTo>
                  <a:pt x="1100328" y="89916"/>
                </a:lnTo>
                <a:lnTo>
                  <a:pt x="1059180" y="89916"/>
                </a:lnTo>
                <a:lnTo>
                  <a:pt x="1059180" y="327660"/>
                </a:lnTo>
                <a:lnTo>
                  <a:pt x="1100328" y="327660"/>
                </a:lnTo>
                <a:close/>
              </a:path>
              <a:path w="2316479" h="332740">
                <a:moveTo>
                  <a:pt x="1287780" y="177052"/>
                </a:moveTo>
                <a:lnTo>
                  <a:pt x="1287780" y="118872"/>
                </a:lnTo>
                <a:lnTo>
                  <a:pt x="1136904" y="294132"/>
                </a:lnTo>
                <a:lnTo>
                  <a:pt x="1136904" y="327660"/>
                </a:lnTo>
                <a:lnTo>
                  <a:pt x="1185672" y="327660"/>
                </a:lnTo>
                <a:lnTo>
                  <a:pt x="1185672" y="295656"/>
                </a:lnTo>
                <a:lnTo>
                  <a:pt x="1211580" y="266700"/>
                </a:lnTo>
                <a:lnTo>
                  <a:pt x="1287780" y="177052"/>
                </a:lnTo>
                <a:close/>
              </a:path>
              <a:path w="2316479" h="332740">
                <a:moveTo>
                  <a:pt x="1341120" y="114300"/>
                </a:moveTo>
                <a:lnTo>
                  <a:pt x="1341120" y="89916"/>
                </a:lnTo>
                <a:lnTo>
                  <a:pt x="1146048" y="89916"/>
                </a:lnTo>
                <a:lnTo>
                  <a:pt x="1146048" y="121920"/>
                </a:lnTo>
                <a:lnTo>
                  <a:pt x="1243584" y="121920"/>
                </a:lnTo>
                <a:lnTo>
                  <a:pt x="1264920" y="120396"/>
                </a:lnTo>
                <a:lnTo>
                  <a:pt x="1287780" y="118872"/>
                </a:lnTo>
                <a:lnTo>
                  <a:pt x="1287780" y="177052"/>
                </a:lnTo>
                <a:lnTo>
                  <a:pt x="1341120" y="114300"/>
                </a:lnTo>
                <a:close/>
              </a:path>
              <a:path w="2316479" h="332740">
                <a:moveTo>
                  <a:pt x="1347216" y="327660"/>
                </a:moveTo>
                <a:lnTo>
                  <a:pt x="1347216" y="292608"/>
                </a:lnTo>
                <a:lnTo>
                  <a:pt x="1213104" y="292608"/>
                </a:lnTo>
                <a:lnTo>
                  <a:pt x="1185672" y="295656"/>
                </a:lnTo>
                <a:lnTo>
                  <a:pt x="1185672" y="327660"/>
                </a:lnTo>
                <a:lnTo>
                  <a:pt x="1347216" y="327660"/>
                </a:lnTo>
                <a:close/>
              </a:path>
              <a:path w="2316479" h="332740">
                <a:moveTo>
                  <a:pt x="1540764" y="208788"/>
                </a:moveTo>
                <a:lnTo>
                  <a:pt x="1540764" y="166116"/>
                </a:lnTo>
                <a:lnTo>
                  <a:pt x="1539240" y="169164"/>
                </a:lnTo>
                <a:lnTo>
                  <a:pt x="1539240" y="176784"/>
                </a:lnTo>
                <a:lnTo>
                  <a:pt x="1527048" y="179832"/>
                </a:lnTo>
                <a:lnTo>
                  <a:pt x="1510284" y="184404"/>
                </a:lnTo>
                <a:lnTo>
                  <a:pt x="1490472" y="187452"/>
                </a:lnTo>
                <a:lnTo>
                  <a:pt x="1467612" y="190500"/>
                </a:lnTo>
                <a:lnTo>
                  <a:pt x="1446276" y="193548"/>
                </a:lnTo>
                <a:lnTo>
                  <a:pt x="1402080" y="208788"/>
                </a:lnTo>
                <a:lnTo>
                  <a:pt x="1376172" y="246888"/>
                </a:lnTo>
                <a:lnTo>
                  <a:pt x="1374648" y="263652"/>
                </a:lnTo>
                <a:lnTo>
                  <a:pt x="1374648" y="277368"/>
                </a:lnTo>
                <a:lnTo>
                  <a:pt x="1394460" y="312420"/>
                </a:lnTo>
                <a:lnTo>
                  <a:pt x="1417320" y="325120"/>
                </a:lnTo>
                <a:lnTo>
                  <a:pt x="1417320" y="252984"/>
                </a:lnTo>
                <a:lnTo>
                  <a:pt x="1421892" y="243840"/>
                </a:lnTo>
                <a:lnTo>
                  <a:pt x="1429512" y="236220"/>
                </a:lnTo>
                <a:lnTo>
                  <a:pt x="1444752" y="228600"/>
                </a:lnTo>
                <a:lnTo>
                  <a:pt x="1452372" y="227076"/>
                </a:lnTo>
                <a:lnTo>
                  <a:pt x="1461516" y="225552"/>
                </a:lnTo>
                <a:lnTo>
                  <a:pt x="1473708" y="222504"/>
                </a:lnTo>
                <a:lnTo>
                  <a:pt x="1495044" y="219456"/>
                </a:lnTo>
                <a:lnTo>
                  <a:pt x="1511808" y="216408"/>
                </a:lnTo>
                <a:lnTo>
                  <a:pt x="1527048" y="211836"/>
                </a:lnTo>
                <a:lnTo>
                  <a:pt x="1540764" y="208788"/>
                </a:lnTo>
                <a:close/>
              </a:path>
              <a:path w="2316479" h="332740">
                <a:moveTo>
                  <a:pt x="1592580" y="327660"/>
                </a:moveTo>
                <a:lnTo>
                  <a:pt x="1586484" y="312420"/>
                </a:lnTo>
                <a:lnTo>
                  <a:pt x="1581912" y="297180"/>
                </a:lnTo>
                <a:lnTo>
                  <a:pt x="1580388" y="288036"/>
                </a:lnTo>
                <a:lnTo>
                  <a:pt x="1580388" y="173736"/>
                </a:lnTo>
                <a:lnTo>
                  <a:pt x="1578864" y="161544"/>
                </a:lnTo>
                <a:lnTo>
                  <a:pt x="1578864" y="143256"/>
                </a:lnTo>
                <a:lnTo>
                  <a:pt x="1577340" y="137160"/>
                </a:lnTo>
                <a:lnTo>
                  <a:pt x="1552956" y="100584"/>
                </a:lnTo>
                <a:lnTo>
                  <a:pt x="1514856" y="86868"/>
                </a:lnTo>
                <a:lnTo>
                  <a:pt x="1487424" y="85344"/>
                </a:lnTo>
                <a:lnTo>
                  <a:pt x="1458468" y="86868"/>
                </a:lnTo>
                <a:lnTo>
                  <a:pt x="1412748" y="103632"/>
                </a:lnTo>
                <a:lnTo>
                  <a:pt x="1386840" y="135636"/>
                </a:lnTo>
                <a:lnTo>
                  <a:pt x="1380744" y="158496"/>
                </a:lnTo>
                <a:lnTo>
                  <a:pt x="1421892" y="164592"/>
                </a:lnTo>
                <a:lnTo>
                  <a:pt x="1424940" y="152400"/>
                </a:lnTo>
                <a:lnTo>
                  <a:pt x="1429512" y="141732"/>
                </a:lnTo>
                <a:lnTo>
                  <a:pt x="1469136" y="118872"/>
                </a:lnTo>
                <a:lnTo>
                  <a:pt x="1496568" y="118872"/>
                </a:lnTo>
                <a:lnTo>
                  <a:pt x="1533144" y="137160"/>
                </a:lnTo>
                <a:lnTo>
                  <a:pt x="1540764" y="166116"/>
                </a:lnTo>
                <a:lnTo>
                  <a:pt x="1540764" y="300736"/>
                </a:lnTo>
                <a:lnTo>
                  <a:pt x="1543812" y="298704"/>
                </a:lnTo>
                <a:lnTo>
                  <a:pt x="1545336" y="313944"/>
                </a:lnTo>
                <a:lnTo>
                  <a:pt x="1551432" y="327660"/>
                </a:lnTo>
                <a:lnTo>
                  <a:pt x="1592580" y="327660"/>
                </a:lnTo>
                <a:close/>
              </a:path>
              <a:path w="2316479" h="332740">
                <a:moveTo>
                  <a:pt x="1540764" y="300736"/>
                </a:moveTo>
                <a:lnTo>
                  <a:pt x="1540764" y="208788"/>
                </a:lnTo>
                <a:lnTo>
                  <a:pt x="1539240" y="222504"/>
                </a:lnTo>
                <a:lnTo>
                  <a:pt x="1539240" y="234696"/>
                </a:lnTo>
                <a:lnTo>
                  <a:pt x="1537716" y="245364"/>
                </a:lnTo>
                <a:lnTo>
                  <a:pt x="1507236" y="289560"/>
                </a:lnTo>
                <a:lnTo>
                  <a:pt x="1464564" y="300228"/>
                </a:lnTo>
                <a:lnTo>
                  <a:pt x="1444752" y="297180"/>
                </a:lnTo>
                <a:lnTo>
                  <a:pt x="1429512" y="289560"/>
                </a:lnTo>
                <a:lnTo>
                  <a:pt x="1423416" y="283464"/>
                </a:lnTo>
                <a:lnTo>
                  <a:pt x="1420368" y="277368"/>
                </a:lnTo>
                <a:lnTo>
                  <a:pt x="1417320" y="269748"/>
                </a:lnTo>
                <a:lnTo>
                  <a:pt x="1417320" y="325120"/>
                </a:lnTo>
                <a:lnTo>
                  <a:pt x="1420368" y="326136"/>
                </a:lnTo>
                <a:lnTo>
                  <a:pt x="1437132" y="330708"/>
                </a:lnTo>
                <a:lnTo>
                  <a:pt x="1455420" y="332232"/>
                </a:lnTo>
                <a:lnTo>
                  <a:pt x="1478280" y="329184"/>
                </a:lnTo>
                <a:lnTo>
                  <a:pt x="1499616" y="324612"/>
                </a:lnTo>
                <a:lnTo>
                  <a:pt x="1520952" y="313944"/>
                </a:lnTo>
                <a:lnTo>
                  <a:pt x="1540764" y="300736"/>
                </a:lnTo>
                <a:close/>
              </a:path>
              <a:path w="2316479" h="332740">
                <a:moveTo>
                  <a:pt x="1647444" y="121920"/>
                </a:moveTo>
                <a:lnTo>
                  <a:pt x="1647444" y="89916"/>
                </a:lnTo>
                <a:lnTo>
                  <a:pt x="1618488" y="89916"/>
                </a:lnTo>
                <a:lnTo>
                  <a:pt x="1618488" y="121920"/>
                </a:lnTo>
                <a:lnTo>
                  <a:pt x="1647444" y="121920"/>
                </a:lnTo>
                <a:close/>
              </a:path>
              <a:path w="2316479" h="332740">
                <a:moveTo>
                  <a:pt x="1734312" y="327660"/>
                </a:moveTo>
                <a:lnTo>
                  <a:pt x="1728216" y="292608"/>
                </a:lnTo>
                <a:lnTo>
                  <a:pt x="1717548" y="292608"/>
                </a:lnTo>
                <a:lnTo>
                  <a:pt x="1709928" y="294132"/>
                </a:lnTo>
                <a:lnTo>
                  <a:pt x="1702308" y="292608"/>
                </a:lnTo>
                <a:lnTo>
                  <a:pt x="1696212" y="291084"/>
                </a:lnTo>
                <a:lnTo>
                  <a:pt x="1690116" y="283464"/>
                </a:lnTo>
                <a:lnTo>
                  <a:pt x="1688592" y="278892"/>
                </a:lnTo>
                <a:lnTo>
                  <a:pt x="1688592" y="6096"/>
                </a:lnTo>
                <a:lnTo>
                  <a:pt x="1647444" y="30480"/>
                </a:lnTo>
                <a:lnTo>
                  <a:pt x="1647444" y="288036"/>
                </a:lnTo>
                <a:lnTo>
                  <a:pt x="1648968" y="298704"/>
                </a:lnTo>
                <a:lnTo>
                  <a:pt x="1684020" y="329184"/>
                </a:lnTo>
                <a:lnTo>
                  <a:pt x="1702308" y="332232"/>
                </a:lnTo>
                <a:lnTo>
                  <a:pt x="1717548" y="330708"/>
                </a:lnTo>
                <a:lnTo>
                  <a:pt x="1734312" y="327660"/>
                </a:lnTo>
                <a:close/>
              </a:path>
              <a:path w="2316479" h="332740">
                <a:moveTo>
                  <a:pt x="1728216" y="121920"/>
                </a:moveTo>
                <a:lnTo>
                  <a:pt x="1728216" y="89916"/>
                </a:lnTo>
                <a:lnTo>
                  <a:pt x="1688592" y="89916"/>
                </a:lnTo>
                <a:lnTo>
                  <a:pt x="1688592" y="121920"/>
                </a:lnTo>
                <a:lnTo>
                  <a:pt x="1728216" y="121920"/>
                </a:lnTo>
                <a:close/>
              </a:path>
              <a:path w="2316479" h="332740">
                <a:moveTo>
                  <a:pt x="1810512" y="45720"/>
                </a:moveTo>
                <a:lnTo>
                  <a:pt x="1810512" y="0"/>
                </a:lnTo>
                <a:lnTo>
                  <a:pt x="1769364" y="0"/>
                </a:lnTo>
                <a:lnTo>
                  <a:pt x="1769364" y="45720"/>
                </a:lnTo>
                <a:lnTo>
                  <a:pt x="1810512" y="45720"/>
                </a:lnTo>
                <a:close/>
              </a:path>
              <a:path w="2316479" h="332740">
                <a:moveTo>
                  <a:pt x="1810512" y="327660"/>
                </a:moveTo>
                <a:lnTo>
                  <a:pt x="1810512" y="89916"/>
                </a:lnTo>
                <a:lnTo>
                  <a:pt x="1769364" y="89916"/>
                </a:lnTo>
                <a:lnTo>
                  <a:pt x="1769364" y="327660"/>
                </a:lnTo>
                <a:lnTo>
                  <a:pt x="1810512" y="327660"/>
                </a:lnTo>
                <a:close/>
              </a:path>
              <a:path w="2316479" h="332740">
                <a:moveTo>
                  <a:pt x="2075688" y="204216"/>
                </a:moveTo>
                <a:lnTo>
                  <a:pt x="2066544" y="155448"/>
                </a:lnTo>
                <a:lnTo>
                  <a:pt x="2043684" y="117348"/>
                </a:lnTo>
                <a:lnTo>
                  <a:pt x="2008632" y="92964"/>
                </a:lnTo>
                <a:lnTo>
                  <a:pt x="1964436" y="85344"/>
                </a:lnTo>
                <a:lnTo>
                  <a:pt x="1943100" y="86868"/>
                </a:lnTo>
                <a:lnTo>
                  <a:pt x="1906524" y="99060"/>
                </a:lnTo>
                <a:lnTo>
                  <a:pt x="1874520" y="129540"/>
                </a:lnTo>
                <a:lnTo>
                  <a:pt x="1856232" y="176784"/>
                </a:lnTo>
                <a:lnTo>
                  <a:pt x="1854708" y="208788"/>
                </a:lnTo>
                <a:lnTo>
                  <a:pt x="1856232" y="236220"/>
                </a:lnTo>
                <a:lnTo>
                  <a:pt x="1862328" y="260604"/>
                </a:lnTo>
                <a:lnTo>
                  <a:pt x="1871472" y="281940"/>
                </a:lnTo>
                <a:lnTo>
                  <a:pt x="1885188" y="300228"/>
                </a:lnTo>
                <a:lnTo>
                  <a:pt x="1895856" y="309829"/>
                </a:lnTo>
                <a:lnTo>
                  <a:pt x="1895856" y="187452"/>
                </a:lnTo>
                <a:lnTo>
                  <a:pt x="1900428" y="169164"/>
                </a:lnTo>
                <a:lnTo>
                  <a:pt x="1924812" y="131064"/>
                </a:lnTo>
                <a:lnTo>
                  <a:pt x="1950720" y="118872"/>
                </a:lnTo>
                <a:lnTo>
                  <a:pt x="1978152" y="118872"/>
                </a:lnTo>
                <a:lnTo>
                  <a:pt x="2014728" y="140208"/>
                </a:lnTo>
                <a:lnTo>
                  <a:pt x="2033016" y="185928"/>
                </a:lnTo>
                <a:lnTo>
                  <a:pt x="2034540" y="207264"/>
                </a:lnTo>
                <a:lnTo>
                  <a:pt x="2034540" y="309372"/>
                </a:lnTo>
                <a:lnTo>
                  <a:pt x="2045208" y="300228"/>
                </a:lnTo>
                <a:lnTo>
                  <a:pt x="2068068" y="262128"/>
                </a:lnTo>
                <a:lnTo>
                  <a:pt x="2074164" y="227076"/>
                </a:lnTo>
                <a:lnTo>
                  <a:pt x="2075688" y="204216"/>
                </a:lnTo>
                <a:close/>
              </a:path>
              <a:path w="2316479" h="332740">
                <a:moveTo>
                  <a:pt x="2034540" y="309372"/>
                </a:moveTo>
                <a:lnTo>
                  <a:pt x="2034540" y="207264"/>
                </a:lnTo>
                <a:lnTo>
                  <a:pt x="2033016" y="228600"/>
                </a:lnTo>
                <a:lnTo>
                  <a:pt x="2028444" y="246888"/>
                </a:lnTo>
                <a:lnTo>
                  <a:pt x="2004060" y="284988"/>
                </a:lnTo>
                <a:lnTo>
                  <a:pt x="1964436" y="298704"/>
                </a:lnTo>
                <a:lnTo>
                  <a:pt x="1950720" y="297180"/>
                </a:lnTo>
                <a:lnTo>
                  <a:pt x="1914144" y="275844"/>
                </a:lnTo>
                <a:lnTo>
                  <a:pt x="1895856" y="228600"/>
                </a:lnTo>
                <a:lnTo>
                  <a:pt x="1895856" y="309829"/>
                </a:lnTo>
                <a:lnTo>
                  <a:pt x="1900428" y="313944"/>
                </a:lnTo>
                <a:lnTo>
                  <a:pt x="1920240" y="323088"/>
                </a:lnTo>
                <a:lnTo>
                  <a:pt x="1941576" y="329184"/>
                </a:lnTo>
                <a:lnTo>
                  <a:pt x="1964436" y="332232"/>
                </a:lnTo>
                <a:lnTo>
                  <a:pt x="1979676" y="330708"/>
                </a:lnTo>
                <a:lnTo>
                  <a:pt x="1994916" y="327660"/>
                </a:lnTo>
                <a:lnTo>
                  <a:pt x="2008632" y="323088"/>
                </a:lnTo>
                <a:lnTo>
                  <a:pt x="2020824" y="316992"/>
                </a:lnTo>
                <a:lnTo>
                  <a:pt x="2034540" y="309372"/>
                </a:lnTo>
                <a:close/>
              </a:path>
              <a:path w="2316479" h="332740">
                <a:moveTo>
                  <a:pt x="2316480" y="327660"/>
                </a:moveTo>
                <a:lnTo>
                  <a:pt x="2316480" y="181356"/>
                </a:lnTo>
                <a:lnTo>
                  <a:pt x="2314956" y="169164"/>
                </a:lnTo>
                <a:lnTo>
                  <a:pt x="2314956" y="149352"/>
                </a:lnTo>
                <a:lnTo>
                  <a:pt x="2301240" y="112776"/>
                </a:lnTo>
                <a:lnTo>
                  <a:pt x="2257044" y="86868"/>
                </a:lnTo>
                <a:lnTo>
                  <a:pt x="2235708" y="85344"/>
                </a:lnTo>
                <a:lnTo>
                  <a:pt x="2212848" y="86868"/>
                </a:lnTo>
                <a:lnTo>
                  <a:pt x="2193036" y="94488"/>
                </a:lnTo>
                <a:lnTo>
                  <a:pt x="2176272" y="106680"/>
                </a:lnTo>
                <a:lnTo>
                  <a:pt x="2162556" y="123444"/>
                </a:lnTo>
                <a:lnTo>
                  <a:pt x="2162556" y="89916"/>
                </a:lnTo>
                <a:lnTo>
                  <a:pt x="2125980" y="89916"/>
                </a:lnTo>
                <a:lnTo>
                  <a:pt x="2125980" y="327660"/>
                </a:lnTo>
                <a:lnTo>
                  <a:pt x="2167128" y="327660"/>
                </a:lnTo>
                <a:lnTo>
                  <a:pt x="2167128" y="176784"/>
                </a:lnTo>
                <a:lnTo>
                  <a:pt x="2170176" y="160020"/>
                </a:lnTo>
                <a:lnTo>
                  <a:pt x="2176272" y="146304"/>
                </a:lnTo>
                <a:lnTo>
                  <a:pt x="2183892" y="135636"/>
                </a:lnTo>
                <a:lnTo>
                  <a:pt x="2194560" y="129540"/>
                </a:lnTo>
                <a:lnTo>
                  <a:pt x="2203704" y="123444"/>
                </a:lnTo>
                <a:lnTo>
                  <a:pt x="2215896" y="120396"/>
                </a:lnTo>
                <a:lnTo>
                  <a:pt x="2226564" y="120396"/>
                </a:lnTo>
                <a:lnTo>
                  <a:pt x="2263140" y="135636"/>
                </a:lnTo>
                <a:lnTo>
                  <a:pt x="2273808" y="161544"/>
                </a:lnTo>
                <a:lnTo>
                  <a:pt x="2273808" y="172212"/>
                </a:lnTo>
                <a:lnTo>
                  <a:pt x="2275332" y="182880"/>
                </a:lnTo>
                <a:lnTo>
                  <a:pt x="2275332" y="327660"/>
                </a:lnTo>
                <a:lnTo>
                  <a:pt x="2316480" y="327660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007044" y="3454336"/>
            <a:ext cx="2856230" cy="2094230"/>
            <a:chOff x="2007044" y="3454336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3054032" y="4044124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7644" y="3987736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9644" y="4902136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77832" y="3739324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5844" y="3682936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444" y="5130736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3432" y="3815524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7044" y="3759136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4444" y="5435536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35032" y="5110924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8644" y="5054536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0244" y="5206936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97032" y="3510724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644" y="3454336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844" y="5283136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850572" y="4145724"/>
            <a:ext cx="30206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Event Queue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,b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,b</a:t>
            </a:r>
            <a:r>
              <a:rPr sz="1950" spc="-7" baseline="-21367" dirty="0">
                <a:latin typeface="Arial MT"/>
                <a:cs typeface="Arial MT"/>
              </a:rPr>
              <a:t>c</a:t>
            </a:r>
            <a:r>
              <a:rPr sz="2000" spc="-5" dirty="0">
                <a:latin typeface="Arial MT"/>
                <a:cs typeface="Arial MT"/>
              </a:rPr>
              <a:t>,b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,e</a:t>
            </a:r>
            <a:r>
              <a:rPr sz="1950" spc="-7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65332" y="400551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1572" y="2010203"/>
            <a:ext cx="7583805" cy="208533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Event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Queue</a:t>
            </a:r>
            <a:endParaRPr sz="2800">
              <a:latin typeface="Arial MT"/>
              <a:cs typeface="Arial MT"/>
            </a:endParaRPr>
          </a:p>
          <a:p>
            <a:pPr marL="756285" marR="5080" indent="-287020">
              <a:lnSpc>
                <a:spcPts val="2580"/>
              </a:lnSpc>
              <a:spcBef>
                <a:spcPts val="62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contains </a:t>
            </a:r>
            <a:r>
              <a:rPr sz="2400" dirty="0">
                <a:latin typeface="Arial MT"/>
                <a:cs typeface="Arial MT"/>
              </a:rPr>
              <a:t>all the </a:t>
            </a:r>
            <a:r>
              <a:rPr sz="2400" spc="-5" dirty="0">
                <a:latin typeface="Arial MT"/>
                <a:cs typeface="Arial MT"/>
              </a:rPr>
              <a:t>beginning points and </a:t>
            </a:r>
            <a:r>
              <a:rPr sz="2400" dirty="0">
                <a:latin typeface="Arial MT"/>
                <a:cs typeface="Arial MT"/>
              </a:rPr>
              <a:t>all the </a:t>
            </a:r>
            <a:r>
              <a:rPr sz="2400" spc="-5" dirty="0">
                <a:latin typeface="Arial MT"/>
                <a:cs typeface="Arial MT"/>
              </a:rPr>
              <a:t>end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points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segments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decreasing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Arial MT"/>
              <a:cs typeface="Arial MT"/>
            </a:endParaRPr>
          </a:p>
          <a:p>
            <a:pPr marL="237426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42171" y="4069523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6171" y="4374322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1572" y="4831522"/>
            <a:ext cx="3138805" cy="1750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Segment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Empty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82432" y="3510724"/>
            <a:ext cx="3733800" cy="1981200"/>
          </a:xfrm>
          <a:custGeom>
            <a:avLst/>
            <a:gdLst/>
            <a:ahLst/>
            <a:cxnLst/>
            <a:rect l="l" t="t" r="r" b="b"/>
            <a:pathLst>
              <a:path w="3733800" h="1981200">
                <a:moveTo>
                  <a:pt x="0" y="0"/>
                </a:moveTo>
                <a:lnTo>
                  <a:pt x="3733800" y="0"/>
                </a:lnTo>
              </a:path>
              <a:path w="3733800" h="1981200">
                <a:moveTo>
                  <a:pt x="0" y="228600"/>
                </a:moveTo>
                <a:lnTo>
                  <a:pt x="3733800" y="228600"/>
                </a:lnTo>
              </a:path>
              <a:path w="3733800" h="1981200">
                <a:moveTo>
                  <a:pt x="0" y="533400"/>
                </a:moveTo>
                <a:lnTo>
                  <a:pt x="3733800" y="533400"/>
                </a:lnTo>
              </a:path>
              <a:path w="3733800" h="1981200">
                <a:moveTo>
                  <a:pt x="0" y="1447800"/>
                </a:moveTo>
                <a:lnTo>
                  <a:pt x="3733800" y="1447800"/>
                </a:lnTo>
              </a:path>
              <a:path w="3733800" h="1981200">
                <a:moveTo>
                  <a:pt x="0" y="1600200"/>
                </a:moveTo>
                <a:lnTo>
                  <a:pt x="3733800" y="1600200"/>
                </a:lnTo>
              </a:path>
              <a:path w="3733800" h="1981200">
                <a:moveTo>
                  <a:pt x="0" y="1676400"/>
                </a:moveTo>
                <a:lnTo>
                  <a:pt x="3733800" y="1676400"/>
                </a:lnTo>
              </a:path>
              <a:path w="3733800" h="1981200">
                <a:moveTo>
                  <a:pt x="0" y="1752600"/>
                </a:moveTo>
                <a:lnTo>
                  <a:pt x="3733800" y="1752600"/>
                </a:lnTo>
              </a:path>
              <a:path w="3733800" h="1981200">
                <a:moveTo>
                  <a:pt x="0" y="1828800"/>
                </a:moveTo>
                <a:lnTo>
                  <a:pt x="3733800" y="1828800"/>
                </a:lnTo>
              </a:path>
              <a:path w="3733800" h="1981200">
                <a:moveTo>
                  <a:pt x="0" y="1981200"/>
                </a:moveTo>
                <a:lnTo>
                  <a:pt x="3733800" y="1981200"/>
                </a:lnTo>
              </a:path>
              <a:path w="3733800" h="1981200">
                <a:moveTo>
                  <a:pt x="0" y="304800"/>
                </a:moveTo>
                <a:lnTo>
                  <a:pt x="3733800" y="30480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122</a:t>
            </a:fld>
            <a:endParaRPr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7492" y="1256728"/>
            <a:ext cx="1902460" cy="424180"/>
          </a:xfrm>
          <a:custGeom>
            <a:avLst/>
            <a:gdLst/>
            <a:ahLst/>
            <a:cxnLst/>
            <a:rect l="l" t="t" r="r" b="b"/>
            <a:pathLst>
              <a:path w="1902460" h="424180">
                <a:moveTo>
                  <a:pt x="304800" y="327660"/>
                </a:moveTo>
                <a:lnTo>
                  <a:pt x="172212" y="0"/>
                </a:lnTo>
                <a:lnTo>
                  <a:pt x="124968" y="0"/>
                </a:lnTo>
                <a:lnTo>
                  <a:pt x="0" y="327660"/>
                </a:lnTo>
                <a:lnTo>
                  <a:pt x="47244" y="327660"/>
                </a:lnTo>
                <a:lnTo>
                  <a:pt x="80772" y="228600"/>
                </a:lnTo>
                <a:lnTo>
                  <a:pt x="94488" y="228600"/>
                </a:lnTo>
                <a:lnTo>
                  <a:pt x="94488" y="193548"/>
                </a:lnTo>
                <a:lnTo>
                  <a:pt x="140208" y="65532"/>
                </a:lnTo>
                <a:lnTo>
                  <a:pt x="147828" y="35052"/>
                </a:lnTo>
                <a:lnTo>
                  <a:pt x="152400" y="48768"/>
                </a:lnTo>
                <a:lnTo>
                  <a:pt x="156972" y="64008"/>
                </a:lnTo>
                <a:lnTo>
                  <a:pt x="164592" y="82296"/>
                </a:lnTo>
                <a:lnTo>
                  <a:pt x="170688" y="102108"/>
                </a:lnTo>
                <a:lnTo>
                  <a:pt x="204216" y="193548"/>
                </a:lnTo>
                <a:lnTo>
                  <a:pt x="204216" y="228600"/>
                </a:lnTo>
                <a:lnTo>
                  <a:pt x="219456" y="228600"/>
                </a:lnTo>
                <a:lnTo>
                  <a:pt x="256032" y="327660"/>
                </a:lnTo>
                <a:lnTo>
                  <a:pt x="304800" y="327660"/>
                </a:lnTo>
                <a:close/>
              </a:path>
              <a:path w="1902460" h="424180">
                <a:moveTo>
                  <a:pt x="204216" y="228600"/>
                </a:moveTo>
                <a:lnTo>
                  <a:pt x="204216" y="193548"/>
                </a:lnTo>
                <a:lnTo>
                  <a:pt x="94488" y="193548"/>
                </a:lnTo>
                <a:lnTo>
                  <a:pt x="94488" y="228600"/>
                </a:lnTo>
                <a:lnTo>
                  <a:pt x="204216" y="228600"/>
                </a:lnTo>
                <a:close/>
              </a:path>
              <a:path w="1902460" h="424180">
                <a:moveTo>
                  <a:pt x="376428" y="327660"/>
                </a:moveTo>
                <a:lnTo>
                  <a:pt x="376428" y="0"/>
                </a:lnTo>
                <a:lnTo>
                  <a:pt x="335280" y="0"/>
                </a:lnTo>
                <a:lnTo>
                  <a:pt x="335280" y="327660"/>
                </a:lnTo>
                <a:lnTo>
                  <a:pt x="376428" y="327660"/>
                </a:lnTo>
                <a:close/>
              </a:path>
              <a:path w="1902460" h="424180">
                <a:moveTo>
                  <a:pt x="630936" y="320040"/>
                </a:moveTo>
                <a:lnTo>
                  <a:pt x="630936" y="89916"/>
                </a:lnTo>
                <a:lnTo>
                  <a:pt x="594360" y="89916"/>
                </a:lnTo>
                <a:lnTo>
                  <a:pt x="594360" y="120396"/>
                </a:lnTo>
                <a:lnTo>
                  <a:pt x="580644" y="105156"/>
                </a:lnTo>
                <a:lnTo>
                  <a:pt x="563880" y="92964"/>
                </a:lnTo>
                <a:lnTo>
                  <a:pt x="545592" y="86868"/>
                </a:lnTo>
                <a:lnTo>
                  <a:pt x="525780" y="85344"/>
                </a:lnTo>
                <a:lnTo>
                  <a:pt x="510540" y="85344"/>
                </a:lnTo>
                <a:lnTo>
                  <a:pt x="470916" y="100584"/>
                </a:lnTo>
                <a:lnTo>
                  <a:pt x="441960" y="131064"/>
                </a:lnTo>
                <a:lnTo>
                  <a:pt x="425196" y="175260"/>
                </a:lnTo>
                <a:lnTo>
                  <a:pt x="422148" y="207264"/>
                </a:lnTo>
                <a:lnTo>
                  <a:pt x="425196" y="231648"/>
                </a:lnTo>
                <a:lnTo>
                  <a:pt x="429768" y="252984"/>
                </a:lnTo>
                <a:lnTo>
                  <a:pt x="437388" y="272796"/>
                </a:lnTo>
                <a:lnTo>
                  <a:pt x="449580" y="291084"/>
                </a:lnTo>
                <a:lnTo>
                  <a:pt x="463296" y="306171"/>
                </a:lnTo>
                <a:lnTo>
                  <a:pt x="463296" y="204216"/>
                </a:lnTo>
                <a:lnTo>
                  <a:pt x="464820" y="184404"/>
                </a:lnTo>
                <a:lnTo>
                  <a:pt x="483108" y="140208"/>
                </a:lnTo>
                <a:lnTo>
                  <a:pt x="515112" y="118872"/>
                </a:lnTo>
                <a:lnTo>
                  <a:pt x="541020" y="118872"/>
                </a:lnTo>
                <a:lnTo>
                  <a:pt x="574548" y="140208"/>
                </a:lnTo>
                <a:lnTo>
                  <a:pt x="592836" y="185928"/>
                </a:lnTo>
                <a:lnTo>
                  <a:pt x="592836" y="404513"/>
                </a:lnTo>
                <a:lnTo>
                  <a:pt x="595884" y="402336"/>
                </a:lnTo>
                <a:lnTo>
                  <a:pt x="624840" y="359664"/>
                </a:lnTo>
                <a:lnTo>
                  <a:pt x="629412" y="341376"/>
                </a:lnTo>
                <a:lnTo>
                  <a:pt x="630936" y="320040"/>
                </a:lnTo>
                <a:close/>
              </a:path>
              <a:path w="1902460" h="424180">
                <a:moveTo>
                  <a:pt x="589788" y="406690"/>
                </a:moveTo>
                <a:lnTo>
                  <a:pt x="589788" y="329184"/>
                </a:lnTo>
                <a:lnTo>
                  <a:pt x="588264" y="339852"/>
                </a:lnTo>
                <a:lnTo>
                  <a:pt x="588264" y="347472"/>
                </a:lnTo>
                <a:lnTo>
                  <a:pt x="580644" y="365760"/>
                </a:lnTo>
                <a:lnTo>
                  <a:pt x="566928" y="377952"/>
                </a:lnTo>
                <a:lnTo>
                  <a:pt x="559308" y="384048"/>
                </a:lnTo>
                <a:lnTo>
                  <a:pt x="550164" y="387096"/>
                </a:lnTo>
                <a:lnTo>
                  <a:pt x="525780" y="390144"/>
                </a:lnTo>
                <a:lnTo>
                  <a:pt x="502920" y="387096"/>
                </a:lnTo>
                <a:lnTo>
                  <a:pt x="484632" y="377952"/>
                </a:lnTo>
                <a:lnTo>
                  <a:pt x="475488" y="367284"/>
                </a:lnTo>
                <a:lnTo>
                  <a:pt x="470916" y="352044"/>
                </a:lnTo>
                <a:lnTo>
                  <a:pt x="429768" y="345948"/>
                </a:lnTo>
                <a:lnTo>
                  <a:pt x="445008" y="393192"/>
                </a:lnTo>
                <a:lnTo>
                  <a:pt x="486156" y="417576"/>
                </a:lnTo>
                <a:lnTo>
                  <a:pt x="524256" y="423672"/>
                </a:lnTo>
                <a:lnTo>
                  <a:pt x="541020" y="422148"/>
                </a:lnTo>
                <a:lnTo>
                  <a:pt x="557784" y="419100"/>
                </a:lnTo>
                <a:lnTo>
                  <a:pt x="571500" y="416052"/>
                </a:lnTo>
                <a:lnTo>
                  <a:pt x="585216" y="409956"/>
                </a:lnTo>
                <a:lnTo>
                  <a:pt x="589788" y="406690"/>
                </a:lnTo>
                <a:close/>
              </a:path>
              <a:path w="1902460" h="424180">
                <a:moveTo>
                  <a:pt x="592836" y="404513"/>
                </a:moveTo>
                <a:lnTo>
                  <a:pt x="592836" y="227076"/>
                </a:lnTo>
                <a:lnTo>
                  <a:pt x="588264" y="245364"/>
                </a:lnTo>
                <a:lnTo>
                  <a:pt x="583692" y="260604"/>
                </a:lnTo>
                <a:lnTo>
                  <a:pt x="554736" y="288036"/>
                </a:lnTo>
                <a:lnTo>
                  <a:pt x="528828" y="294132"/>
                </a:lnTo>
                <a:lnTo>
                  <a:pt x="515112" y="292608"/>
                </a:lnTo>
                <a:lnTo>
                  <a:pt x="473964" y="260604"/>
                </a:lnTo>
                <a:lnTo>
                  <a:pt x="463296" y="204216"/>
                </a:lnTo>
                <a:lnTo>
                  <a:pt x="463296" y="306171"/>
                </a:lnTo>
                <a:lnTo>
                  <a:pt x="464820" y="307848"/>
                </a:lnTo>
                <a:lnTo>
                  <a:pt x="481584" y="318516"/>
                </a:lnTo>
                <a:lnTo>
                  <a:pt x="501396" y="324612"/>
                </a:lnTo>
                <a:lnTo>
                  <a:pt x="524256" y="327660"/>
                </a:lnTo>
                <a:lnTo>
                  <a:pt x="544068" y="324612"/>
                </a:lnTo>
                <a:lnTo>
                  <a:pt x="560832" y="320040"/>
                </a:lnTo>
                <a:lnTo>
                  <a:pt x="576072" y="310896"/>
                </a:lnTo>
                <a:lnTo>
                  <a:pt x="589788" y="298704"/>
                </a:lnTo>
                <a:lnTo>
                  <a:pt x="589788" y="406690"/>
                </a:lnTo>
                <a:lnTo>
                  <a:pt x="592836" y="404513"/>
                </a:lnTo>
                <a:close/>
              </a:path>
              <a:path w="1902460" h="424180">
                <a:moveTo>
                  <a:pt x="899160" y="204216"/>
                </a:moveTo>
                <a:lnTo>
                  <a:pt x="890016" y="155448"/>
                </a:lnTo>
                <a:lnTo>
                  <a:pt x="867156" y="117348"/>
                </a:lnTo>
                <a:lnTo>
                  <a:pt x="832104" y="92964"/>
                </a:lnTo>
                <a:lnTo>
                  <a:pt x="787908" y="85344"/>
                </a:lnTo>
                <a:lnTo>
                  <a:pt x="766572" y="86868"/>
                </a:lnTo>
                <a:lnTo>
                  <a:pt x="729996" y="99060"/>
                </a:lnTo>
                <a:lnTo>
                  <a:pt x="697992" y="129540"/>
                </a:lnTo>
                <a:lnTo>
                  <a:pt x="679704" y="176784"/>
                </a:lnTo>
                <a:lnTo>
                  <a:pt x="678180" y="208788"/>
                </a:lnTo>
                <a:lnTo>
                  <a:pt x="679704" y="236220"/>
                </a:lnTo>
                <a:lnTo>
                  <a:pt x="685800" y="260604"/>
                </a:lnTo>
                <a:lnTo>
                  <a:pt x="694944" y="281940"/>
                </a:lnTo>
                <a:lnTo>
                  <a:pt x="708660" y="300228"/>
                </a:lnTo>
                <a:lnTo>
                  <a:pt x="719328" y="309829"/>
                </a:lnTo>
                <a:lnTo>
                  <a:pt x="719328" y="187452"/>
                </a:lnTo>
                <a:lnTo>
                  <a:pt x="723900" y="169164"/>
                </a:lnTo>
                <a:lnTo>
                  <a:pt x="748284" y="131064"/>
                </a:lnTo>
                <a:lnTo>
                  <a:pt x="774192" y="118872"/>
                </a:lnTo>
                <a:lnTo>
                  <a:pt x="801624" y="118872"/>
                </a:lnTo>
                <a:lnTo>
                  <a:pt x="838200" y="140208"/>
                </a:lnTo>
                <a:lnTo>
                  <a:pt x="856488" y="185928"/>
                </a:lnTo>
                <a:lnTo>
                  <a:pt x="858012" y="207264"/>
                </a:lnTo>
                <a:lnTo>
                  <a:pt x="858012" y="309372"/>
                </a:lnTo>
                <a:lnTo>
                  <a:pt x="868680" y="300228"/>
                </a:lnTo>
                <a:lnTo>
                  <a:pt x="891540" y="262128"/>
                </a:lnTo>
                <a:lnTo>
                  <a:pt x="897636" y="227076"/>
                </a:lnTo>
                <a:lnTo>
                  <a:pt x="899160" y="204216"/>
                </a:lnTo>
                <a:close/>
              </a:path>
              <a:path w="1902460" h="424180">
                <a:moveTo>
                  <a:pt x="858012" y="309372"/>
                </a:moveTo>
                <a:lnTo>
                  <a:pt x="858012" y="207264"/>
                </a:lnTo>
                <a:lnTo>
                  <a:pt x="856488" y="228600"/>
                </a:lnTo>
                <a:lnTo>
                  <a:pt x="851916" y="246888"/>
                </a:lnTo>
                <a:lnTo>
                  <a:pt x="827532" y="284988"/>
                </a:lnTo>
                <a:lnTo>
                  <a:pt x="787908" y="298704"/>
                </a:lnTo>
                <a:lnTo>
                  <a:pt x="774192" y="297180"/>
                </a:lnTo>
                <a:lnTo>
                  <a:pt x="737616" y="275844"/>
                </a:lnTo>
                <a:lnTo>
                  <a:pt x="719328" y="228600"/>
                </a:lnTo>
                <a:lnTo>
                  <a:pt x="719328" y="309829"/>
                </a:lnTo>
                <a:lnTo>
                  <a:pt x="723900" y="313944"/>
                </a:lnTo>
                <a:lnTo>
                  <a:pt x="743712" y="323088"/>
                </a:lnTo>
                <a:lnTo>
                  <a:pt x="765048" y="329184"/>
                </a:lnTo>
                <a:lnTo>
                  <a:pt x="787908" y="332232"/>
                </a:lnTo>
                <a:lnTo>
                  <a:pt x="803148" y="330708"/>
                </a:lnTo>
                <a:lnTo>
                  <a:pt x="818388" y="327660"/>
                </a:lnTo>
                <a:lnTo>
                  <a:pt x="832104" y="323088"/>
                </a:lnTo>
                <a:lnTo>
                  <a:pt x="844296" y="316992"/>
                </a:lnTo>
                <a:lnTo>
                  <a:pt x="858012" y="309372"/>
                </a:lnTo>
                <a:close/>
              </a:path>
              <a:path w="1902460" h="424180">
                <a:moveTo>
                  <a:pt x="1075944" y="97536"/>
                </a:moveTo>
                <a:lnTo>
                  <a:pt x="1054608" y="88392"/>
                </a:lnTo>
                <a:lnTo>
                  <a:pt x="1034796" y="85344"/>
                </a:lnTo>
                <a:lnTo>
                  <a:pt x="1021080" y="86868"/>
                </a:lnTo>
                <a:lnTo>
                  <a:pt x="990600" y="114300"/>
                </a:lnTo>
                <a:lnTo>
                  <a:pt x="984504" y="124968"/>
                </a:lnTo>
                <a:lnTo>
                  <a:pt x="984504" y="89916"/>
                </a:lnTo>
                <a:lnTo>
                  <a:pt x="949452" y="89916"/>
                </a:lnTo>
                <a:lnTo>
                  <a:pt x="949452" y="327660"/>
                </a:lnTo>
                <a:lnTo>
                  <a:pt x="990600" y="327660"/>
                </a:lnTo>
                <a:lnTo>
                  <a:pt x="990600" y="202692"/>
                </a:lnTo>
                <a:lnTo>
                  <a:pt x="992124" y="178308"/>
                </a:lnTo>
                <a:lnTo>
                  <a:pt x="1010412" y="134112"/>
                </a:lnTo>
                <a:lnTo>
                  <a:pt x="1033272" y="126492"/>
                </a:lnTo>
                <a:lnTo>
                  <a:pt x="1046988" y="128016"/>
                </a:lnTo>
                <a:lnTo>
                  <a:pt x="1060704" y="134112"/>
                </a:lnTo>
                <a:lnTo>
                  <a:pt x="1075944" y="97536"/>
                </a:lnTo>
                <a:close/>
              </a:path>
              <a:path w="1902460" h="424180">
                <a:moveTo>
                  <a:pt x="1143000" y="45720"/>
                </a:moveTo>
                <a:lnTo>
                  <a:pt x="1143000" y="0"/>
                </a:lnTo>
                <a:lnTo>
                  <a:pt x="1101852" y="0"/>
                </a:lnTo>
                <a:lnTo>
                  <a:pt x="1101852" y="45720"/>
                </a:lnTo>
                <a:lnTo>
                  <a:pt x="1143000" y="45720"/>
                </a:lnTo>
                <a:close/>
              </a:path>
              <a:path w="1902460" h="424180">
                <a:moveTo>
                  <a:pt x="1143000" y="327660"/>
                </a:moveTo>
                <a:lnTo>
                  <a:pt x="1143000" y="89916"/>
                </a:lnTo>
                <a:lnTo>
                  <a:pt x="1101852" y="89916"/>
                </a:lnTo>
                <a:lnTo>
                  <a:pt x="1101852" y="327660"/>
                </a:lnTo>
                <a:lnTo>
                  <a:pt x="1143000" y="327660"/>
                </a:lnTo>
                <a:close/>
              </a:path>
              <a:path w="1902460" h="424180">
                <a:moveTo>
                  <a:pt x="1208532" y="121920"/>
                </a:moveTo>
                <a:lnTo>
                  <a:pt x="1208532" y="89916"/>
                </a:lnTo>
                <a:lnTo>
                  <a:pt x="1179576" y="89916"/>
                </a:lnTo>
                <a:lnTo>
                  <a:pt x="1179576" y="121920"/>
                </a:lnTo>
                <a:lnTo>
                  <a:pt x="1208532" y="121920"/>
                </a:lnTo>
                <a:close/>
              </a:path>
              <a:path w="1902460" h="424180">
                <a:moveTo>
                  <a:pt x="1295400" y="327660"/>
                </a:moveTo>
                <a:lnTo>
                  <a:pt x="1289304" y="292608"/>
                </a:lnTo>
                <a:lnTo>
                  <a:pt x="1278636" y="292608"/>
                </a:lnTo>
                <a:lnTo>
                  <a:pt x="1271016" y="294132"/>
                </a:lnTo>
                <a:lnTo>
                  <a:pt x="1263396" y="292608"/>
                </a:lnTo>
                <a:lnTo>
                  <a:pt x="1257300" y="291084"/>
                </a:lnTo>
                <a:lnTo>
                  <a:pt x="1251204" y="283464"/>
                </a:lnTo>
                <a:lnTo>
                  <a:pt x="1249680" y="278892"/>
                </a:lnTo>
                <a:lnTo>
                  <a:pt x="1249680" y="6096"/>
                </a:lnTo>
                <a:lnTo>
                  <a:pt x="1208532" y="30480"/>
                </a:lnTo>
                <a:lnTo>
                  <a:pt x="1208532" y="288036"/>
                </a:lnTo>
                <a:lnTo>
                  <a:pt x="1210056" y="298704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8636" y="330708"/>
                </a:lnTo>
                <a:lnTo>
                  <a:pt x="1295400" y="327660"/>
                </a:lnTo>
                <a:close/>
              </a:path>
              <a:path w="1902460" h="424180">
                <a:moveTo>
                  <a:pt x="1289304" y="121920"/>
                </a:moveTo>
                <a:lnTo>
                  <a:pt x="1289304" y="89916"/>
                </a:lnTo>
                <a:lnTo>
                  <a:pt x="1249680" y="89916"/>
                </a:lnTo>
                <a:lnTo>
                  <a:pt x="1249680" y="121920"/>
                </a:lnTo>
                <a:lnTo>
                  <a:pt x="1289304" y="121920"/>
                </a:lnTo>
                <a:close/>
              </a:path>
              <a:path w="1902460" h="424180">
                <a:moveTo>
                  <a:pt x="1371600" y="327660"/>
                </a:moveTo>
                <a:lnTo>
                  <a:pt x="1371600" y="0"/>
                </a:lnTo>
                <a:lnTo>
                  <a:pt x="1330452" y="0"/>
                </a:lnTo>
                <a:lnTo>
                  <a:pt x="1330452" y="327660"/>
                </a:lnTo>
                <a:lnTo>
                  <a:pt x="1371600" y="327660"/>
                </a:lnTo>
                <a:close/>
              </a:path>
              <a:path w="1902460" h="424180">
                <a:moveTo>
                  <a:pt x="1520952" y="327660"/>
                </a:moveTo>
                <a:lnTo>
                  <a:pt x="1520952" y="176784"/>
                </a:lnTo>
                <a:lnTo>
                  <a:pt x="1519428" y="160020"/>
                </a:lnTo>
                <a:lnTo>
                  <a:pt x="1501140" y="108204"/>
                </a:lnTo>
                <a:lnTo>
                  <a:pt x="1464564" y="86868"/>
                </a:lnTo>
                <a:lnTo>
                  <a:pt x="1440180" y="85344"/>
                </a:lnTo>
                <a:lnTo>
                  <a:pt x="1420368" y="86868"/>
                </a:lnTo>
                <a:lnTo>
                  <a:pt x="1402080" y="92964"/>
                </a:lnTo>
                <a:lnTo>
                  <a:pt x="1385316" y="103632"/>
                </a:lnTo>
                <a:lnTo>
                  <a:pt x="1371600" y="117348"/>
                </a:lnTo>
                <a:lnTo>
                  <a:pt x="1371600" y="198120"/>
                </a:lnTo>
                <a:lnTo>
                  <a:pt x="1373124" y="172212"/>
                </a:lnTo>
                <a:lnTo>
                  <a:pt x="1377696" y="153924"/>
                </a:lnTo>
                <a:lnTo>
                  <a:pt x="1385316" y="140208"/>
                </a:lnTo>
                <a:lnTo>
                  <a:pt x="1399032" y="129540"/>
                </a:lnTo>
                <a:lnTo>
                  <a:pt x="1414272" y="121920"/>
                </a:lnTo>
                <a:lnTo>
                  <a:pt x="1431036" y="120396"/>
                </a:lnTo>
                <a:lnTo>
                  <a:pt x="1441704" y="120396"/>
                </a:lnTo>
                <a:lnTo>
                  <a:pt x="1475232" y="150876"/>
                </a:lnTo>
                <a:lnTo>
                  <a:pt x="1479804" y="176784"/>
                </a:lnTo>
                <a:lnTo>
                  <a:pt x="1479804" y="327660"/>
                </a:lnTo>
                <a:lnTo>
                  <a:pt x="1520952" y="327660"/>
                </a:lnTo>
                <a:close/>
              </a:path>
              <a:path w="1902460" h="424180">
                <a:moveTo>
                  <a:pt x="1901952" y="327660"/>
                </a:moveTo>
                <a:lnTo>
                  <a:pt x="1901952" y="144780"/>
                </a:lnTo>
                <a:lnTo>
                  <a:pt x="1897380" y="129540"/>
                </a:lnTo>
                <a:lnTo>
                  <a:pt x="1872996" y="96012"/>
                </a:lnTo>
                <a:lnTo>
                  <a:pt x="1845564" y="85344"/>
                </a:lnTo>
                <a:lnTo>
                  <a:pt x="1828800" y="85344"/>
                </a:lnTo>
                <a:lnTo>
                  <a:pt x="1807464" y="86868"/>
                </a:lnTo>
                <a:lnTo>
                  <a:pt x="1787652" y="94488"/>
                </a:lnTo>
                <a:lnTo>
                  <a:pt x="1770888" y="108204"/>
                </a:lnTo>
                <a:lnTo>
                  <a:pt x="1755648" y="126492"/>
                </a:lnTo>
                <a:lnTo>
                  <a:pt x="1746504" y="108204"/>
                </a:lnTo>
                <a:lnTo>
                  <a:pt x="1732788" y="96012"/>
                </a:lnTo>
                <a:lnTo>
                  <a:pt x="1712976" y="86868"/>
                </a:lnTo>
                <a:lnTo>
                  <a:pt x="1688592" y="85344"/>
                </a:lnTo>
                <a:lnTo>
                  <a:pt x="1667256" y="86868"/>
                </a:lnTo>
                <a:lnTo>
                  <a:pt x="1647444" y="96012"/>
                </a:lnTo>
                <a:lnTo>
                  <a:pt x="1630680" y="108204"/>
                </a:lnTo>
                <a:lnTo>
                  <a:pt x="1616964" y="123444"/>
                </a:lnTo>
                <a:lnTo>
                  <a:pt x="1616964" y="89916"/>
                </a:lnTo>
                <a:lnTo>
                  <a:pt x="1580388" y="89916"/>
                </a:lnTo>
                <a:lnTo>
                  <a:pt x="1580388" y="327660"/>
                </a:lnTo>
                <a:lnTo>
                  <a:pt x="1621536" y="327660"/>
                </a:lnTo>
                <a:lnTo>
                  <a:pt x="1621536" y="204216"/>
                </a:lnTo>
                <a:lnTo>
                  <a:pt x="1623060" y="188976"/>
                </a:lnTo>
                <a:lnTo>
                  <a:pt x="1623060" y="175260"/>
                </a:lnTo>
                <a:lnTo>
                  <a:pt x="1626108" y="164592"/>
                </a:lnTo>
                <a:lnTo>
                  <a:pt x="1627632" y="155448"/>
                </a:lnTo>
                <a:lnTo>
                  <a:pt x="1636776" y="140208"/>
                </a:lnTo>
                <a:lnTo>
                  <a:pt x="1648968" y="128016"/>
                </a:lnTo>
                <a:lnTo>
                  <a:pt x="1664208" y="121920"/>
                </a:lnTo>
                <a:lnTo>
                  <a:pt x="1679448" y="120396"/>
                </a:lnTo>
                <a:lnTo>
                  <a:pt x="1690116" y="120396"/>
                </a:lnTo>
                <a:lnTo>
                  <a:pt x="1719072" y="149352"/>
                </a:lnTo>
                <a:lnTo>
                  <a:pt x="1720596" y="160020"/>
                </a:lnTo>
                <a:lnTo>
                  <a:pt x="1720596" y="327660"/>
                </a:lnTo>
                <a:lnTo>
                  <a:pt x="1761744" y="327660"/>
                </a:lnTo>
                <a:lnTo>
                  <a:pt x="1761744" y="188976"/>
                </a:lnTo>
                <a:lnTo>
                  <a:pt x="1763268" y="172212"/>
                </a:lnTo>
                <a:lnTo>
                  <a:pt x="1778508" y="135636"/>
                </a:lnTo>
                <a:lnTo>
                  <a:pt x="1807464" y="120396"/>
                </a:lnTo>
                <a:lnTo>
                  <a:pt x="1819656" y="120396"/>
                </a:lnTo>
                <a:lnTo>
                  <a:pt x="1857756" y="143256"/>
                </a:lnTo>
                <a:lnTo>
                  <a:pt x="1860804" y="156972"/>
                </a:lnTo>
                <a:lnTo>
                  <a:pt x="1860804" y="327660"/>
                </a:lnTo>
                <a:lnTo>
                  <a:pt x="1901952" y="327660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51572" y="1858200"/>
            <a:ext cx="646938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Remove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next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queue</a:t>
            </a:r>
            <a:endParaRPr sz="2400">
              <a:latin typeface="Arial MT"/>
              <a:cs typeface="Arial MT"/>
            </a:endParaRPr>
          </a:p>
          <a:p>
            <a:pPr marL="393700">
              <a:lnSpc>
                <a:spcPct val="100000"/>
              </a:lnSpc>
              <a:spcBef>
                <a:spcPts val="1935"/>
              </a:spcBef>
            </a:pP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begin</a:t>
            </a:r>
            <a:r>
              <a:rPr sz="2000" spc="-40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3100"/>
                </a:solidFill>
                <a:latin typeface="Arial MT"/>
                <a:cs typeface="Arial MT"/>
              </a:rPr>
              <a:t>segment</a:t>
            </a:r>
            <a:r>
              <a:rPr sz="2000" spc="-3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82432" y="3073336"/>
            <a:ext cx="2286000" cy="1179830"/>
            <a:chOff x="1682432" y="3073336"/>
            <a:chExt cx="2286000" cy="1179830"/>
          </a:xfrm>
        </p:grpSpPr>
        <p:sp>
          <p:nvSpPr>
            <p:cNvPr id="5" name="object 5"/>
            <p:cNvSpPr/>
            <p:nvPr/>
          </p:nvSpPr>
          <p:spPr>
            <a:xfrm>
              <a:off x="2292032" y="3282124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0"/>
                  </a:moveTo>
                  <a:lnTo>
                    <a:pt x="381000" y="533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5644" y="3225736"/>
              <a:ext cx="112776" cy="1127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6644" y="3759136"/>
              <a:ext cx="112776" cy="1127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01632" y="3510724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0"/>
                  </a:moveTo>
                  <a:lnTo>
                    <a:pt x="381000" y="533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5244" y="3454336"/>
              <a:ext cx="112776" cy="1127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6244" y="3987736"/>
              <a:ext cx="112776" cy="1127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6432" y="3129724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3073336"/>
              <a:ext cx="112776" cy="1127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4140136"/>
              <a:ext cx="112776" cy="1127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82432" y="3510724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03132" y="347211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04172" y="3612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1373" y="3155123"/>
            <a:ext cx="15144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87425" algn="l"/>
                <a:tab pos="1501140" algn="l"/>
              </a:tabLst>
            </a:pPr>
            <a:r>
              <a:rPr sz="2000" dirty="0">
                <a:latin typeface="Arial MT"/>
                <a:cs typeface="Arial MT"/>
              </a:rPr>
              <a:t>c	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	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59972" y="3461956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99060" y="48768"/>
                </a:moveTo>
                <a:lnTo>
                  <a:pt x="0" y="0"/>
                </a:lnTo>
                <a:lnTo>
                  <a:pt x="0" y="99060"/>
                </a:lnTo>
                <a:lnTo>
                  <a:pt x="99060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66372" y="2926524"/>
            <a:ext cx="3698240" cy="1854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4826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 MT"/>
                <a:cs typeface="Arial MT"/>
              </a:rPr>
              <a:t>Insert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between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Check </a:t>
            </a:r>
            <a:r>
              <a:rPr sz="2000" spc="-15" dirty="0">
                <a:latin typeface="Arial MT"/>
                <a:cs typeface="Arial MT"/>
              </a:rPr>
              <a:t>for </a:t>
            </a:r>
            <a:r>
              <a:rPr sz="2000" spc="-5" dirty="0">
                <a:latin typeface="Arial MT"/>
                <a:cs typeface="Arial MT"/>
              </a:rPr>
              <a:t>intersections with </a:t>
            </a:r>
            <a:r>
              <a:rPr sz="2000" dirty="0">
                <a:latin typeface="Arial MT"/>
                <a:cs typeface="Arial MT"/>
              </a:rPr>
              <a:t> adjacent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(a,b)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(b,c), and </a:t>
            </a:r>
            <a:r>
              <a:rPr sz="2000" spc="-10" dirty="0">
                <a:latin typeface="Arial MT"/>
                <a:cs typeface="Arial MT"/>
              </a:rPr>
              <a:t>add </a:t>
            </a:r>
            <a:r>
              <a:rPr sz="2000" dirty="0">
                <a:latin typeface="Arial MT"/>
                <a:cs typeface="Arial MT"/>
              </a:rPr>
              <a:t>any </a:t>
            </a:r>
            <a:r>
              <a:rPr sz="2000" spc="-5" dirty="0">
                <a:latin typeface="Arial MT"/>
                <a:cs typeface="Arial MT"/>
              </a:rPr>
              <a:t>to event </a:t>
            </a:r>
            <a:r>
              <a:rPr sz="2000" dirty="0">
                <a:latin typeface="Arial MT"/>
                <a:cs typeface="Arial MT"/>
              </a:rPr>
              <a:t> queue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30032" y="4825936"/>
            <a:ext cx="2286000" cy="1637030"/>
            <a:chOff x="1530032" y="4825936"/>
            <a:chExt cx="2286000" cy="1637030"/>
          </a:xfrm>
        </p:grpSpPr>
        <p:sp>
          <p:nvSpPr>
            <p:cNvPr id="21" name="object 21"/>
            <p:cNvSpPr/>
            <p:nvPr/>
          </p:nvSpPr>
          <p:spPr>
            <a:xfrm>
              <a:off x="2063432" y="5034724"/>
              <a:ext cx="1066800" cy="1371600"/>
            </a:xfrm>
            <a:custGeom>
              <a:avLst/>
              <a:gdLst/>
              <a:ahLst/>
              <a:cxnLst/>
              <a:rect l="l" t="t" r="r" b="b"/>
              <a:pathLst>
                <a:path w="1066800" h="1371600">
                  <a:moveTo>
                    <a:pt x="0" y="0"/>
                  </a:moveTo>
                  <a:lnTo>
                    <a:pt x="1066800" y="1371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7044" y="49783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844" y="6349936"/>
              <a:ext cx="112776" cy="1127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596832" y="4882324"/>
              <a:ext cx="228600" cy="914400"/>
            </a:xfrm>
            <a:custGeom>
              <a:avLst/>
              <a:gdLst/>
              <a:ahLst/>
              <a:cxnLst/>
              <a:rect l="l" t="t" r="r" b="b"/>
              <a:pathLst>
                <a:path w="228600" h="914400">
                  <a:moveTo>
                    <a:pt x="0" y="0"/>
                  </a:moveTo>
                  <a:lnTo>
                    <a:pt x="2286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0444" y="4825936"/>
              <a:ext cx="112776" cy="11277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9044" y="5740336"/>
              <a:ext cx="112776" cy="1127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01632" y="5187124"/>
              <a:ext cx="76200" cy="1219200"/>
            </a:xfrm>
            <a:custGeom>
              <a:avLst/>
              <a:gdLst/>
              <a:ahLst/>
              <a:cxnLst/>
              <a:rect l="l" t="t" r="r" b="b"/>
              <a:pathLst>
                <a:path w="76200" h="1219200">
                  <a:moveTo>
                    <a:pt x="76200" y="0"/>
                  </a:moveTo>
                  <a:lnTo>
                    <a:pt x="0" y="12192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1444" y="5130736"/>
              <a:ext cx="112776" cy="1127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5244" y="6349936"/>
              <a:ext cx="112776" cy="11277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530032" y="5796724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974532" y="522471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23172" y="52887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32772" y="506012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60532" y="5060125"/>
            <a:ext cx="539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5780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	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83772" y="5443156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99060" y="48768"/>
                </a:moveTo>
                <a:lnTo>
                  <a:pt x="0" y="0"/>
                </a:lnTo>
                <a:lnTo>
                  <a:pt x="0" y="99060"/>
                </a:lnTo>
                <a:lnTo>
                  <a:pt x="99060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266370" y="5136324"/>
            <a:ext cx="38512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Delete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endParaRPr sz="2000">
              <a:latin typeface="Arial MT"/>
              <a:cs typeface="Arial MT"/>
            </a:endParaRPr>
          </a:p>
          <a:p>
            <a:pPr marL="469900" marR="1016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Check </a:t>
            </a:r>
            <a:r>
              <a:rPr sz="2000" spc="-15" dirty="0">
                <a:latin typeface="Arial MT"/>
                <a:cs typeface="Arial MT"/>
              </a:rPr>
              <a:t>for </a:t>
            </a:r>
            <a:r>
              <a:rPr sz="2000" spc="-5" dirty="0">
                <a:latin typeface="Arial MT"/>
                <a:cs typeface="Arial MT"/>
              </a:rPr>
              <a:t>intersections with </a:t>
            </a:r>
            <a:r>
              <a:rPr sz="2000" dirty="0">
                <a:latin typeface="Arial MT"/>
                <a:cs typeface="Arial MT"/>
              </a:rPr>
              <a:t> adjacent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(a,c),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 event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123</a:t>
            </a:fld>
            <a:endParaRPr dirty="0"/>
          </a:p>
        </p:txBody>
      </p:sp>
      <p:sp>
        <p:nvSpPr>
          <p:cNvPr id="37" name="object 37"/>
          <p:cNvSpPr txBox="1"/>
          <p:nvPr/>
        </p:nvSpPr>
        <p:spPr>
          <a:xfrm>
            <a:off x="1532572" y="4450524"/>
            <a:ext cx="2184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end</a:t>
            </a:r>
            <a:r>
              <a:rPr sz="2000" spc="-50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3100"/>
                </a:solidFill>
                <a:latin typeface="Arial MT"/>
                <a:cs typeface="Arial MT"/>
              </a:rPr>
              <a:t>segment</a:t>
            </a:r>
            <a:r>
              <a:rPr sz="2000" spc="-5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7492" y="1256728"/>
            <a:ext cx="1902460" cy="424180"/>
          </a:xfrm>
          <a:custGeom>
            <a:avLst/>
            <a:gdLst/>
            <a:ahLst/>
            <a:cxnLst/>
            <a:rect l="l" t="t" r="r" b="b"/>
            <a:pathLst>
              <a:path w="1902460" h="424180">
                <a:moveTo>
                  <a:pt x="304800" y="327660"/>
                </a:moveTo>
                <a:lnTo>
                  <a:pt x="172212" y="0"/>
                </a:lnTo>
                <a:lnTo>
                  <a:pt x="124968" y="0"/>
                </a:lnTo>
                <a:lnTo>
                  <a:pt x="0" y="327660"/>
                </a:lnTo>
                <a:lnTo>
                  <a:pt x="47244" y="327660"/>
                </a:lnTo>
                <a:lnTo>
                  <a:pt x="80772" y="228600"/>
                </a:lnTo>
                <a:lnTo>
                  <a:pt x="94488" y="228600"/>
                </a:lnTo>
                <a:lnTo>
                  <a:pt x="94488" y="193548"/>
                </a:lnTo>
                <a:lnTo>
                  <a:pt x="140208" y="65532"/>
                </a:lnTo>
                <a:lnTo>
                  <a:pt x="147828" y="35052"/>
                </a:lnTo>
                <a:lnTo>
                  <a:pt x="152400" y="48768"/>
                </a:lnTo>
                <a:lnTo>
                  <a:pt x="156972" y="64008"/>
                </a:lnTo>
                <a:lnTo>
                  <a:pt x="164592" y="82296"/>
                </a:lnTo>
                <a:lnTo>
                  <a:pt x="170688" y="102108"/>
                </a:lnTo>
                <a:lnTo>
                  <a:pt x="204216" y="193548"/>
                </a:lnTo>
                <a:lnTo>
                  <a:pt x="204216" y="228600"/>
                </a:lnTo>
                <a:lnTo>
                  <a:pt x="219456" y="228600"/>
                </a:lnTo>
                <a:lnTo>
                  <a:pt x="256032" y="327660"/>
                </a:lnTo>
                <a:lnTo>
                  <a:pt x="304800" y="327660"/>
                </a:lnTo>
                <a:close/>
              </a:path>
              <a:path w="1902460" h="424180">
                <a:moveTo>
                  <a:pt x="204216" y="228600"/>
                </a:moveTo>
                <a:lnTo>
                  <a:pt x="204216" y="193548"/>
                </a:lnTo>
                <a:lnTo>
                  <a:pt x="94488" y="193548"/>
                </a:lnTo>
                <a:lnTo>
                  <a:pt x="94488" y="228600"/>
                </a:lnTo>
                <a:lnTo>
                  <a:pt x="204216" y="228600"/>
                </a:lnTo>
                <a:close/>
              </a:path>
              <a:path w="1902460" h="424180">
                <a:moveTo>
                  <a:pt x="376428" y="327660"/>
                </a:moveTo>
                <a:lnTo>
                  <a:pt x="376428" y="0"/>
                </a:lnTo>
                <a:lnTo>
                  <a:pt x="335280" y="0"/>
                </a:lnTo>
                <a:lnTo>
                  <a:pt x="335280" y="327660"/>
                </a:lnTo>
                <a:lnTo>
                  <a:pt x="376428" y="327660"/>
                </a:lnTo>
                <a:close/>
              </a:path>
              <a:path w="1902460" h="424180">
                <a:moveTo>
                  <a:pt x="630936" y="320040"/>
                </a:moveTo>
                <a:lnTo>
                  <a:pt x="630936" y="89916"/>
                </a:lnTo>
                <a:lnTo>
                  <a:pt x="594360" y="89916"/>
                </a:lnTo>
                <a:lnTo>
                  <a:pt x="594360" y="120396"/>
                </a:lnTo>
                <a:lnTo>
                  <a:pt x="580644" y="105156"/>
                </a:lnTo>
                <a:lnTo>
                  <a:pt x="563880" y="92964"/>
                </a:lnTo>
                <a:lnTo>
                  <a:pt x="545592" y="86868"/>
                </a:lnTo>
                <a:lnTo>
                  <a:pt x="525780" y="85344"/>
                </a:lnTo>
                <a:lnTo>
                  <a:pt x="510540" y="85344"/>
                </a:lnTo>
                <a:lnTo>
                  <a:pt x="470916" y="100584"/>
                </a:lnTo>
                <a:lnTo>
                  <a:pt x="441960" y="131064"/>
                </a:lnTo>
                <a:lnTo>
                  <a:pt x="425196" y="175260"/>
                </a:lnTo>
                <a:lnTo>
                  <a:pt x="422148" y="207264"/>
                </a:lnTo>
                <a:lnTo>
                  <a:pt x="425196" y="231648"/>
                </a:lnTo>
                <a:lnTo>
                  <a:pt x="429768" y="252984"/>
                </a:lnTo>
                <a:lnTo>
                  <a:pt x="437388" y="272796"/>
                </a:lnTo>
                <a:lnTo>
                  <a:pt x="449580" y="291084"/>
                </a:lnTo>
                <a:lnTo>
                  <a:pt x="463296" y="306171"/>
                </a:lnTo>
                <a:lnTo>
                  <a:pt x="463296" y="204216"/>
                </a:lnTo>
                <a:lnTo>
                  <a:pt x="464820" y="184404"/>
                </a:lnTo>
                <a:lnTo>
                  <a:pt x="483108" y="140208"/>
                </a:lnTo>
                <a:lnTo>
                  <a:pt x="515112" y="118872"/>
                </a:lnTo>
                <a:lnTo>
                  <a:pt x="541020" y="118872"/>
                </a:lnTo>
                <a:lnTo>
                  <a:pt x="574548" y="140208"/>
                </a:lnTo>
                <a:lnTo>
                  <a:pt x="592836" y="185928"/>
                </a:lnTo>
                <a:lnTo>
                  <a:pt x="592836" y="404513"/>
                </a:lnTo>
                <a:lnTo>
                  <a:pt x="595884" y="402336"/>
                </a:lnTo>
                <a:lnTo>
                  <a:pt x="624840" y="359664"/>
                </a:lnTo>
                <a:lnTo>
                  <a:pt x="629412" y="341376"/>
                </a:lnTo>
                <a:lnTo>
                  <a:pt x="630936" y="320040"/>
                </a:lnTo>
                <a:close/>
              </a:path>
              <a:path w="1902460" h="424180">
                <a:moveTo>
                  <a:pt x="589788" y="406690"/>
                </a:moveTo>
                <a:lnTo>
                  <a:pt x="589788" y="329184"/>
                </a:lnTo>
                <a:lnTo>
                  <a:pt x="588264" y="339852"/>
                </a:lnTo>
                <a:lnTo>
                  <a:pt x="588264" y="347472"/>
                </a:lnTo>
                <a:lnTo>
                  <a:pt x="580644" y="365760"/>
                </a:lnTo>
                <a:lnTo>
                  <a:pt x="566928" y="377952"/>
                </a:lnTo>
                <a:lnTo>
                  <a:pt x="559308" y="384048"/>
                </a:lnTo>
                <a:lnTo>
                  <a:pt x="550164" y="387096"/>
                </a:lnTo>
                <a:lnTo>
                  <a:pt x="525780" y="390144"/>
                </a:lnTo>
                <a:lnTo>
                  <a:pt x="502920" y="387096"/>
                </a:lnTo>
                <a:lnTo>
                  <a:pt x="484632" y="377952"/>
                </a:lnTo>
                <a:lnTo>
                  <a:pt x="475488" y="367284"/>
                </a:lnTo>
                <a:lnTo>
                  <a:pt x="470916" y="352044"/>
                </a:lnTo>
                <a:lnTo>
                  <a:pt x="429768" y="345948"/>
                </a:lnTo>
                <a:lnTo>
                  <a:pt x="445008" y="393192"/>
                </a:lnTo>
                <a:lnTo>
                  <a:pt x="486156" y="417576"/>
                </a:lnTo>
                <a:lnTo>
                  <a:pt x="524256" y="423672"/>
                </a:lnTo>
                <a:lnTo>
                  <a:pt x="541020" y="422148"/>
                </a:lnTo>
                <a:lnTo>
                  <a:pt x="557784" y="419100"/>
                </a:lnTo>
                <a:lnTo>
                  <a:pt x="571500" y="416052"/>
                </a:lnTo>
                <a:lnTo>
                  <a:pt x="585216" y="409956"/>
                </a:lnTo>
                <a:lnTo>
                  <a:pt x="589788" y="406690"/>
                </a:lnTo>
                <a:close/>
              </a:path>
              <a:path w="1902460" h="424180">
                <a:moveTo>
                  <a:pt x="592836" y="404513"/>
                </a:moveTo>
                <a:lnTo>
                  <a:pt x="592836" y="227076"/>
                </a:lnTo>
                <a:lnTo>
                  <a:pt x="588264" y="245364"/>
                </a:lnTo>
                <a:lnTo>
                  <a:pt x="583692" y="260604"/>
                </a:lnTo>
                <a:lnTo>
                  <a:pt x="554736" y="288036"/>
                </a:lnTo>
                <a:lnTo>
                  <a:pt x="528828" y="294132"/>
                </a:lnTo>
                <a:lnTo>
                  <a:pt x="515112" y="292608"/>
                </a:lnTo>
                <a:lnTo>
                  <a:pt x="473964" y="260604"/>
                </a:lnTo>
                <a:lnTo>
                  <a:pt x="463296" y="204216"/>
                </a:lnTo>
                <a:lnTo>
                  <a:pt x="463296" y="306171"/>
                </a:lnTo>
                <a:lnTo>
                  <a:pt x="464820" y="307848"/>
                </a:lnTo>
                <a:lnTo>
                  <a:pt x="481584" y="318516"/>
                </a:lnTo>
                <a:lnTo>
                  <a:pt x="501396" y="324612"/>
                </a:lnTo>
                <a:lnTo>
                  <a:pt x="524256" y="327660"/>
                </a:lnTo>
                <a:lnTo>
                  <a:pt x="544068" y="324612"/>
                </a:lnTo>
                <a:lnTo>
                  <a:pt x="560832" y="320040"/>
                </a:lnTo>
                <a:lnTo>
                  <a:pt x="576072" y="310896"/>
                </a:lnTo>
                <a:lnTo>
                  <a:pt x="589788" y="298704"/>
                </a:lnTo>
                <a:lnTo>
                  <a:pt x="589788" y="406690"/>
                </a:lnTo>
                <a:lnTo>
                  <a:pt x="592836" y="404513"/>
                </a:lnTo>
                <a:close/>
              </a:path>
              <a:path w="1902460" h="424180">
                <a:moveTo>
                  <a:pt x="899160" y="204216"/>
                </a:moveTo>
                <a:lnTo>
                  <a:pt x="890016" y="155448"/>
                </a:lnTo>
                <a:lnTo>
                  <a:pt x="867156" y="117348"/>
                </a:lnTo>
                <a:lnTo>
                  <a:pt x="832104" y="92964"/>
                </a:lnTo>
                <a:lnTo>
                  <a:pt x="787908" y="85344"/>
                </a:lnTo>
                <a:lnTo>
                  <a:pt x="766572" y="86868"/>
                </a:lnTo>
                <a:lnTo>
                  <a:pt x="729996" y="99060"/>
                </a:lnTo>
                <a:lnTo>
                  <a:pt x="697992" y="129540"/>
                </a:lnTo>
                <a:lnTo>
                  <a:pt x="679704" y="176784"/>
                </a:lnTo>
                <a:lnTo>
                  <a:pt x="678180" y="208788"/>
                </a:lnTo>
                <a:lnTo>
                  <a:pt x="679704" y="236220"/>
                </a:lnTo>
                <a:lnTo>
                  <a:pt x="685800" y="260604"/>
                </a:lnTo>
                <a:lnTo>
                  <a:pt x="694944" y="281940"/>
                </a:lnTo>
                <a:lnTo>
                  <a:pt x="708660" y="300228"/>
                </a:lnTo>
                <a:lnTo>
                  <a:pt x="719328" y="309829"/>
                </a:lnTo>
                <a:lnTo>
                  <a:pt x="719328" y="187452"/>
                </a:lnTo>
                <a:lnTo>
                  <a:pt x="723900" y="169164"/>
                </a:lnTo>
                <a:lnTo>
                  <a:pt x="748284" y="131064"/>
                </a:lnTo>
                <a:lnTo>
                  <a:pt x="774192" y="118872"/>
                </a:lnTo>
                <a:lnTo>
                  <a:pt x="801624" y="118872"/>
                </a:lnTo>
                <a:lnTo>
                  <a:pt x="838200" y="140208"/>
                </a:lnTo>
                <a:lnTo>
                  <a:pt x="856488" y="185928"/>
                </a:lnTo>
                <a:lnTo>
                  <a:pt x="858012" y="207264"/>
                </a:lnTo>
                <a:lnTo>
                  <a:pt x="858012" y="309372"/>
                </a:lnTo>
                <a:lnTo>
                  <a:pt x="868680" y="300228"/>
                </a:lnTo>
                <a:lnTo>
                  <a:pt x="891540" y="262128"/>
                </a:lnTo>
                <a:lnTo>
                  <a:pt x="897636" y="227076"/>
                </a:lnTo>
                <a:lnTo>
                  <a:pt x="899160" y="204216"/>
                </a:lnTo>
                <a:close/>
              </a:path>
              <a:path w="1902460" h="424180">
                <a:moveTo>
                  <a:pt x="858012" y="309372"/>
                </a:moveTo>
                <a:lnTo>
                  <a:pt x="858012" y="207264"/>
                </a:lnTo>
                <a:lnTo>
                  <a:pt x="856488" y="228600"/>
                </a:lnTo>
                <a:lnTo>
                  <a:pt x="851916" y="246888"/>
                </a:lnTo>
                <a:lnTo>
                  <a:pt x="827532" y="284988"/>
                </a:lnTo>
                <a:lnTo>
                  <a:pt x="787908" y="298704"/>
                </a:lnTo>
                <a:lnTo>
                  <a:pt x="774192" y="297180"/>
                </a:lnTo>
                <a:lnTo>
                  <a:pt x="737616" y="275844"/>
                </a:lnTo>
                <a:lnTo>
                  <a:pt x="719328" y="228600"/>
                </a:lnTo>
                <a:lnTo>
                  <a:pt x="719328" y="309829"/>
                </a:lnTo>
                <a:lnTo>
                  <a:pt x="723900" y="313944"/>
                </a:lnTo>
                <a:lnTo>
                  <a:pt x="743712" y="323088"/>
                </a:lnTo>
                <a:lnTo>
                  <a:pt x="765048" y="329184"/>
                </a:lnTo>
                <a:lnTo>
                  <a:pt x="787908" y="332232"/>
                </a:lnTo>
                <a:lnTo>
                  <a:pt x="803148" y="330708"/>
                </a:lnTo>
                <a:lnTo>
                  <a:pt x="818388" y="327660"/>
                </a:lnTo>
                <a:lnTo>
                  <a:pt x="832104" y="323088"/>
                </a:lnTo>
                <a:lnTo>
                  <a:pt x="844296" y="316992"/>
                </a:lnTo>
                <a:lnTo>
                  <a:pt x="858012" y="309372"/>
                </a:lnTo>
                <a:close/>
              </a:path>
              <a:path w="1902460" h="424180">
                <a:moveTo>
                  <a:pt x="1075944" y="97536"/>
                </a:moveTo>
                <a:lnTo>
                  <a:pt x="1054608" y="88392"/>
                </a:lnTo>
                <a:lnTo>
                  <a:pt x="1034796" y="85344"/>
                </a:lnTo>
                <a:lnTo>
                  <a:pt x="1021080" y="86868"/>
                </a:lnTo>
                <a:lnTo>
                  <a:pt x="990600" y="114300"/>
                </a:lnTo>
                <a:lnTo>
                  <a:pt x="984504" y="124968"/>
                </a:lnTo>
                <a:lnTo>
                  <a:pt x="984504" y="89916"/>
                </a:lnTo>
                <a:lnTo>
                  <a:pt x="949452" y="89916"/>
                </a:lnTo>
                <a:lnTo>
                  <a:pt x="949452" y="327660"/>
                </a:lnTo>
                <a:lnTo>
                  <a:pt x="990600" y="327660"/>
                </a:lnTo>
                <a:lnTo>
                  <a:pt x="990600" y="202692"/>
                </a:lnTo>
                <a:lnTo>
                  <a:pt x="992124" y="178308"/>
                </a:lnTo>
                <a:lnTo>
                  <a:pt x="1010412" y="134112"/>
                </a:lnTo>
                <a:lnTo>
                  <a:pt x="1033272" y="126492"/>
                </a:lnTo>
                <a:lnTo>
                  <a:pt x="1046988" y="128016"/>
                </a:lnTo>
                <a:lnTo>
                  <a:pt x="1060704" y="134112"/>
                </a:lnTo>
                <a:lnTo>
                  <a:pt x="1075944" y="97536"/>
                </a:lnTo>
                <a:close/>
              </a:path>
              <a:path w="1902460" h="424180">
                <a:moveTo>
                  <a:pt x="1143000" y="45720"/>
                </a:moveTo>
                <a:lnTo>
                  <a:pt x="1143000" y="0"/>
                </a:lnTo>
                <a:lnTo>
                  <a:pt x="1101852" y="0"/>
                </a:lnTo>
                <a:lnTo>
                  <a:pt x="1101852" y="45720"/>
                </a:lnTo>
                <a:lnTo>
                  <a:pt x="1143000" y="45720"/>
                </a:lnTo>
                <a:close/>
              </a:path>
              <a:path w="1902460" h="424180">
                <a:moveTo>
                  <a:pt x="1143000" y="327660"/>
                </a:moveTo>
                <a:lnTo>
                  <a:pt x="1143000" y="89916"/>
                </a:lnTo>
                <a:lnTo>
                  <a:pt x="1101852" y="89916"/>
                </a:lnTo>
                <a:lnTo>
                  <a:pt x="1101852" y="327660"/>
                </a:lnTo>
                <a:lnTo>
                  <a:pt x="1143000" y="327660"/>
                </a:lnTo>
                <a:close/>
              </a:path>
              <a:path w="1902460" h="424180">
                <a:moveTo>
                  <a:pt x="1208532" y="121920"/>
                </a:moveTo>
                <a:lnTo>
                  <a:pt x="1208532" y="89916"/>
                </a:lnTo>
                <a:lnTo>
                  <a:pt x="1179576" y="89916"/>
                </a:lnTo>
                <a:lnTo>
                  <a:pt x="1179576" y="121920"/>
                </a:lnTo>
                <a:lnTo>
                  <a:pt x="1208532" y="121920"/>
                </a:lnTo>
                <a:close/>
              </a:path>
              <a:path w="1902460" h="424180">
                <a:moveTo>
                  <a:pt x="1295400" y="327660"/>
                </a:moveTo>
                <a:lnTo>
                  <a:pt x="1289304" y="292608"/>
                </a:lnTo>
                <a:lnTo>
                  <a:pt x="1278636" y="292608"/>
                </a:lnTo>
                <a:lnTo>
                  <a:pt x="1271016" y="294132"/>
                </a:lnTo>
                <a:lnTo>
                  <a:pt x="1263396" y="292608"/>
                </a:lnTo>
                <a:lnTo>
                  <a:pt x="1257300" y="291084"/>
                </a:lnTo>
                <a:lnTo>
                  <a:pt x="1251204" y="283464"/>
                </a:lnTo>
                <a:lnTo>
                  <a:pt x="1249680" y="278892"/>
                </a:lnTo>
                <a:lnTo>
                  <a:pt x="1249680" y="6096"/>
                </a:lnTo>
                <a:lnTo>
                  <a:pt x="1208532" y="30480"/>
                </a:lnTo>
                <a:lnTo>
                  <a:pt x="1208532" y="288036"/>
                </a:lnTo>
                <a:lnTo>
                  <a:pt x="1210056" y="298704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8636" y="330708"/>
                </a:lnTo>
                <a:lnTo>
                  <a:pt x="1295400" y="327660"/>
                </a:lnTo>
                <a:close/>
              </a:path>
              <a:path w="1902460" h="424180">
                <a:moveTo>
                  <a:pt x="1289304" y="121920"/>
                </a:moveTo>
                <a:lnTo>
                  <a:pt x="1289304" y="89916"/>
                </a:lnTo>
                <a:lnTo>
                  <a:pt x="1249680" y="89916"/>
                </a:lnTo>
                <a:lnTo>
                  <a:pt x="1249680" y="121920"/>
                </a:lnTo>
                <a:lnTo>
                  <a:pt x="1289304" y="121920"/>
                </a:lnTo>
                <a:close/>
              </a:path>
              <a:path w="1902460" h="424180">
                <a:moveTo>
                  <a:pt x="1371600" y="327660"/>
                </a:moveTo>
                <a:lnTo>
                  <a:pt x="1371600" y="0"/>
                </a:lnTo>
                <a:lnTo>
                  <a:pt x="1330452" y="0"/>
                </a:lnTo>
                <a:lnTo>
                  <a:pt x="1330452" y="327660"/>
                </a:lnTo>
                <a:lnTo>
                  <a:pt x="1371600" y="327660"/>
                </a:lnTo>
                <a:close/>
              </a:path>
              <a:path w="1902460" h="424180">
                <a:moveTo>
                  <a:pt x="1520952" y="327660"/>
                </a:moveTo>
                <a:lnTo>
                  <a:pt x="1520952" y="176784"/>
                </a:lnTo>
                <a:lnTo>
                  <a:pt x="1519428" y="160020"/>
                </a:lnTo>
                <a:lnTo>
                  <a:pt x="1501140" y="108204"/>
                </a:lnTo>
                <a:lnTo>
                  <a:pt x="1464564" y="86868"/>
                </a:lnTo>
                <a:lnTo>
                  <a:pt x="1440180" y="85344"/>
                </a:lnTo>
                <a:lnTo>
                  <a:pt x="1420368" y="86868"/>
                </a:lnTo>
                <a:lnTo>
                  <a:pt x="1402080" y="92964"/>
                </a:lnTo>
                <a:lnTo>
                  <a:pt x="1385316" y="103632"/>
                </a:lnTo>
                <a:lnTo>
                  <a:pt x="1371600" y="117348"/>
                </a:lnTo>
                <a:lnTo>
                  <a:pt x="1371600" y="198120"/>
                </a:lnTo>
                <a:lnTo>
                  <a:pt x="1373124" y="172212"/>
                </a:lnTo>
                <a:lnTo>
                  <a:pt x="1377696" y="153924"/>
                </a:lnTo>
                <a:lnTo>
                  <a:pt x="1385316" y="140208"/>
                </a:lnTo>
                <a:lnTo>
                  <a:pt x="1399032" y="129540"/>
                </a:lnTo>
                <a:lnTo>
                  <a:pt x="1414272" y="121920"/>
                </a:lnTo>
                <a:lnTo>
                  <a:pt x="1431036" y="120396"/>
                </a:lnTo>
                <a:lnTo>
                  <a:pt x="1441704" y="120396"/>
                </a:lnTo>
                <a:lnTo>
                  <a:pt x="1475232" y="150876"/>
                </a:lnTo>
                <a:lnTo>
                  <a:pt x="1479804" y="176784"/>
                </a:lnTo>
                <a:lnTo>
                  <a:pt x="1479804" y="327660"/>
                </a:lnTo>
                <a:lnTo>
                  <a:pt x="1520952" y="327660"/>
                </a:lnTo>
                <a:close/>
              </a:path>
              <a:path w="1902460" h="424180">
                <a:moveTo>
                  <a:pt x="1901952" y="327660"/>
                </a:moveTo>
                <a:lnTo>
                  <a:pt x="1901952" y="144780"/>
                </a:lnTo>
                <a:lnTo>
                  <a:pt x="1897380" y="129540"/>
                </a:lnTo>
                <a:lnTo>
                  <a:pt x="1872996" y="96012"/>
                </a:lnTo>
                <a:lnTo>
                  <a:pt x="1845564" y="85344"/>
                </a:lnTo>
                <a:lnTo>
                  <a:pt x="1828800" y="85344"/>
                </a:lnTo>
                <a:lnTo>
                  <a:pt x="1807464" y="86868"/>
                </a:lnTo>
                <a:lnTo>
                  <a:pt x="1787652" y="94488"/>
                </a:lnTo>
                <a:lnTo>
                  <a:pt x="1770888" y="108204"/>
                </a:lnTo>
                <a:lnTo>
                  <a:pt x="1755648" y="126492"/>
                </a:lnTo>
                <a:lnTo>
                  <a:pt x="1746504" y="108204"/>
                </a:lnTo>
                <a:lnTo>
                  <a:pt x="1732788" y="96012"/>
                </a:lnTo>
                <a:lnTo>
                  <a:pt x="1712976" y="86868"/>
                </a:lnTo>
                <a:lnTo>
                  <a:pt x="1688592" y="85344"/>
                </a:lnTo>
                <a:lnTo>
                  <a:pt x="1667256" y="86868"/>
                </a:lnTo>
                <a:lnTo>
                  <a:pt x="1647444" y="96012"/>
                </a:lnTo>
                <a:lnTo>
                  <a:pt x="1630680" y="108204"/>
                </a:lnTo>
                <a:lnTo>
                  <a:pt x="1616964" y="123444"/>
                </a:lnTo>
                <a:lnTo>
                  <a:pt x="1616964" y="89916"/>
                </a:lnTo>
                <a:lnTo>
                  <a:pt x="1580388" y="89916"/>
                </a:lnTo>
                <a:lnTo>
                  <a:pt x="1580388" y="327660"/>
                </a:lnTo>
                <a:lnTo>
                  <a:pt x="1621536" y="327660"/>
                </a:lnTo>
                <a:lnTo>
                  <a:pt x="1621536" y="204216"/>
                </a:lnTo>
                <a:lnTo>
                  <a:pt x="1623060" y="188976"/>
                </a:lnTo>
                <a:lnTo>
                  <a:pt x="1623060" y="175260"/>
                </a:lnTo>
                <a:lnTo>
                  <a:pt x="1626108" y="164592"/>
                </a:lnTo>
                <a:lnTo>
                  <a:pt x="1627632" y="155448"/>
                </a:lnTo>
                <a:lnTo>
                  <a:pt x="1636776" y="140208"/>
                </a:lnTo>
                <a:lnTo>
                  <a:pt x="1648968" y="128016"/>
                </a:lnTo>
                <a:lnTo>
                  <a:pt x="1664208" y="121920"/>
                </a:lnTo>
                <a:lnTo>
                  <a:pt x="1679448" y="120396"/>
                </a:lnTo>
                <a:lnTo>
                  <a:pt x="1690116" y="120396"/>
                </a:lnTo>
                <a:lnTo>
                  <a:pt x="1719072" y="149352"/>
                </a:lnTo>
                <a:lnTo>
                  <a:pt x="1720596" y="160020"/>
                </a:lnTo>
                <a:lnTo>
                  <a:pt x="1720596" y="327660"/>
                </a:lnTo>
                <a:lnTo>
                  <a:pt x="1761744" y="327660"/>
                </a:lnTo>
                <a:lnTo>
                  <a:pt x="1761744" y="188976"/>
                </a:lnTo>
                <a:lnTo>
                  <a:pt x="1763268" y="172212"/>
                </a:lnTo>
                <a:lnTo>
                  <a:pt x="1778508" y="135636"/>
                </a:lnTo>
                <a:lnTo>
                  <a:pt x="1807464" y="120396"/>
                </a:lnTo>
                <a:lnTo>
                  <a:pt x="1819656" y="120396"/>
                </a:lnTo>
                <a:lnTo>
                  <a:pt x="1857756" y="143256"/>
                </a:lnTo>
                <a:lnTo>
                  <a:pt x="1860804" y="156972"/>
                </a:lnTo>
                <a:lnTo>
                  <a:pt x="1860804" y="327660"/>
                </a:lnTo>
                <a:lnTo>
                  <a:pt x="1901952" y="327660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676" y="2469324"/>
            <a:ext cx="270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3100"/>
                </a:solidFill>
                <a:latin typeface="Arial MT"/>
                <a:cs typeface="Arial MT"/>
              </a:rPr>
              <a:t>intersection</a:t>
            </a:r>
            <a:r>
              <a:rPr sz="2000" spc="-35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event</a:t>
            </a:r>
            <a:r>
              <a:rPr lang="en-IN" sz="2000" spc="-30" dirty="0">
                <a:solidFill>
                  <a:srgbClr val="FF3100"/>
                </a:solidFill>
                <a:latin typeface="Arial MT"/>
                <a:cs typeface="Arial MT"/>
              </a:rPr>
              <a:t> </a:t>
            </a:r>
            <a:r>
              <a:rPr lang="en-IN" sz="2000" spc="-5" dirty="0">
                <a:solidFill>
                  <a:srgbClr val="FF3100"/>
                </a:solidFill>
                <a:latin typeface="Arial MT"/>
                <a:cs typeface="Arial MT"/>
              </a:rPr>
              <a:t>event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49069" y="2997136"/>
            <a:ext cx="2295525" cy="1865630"/>
            <a:chOff x="1449069" y="2997136"/>
            <a:chExt cx="2295525" cy="1865630"/>
          </a:xfrm>
        </p:grpSpPr>
        <p:sp>
          <p:nvSpPr>
            <p:cNvPr id="5" name="object 5"/>
            <p:cNvSpPr/>
            <p:nvPr/>
          </p:nvSpPr>
          <p:spPr>
            <a:xfrm>
              <a:off x="1987232" y="3434524"/>
              <a:ext cx="1066800" cy="1371600"/>
            </a:xfrm>
            <a:custGeom>
              <a:avLst/>
              <a:gdLst/>
              <a:ahLst/>
              <a:cxnLst/>
              <a:rect l="l" t="t" r="r" b="b"/>
              <a:pathLst>
                <a:path w="1066800" h="1371600">
                  <a:moveTo>
                    <a:pt x="0" y="0"/>
                  </a:moveTo>
                  <a:lnTo>
                    <a:pt x="1066800" y="1371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7644" y="4749736"/>
              <a:ext cx="112776" cy="1127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0844" y="3378136"/>
              <a:ext cx="112776" cy="1127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15832" y="3053524"/>
              <a:ext cx="990600" cy="1752600"/>
            </a:xfrm>
            <a:custGeom>
              <a:avLst/>
              <a:gdLst/>
              <a:ahLst/>
              <a:cxnLst/>
              <a:rect l="l" t="t" r="r" b="b"/>
              <a:pathLst>
                <a:path w="990600" h="1752600">
                  <a:moveTo>
                    <a:pt x="990600" y="0"/>
                  </a:moveTo>
                  <a:lnTo>
                    <a:pt x="0" y="1752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044" y="2997136"/>
              <a:ext cx="112776" cy="1127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9444" y="4749736"/>
              <a:ext cx="112776" cy="1127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53832" y="4196524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37372" y="42981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6972" y="36885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1771" y="3307523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07572" y="3842956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99060" y="48768"/>
                </a:moveTo>
                <a:lnTo>
                  <a:pt x="0" y="0"/>
                </a:lnTo>
                <a:lnTo>
                  <a:pt x="0" y="99060"/>
                </a:lnTo>
                <a:lnTo>
                  <a:pt x="99060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37772" y="3307524"/>
            <a:ext cx="427545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82295" indent="-45783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Reverse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order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endParaRPr sz="20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Check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for</a:t>
            </a:r>
            <a:r>
              <a:rPr sz="2000" spc="-5" dirty="0">
                <a:latin typeface="Arial MT"/>
                <a:cs typeface="Arial MT"/>
              </a:rPr>
              <a:t> intersections with </a:t>
            </a:r>
            <a:r>
              <a:rPr sz="2000" dirty="0">
                <a:latin typeface="Arial MT"/>
                <a:cs typeface="Arial MT"/>
              </a:rPr>
              <a:t> adjacent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(a,c)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(b,d)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add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event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30844" y="3149536"/>
            <a:ext cx="1637030" cy="2018030"/>
            <a:chOff x="1930844" y="3149536"/>
            <a:chExt cx="1637030" cy="2018030"/>
          </a:xfrm>
        </p:grpSpPr>
        <p:sp>
          <p:nvSpPr>
            <p:cNvPr id="18" name="object 18"/>
            <p:cNvSpPr/>
            <p:nvPr/>
          </p:nvSpPr>
          <p:spPr>
            <a:xfrm>
              <a:off x="1987232" y="3205924"/>
              <a:ext cx="533400" cy="1752600"/>
            </a:xfrm>
            <a:custGeom>
              <a:avLst/>
              <a:gdLst/>
              <a:ahLst/>
              <a:cxnLst/>
              <a:rect l="l" t="t" r="r" b="b"/>
              <a:pathLst>
                <a:path w="533400" h="1752600">
                  <a:moveTo>
                    <a:pt x="533400" y="0"/>
                  </a:moveTo>
                  <a:lnTo>
                    <a:pt x="0" y="1752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4244" y="3149536"/>
              <a:ext cx="112776" cy="1127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0844" y="4902136"/>
              <a:ext cx="112776" cy="1127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20632" y="3358324"/>
              <a:ext cx="990600" cy="1752600"/>
            </a:xfrm>
            <a:custGeom>
              <a:avLst/>
              <a:gdLst/>
              <a:ahLst/>
              <a:cxnLst/>
              <a:rect l="l" t="t" r="r" b="b"/>
              <a:pathLst>
                <a:path w="990600" h="1752600">
                  <a:moveTo>
                    <a:pt x="990600" y="0"/>
                  </a:moveTo>
                  <a:lnTo>
                    <a:pt x="0" y="1752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844" y="3301936"/>
              <a:ext cx="112776" cy="1127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4244" y="5054536"/>
              <a:ext cx="112776" cy="1127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61372" y="3612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124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184332" y="3612324"/>
            <a:ext cx="539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5780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	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0960" y="1250632"/>
            <a:ext cx="2831592" cy="425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84" y="5677348"/>
            <a:ext cx="2804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Horizontal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6444" y="2844736"/>
            <a:ext cx="5009515" cy="2627630"/>
            <a:chOff x="1016444" y="2844736"/>
            <a:chExt cx="5009515" cy="2627630"/>
          </a:xfrm>
        </p:grpSpPr>
        <p:sp>
          <p:nvSpPr>
            <p:cNvPr id="5" name="object 5"/>
            <p:cNvSpPr/>
            <p:nvPr/>
          </p:nvSpPr>
          <p:spPr>
            <a:xfrm>
              <a:off x="3892232" y="3586924"/>
              <a:ext cx="1066800" cy="1371600"/>
            </a:xfrm>
            <a:custGeom>
              <a:avLst/>
              <a:gdLst/>
              <a:ahLst/>
              <a:cxnLst/>
              <a:rect l="l" t="t" r="r" b="b"/>
              <a:pathLst>
                <a:path w="1066800" h="1371600">
                  <a:moveTo>
                    <a:pt x="0" y="0"/>
                  </a:moveTo>
                  <a:lnTo>
                    <a:pt x="1066800" y="1371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5844" y="3530536"/>
              <a:ext cx="112776" cy="1127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644" y="4902136"/>
              <a:ext cx="112776" cy="1127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20832" y="3205924"/>
              <a:ext cx="990600" cy="1752600"/>
            </a:xfrm>
            <a:custGeom>
              <a:avLst/>
              <a:gdLst/>
              <a:ahLst/>
              <a:cxnLst/>
              <a:rect l="l" t="t" r="r" b="b"/>
              <a:pathLst>
                <a:path w="990600" h="1752600">
                  <a:moveTo>
                    <a:pt x="990600" y="0"/>
                  </a:moveTo>
                  <a:lnTo>
                    <a:pt x="0" y="1752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044" y="3149536"/>
              <a:ext cx="112776" cy="1127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444" y="4902136"/>
              <a:ext cx="112776" cy="1127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25632" y="2977324"/>
              <a:ext cx="76200" cy="2209800"/>
            </a:xfrm>
            <a:custGeom>
              <a:avLst/>
              <a:gdLst/>
              <a:ahLst/>
              <a:cxnLst/>
              <a:rect l="l" t="t" r="r" b="b"/>
              <a:pathLst>
                <a:path w="76200" h="2209800">
                  <a:moveTo>
                    <a:pt x="0" y="0"/>
                  </a:moveTo>
                  <a:lnTo>
                    <a:pt x="76200" y="2209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9244" y="2920936"/>
              <a:ext cx="112776" cy="1127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5444" y="5130736"/>
              <a:ext cx="112776" cy="1127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92232" y="2977324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444" y="4292536"/>
              <a:ext cx="112776" cy="1127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5844" y="2920936"/>
              <a:ext cx="112776" cy="1127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01832" y="2901124"/>
              <a:ext cx="1447800" cy="1447800"/>
            </a:xfrm>
            <a:custGeom>
              <a:avLst/>
              <a:gdLst/>
              <a:ahLst/>
              <a:cxnLst/>
              <a:rect l="l" t="t" r="r" b="b"/>
              <a:pathLst>
                <a:path w="1447800" h="1447800">
                  <a:moveTo>
                    <a:pt x="14478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3244" y="2844736"/>
              <a:ext cx="112776" cy="1127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444" y="4292536"/>
              <a:ext cx="112776" cy="1127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01832" y="4348924"/>
              <a:ext cx="304800" cy="1066800"/>
            </a:xfrm>
            <a:custGeom>
              <a:avLst/>
              <a:gdLst/>
              <a:ahLst/>
              <a:cxnLst/>
              <a:rect l="l" t="t" r="r" b="b"/>
              <a:pathLst>
                <a:path w="304800" h="1066800">
                  <a:moveTo>
                    <a:pt x="0" y="0"/>
                  </a:moveTo>
                  <a:lnTo>
                    <a:pt x="304800" y="1066800"/>
                  </a:lnTo>
                </a:path>
              </a:pathLst>
            </a:custGeom>
            <a:ln w="18288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5444" y="4292536"/>
              <a:ext cx="112776" cy="112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0244" y="5359336"/>
              <a:ext cx="112776" cy="1127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01632" y="4348924"/>
              <a:ext cx="1600200" cy="990600"/>
            </a:xfrm>
            <a:custGeom>
              <a:avLst/>
              <a:gdLst/>
              <a:ahLst/>
              <a:cxnLst/>
              <a:rect l="l" t="t" r="r" b="b"/>
              <a:pathLst>
                <a:path w="1600200" h="990600">
                  <a:moveTo>
                    <a:pt x="1600200" y="0"/>
                  </a:moveTo>
                  <a:lnTo>
                    <a:pt x="0" y="990600"/>
                  </a:lnTo>
                </a:path>
              </a:pathLst>
            </a:custGeom>
            <a:ln w="18288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5444" y="4292536"/>
              <a:ext cx="112776" cy="1127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5244" y="5283136"/>
              <a:ext cx="112776" cy="11277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53832" y="4348924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9144">
              <a:solidFill>
                <a:srgbClr val="3131C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92032" y="3205924"/>
              <a:ext cx="990600" cy="1752600"/>
            </a:xfrm>
            <a:custGeom>
              <a:avLst/>
              <a:gdLst/>
              <a:ahLst/>
              <a:cxnLst/>
              <a:rect l="l" t="t" r="r" b="b"/>
              <a:pathLst>
                <a:path w="990600" h="1752600">
                  <a:moveTo>
                    <a:pt x="990600" y="0"/>
                  </a:moveTo>
                  <a:lnTo>
                    <a:pt x="0" y="17526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6244" y="3149536"/>
              <a:ext cx="112776" cy="1127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5644" y="4902136"/>
              <a:ext cx="112776" cy="11277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96832" y="2977324"/>
              <a:ext cx="76200" cy="2209800"/>
            </a:xfrm>
            <a:custGeom>
              <a:avLst/>
              <a:gdLst/>
              <a:ahLst/>
              <a:cxnLst/>
              <a:rect l="l" t="t" r="r" b="b"/>
              <a:pathLst>
                <a:path w="76200" h="2209800">
                  <a:moveTo>
                    <a:pt x="0" y="0"/>
                  </a:moveTo>
                  <a:lnTo>
                    <a:pt x="76200" y="2209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0444" y="2920936"/>
              <a:ext cx="112776" cy="1127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6644" y="5130736"/>
              <a:ext cx="112776" cy="11277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44432" y="2977324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7644" y="4292536"/>
              <a:ext cx="112776" cy="11277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8044" y="2920936"/>
              <a:ext cx="112776" cy="1127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292032" y="2901124"/>
              <a:ext cx="1828800" cy="1447800"/>
            </a:xfrm>
            <a:custGeom>
              <a:avLst/>
              <a:gdLst/>
              <a:ahLst/>
              <a:cxnLst/>
              <a:rect l="l" t="t" r="r" b="b"/>
              <a:pathLst>
                <a:path w="1828800" h="1447800">
                  <a:moveTo>
                    <a:pt x="18288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313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4444" y="2844736"/>
              <a:ext cx="112776" cy="1127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5644" y="4292536"/>
              <a:ext cx="112776" cy="11277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130232" y="4348924"/>
              <a:ext cx="228600" cy="1066800"/>
            </a:xfrm>
            <a:custGeom>
              <a:avLst/>
              <a:gdLst/>
              <a:ahLst/>
              <a:cxnLst/>
              <a:rect l="l" t="t" r="r" b="b"/>
              <a:pathLst>
                <a:path w="228600" h="1066800">
                  <a:moveTo>
                    <a:pt x="228600" y="0"/>
                  </a:moveTo>
                  <a:lnTo>
                    <a:pt x="0" y="1066800"/>
                  </a:lnTo>
                </a:path>
              </a:pathLst>
            </a:custGeom>
            <a:ln w="18288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2444" y="4292536"/>
              <a:ext cx="112776" cy="1127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3844" y="5359336"/>
              <a:ext cx="112776" cy="11277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72832" y="4348924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990600" y="0"/>
                  </a:moveTo>
                  <a:lnTo>
                    <a:pt x="0" y="990600"/>
                  </a:lnTo>
                </a:path>
              </a:pathLst>
            </a:custGeom>
            <a:ln w="18288">
              <a:solidFill>
                <a:srgbClr val="FF3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7044" y="4292536"/>
              <a:ext cx="112776" cy="11277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6444" y="5283136"/>
              <a:ext cx="112776" cy="112776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630860" y="2820352"/>
            <a:ext cx="161925" cy="161925"/>
            <a:chOff x="6630860" y="2820352"/>
            <a:chExt cx="161925" cy="161925"/>
          </a:xfrm>
        </p:grpSpPr>
        <p:sp>
          <p:nvSpPr>
            <p:cNvPr id="46" name="object 46"/>
            <p:cNvSpPr/>
            <p:nvPr/>
          </p:nvSpPr>
          <p:spPr>
            <a:xfrm>
              <a:off x="6635432" y="28249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FF3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35432" y="28249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6630860" y="3125152"/>
            <a:ext cx="161925" cy="161925"/>
            <a:chOff x="6630860" y="3125152"/>
            <a:chExt cx="161925" cy="161925"/>
          </a:xfrm>
        </p:grpSpPr>
        <p:sp>
          <p:nvSpPr>
            <p:cNvPr id="49" name="object 49"/>
            <p:cNvSpPr/>
            <p:nvPr/>
          </p:nvSpPr>
          <p:spPr>
            <a:xfrm>
              <a:off x="6635432" y="31297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313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35432" y="31297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6630860" y="3429952"/>
            <a:ext cx="161925" cy="161925"/>
            <a:chOff x="6630860" y="3429952"/>
            <a:chExt cx="161925" cy="161925"/>
          </a:xfrm>
        </p:grpSpPr>
        <p:sp>
          <p:nvSpPr>
            <p:cNvPr id="52" name="object 52"/>
            <p:cNvSpPr/>
            <p:nvPr/>
          </p:nvSpPr>
          <p:spPr>
            <a:xfrm>
              <a:off x="6635432" y="34345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15240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635432" y="3434524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151572" y="2086800"/>
            <a:ext cx="8159750" cy="2326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Several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events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coincide.</a:t>
            </a:r>
            <a:endParaRPr sz="2800">
              <a:latin typeface="Arial MT"/>
              <a:cs typeface="Arial MT"/>
            </a:endParaRPr>
          </a:p>
          <a:p>
            <a:pPr marL="5788025" marR="5080">
              <a:lnSpc>
                <a:spcPct val="100000"/>
              </a:lnSpc>
              <a:spcBef>
                <a:spcPts val="1555"/>
              </a:spcBef>
            </a:pPr>
            <a:r>
              <a:rPr sz="2000" dirty="0">
                <a:latin typeface="Arial MT"/>
                <a:cs typeface="Arial MT"/>
              </a:rPr>
              <a:t>begin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segment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 </a:t>
            </a:r>
            <a:r>
              <a:rPr sz="2000" spc="-5" dirty="0">
                <a:latin typeface="Arial MT"/>
                <a:cs typeface="Arial MT"/>
              </a:rPr>
              <a:t>segment </a:t>
            </a:r>
            <a:r>
              <a:rPr sz="2000" dirty="0">
                <a:latin typeface="Arial MT"/>
                <a:cs typeface="Arial MT"/>
              </a:rPr>
              <a:t>event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intersection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event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 MT"/>
              <a:cs typeface="Arial MT"/>
            </a:endParaRPr>
          </a:p>
          <a:p>
            <a:pPr marR="201295" algn="r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do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left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right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order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902644" y="5892736"/>
            <a:ext cx="1941830" cy="113030"/>
            <a:chOff x="4902644" y="5892736"/>
            <a:chExt cx="1941830" cy="113030"/>
          </a:xfrm>
        </p:grpSpPr>
        <p:sp>
          <p:nvSpPr>
            <p:cNvPr id="56" name="object 56"/>
            <p:cNvSpPr/>
            <p:nvPr/>
          </p:nvSpPr>
          <p:spPr>
            <a:xfrm>
              <a:off x="4959032" y="5949124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1828800" y="0"/>
                  </a:moveTo>
                  <a:lnTo>
                    <a:pt x="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1444" y="5892736"/>
              <a:ext cx="112776" cy="1127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644" y="5892736"/>
              <a:ext cx="112776" cy="112776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4565332" y="5986716"/>
            <a:ext cx="648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beg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125</a:t>
            </a:fld>
            <a:endParaRPr dirty="0"/>
          </a:p>
        </p:txBody>
      </p:sp>
      <p:sp>
        <p:nvSpPr>
          <p:cNvPr id="60" name="object 60"/>
          <p:cNvSpPr txBox="1"/>
          <p:nvPr/>
        </p:nvSpPr>
        <p:spPr>
          <a:xfrm>
            <a:off x="6637973" y="5974524"/>
            <a:ext cx="450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end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</a:p>
        </p:txBody>
      </p:sp>
      <p:sp>
        <p:nvSpPr>
          <p:cNvPr id="23" name="object 23"/>
          <p:cNvSpPr/>
          <p:nvPr/>
        </p:nvSpPr>
        <p:spPr>
          <a:xfrm>
            <a:off x="2215832" y="22153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367411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1950" baseline="-21367" dirty="0"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126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0A6125-2CEA-5EDE-305C-028E2B9613FE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23677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3300729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758314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1950" baseline="-21367" dirty="0"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127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92B18-96EE-E49F-1BF1-4D74422BA3EB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25963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292862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38620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</a:t>
            </a:r>
            <a:r>
              <a:rPr sz="1950" baseline="-21367" dirty="0"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128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CAC99C-93D3-F3AC-9C99-A9383F1F4C24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26725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309499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55257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3100"/>
                </a:solidFill>
                <a:latin typeface="Arial MT"/>
                <a:cs typeface="Arial MT"/>
              </a:rPr>
              <a:t>i</a:t>
            </a:r>
            <a:r>
              <a:rPr sz="1950" spc="-7" baseline="-21367" dirty="0">
                <a:solidFill>
                  <a:srgbClr val="FF3100"/>
                </a:solidFill>
                <a:latin typeface="Arial MT"/>
                <a:cs typeface="Arial MT"/>
              </a:rPr>
              <a:t>(c,b)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1950" baseline="-21367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129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501CE3-90EA-6C10-2563-A5DB7948F243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29011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3233420" cy="1614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69100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d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05"/>
              </a:spcBef>
            </a:pPr>
            <a:r>
              <a:rPr sz="3000" spc="-7" baseline="13888" dirty="0">
                <a:solidFill>
                  <a:srgbClr val="FF3100"/>
                </a:solidFill>
                <a:latin typeface="Arial MT"/>
                <a:cs typeface="Arial MT"/>
              </a:rPr>
              <a:t>i</a:t>
            </a:r>
            <a:r>
              <a:rPr sz="1300" spc="-5" dirty="0">
                <a:solidFill>
                  <a:srgbClr val="FF3100"/>
                </a:solidFill>
                <a:latin typeface="Arial MT"/>
                <a:cs typeface="Arial MT"/>
              </a:rPr>
              <a:t>(</a:t>
            </a:r>
            <a:r>
              <a:rPr sz="1300" spc="5" dirty="0">
                <a:solidFill>
                  <a:srgbClr val="FF3100"/>
                </a:solidFill>
                <a:latin typeface="Arial MT"/>
                <a:cs typeface="Arial MT"/>
              </a:rPr>
              <a:t>d</a:t>
            </a:r>
            <a:r>
              <a:rPr sz="1300" spc="-10" dirty="0">
                <a:solidFill>
                  <a:srgbClr val="FF3100"/>
                </a:solidFill>
                <a:latin typeface="Arial MT"/>
                <a:cs typeface="Arial MT"/>
              </a:rPr>
              <a:t>,b</a:t>
            </a:r>
            <a:r>
              <a:rPr sz="1300" spc="-5" dirty="0">
                <a:solidFill>
                  <a:srgbClr val="FF3100"/>
                </a:solidFill>
                <a:latin typeface="Arial MT"/>
                <a:cs typeface="Arial MT"/>
              </a:rPr>
              <a:t>)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284" baseline="13888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i</a:t>
            </a:r>
            <a:r>
              <a:rPr sz="1300" spc="5" dirty="0">
                <a:latin typeface="Arial MT"/>
                <a:cs typeface="Arial MT"/>
              </a:rPr>
              <a:t>(</a:t>
            </a:r>
            <a:r>
              <a:rPr sz="1300" spc="-5" dirty="0">
                <a:latin typeface="Arial MT"/>
                <a:cs typeface="Arial MT"/>
              </a:rPr>
              <a:t>c</a:t>
            </a:r>
            <a:r>
              <a:rPr sz="1300" spc="-10" dirty="0">
                <a:latin typeface="Arial MT"/>
                <a:cs typeface="Arial MT"/>
              </a:rPr>
              <a:t>,</a:t>
            </a:r>
            <a:r>
              <a:rPr sz="1300" spc="5" dirty="0">
                <a:latin typeface="Arial MT"/>
                <a:cs typeface="Arial MT"/>
              </a:rPr>
              <a:t>b</a:t>
            </a:r>
            <a:r>
              <a:rPr sz="1300" spc="-5" dirty="0">
                <a:latin typeface="Arial MT"/>
                <a:cs typeface="Arial MT"/>
              </a:rPr>
              <a:t>)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spc="-10" dirty="0">
                <a:latin typeface="Arial MT"/>
                <a:cs typeface="Arial MT"/>
              </a:rPr>
              <a:t>d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b</a:t>
            </a:r>
            <a:r>
              <a:rPr sz="1300" spc="-10" dirty="0">
                <a:latin typeface="Arial MT"/>
                <a:cs typeface="Arial MT"/>
              </a:rPr>
              <a:t>e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spc="-10" dirty="0">
                <a:latin typeface="Arial MT"/>
                <a:cs typeface="Arial MT"/>
              </a:rPr>
              <a:t>b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spc="-10" dirty="0">
                <a:latin typeface="Arial MT"/>
                <a:cs typeface="Arial MT"/>
              </a:rPr>
              <a:t>e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spc="-10" dirty="0">
                <a:latin typeface="Arial MT"/>
                <a:cs typeface="Arial MT"/>
              </a:rPr>
              <a:t>a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15" baseline="13888" dirty="0">
                <a:latin typeface="Arial MT"/>
                <a:cs typeface="Arial MT"/>
              </a:rPr>
              <a:t> </a:t>
            </a:r>
            <a:r>
              <a:rPr sz="3000" spc="-22" baseline="13888" dirty="0">
                <a:latin typeface="Arial MT"/>
                <a:cs typeface="Arial MT"/>
              </a:rPr>
              <a:t>e</a:t>
            </a:r>
            <a:r>
              <a:rPr sz="1300" spc="-5" dirty="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130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FE055-189A-C6D2-1CCD-60284FAC8933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33583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276733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22491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d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i</a:t>
            </a:r>
            <a:r>
              <a:rPr sz="1950" spc="-7" baseline="-21367" dirty="0">
                <a:latin typeface="Arial MT"/>
                <a:cs typeface="Arial MT"/>
              </a:rPr>
              <a:t>(c,b)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131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F84528-BD9F-4DD6-0CD4-7002F9A63093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35869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223710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69469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b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d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132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2E63FA-44AC-C79A-058E-5AB9E4910D73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38155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186372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 marR="3213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96520" marR="43180" indent="-4572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 Queue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133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646DD9-3DD0-9BE3-B864-1D3C9B0C570A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39679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2020570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47815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96520" marR="43180" indent="-4572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 Queue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1950" spc="-7" baseline="-21367" dirty="0">
                <a:latin typeface="Arial MT"/>
                <a:cs typeface="Arial MT"/>
              </a:rPr>
              <a:t>(e,c)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b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134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8630AC-FAAD-5872-7DE3-1435A951A5CE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39679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1959610" cy="1614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41719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  <a:p>
            <a:pPr marL="96520">
              <a:lnSpc>
                <a:spcPct val="100000"/>
              </a:lnSpc>
              <a:spcBef>
                <a:spcPts val="505"/>
              </a:spcBef>
            </a:pPr>
            <a:r>
              <a:rPr sz="3000" spc="-7" baseline="13888" dirty="0">
                <a:latin typeface="Arial MT"/>
                <a:cs typeface="Arial MT"/>
              </a:rPr>
              <a:t>e</a:t>
            </a:r>
            <a:r>
              <a:rPr sz="1300" spc="-5" dirty="0">
                <a:latin typeface="Arial MT"/>
                <a:cs typeface="Arial MT"/>
              </a:rPr>
              <a:t>b</a:t>
            </a:r>
            <a:r>
              <a:rPr sz="3000" spc="-7" baseline="13888" dirty="0">
                <a:latin typeface="Arial MT"/>
                <a:cs typeface="Arial MT"/>
              </a:rPr>
              <a:t>,</a:t>
            </a:r>
            <a:r>
              <a:rPr sz="3000" spc="-37" baseline="13888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i</a:t>
            </a:r>
            <a:r>
              <a:rPr sz="1300" spc="-5" dirty="0">
                <a:latin typeface="Arial MT"/>
                <a:cs typeface="Arial MT"/>
              </a:rPr>
              <a:t>(e,a)</a:t>
            </a:r>
            <a:r>
              <a:rPr sz="1300" spc="185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e</a:t>
            </a:r>
            <a:r>
              <a:rPr sz="1300" spc="-5" dirty="0">
                <a:latin typeface="Arial MT"/>
                <a:cs typeface="Arial MT"/>
              </a:rPr>
              <a:t>e</a:t>
            </a:r>
            <a:r>
              <a:rPr sz="3000" spc="-7" baseline="13888" dirty="0">
                <a:latin typeface="Arial MT"/>
                <a:cs typeface="Arial MT"/>
              </a:rPr>
              <a:t>,</a:t>
            </a:r>
            <a:r>
              <a:rPr sz="3000" spc="-30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3000" baseline="13888" dirty="0">
                <a:latin typeface="Arial MT"/>
                <a:cs typeface="Arial MT"/>
              </a:rPr>
              <a:t>,</a:t>
            </a:r>
            <a:r>
              <a:rPr sz="3000" spc="-30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dirty="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135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BAD19D-6D03-8B78-9054-A1141BBC4834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40441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1" y="4907724"/>
            <a:ext cx="1656080" cy="1614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113664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96520" marR="43180" indent="-45720">
              <a:lnSpc>
                <a:spcPct val="121000"/>
              </a:lnSpc>
              <a:spcBef>
                <a:spcPts val="1895"/>
              </a:spcBef>
            </a:pPr>
            <a:r>
              <a:rPr sz="2000" spc="-5" dirty="0">
                <a:latin typeface="Arial MT"/>
                <a:cs typeface="Arial MT"/>
              </a:rPr>
              <a:t>Event Queue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i</a:t>
            </a:r>
            <a:r>
              <a:rPr sz="1300" spc="-5" dirty="0">
                <a:latin typeface="Arial MT"/>
                <a:cs typeface="Arial MT"/>
              </a:rPr>
              <a:t>(e,a)</a:t>
            </a:r>
            <a:r>
              <a:rPr sz="3000" spc="-7" baseline="13888" dirty="0">
                <a:latin typeface="Arial MT"/>
                <a:cs typeface="Arial MT"/>
              </a:rPr>
              <a:t>,</a:t>
            </a:r>
            <a:r>
              <a:rPr sz="3000" spc="-37" baseline="13888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e</a:t>
            </a:r>
            <a:r>
              <a:rPr sz="1300" spc="-5" dirty="0">
                <a:latin typeface="Arial MT"/>
                <a:cs typeface="Arial MT"/>
              </a:rPr>
              <a:t>e</a:t>
            </a:r>
            <a:r>
              <a:rPr sz="3000" spc="-7" baseline="13888" dirty="0">
                <a:latin typeface="Arial MT"/>
                <a:cs typeface="Arial MT"/>
              </a:rPr>
              <a:t>,</a:t>
            </a:r>
            <a:r>
              <a:rPr sz="3000" spc="-37" baseline="13888" dirty="0">
                <a:latin typeface="Arial MT"/>
                <a:cs typeface="Arial MT"/>
              </a:rPr>
              <a:t> </a:t>
            </a:r>
            <a:r>
              <a:rPr sz="3000" spc="-7" baseline="13888" dirty="0">
                <a:latin typeface="Arial MT"/>
                <a:cs typeface="Arial MT"/>
              </a:rPr>
              <a:t>e</a:t>
            </a:r>
            <a:r>
              <a:rPr sz="1300" spc="-5" dirty="0">
                <a:latin typeface="Arial MT"/>
                <a:cs typeface="Arial MT"/>
              </a:rPr>
              <a:t>a</a:t>
            </a:r>
            <a:r>
              <a:rPr sz="3000" spc="-7" baseline="13888" dirty="0">
                <a:latin typeface="Arial MT"/>
                <a:cs typeface="Arial MT"/>
              </a:rPr>
              <a:t>,</a:t>
            </a:r>
            <a:r>
              <a:rPr sz="3000" spc="-37" baseline="13888" dirty="0">
                <a:latin typeface="Arial MT"/>
                <a:cs typeface="Arial MT"/>
              </a:rPr>
              <a:t> </a:t>
            </a:r>
            <a:r>
              <a:rPr sz="3000" baseline="13888" dirty="0">
                <a:latin typeface="Arial MT"/>
                <a:cs typeface="Arial MT"/>
              </a:rPr>
              <a:t>e</a:t>
            </a:r>
            <a:r>
              <a:rPr sz="1300" dirty="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136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E33B4A-64FB-11D4-E408-C00FC4AE6550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41203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158432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419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3100"/>
                </a:solidFill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96520" marR="43180" indent="-4572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e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137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362766-0C29-3416-A9DC-44AF78445CD2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41203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158432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 marR="419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 marR="4318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1950" spc="-7" baseline="-21367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138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B248C3-0DC6-5F7F-EE94-EB871490F774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41965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180272" y="4907724"/>
            <a:ext cx="158432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419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50800" marR="4318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1950" baseline="-21367" dirty="0">
                <a:latin typeface="Arial MT"/>
                <a:cs typeface="Arial MT"/>
              </a:rPr>
              <a:t>c</a:t>
            </a:r>
            <a:endParaRPr sz="1950" baseline="-21367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139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506158-0528-13C3-4E51-62EF9F05C804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1792" y="1256728"/>
            <a:ext cx="1724025" cy="419100"/>
          </a:xfrm>
          <a:custGeom>
            <a:avLst/>
            <a:gdLst/>
            <a:ahLst/>
            <a:cxnLst/>
            <a:rect l="l" t="t" r="r" b="b"/>
            <a:pathLst>
              <a:path w="1724025" h="419100">
                <a:moveTo>
                  <a:pt x="236220" y="38100"/>
                </a:moveTo>
                <a:lnTo>
                  <a:pt x="236220" y="0"/>
                </a:lnTo>
                <a:lnTo>
                  <a:pt x="0" y="0"/>
                </a:lnTo>
                <a:lnTo>
                  <a:pt x="0" y="327660"/>
                </a:lnTo>
                <a:lnTo>
                  <a:pt x="44196" y="327660"/>
                </a:lnTo>
                <a:lnTo>
                  <a:pt x="44196" y="38100"/>
                </a:lnTo>
                <a:lnTo>
                  <a:pt x="236220" y="38100"/>
                </a:lnTo>
                <a:close/>
              </a:path>
              <a:path w="1724025" h="419100">
                <a:moveTo>
                  <a:pt x="224028" y="176784"/>
                </a:moveTo>
                <a:lnTo>
                  <a:pt x="224028" y="138684"/>
                </a:lnTo>
                <a:lnTo>
                  <a:pt x="44196" y="138684"/>
                </a:lnTo>
                <a:lnTo>
                  <a:pt x="44196" y="176784"/>
                </a:lnTo>
                <a:lnTo>
                  <a:pt x="224028" y="176784"/>
                </a:lnTo>
                <a:close/>
              </a:path>
              <a:path w="1724025" h="419100">
                <a:moveTo>
                  <a:pt x="243840" y="327660"/>
                </a:moveTo>
                <a:lnTo>
                  <a:pt x="243840" y="289560"/>
                </a:lnTo>
                <a:lnTo>
                  <a:pt x="44196" y="289560"/>
                </a:lnTo>
                <a:lnTo>
                  <a:pt x="44196" y="327660"/>
                </a:lnTo>
                <a:lnTo>
                  <a:pt x="243840" y="327660"/>
                </a:lnTo>
                <a:close/>
              </a:path>
              <a:path w="1724025" h="419100">
                <a:moveTo>
                  <a:pt x="356616" y="275026"/>
                </a:moveTo>
                <a:lnTo>
                  <a:pt x="356616" y="204216"/>
                </a:lnTo>
                <a:lnTo>
                  <a:pt x="271272" y="327660"/>
                </a:lnTo>
                <a:lnTo>
                  <a:pt x="320040" y="327660"/>
                </a:lnTo>
                <a:lnTo>
                  <a:pt x="356616" y="275026"/>
                </a:lnTo>
                <a:close/>
              </a:path>
              <a:path w="1724025" h="419100">
                <a:moveTo>
                  <a:pt x="486156" y="89916"/>
                </a:moveTo>
                <a:lnTo>
                  <a:pt x="437388" y="89916"/>
                </a:lnTo>
                <a:lnTo>
                  <a:pt x="397764" y="144780"/>
                </a:lnTo>
                <a:lnTo>
                  <a:pt x="379476" y="170688"/>
                </a:lnTo>
                <a:lnTo>
                  <a:pt x="373380" y="160020"/>
                </a:lnTo>
                <a:lnTo>
                  <a:pt x="326136" y="89916"/>
                </a:lnTo>
                <a:lnTo>
                  <a:pt x="277368" y="89916"/>
                </a:lnTo>
                <a:lnTo>
                  <a:pt x="356616" y="204216"/>
                </a:lnTo>
                <a:lnTo>
                  <a:pt x="356616" y="275026"/>
                </a:lnTo>
                <a:lnTo>
                  <a:pt x="382524" y="237744"/>
                </a:lnTo>
                <a:lnTo>
                  <a:pt x="393192" y="254508"/>
                </a:lnTo>
                <a:lnTo>
                  <a:pt x="406908" y="275082"/>
                </a:lnTo>
                <a:lnTo>
                  <a:pt x="406908" y="204216"/>
                </a:lnTo>
                <a:lnTo>
                  <a:pt x="486156" y="89916"/>
                </a:lnTo>
                <a:close/>
              </a:path>
              <a:path w="1724025" h="419100">
                <a:moveTo>
                  <a:pt x="492252" y="327660"/>
                </a:moveTo>
                <a:lnTo>
                  <a:pt x="406908" y="204216"/>
                </a:lnTo>
                <a:lnTo>
                  <a:pt x="406908" y="275082"/>
                </a:lnTo>
                <a:lnTo>
                  <a:pt x="441960" y="327660"/>
                </a:lnTo>
                <a:lnTo>
                  <a:pt x="492252" y="327660"/>
                </a:lnTo>
                <a:close/>
              </a:path>
              <a:path w="1724025" h="419100">
                <a:moveTo>
                  <a:pt x="681228" y="208788"/>
                </a:moveTo>
                <a:lnTo>
                  <a:pt x="681228" y="166116"/>
                </a:lnTo>
                <a:lnTo>
                  <a:pt x="679704" y="169164"/>
                </a:lnTo>
                <a:lnTo>
                  <a:pt x="679704" y="176784"/>
                </a:lnTo>
                <a:lnTo>
                  <a:pt x="667512" y="179832"/>
                </a:lnTo>
                <a:lnTo>
                  <a:pt x="650748" y="184404"/>
                </a:lnTo>
                <a:lnTo>
                  <a:pt x="630936" y="187452"/>
                </a:lnTo>
                <a:lnTo>
                  <a:pt x="608076" y="190500"/>
                </a:lnTo>
                <a:lnTo>
                  <a:pt x="586740" y="193548"/>
                </a:lnTo>
                <a:lnTo>
                  <a:pt x="542544" y="208788"/>
                </a:lnTo>
                <a:lnTo>
                  <a:pt x="516636" y="246888"/>
                </a:lnTo>
                <a:lnTo>
                  <a:pt x="515112" y="263652"/>
                </a:lnTo>
                <a:lnTo>
                  <a:pt x="515112" y="277368"/>
                </a:lnTo>
                <a:lnTo>
                  <a:pt x="534924" y="312420"/>
                </a:lnTo>
                <a:lnTo>
                  <a:pt x="557784" y="325120"/>
                </a:lnTo>
                <a:lnTo>
                  <a:pt x="557784" y="252984"/>
                </a:lnTo>
                <a:lnTo>
                  <a:pt x="562356" y="243840"/>
                </a:lnTo>
                <a:lnTo>
                  <a:pt x="569976" y="236220"/>
                </a:lnTo>
                <a:lnTo>
                  <a:pt x="585216" y="228600"/>
                </a:lnTo>
                <a:lnTo>
                  <a:pt x="592836" y="227076"/>
                </a:lnTo>
                <a:lnTo>
                  <a:pt x="601980" y="225552"/>
                </a:lnTo>
                <a:lnTo>
                  <a:pt x="614172" y="222504"/>
                </a:lnTo>
                <a:lnTo>
                  <a:pt x="635508" y="219456"/>
                </a:lnTo>
                <a:lnTo>
                  <a:pt x="652272" y="216408"/>
                </a:lnTo>
                <a:lnTo>
                  <a:pt x="667512" y="211836"/>
                </a:lnTo>
                <a:lnTo>
                  <a:pt x="681228" y="208788"/>
                </a:lnTo>
                <a:close/>
              </a:path>
              <a:path w="1724025" h="419100">
                <a:moveTo>
                  <a:pt x="733044" y="327660"/>
                </a:moveTo>
                <a:lnTo>
                  <a:pt x="726948" y="312420"/>
                </a:lnTo>
                <a:lnTo>
                  <a:pt x="722376" y="297180"/>
                </a:lnTo>
                <a:lnTo>
                  <a:pt x="720852" y="288036"/>
                </a:lnTo>
                <a:lnTo>
                  <a:pt x="720852" y="173736"/>
                </a:lnTo>
                <a:lnTo>
                  <a:pt x="719328" y="161544"/>
                </a:lnTo>
                <a:lnTo>
                  <a:pt x="719328" y="143256"/>
                </a:lnTo>
                <a:lnTo>
                  <a:pt x="717804" y="137160"/>
                </a:lnTo>
                <a:lnTo>
                  <a:pt x="693420" y="100584"/>
                </a:lnTo>
                <a:lnTo>
                  <a:pt x="655320" y="86868"/>
                </a:lnTo>
                <a:lnTo>
                  <a:pt x="627888" y="85344"/>
                </a:lnTo>
                <a:lnTo>
                  <a:pt x="598932" y="86868"/>
                </a:lnTo>
                <a:lnTo>
                  <a:pt x="553212" y="103632"/>
                </a:lnTo>
                <a:lnTo>
                  <a:pt x="527304" y="135636"/>
                </a:lnTo>
                <a:lnTo>
                  <a:pt x="521208" y="158496"/>
                </a:lnTo>
                <a:lnTo>
                  <a:pt x="562356" y="164592"/>
                </a:lnTo>
                <a:lnTo>
                  <a:pt x="565404" y="152400"/>
                </a:lnTo>
                <a:lnTo>
                  <a:pt x="569976" y="141732"/>
                </a:lnTo>
                <a:lnTo>
                  <a:pt x="609600" y="118872"/>
                </a:lnTo>
                <a:lnTo>
                  <a:pt x="637032" y="118872"/>
                </a:lnTo>
                <a:lnTo>
                  <a:pt x="673608" y="137160"/>
                </a:lnTo>
                <a:lnTo>
                  <a:pt x="681228" y="166116"/>
                </a:lnTo>
                <a:lnTo>
                  <a:pt x="681228" y="300736"/>
                </a:lnTo>
                <a:lnTo>
                  <a:pt x="684276" y="298704"/>
                </a:lnTo>
                <a:lnTo>
                  <a:pt x="685800" y="313944"/>
                </a:lnTo>
                <a:lnTo>
                  <a:pt x="691896" y="327660"/>
                </a:lnTo>
                <a:lnTo>
                  <a:pt x="733044" y="327660"/>
                </a:lnTo>
                <a:close/>
              </a:path>
              <a:path w="1724025" h="419100">
                <a:moveTo>
                  <a:pt x="681228" y="300736"/>
                </a:moveTo>
                <a:lnTo>
                  <a:pt x="681228" y="208788"/>
                </a:lnTo>
                <a:lnTo>
                  <a:pt x="679704" y="222504"/>
                </a:lnTo>
                <a:lnTo>
                  <a:pt x="679704" y="234696"/>
                </a:lnTo>
                <a:lnTo>
                  <a:pt x="678180" y="245364"/>
                </a:lnTo>
                <a:lnTo>
                  <a:pt x="647700" y="289560"/>
                </a:lnTo>
                <a:lnTo>
                  <a:pt x="605028" y="300228"/>
                </a:lnTo>
                <a:lnTo>
                  <a:pt x="585216" y="297180"/>
                </a:lnTo>
                <a:lnTo>
                  <a:pt x="569976" y="289560"/>
                </a:lnTo>
                <a:lnTo>
                  <a:pt x="563880" y="283464"/>
                </a:lnTo>
                <a:lnTo>
                  <a:pt x="560832" y="277368"/>
                </a:lnTo>
                <a:lnTo>
                  <a:pt x="557784" y="269748"/>
                </a:lnTo>
                <a:lnTo>
                  <a:pt x="557784" y="325120"/>
                </a:lnTo>
                <a:lnTo>
                  <a:pt x="560832" y="326136"/>
                </a:lnTo>
                <a:lnTo>
                  <a:pt x="577596" y="330708"/>
                </a:lnTo>
                <a:lnTo>
                  <a:pt x="595884" y="332232"/>
                </a:lnTo>
                <a:lnTo>
                  <a:pt x="618744" y="329184"/>
                </a:lnTo>
                <a:lnTo>
                  <a:pt x="640080" y="324612"/>
                </a:lnTo>
                <a:lnTo>
                  <a:pt x="661416" y="313944"/>
                </a:lnTo>
                <a:lnTo>
                  <a:pt x="681228" y="300736"/>
                </a:lnTo>
                <a:close/>
              </a:path>
              <a:path w="1724025" h="419100">
                <a:moveTo>
                  <a:pt x="1101852" y="327660"/>
                </a:moveTo>
                <a:lnTo>
                  <a:pt x="1101852" y="144780"/>
                </a:lnTo>
                <a:lnTo>
                  <a:pt x="1097280" y="129540"/>
                </a:lnTo>
                <a:lnTo>
                  <a:pt x="1072896" y="96012"/>
                </a:lnTo>
                <a:lnTo>
                  <a:pt x="1045464" y="85344"/>
                </a:lnTo>
                <a:lnTo>
                  <a:pt x="1028700" y="85344"/>
                </a:lnTo>
                <a:lnTo>
                  <a:pt x="1007364" y="86868"/>
                </a:lnTo>
                <a:lnTo>
                  <a:pt x="987552" y="94488"/>
                </a:lnTo>
                <a:lnTo>
                  <a:pt x="970788" y="108204"/>
                </a:lnTo>
                <a:lnTo>
                  <a:pt x="955548" y="126492"/>
                </a:lnTo>
                <a:lnTo>
                  <a:pt x="946404" y="108204"/>
                </a:lnTo>
                <a:lnTo>
                  <a:pt x="932688" y="96012"/>
                </a:lnTo>
                <a:lnTo>
                  <a:pt x="912876" y="86868"/>
                </a:lnTo>
                <a:lnTo>
                  <a:pt x="888492" y="85344"/>
                </a:lnTo>
                <a:lnTo>
                  <a:pt x="867156" y="86868"/>
                </a:lnTo>
                <a:lnTo>
                  <a:pt x="847344" y="96012"/>
                </a:lnTo>
                <a:lnTo>
                  <a:pt x="830580" y="108204"/>
                </a:lnTo>
                <a:lnTo>
                  <a:pt x="816864" y="123444"/>
                </a:lnTo>
                <a:lnTo>
                  <a:pt x="816864" y="89916"/>
                </a:lnTo>
                <a:lnTo>
                  <a:pt x="780288" y="89916"/>
                </a:lnTo>
                <a:lnTo>
                  <a:pt x="780288" y="327660"/>
                </a:lnTo>
                <a:lnTo>
                  <a:pt x="821436" y="327660"/>
                </a:lnTo>
                <a:lnTo>
                  <a:pt x="821436" y="204216"/>
                </a:lnTo>
                <a:lnTo>
                  <a:pt x="822960" y="188976"/>
                </a:lnTo>
                <a:lnTo>
                  <a:pt x="822960" y="175260"/>
                </a:lnTo>
                <a:lnTo>
                  <a:pt x="826008" y="164592"/>
                </a:lnTo>
                <a:lnTo>
                  <a:pt x="827532" y="155448"/>
                </a:lnTo>
                <a:lnTo>
                  <a:pt x="836676" y="140208"/>
                </a:lnTo>
                <a:lnTo>
                  <a:pt x="848868" y="128016"/>
                </a:lnTo>
                <a:lnTo>
                  <a:pt x="864108" y="121920"/>
                </a:lnTo>
                <a:lnTo>
                  <a:pt x="879348" y="120396"/>
                </a:lnTo>
                <a:lnTo>
                  <a:pt x="890016" y="120396"/>
                </a:lnTo>
                <a:lnTo>
                  <a:pt x="918972" y="149352"/>
                </a:lnTo>
                <a:lnTo>
                  <a:pt x="920496" y="160020"/>
                </a:lnTo>
                <a:lnTo>
                  <a:pt x="920496" y="327660"/>
                </a:lnTo>
                <a:lnTo>
                  <a:pt x="961644" y="327660"/>
                </a:lnTo>
                <a:lnTo>
                  <a:pt x="961644" y="188976"/>
                </a:lnTo>
                <a:lnTo>
                  <a:pt x="963168" y="172212"/>
                </a:lnTo>
                <a:lnTo>
                  <a:pt x="978408" y="135636"/>
                </a:lnTo>
                <a:lnTo>
                  <a:pt x="1007364" y="120396"/>
                </a:lnTo>
                <a:lnTo>
                  <a:pt x="1019556" y="120396"/>
                </a:lnTo>
                <a:lnTo>
                  <a:pt x="1057656" y="143256"/>
                </a:lnTo>
                <a:lnTo>
                  <a:pt x="1060704" y="156972"/>
                </a:lnTo>
                <a:lnTo>
                  <a:pt x="1060704" y="327660"/>
                </a:lnTo>
                <a:lnTo>
                  <a:pt x="1101852" y="327660"/>
                </a:lnTo>
                <a:close/>
              </a:path>
              <a:path w="1724025" h="419100">
                <a:moveTo>
                  <a:pt x="1368552" y="205740"/>
                </a:moveTo>
                <a:lnTo>
                  <a:pt x="1356360" y="144780"/>
                </a:lnTo>
                <a:lnTo>
                  <a:pt x="1331976" y="108204"/>
                </a:lnTo>
                <a:lnTo>
                  <a:pt x="1295400" y="88392"/>
                </a:lnTo>
                <a:lnTo>
                  <a:pt x="1281684" y="85344"/>
                </a:lnTo>
                <a:lnTo>
                  <a:pt x="1267968" y="85344"/>
                </a:lnTo>
                <a:lnTo>
                  <a:pt x="1246632" y="86868"/>
                </a:lnTo>
                <a:lnTo>
                  <a:pt x="1228344" y="94488"/>
                </a:lnTo>
                <a:lnTo>
                  <a:pt x="1213104" y="105156"/>
                </a:lnTo>
                <a:lnTo>
                  <a:pt x="1199388" y="121920"/>
                </a:lnTo>
                <a:lnTo>
                  <a:pt x="1199388" y="89916"/>
                </a:lnTo>
                <a:lnTo>
                  <a:pt x="1161288" y="89916"/>
                </a:lnTo>
                <a:lnTo>
                  <a:pt x="1161288" y="419100"/>
                </a:lnTo>
                <a:lnTo>
                  <a:pt x="1197864" y="419100"/>
                </a:lnTo>
                <a:lnTo>
                  <a:pt x="1197864" y="187452"/>
                </a:lnTo>
                <a:lnTo>
                  <a:pt x="1202436" y="169164"/>
                </a:lnTo>
                <a:lnTo>
                  <a:pt x="1226820" y="129540"/>
                </a:lnTo>
                <a:lnTo>
                  <a:pt x="1263396" y="117348"/>
                </a:lnTo>
                <a:lnTo>
                  <a:pt x="1275588" y="117348"/>
                </a:lnTo>
                <a:lnTo>
                  <a:pt x="1307592" y="138684"/>
                </a:lnTo>
                <a:lnTo>
                  <a:pt x="1325880" y="185928"/>
                </a:lnTo>
                <a:lnTo>
                  <a:pt x="1327404" y="205740"/>
                </a:lnTo>
                <a:lnTo>
                  <a:pt x="1327404" y="308800"/>
                </a:lnTo>
                <a:lnTo>
                  <a:pt x="1328928" y="307848"/>
                </a:lnTo>
                <a:lnTo>
                  <a:pt x="1354836" y="271272"/>
                </a:lnTo>
                <a:lnTo>
                  <a:pt x="1367028" y="224028"/>
                </a:lnTo>
                <a:lnTo>
                  <a:pt x="1368552" y="205740"/>
                </a:lnTo>
                <a:close/>
              </a:path>
              <a:path w="1724025" h="419100">
                <a:moveTo>
                  <a:pt x="1327404" y="308800"/>
                </a:moveTo>
                <a:lnTo>
                  <a:pt x="1327404" y="205740"/>
                </a:lnTo>
                <a:lnTo>
                  <a:pt x="1325880" y="228600"/>
                </a:lnTo>
                <a:lnTo>
                  <a:pt x="1321308" y="246888"/>
                </a:lnTo>
                <a:lnTo>
                  <a:pt x="1296924" y="284988"/>
                </a:lnTo>
                <a:lnTo>
                  <a:pt x="1260348" y="298704"/>
                </a:lnTo>
                <a:lnTo>
                  <a:pt x="1248156" y="297180"/>
                </a:lnTo>
                <a:lnTo>
                  <a:pt x="1216152" y="275844"/>
                </a:lnTo>
                <a:lnTo>
                  <a:pt x="1197864" y="230124"/>
                </a:lnTo>
                <a:lnTo>
                  <a:pt x="1197864" y="419100"/>
                </a:lnTo>
                <a:lnTo>
                  <a:pt x="1202436" y="419100"/>
                </a:lnTo>
                <a:lnTo>
                  <a:pt x="1202436" y="301752"/>
                </a:lnTo>
                <a:lnTo>
                  <a:pt x="1213104" y="313944"/>
                </a:lnTo>
                <a:lnTo>
                  <a:pt x="1228344" y="323088"/>
                </a:lnTo>
                <a:lnTo>
                  <a:pt x="1245108" y="329184"/>
                </a:lnTo>
                <a:lnTo>
                  <a:pt x="1263396" y="332232"/>
                </a:lnTo>
                <a:lnTo>
                  <a:pt x="1277112" y="330708"/>
                </a:lnTo>
                <a:lnTo>
                  <a:pt x="1290828" y="327660"/>
                </a:lnTo>
                <a:lnTo>
                  <a:pt x="1304544" y="323088"/>
                </a:lnTo>
                <a:lnTo>
                  <a:pt x="1327404" y="308800"/>
                </a:lnTo>
                <a:close/>
              </a:path>
              <a:path w="1724025" h="419100">
                <a:moveTo>
                  <a:pt x="1456944" y="327660"/>
                </a:moveTo>
                <a:lnTo>
                  <a:pt x="1456944" y="0"/>
                </a:lnTo>
                <a:lnTo>
                  <a:pt x="1415796" y="0"/>
                </a:lnTo>
                <a:lnTo>
                  <a:pt x="1415796" y="327660"/>
                </a:lnTo>
                <a:lnTo>
                  <a:pt x="1456944" y="327660"/>
                </a:lnTo>
                <a:close/>
              </a:path>
              <a:path w="1724025" h="419100">
                <a:moveTo>
                  <a:pt x="1723644" y="208788"/>
                </a:moveTo>
                <a:lnTo>
                  <a:pt x="1716024" y="155448"/>
                </a:lnTo>
                <a:lnTo>
                  <a:pt x="1693164" y="117348"/>
                </a:lnTo>
                <a:lnTo>
                  <a:pt x="1658112" y="92964"/>
                </a:lnTo>
                <a:lnTo>
                  <a:pt x="1613916" y="85344"/>
                </a:lnTo>
                <a:lnTo>
                  <a:pt x="1589532" y="86868"/>
                </a:lnTo>
                <a:lnTo>
                  <a:pt x="1549908" y="103632"/>
                </a:lnTo>
                <a:lnTo>
                  <a:pt x="1519428" y="135636"/>
                </a:lnTo>
                <a:lnTo>
                  <a:pt x="1504188" y="181356"/>
                </a:lnTo>
                <a:lnTo>
                  <a:pt x="1502664" y="210312"/>
                </a:lnTo>
                <a:lnTo>
                  <a:pt x="1504188" y="237744"/>
                </a:lnTo>
                <a:lnTo>
                  <a:pt x="1510284" y="260604"/>
                </a:lnTo>
                <a:lnTo>
                  <a:pt x="1519428" y="281940"/>
                </a:lnTo>
                <a:lnTo>
                  <a:pt x="1533144" y="300228"/>
                </a:lnTo>
                <a:lnTo>
                  <a:pt x="1543812" y="308956"/>
                </a:lnTo>
                <a:lnTo>
                  <a:pt x="1543812" y="219456"/>
                </a:lnTo>
                <a:lnTo>
                  <a:pt x="1545336" y="219456"/>
                </a:lnTo>
                <a:lnTo>
                  <a:pt x="1545336" y="185928"/>
                </a:lnTo>
                <a:lnTo>
                  <a:pt x="1546860" y="170688"/>
                </a:lnTo>
                <a:lnTo>
                  <a:pt x="1566672" y="137160"/>
                </a:lnTo>
                <a:lnTo>
                  <a:pt x="1600200" y="118872"/>
                </a:lnTo>
                <a:lnTo>
                  <a:pt x="1613916" y="118872"/>
                </a:lnTo>
                <a:lnTo>
                  <a:pt x="1655064" y="131064"/>
                </a:lnTo>
                <a:lnTo>
                  <a:pt x="1679448" y="172212"/>
                </a:lnTo>
                <a:lnTo>
                  <a:pt x="1682496" y="185928"/>
                </a:lnTo>
                <a:lnTo>
                  <a:pt x="1682496" y="219456"/>
                </a:lnTo>
                <a:lnTo>
                  <a:pt x="1722120" y="219456"/>
                </a:lnTo>
                <a:lnTo>
                  <a:pt x="1722120" y="211836"/>
                </a:lnTo>
                <a:lnTo>
                  <a:pt x="1723644" y="208788"/>
                </a:lnTo>
                <a:close/>
              </a:path>
              <a:path w="1724025" h="419100">
                <a:moveTo>
                  <a:pt x="1722120" y="256032"/>
                </a:moveTo>
                <a:lnTo>
                  <a:pt x="1680972" y="249936"/>
                </a:lnTo>
                <a:lnTo>
                  <a:pt x="1676400" y="260604"/>
                </a:lnTo>
                <a:lnTo>
                  <a:pt x="1670304" y="271272"/>
                </a:lnTo>
                <a:lnTo>
                  <a:pt x="1662684" y="280416"/>
                </a:lnTo>
                <a:lnTo>
                  <a:pt x="1655064" y="286512"/>
                </a:lnTo>
                <a:lnTo>
                  <a:pt x="1638300" y="295656"/>
                </a:lnTo>
                <a:lnTo>
                  <a:pt x="1616964" y="298704"/>
                </a:lnTo>
                <a:lnTo>
                  <a:pt x="1601724" y="297180"/>
                </a:lnTo>
                <a:lnTo>
                  <a:pt x="1565148" y="277368"/>
                </a:lnTo>
                <a:lnTo>
                  <a:pt x="1545336" y="236220"/>
                </a:lnTo>
                <a:lnTo>
                  <a:pt x="1543812" y="219456"/>
                </a:lnTo>
                <a:lnTo>
                  <a:pt x="1543812" y="308956"/>
                </a:lnTo>
                <a:lnTo>
                  <a:pt x="1549908" y="313944"/>
                </a:lnTo>
                <a:lnTo>
                  <a:pt x="1569720" y="323088"/>
                </a:lnTo>
                <a:lnTo>
                  <a:pt x="1591056" y="329184"/>
                </a:lnTo>
                <a:lnTo>
                  <a:pt x="1615440" y="332232"/>
                </a:lnTo>
                <a:lnTo>
                  <a:pt x="1636776" y="330708"/>
                </a:lnTo>
                <a:lnTo>
                  <a:pt x="1685544" y="310896"/>
                </a:lnTo>
                <a:lnTo>
                  <a:pt x="1716024" y="272796"/>
                </a:lnTo>
                <a:lnTo>
                  <a:pt x="1722120" y="256032"/>
                </a:lnTo>
                <a:close/>
              </a:path>
              <a:path w="1724025" h="419100">
                <a:moveTo>
                  <a:pt x="1682496" y="219456"/>
                </a:moveTo>
                <a:lnTo>
                  <a:pt x="1682496" y="185928"/>
                </a:lnTo>
                <a:lnTo>
                  <a:pt x="1545336" y="185928"/>
                </a:lnTo>
                <a:lnTo>
                  <a:pt x="1545336" y="219456"/>
                </a:lnTo>
                <a:lnTo>
                  <a:pt x="1682496" y="219456"/>
                </a:lnTo>
                <a:close/>
              </a:path>
            </a:pathLst>
          </a:custGeom>
          <a:solidFill>
            <a:srgbClr val="313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41484" y="2300668"/>
            <a:ext cx="2856230" cy="2094230"/>
            <a:chOff x="3241484" y="2300668"/>
            <a:chExt cx="2856230" cy="2094230"/>
          </a:xfrm>
        </p:grpSpPr>
        <p:sp>
          <p:nvSpPr>
            <p:cNvPr id="4" name="object 4"/>
            <p:cNvSpPr/>
            <p:nvPr/>
          </p:nvSpPr>
          <p:spPr>
            <a:xfrm>
              <a:off x="4288472" y="2890456"/>
              <a:ext cx="762000" cy="914400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914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2084" y="2834068"/>
              <a:ext cx="112776" cy="112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4084" y="3748468"/>
              <a:ext cx="112776" cy="1127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12272" y="2585656"/>
              <a:ext cx="914400" cy="1447800"/>
            </a:xfrm>
            <a:custGeom>
              <a:avLst/>
              <a:gdLst/>
              <a:ahLst/>
              <a:cxnLst/>
              <a:rect l="l" t="t" r="r" b="b"/>
              <a:pathLst>
                <a:path w="914400" h="1447800">
                  <a:moveTo>
                    <a:pt x="914400" y="0"/>
                  </a:moveTo>
                  <a:lnTo>
                    <a:pt x="0" y="1447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284" y="2529268"/>
              <a:ext cx="112776" cy="1127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5884" y="3977068"/>
              <a:ext cx="112776" cy="1127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97872" y="2661856"/>
              <a:ext cx="2057400" cy="1676400"/>
            </a:xfrm>
            <a:custGeom>
              <a:avLst/>
              <a:gdLst/>
              <a:ahLst/>
              <a:cxnLst/>
              <a:rect l="l" t="t" r="r" b="b"/>
              <a:pathLst>
                <a:path w="2057400" h="1676400">
                  <a:moveTo>
                    <a:pt x="0" y="0"/>
                  </a:moveTo>
                  <a:lnTo>
                    <a:pt x="2057400" y="1676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1484" y="2605468"/>
              <a:ext cx="112776" cy="112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8884" y="4281868"/>
              <a:ext cx="112776" cy="1127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472" y="3957256"/>
              <a:ext cx="1371600" cy="152400"/>
            </a:xfrm>
            <a:custGeom>
              <a:avLst/>
              <a:gdLst/>
              <a:ahLst/>
              <a:cxnLst/>
              <a:rect l="l" t="t" r="r" b="b"/>
              <a:pathLst>
                <a:path w="1371600" h="152400">
                  <a:moveTo>
                    <a:pt x="0" y="0"/>
                  </a:moveTo>
                  <a:lnTo>
                    <a:pt x="1371600" y="1524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84" y="3900868"/>
              <a:ext cx="112776" cy="112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684" y="4053268"/>
              <a:ext cx="112776" cy="1127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31472" y="2357056"/>
              <a:ext cx="457200" cy="1828800"/>
            </a:xfrm>
            <a:custGeom>
              <a:avLst/>
              <a:gdLst/>
              <a:ahLst/>
              <a:cxnLst/>
              <a:rect l="l" t="t" r="r" b="b"/>
              <a:pathLst>
                <a:path w="457200" h="1828800">
                  <a:moveTo>
                    <a:pt x="0" y="0"/>
                  </a:moveTo>
                  <a:lnTo>
                    <a:pt x="457200" y="182880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5084" y="2300668"/>
              <a:ext cx="112776" cy="1127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284" y="4129468"/>
              <a:ext cx="112776" cy="11277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9772" y="2850324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736" y="261105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78136" y="2915855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02135" y="3068863"/>
            <a:ext cx="624205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d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15832" y="4348924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144">
            <a:solidFill>
              <a:srgbClr val="3131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218372" y="4907724"/>
            <a:ext cx="150939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Event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Queue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140</a:t>
            </a:fld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F25E1C-ACDC-6117-BC6D-E9A2AEFEB425}"/>
              </a:ext>
            </a:extLst>
          </p:cNvPr>
          <p:cNvSpPr/>
          <p:nvPr/>
        </p:nvSpPr>
        <p:spPr>
          <a:xfrm>
            <a:off x="4071237" y="1222261"/>
            <a:ext cx="2286000" cy="564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800" y="1250632"/>
            <a:ext cx="3119628" cy="3383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00868"/>
            <a:ext cx="7432040" cy="41192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Event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List</a:t>
            </a:r>
            <a:endParaRPr sz="2800">
              <a:latin typeface="Arial MT"/>
              <a:cs typeface="Arial MT"/>
            </a:endParaRPr>
          </a:p>
          <a:p>
            <a:pPr marL="756285" marR="259079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Priority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queue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decreasing</a:t>
            </a:r>
            <a:r>
              <a:rPr sz="2400" dirty="0">
                <a:latin typeface="Arial MT"/>
                <a:cs typeface="Arial MT"/>
              </a:rPr>
              <a:t> y,</a:t>
            </a:r>
            <a:r>
              <a:rPr sz="2400" spc="-5" dirty="0">
                <a:latin typeface="Arial MT"/>
                <a:cs typeface="Arial MT"/>
              </a:rPr>
              <a:t> 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increasing </a:t>
            </a:r>
            <a:r>
              <a:rPr sz="240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6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Delete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minimum,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Insertion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Segment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List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Balanced binary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 search </a:t>
            </a:r>
            <a:r>
              <a:rPr sz="2400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6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Insertion,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Deletion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Reversal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deletions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insertions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Time </a:t>
            </a:r>
            <a:r>
              <a:rPr sz="2800" dirty="0">
                <a:latin typeface="Arial MT"/>
                <a:cs typeface="Arial MT"/>
              </a:rPr>
              <a:t>per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event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O(log </a:t>
            </a:r>
            <a:r>
              <a:rPr sz="2800" dirty="0">
                <a:latin typeface="Arial MT"/>
                <a:cs typeface="Arial MT"/>
              </a:rPr>
              <a:t>n)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141</a:t>
            </a:fld>
            <a:endParaRPr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592" y="1250632"/>
            <a:ext cx="7196328" cy="429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572" y="2086800"/>
            <a:ext cx="7512684" cy="406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Total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 for plane </a:t>
            </a:r>
            <a:r>
              <a:rPr sz="2800" spc="-5" dirty="0">
                <a:latin typeface="Arial MT"/>
                <a:cs typeface="Arial MT"/>
              </a:rPr>
              <a:t>sweep</a:t>
            </a:r>
            <a:r>
              <a:rPr sz="2800" dirty="0">
                <a:latin typeface="Arial MT"/>
                <a:cs typeface="Arial MT"/>
              </a:rPr>
              <a:t> algorithm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  <a:p>
            <a:pPr marL="354965" marR="114300">
              <a:lnSpc>
                <a:spcPct val="100000"/>
              </a:lnSpc>
              <a:spcBef>
                <a:spcPts val="10"/>
              </a:spcBef>
            </a:pPr>
            <a:r>
              <a:rPr sz="2800" spc="-5" dirty="0">
                <a:latin typeface="Arial MT"/>
                <a:cs typeface="Arial MT"/>
              </a:rPr>
              <a:t>O(n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+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n)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where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the</a:t>
            </a:r>
            <a:r>
              <a:rPr sz="2800" dirty="0">
                <a:latin typeface="Arial MT"/>
                <a:cs typeface="Arial MT"/>
              </a:rPr>
              <a:t> number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intersections.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7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log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initial sorting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log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 event</a:t>
            </a:r>
            <a:endParaRPr sz="2400">
              <a:latin typeface="Arial MT"/>
              <a:cs typeface="Arial MT"/>
            </a:endParaRPr>
          </a:p>
          <a:p>
            <a:pPr marL="355600" marR="334010" indent="-343535">
              <a:lnSpc>
                <a:spcPct val="100400"/>
              </a:lnSpc>
              <a:spcBef>
                <a:spcPts val="65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Plane </a:t>
            </a:r>
            <a:r>
              <a:rPr sz="2800" dirty="0">
                <a:latin typeface="Arial MT"/>
                <a:cs typeface="Arial MT"/>
              </a:rPr>
              <a:t>sweep algorithms were pioneered by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Shamos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Hoey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(1975).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Intersection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Reporting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-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Bentley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5" dirty="0">
                <a:latin typeface="Arial MT"/>
                <a:cs typeface="Arial MT"/>
              </a:rPr>
              <a:t>Ottmann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(1979)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142</a:t>
            </a:fld>
            <a:endParaRPr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C569C9-DD06-1F3F-E7A2-F67EC71E8E89}"/>
              </a:ext>
            </a:extLst>
          </p:cNvPr>
          <p:cNvSpPr/>
          <p:nvPr/>
        </p:nvSpPr>
        <p:spPr>
          <a:xfrm>
            <a:off x="3454731" y="34245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5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362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DCD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5993</Words>
  <Application>Microsoft Office PowerPoint</Application>
  <PresentationFormat>Custom</PresentationFormat>
  <Paragraphs>835</Paragraphs>
  <Slides>143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54" baseType="lpstr">
      <vt:lpstr>Arial</vt:lpstr>
      <vt:lpstr>Arial MT</vt:lpstr>
      <vt:lpstr>Calibri</vt:lpstr>
      <vt:lpstr>Cambria</vt:lpstr>
      <vt:lpstr>Cambria Math</vt:lpstr>
      <vt:lpstr>et-book</vt:lpstr>
      <vt:lpstr>Nunito</vt:lpstr>
      <vt:lpstr>Roboto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The Convex Hull Problem</vt:lpstr>
      <vt:lpstr>The Convex Hull Problem</vt:lpstr>
      <vt:lpstr>The Convex Hull Problem</vt:lpstr>
      <vt:lpstr>PowerPoint Presentation</vt:lpstr>
      <vt:lpstr>PowerPoint Presentation</vt:lpstr>
      <vt:lpstr>PowerPoint Presentation</vt:lpstr>
      <vt:lpstr>PowerPoint Presentation</vt:lpstr>
      <vt:lpstr>A Brute Force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Graham’s Algorithm</vt:lpstr>
      <vt:lpstr>Graham’s Algorithm</vt:lpstr>
      <vt:lpstr>Running Time of Graham’s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Jarvis’ Algorithm (Gift Wrapping Method)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Geometric Intersections</vt:lpstr>
      <vt:lpstr>Line Segment Intersection</vt:lpstr>
      <vt:lpstr>Line Segment Intersection</vt:lpstr>
      <vt:lpstr>Output size for intersections</vt:lpstr>
      <vt:lpstr>Output size for intersections</vt:lpstr>
      <vt:lpstr>PowerPoint Presentation</vt:lpstr>
      <vt:lpstr>General position</vt:lpstr>
      <vt:lpstr>PowerPoint Presentation</vt:lpstr>
      <vt:lpstr>Event Queue</vt:lpstr>
      <vt:lpstr>Event Queue</vt:lpstr>
      <vt:lpstr>Event Handling</vt:lpstr>
      <vt:lpstr>Event Handling</vt:lpstr>
      <vt:lpstr>Event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Pranab Roy</cp:lastModifiedBy>
  <cp:revision>20</cp:revision>
  <dcterms:created xsi:type="dcterms:W3CDTF">2024-11-12T04:40:11Z</dcterms:created>
  <dcterms:modified xsi:type="dcterms:W3CDTF">2024-11-24T17:27:45Z</dcterms:modified>
</cp:coreProperties>
</file>