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6" r:id="rId9"/>
    <p:sldId id="271" r:id="rId10"/>
    <p:sldId id="273" r:id="rId11"/>
    <p:sldId id="262" r:id="rId12"/>
    <p:sldId id="263" r:id="rId13"/>
    <p:sldId id="274" r:id="rId14"/>
    <p:sldId id="264" r:id="rId15"/>
    <p:sldId id="265" r:id="rId16"/>
    <p:sldId id="275" r:id="rId17"/>
    <p:sldId id="266" r:id="rId18"/>
    <p:sldId id="267" r:id="rId19"/>
    <p:sldId id="268" r:id="rId20"/>
    <p:sldId id="269" r:id="rId21"/>
    <p:sldId id="327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28" r:id="rId33"/>
    <p:sldId id="329" r:id="rId34"/>
    <p:sldId id="307" r:id="rId35"/>
    <p:sldId id="308" r:id="rId36"/>
    <p:sldId id="330" r:id="rId37"/>
    <p:sldId id="309" r:id="rId38"/>
    <p:sldId id="314" r:id="rId39"/>
    <p:sldId id="331" r:id="rId40"/>
    <p:sldId id="332" r:id="rId41"/>
    <p:sldId id="333" r:id="rId42"/>
    <p:sldId id="310" r:id="rId43"/>
    <p:sldId id="311" r:id="rId44"/>
    <p:sldId id="312" r:id="rId45"/>
    <p:sldId id="313" r:id="rId46"/>
    <p:sldId id="315" r:id="rId47"/>
    <p:sldId id="316" r:id="rId48"/>
    <p:sldId id="270" r:id="rId49"/>
    <p:sldId id="318" r:id="rId50"/>
    <p:sldId id="325" r:id="rId51"/>
    <p:sldId id="326" r:id="rId52"/>
    <p:sldId id="319" r:id="rId53"/>
    <p:sldId id="320" r:id="rId54"/>
    <p:sldId id="321" r:id="rId55"/>
    <p:sldId id="277" r:id="rId56"/>
    <p:sldId id="322" r:id="rId57"/>
    <p:sldId id="323" r:id="rId58"/>
    <p:sldId id="324" r:id="rId59"/>
    <p:sldId id="334" r:id="rId60"/>
    <p:sldId id="335" r:id="rId61"/>
    <p:sldId id="336" r:id="rId62"/>
    <p:sldId id="279" r:id="rId63"/>
    <p:sldId id="280" r:id="rId64"/>
    <p:sldId id="281" r:id="rId65"/>
    <p:sldId id="282" r:id="rId66"/>
    <p:sldId id="283" r:id="rId67"/>
    <p:sldId id="284" r:id="rId68"/>
    <p:sldId id="285" r:id="rId69"/>
    <p:sldId id="286" r:id="rId70"/>
    <p:sldId id="287" r:id="rId71"/>
    <p:sldId id="288" r:id="rId72"/>
    <p:sldId id="289" r:id="rId73"/>
    <p:sldId id="290" r:id="rId74"/>
    <p:sldId id="291" r:id="rId75"/>
    <p:sldId id="292" r:id="rId76"/>
    <p:sldId id="293" r:id="rId77"/>
    <p:sldId id="294" r:id="rId78"/>
    <p:sldId id="295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CA00-F91F-E2E9-6D75-0E046A076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D08BA-AF06-F22D-E0E0-983C6E74B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E3E4-7887-70CB-E2CF-94F1F7DA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51E11-C9BB-F00C-1592-F11F929E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D99FB-6EC5-3D9D-AF4B-AD40E2F5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5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3C47-8F95-9F68-4F41-88AA5CC5A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7E22-4665-5DE5-E280-069FE221C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46C5D-D61E-6F99-03E2-E4A9F29D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DF3EF-0C74-5C9B-FA22-D4125267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13FA-C3A8-1E91-F270-4FAEC31A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6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4466-14DB-53DB-400F-B1C2FE39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53947-9BD0-03BA-C9C8-780C6C39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C3C0-B771-3978-8E40-7107CB9B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87FA-19D9-AF17-B43F-1D9184E3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EA7C9-619C-626B-B7EE-10CD58D4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2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C3BD-5C08-83F9-E007-59FE03E4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F422-719A-3903-993F-AE61F45B6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70A89-A8D9-D65F-BB8E-5AF7EBA8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DFBB2-2677-5335-B5E5-926B1916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E22C4-4031-0704-887A-60CDAB28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149D6-3C43-4E64-E89A-705AAB33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7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6D39-C745-BA22-5D01-FC7901DF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92F6A-57A8-5736-C66A-DCE5AC70B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79D8D-1330-C645-2B5A-81DCCCFA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0CCF1-6AF7-E798-0413-6BDB993CC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CE1F2-E735-D004-306E-34E0AB1DE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D8221-0D10-F800-0BF5-759CF11E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90533-55CB-4838-98A8-F96A4AFB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327D1-37EF-1591-AAE6-E17C344F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6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076B-2757-779A-258B-D7238CD3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FEFC-B020-4C07-F3C4-1B12EF3C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4475F-ECC6-EBB0-0C65-D401D67F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A54EC-E17E-F7C0-A328-6D471C1C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4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36341-1D0A-D9DC-23C3-2EC74382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0CE66-2D0E-D97E-69C5-1860C033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4C08C-938C-C1C8-5259-742DEF57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0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A51A-D820-B9C8-93AE-F6038ED0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B47D-FA32-0A3E-1E56-7B437AC46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2A948-B396-F4B0-F26B-278A2E13C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50791-B20D-F521-69AD-C37C68F8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23856-CA86-2E0C-EA0E-254734E6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EE257-3D29-45D8-A6DC-11D138B9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4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53A9-5423-84D4-3FA2-98CA3B6EF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30ECA-C725-8E2A-0963-39FBB933A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70D53-D20F-ED77-9AFD-A1F34D442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4F37F-E8F1-3EA1-5FCB-6C29AF44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A9E22-25BF-E8F0-CE5A-DA55B626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134B2-AD8A-2D44-B439-8B72C1E8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9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62F9-4398-1928-BA99-0D4AB28A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387B9-EA33-8DE3-4116-C18969AAF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842D-EE9B-0925-07F1-56E0FCD7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C6F2-562E-9B96-8D4C-27E96E37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ADF9A-292A-E3E9-1811-46DCEB59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7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403E5-6889-5C3F-3C60-1C7D0B7A1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4633B-06F5-AE32-4BF2-CFD53C316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D5ACE-3695-45FF-812B-FFC02457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B1159-B6A8-1823-ABC7-97DB613D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3D350-542B-553A-034B-F8877B85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3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086E-827A-C966-2F3D-19231A95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1BDC1-AF8E-A396-CD0E-796EE785A5A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5DDAAA8-3955-79C9-D069-F857D46633BC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C7096-170C-7309-F692-070FD4FE8E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4551" y="6453189"/>
            <a:ext cx="3860800" cy="4032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26172-F3D2-83BA-09EF-36CD18FD3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B45A3B3-7B8F-44B5-B88E-D8D03EBFC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3103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3D61-DE6A-111D-742B-B7CDBA28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F8439698-D192-2B48-5CE3-7EACB1131D5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3DC4D-4F0A-3C60-7E06-A104E9261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4551" y="6453189"/>
            <a:ext cx="3860800" cy="4032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69F7E-8C71-58A8-13A7-D63A5A875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8864960-5C93-407D-9EF2-A7A35E37E0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247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400DE-2714-2E20-1EBE-19407CA6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4C49-3E3E-208E-A81A-68618B947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74A8F-6944-1B09-E527-4E02FF877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605DC-A93A-4B9E-86D5-D0595121B3A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C19E2-59FC-ED70-1D20-2AB275BA0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7A22F-45E9-E1D8-E9ED-2CA2AB623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F39E7-91D2-4064-B082-3D09D52F2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8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0CA39A-00B4-6FCF-07EE-3CBD1D2EE25C}"/>
              </a:ext>
            </a:extLst>
          </p:cNvPr>
          <p:cNvSpPr/>
          <p:nvPr/>
        </p:nvSpPr>
        <p:spPr>
          <a:xfrm>
            <a:off x="2035670" y="1030380"/>
            <a:ext cx="5190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3"/>
                  </a:solidFill>
                  <a:prstDash val="solid"/>
                </a:ln>
                <a:solidFill>
                  <a:schemeClr val="bg2">
                    <a:lumMod val="9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External Sorting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23F3A-B2D1-82F0-F1FE-4F0F58442244}"/>
              </a:ext>
            </a:extLst>
          </p:cNvPr>
          <p:cNvSpPr/>
          <p:nvPr/>
        </p:nvSpPr>
        <p:spPr>
          <a:xfrm>
            <a:off x="5410847" y="2869013"/>
            <a:ext cx="433965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Lecture 5 (CS1236)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0E62372-D969-3622-6282-D4FF3A238D9A}"/>
              </a:ext>
            </a:extLst>
          </p:cNvPr>
          <p:cNvSpPr/>
          <p:nvPr/>
        </p:nvSpPr>
        <p:spPr>
          <a:xfrm rot="20065824">
            <a:off x="8761699" y="4222162"/>
            <a:ext cx="1566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cap="none" spc="0" dirty="0">
                <a:ln/>
                <a:solidFill>
                  <a:schemeClr val="accent4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Pranab Roy</a:t>
            </a:r>
          </a:p>
        </p:txBody>
      </p:sp>
    </p:spTree>
    <p:extLst>
      <p:ext uri="{BB962C8B-B14F-4D97-AF65-F5344CB8AC3E}">
        <p14:creationId xmlns:p14="http://schemas.microsoft.com/office/powerpoint/2010/main" val="235589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3759-D81A-9480-B5CB-7B4BBD9A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34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38CD-6AFB-D70B-1D6A-7C0FC51F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47435D-9F49-77B6-AEE8-170FB52D29CE}"/>
              </a:ext>
            </a:extLst>
          </p:cNvPr>
          <p:cNvSpPr txBox="1"/>
          <p:nvPr/>
        </p:nvSpPr>
        <p:spPr>
          <a:xfrm>
            <a:off x="452284" y="1178626"/>
            <a:ext cx="11071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External sorting in data structures refers to a class of sorting algorithms designed to handle datasets that are too large to fit entirely within a computer's main memory (RAM). </a:t>
            </a:r>
          </a:p>
          <a:p>
            <a:pPr algn="just"/>
            <a:endParaRPr lang="en-US" dirty="0">
              <a:solidFill>
                <a:srgbClr val="001D35"/>
              </a:solidFill>
              <a:latin typeface="Google Sans"/>
            </a:endParaRPr>
          </a:p>
          <a:p>
            <a:pPr algn="just"/>
            <a:r>
              <a:rPr lang="en-US" dirty="0">
                <a:solidFill>
                  <a:srgbClr val="001D35"/>
                </a:solidFill>
                <a:latin typeface="Google Sans"/>
              </a:rPr>
              <a:t>T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hese algorithms utilize external storage devices, such as hard drives or SSDs, to store and process portions of the data. 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2A4BD-0D31-6F7E-CCDC-3AB93DB5E86A}"/>
              </a:ext>
            </a:extLst>
          </p:cNvPr>
          <p:cNvSpPr/>
          <p:nvPr/>
        </p:nvSpPr>
        <p:spPr>
          <a:xfrm>
            <a:off x="452284" y="265128"/>
            <a:ext cx="29091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48-E6EE-DC80-4203-69015DDF6111}"/>
              </a:ext>
            </a:extLst>
          </p:cNvPr>
          <p:cNvSpPr txBox="1"/>
          <p:nvPr/>
        </p:nvSpPr>
        <p:spPr>
          <a:xfrm>
            <a:off x="452283" y="2921878"/>
            <a:ext cx="11484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main bottleneck for external sorting is minimizing the number of slow disk I/O operations, which are significantly slower than memory access.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F4BC2-EB1D-7F74-87E0-6605310CF9EF}"/>
              </a:ext>
            </a:extLst>
          </p:cNvPr>
          <p:cNvSpPr txBox="1"/>
          <p:nvPr/>
        </p:nvSpPr>
        <p:spPr>
          <a:xfrm>
            <a:off x="452282" y="4014780"/>
            <a:ext cx="11484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External sorting is crucial for applications dealing with massive datasets, </a:t>
            </a:r>
          </a:p>
          <a:p>
            <a:pPr algn="just"/>
            <a:r>
              <a:rPr lang="en-US" dirty="0"/>
              <a:t>such as database management systems, data warehousing, and large-scale data processing,</a:t>
            </a:r>
          </a:p>
          <a:p>
            <a:pPr algn="just"/>
            <a:r>
              <a:rPr lang="en-US" dirty="0"/>
              <a:t>There efficient handling of data that exceeds memory capacity is paramount.</a:t>
            </a:r>
          </a:p>
        </p:txBody>
      </p:sp>
    </p:spTree>
    <p:extLst>
      <p:ext uri="{BB962C8B-B14F-4D97-AF65-F5344CB8AC3E}">
        <p14:creationId xmlns:p14="http://schemas.microsoft.com/office/powerpoint/2010/main" val="299920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984B-77F0-36BB-2853-F769CB65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270F82-F6E4-E125-4854-4294940B6FDD}"/>
              </a:ext>
            </a:extLst>
          </p:cNvPr>
          <p:cNvSpPr txBox="1"/>
          <p:nvPr/>
        </p:nvSpPr>
        <p:spPr>
          <a:xfrm>
            <a:off x="383458" y="1217956"/>
            <a:ext cx="11425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External sorting typically uses a hybrid sort-merge strategy. </a:t>
            </a:r>
          </a:p>
          <a:p>
            <a:r>
              <a:rPr lang="en-US" dirty="0"/>
              <a:t>In the sorting phase, chunks of data small enough to fit in the main memory are read, sorted, and written out to a temporary file. </a:t>
            </a:r>
          </a:p>
          <a:p>
            <a:r>
              <a:rPr lang="en-US" dirty="0"/>
              <a:t>In the merge phase, the sorted sub-files are combined into a single larger file.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6326B-E6D5-DCD7-63B6-C4013A59AB58}"/>
              </a:ext>
            </a:extLst>
          </p:cNvPr>
          <p:cNvSpPr/>
          <p:nvPr/>
        </p:nvSpPr>
        <p:spPr>
          <a:xfrm>
            <a:off x="383458" y="115981"/>
            <a:ext cx="306545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9C008-920B-9B2A-E2C8-ACACDD7E5741}"/>
              </a:ext>
            </a:extLst>
          </p:cNvPr>
          <p:cNvSpPr txBox="1"/>
          <p:nvPr/>
        </p:nvSpPr>
        <p:spPr>
          <a:xfrm>
            <a:off x="400912" y="2700932"/>
            <a:ext cx="117910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external merge sort algorithm:</a:t>
            </a:r>
          </a:p>
          <a:p>
            <a:r>
              <a:rPr lang="en-US" dirty="0"/>
              <a:t>sorts chunks that each fit in RAM, </a:t>
            </a:r>
          </a:p>
          <a:p>
            <a:r>
              <a:rPr lang="en-US" dirty="0"/>
              <a:t>then merges the sorted chunks together.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first divide the file into runs such that the size of a run is small enough to fit into the main memory. </a:t>
            </a:r>
          </a:p>
          <a:p>
            <a:r>
              <a:rPr lang="en-US" dirty="0"/>
              <a:t>Then sort each run in the main memory using the merge sort sorting algorithm.</a:t>
            </a:r>
          </a:p>
          <a:p>
            <a:r>
              <a:rPr lang="en-US" dirty="0"/>
              <a:t> Finally merge the resulting runs together into successively bigger runs, until the file is sorted.</a:t>
            </a:r>
          </a:p>
        </p:txBody>
      </p:sp>
    </p:spTree>
    <p:extLst>
      <p:ext uri="{BB962C8B-B14F-4D97-AF65-F5344CB8AC3E}">
        <p14:creationId xmlns:p14="http://schemas.microsoft.com/office/powerpoint/2010/main" val="268585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8CBB-85E5-6C23-8B6F-4037779AB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DEAF8-7BB1-4CDE-EEA8-2343E5FAC255}"/>
              </a:ext>
            </a:extLst>
          </p:cNvPr>
          <p:cNvSpPr/>
          <p:nvPr/>
        </p:nvSpPr>
        <p:spPr>
          <a:xfrm>
            <a:off x="534552" y="174973"/>
            <a:ext cx="27458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</a:t>
            </a:r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41B19-AC10-3098-B0FA-097CA21B38D1}"/>
              </a:ext>
            </a:extLst>
          </p:cNvPr>
          <p:cNvSpPr txBox="1"/>
          <p:nvPr/>
        </p:nvSpPr>
        <p:spPr>
          <a:xfrm>
            <a:off x="534551" y="1122639"/>
            <a:ext cx="11460803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When We do External Sorting?</a:t>
            </a:r>
          </a:p>
          <a:p>
            <a:pPr algn="l" fontAlgn="base">
              <a:buNone/>
            </a:pPr>
            <a:endParaRPr lang="en-US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the unsorted data is too large to perform sorting in computer internal memory then we use external sorting.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external sorting we use the secondary device.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 a secondary storage device, we use the tape disk array.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data is large like in merge sort and quick sort.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Quick Sort: best average runtime.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Merge Sort: Best Worse case time.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perform sort-merge, join operation on data.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perform order by the query.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select duplicate element.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Where we need to take large input from the user.</a:t>
            </a:r>
          </a:p>
        </p:txBody>
      </p:sp>
    </p:spTree>
    <p:extLst>
      <p:ext uri="{BB962C8B-B14F-4D97-AF65-F5344CB8AC3E}">
        <p14:creationId xmlns:p14="http://schemas.microsoft.com/office/powerpoint/2010/main" val="201819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0ACA-B87C-E3B5-B7B6-8E5F47FA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55C7B0-D0C3-38FE-42DB-83448E4C179F}"/>
              </a:ext>
            </a:extLst>
          </p:cNvPr>
          <p:cNvSpPr txBox="1"/>
          <p:nvPr/>
        </p:nvSpPr>
        <p:spPr>
          <a:xfrm>
            <a:off x="314632" y="1443841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Before discussing external sorting techniques, consider again the basic model for accessing information from disk. </a:t>
            </a:r>
          </a:p>
          <a:p>
            <a:endParaRPr lang="en-US" dirty="0"/>
          </a:p>
          <a:p>
            <a:r>
              <a:rPr lang="en-US" dirty="0"/>
              <a:t>The file to be sorted is viewed by the programmer as a sequential series of fixed-size blocks. </a:t>
            </a:r>
          </a:p>
          <a:p>
            <a:r>
              <a:rPr lang="en-US" dirty="0"/>
              <a:t>Assume (for simplicity) that each block contains the same number of fixed-size data records. </a:t>
            </a:r>
          </a:p>
          <a:p>
            <a:r>
              <a:rPr lang="en-US" dirty="0"/>
              <a:t>Depending on the application, a record might be only a few bytes</a:t>
            </a:r>
          </a:p>
          <a:p>
            <a:r>
              <a:rPr lang="en-US" dirty="0"/>
              <a:t>  —composed of little or nothing more than the key</a:t>
            </a:r>
          </a:p>
          <a:p>
            <a:r>
              <a:rPr lang="en-US" dirty="0"/>
              <a:t>  —or might be hundreds of bytes with a relatively small key field. </a:t>
            </a:r>
          </a:p>
          <a:p>
            <a:r>
              <a:rPr lang="en-US" dirty="0"/>
              <a:t>Records are assumed not to cross block boundaries. </a:t>
            </a:r>
          </a:p>
          <a:p>
            <a:r>
              <a:rPr lang="en-US" dirty="0"/>
              <a:t>These assumptions can be relaxed for special-purpose sorting applications, </a:t>
            </a:r>
          </a:p>
          <a:p>
            <a:r>
              <a:rPr lang="en-US" dirty="0"/>
              <a:t>but ignoring such complications makes the principles clearer.</a:t>
            </a:r>
          </a:p>
          <a:p>
            <a:endParaRPr lang="en-US" dirty="0"/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80046C-1E1C-684E-D063-AF295A6D599E}"/>
              </a:ext>
            </a:extLst>
          </p:cNvPr>
          <p:cNvSpPr/>
          <p:nvPr/>
        </p:nvSpPr>
        <p:spPr>
          <a:xfrm>
            <a:off x="314632" y="292961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</p:spTree>
    <p:extLst>
      <p:ext uri="{BB962C8B-B14F-4D97-AF65-F5344CB8AC3E}">
        <p14:creationId xmlns:p14="http://schemas.microsoft.com/office/powerpoint/2010/main" val="396941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8C82EB-E88C-310E-5E97-1B2B4FFBC4C1}"/>
              </a:ext>
            </a:extLst>
          </p:cNvPr>
          <p:cNvSpPr txBox="1"/>
          <p:nvPr/>
        </p:nvSpPr>
        <p:spPr>
          <a:xfrm>
            <a:off x="603251" y="4311817"/>
            <a:ext cx="88588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sector is the basic unit of I/O. </a:t>
            </a:r>
          </a:p>
          <a:p>
            <a:r>
              <a:rPr lang="en-US" dirty="0"/>
              <a:t>In other words, all disk reads and writes are for one or more complete sectors. </a:t>
            </a:r>
          </a:p>
          <a:p>
            <a:r>
              <a:rPr lang="en-US" dirty="0"/>
              <a:t>Sector sizes are typically a power of two, in the range 512 to 16K bytes, depending on the operating system and the size </a:t>
            </a:r>
          </a:p>
          <a:p>
            <a:r>
              <a:rPr lang="en-US" dirty="0"/>
              <a:t>and speed of the disk drive. </a:t>
            </a:r>
          </a:p>
          <a:p>
            <a:r>
              <a:rPr lang="en-US" dirty="0"/>
              <a:t>The block size used for external sorting algorithms should be equal to or a multiple of the sector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C6A68F-25BD-3511-0D44-A6B3DEB60AB7}"/>
              </a:ext>
            </a:extLst>
          </p:cNvPr>
          <p:cNvSpPr/>
          <p:nvPr/>
        </p:nvSpPr>
        <p:spPr>
          <a:xfrm>
            <a:off x="410145" y="65998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  <p:pic>
        <p:nvPicPr>
          <p:cNvPr id="1026" name="Picture 2" descr="Logical &amp; Physical Structure of a Hard Disk | Infosavvy ...">
            <a:extLst>
              <a:ext uri="{FF2B5EF4-FFF2-40B4-BE49-F238E27FC236}">
                <a16:creationId xmlns:a16="http://schemas.microsoft.com/office/drawing/2014/main" id="{8EFE786A-39F8-994D-B6D2-1732B3B7C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64" y="854319"/>
            <a:ext cx="3229519" cy="303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rating Systems: Mass-Storage Structure">
            <a:extLst>
              <a:ext uri="{FF2B5EF4-FFF2-40B4-BE49-F238E27FC236}">
                <a16:creationId xmlns:a16="http://schemas.microsoft.com/office/drawing/2014/main" id="{C57DD022-4611-3BE8-8C1B-1B2800BB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21442"/>
            <a:ext cx="58674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64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A25755-F30E-C552-4D17-D7DA106A2CF8}"/>
              </a:ext>
            </a:extLst>
          </p:cNvPr>
          <p:cNvSpPr txBox="1"/>
          <p:nvPr/>
        </p:nvSpPr>
        <p:spPr>
          <a:xfrm>
            <a:off x="150183" y="-9186"/>
            <a:ext cx="10038737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Data Organization and Formatting</a:t>
            </a:r>
          </a:p>
          <a:p>
            <a:pPr algn="l">
              <a:buNone/>
            </a:pPr>
            <a:endParaRPr lang="en-US" dirty="0">
              <a:solidFill>
                <a:srgbClr val="003300"/>
              </a:solidFill>
              <a:latin typeface="Verdana" panose="020B0604030504040204" pitchFamily="34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read/write heads are moveable along the radius of the disk.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allows the heads to record information in multiple paths that form concentric circles on the disk.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one of these circles is called a </a:t>
            </a:r>
            <a:r>
              <a:rPr lang="en-US" b="1" i="1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</a:t>
            </a: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typical hard drive disk contains thousands of these tracks, each being the width of the read/write heads.</a:t>
            </a:r>
          </a:p>
          <a:p>
            <a:pPr algn="l">
              <a:buNone/>
            </a:pPr>
            <a:endParaRPr lang="en-US" b="0" i="0" dirty="0">
              <a:solidFill>
                <a:srgbClr val="0033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order to avoid possible interference between the tracks, a small gap is left between the tracks.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gap is called the </a:t>
            </a:r>
            <a:r>
              <a:rPr lang="en-US" b="1" i="1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intertrack gap</a:t>
            </a: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Reducing this gap allows for more data to be stored on a disk,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but it also increases the risk of having data corrupted when data from a neighboring track is written.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track is divided into fixed size blocks of information.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blocks are called </a:t>
            </a:r>
            <a:r>
              <a:rPr lang="en-US" b="1" i="1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sectors</a:t>
            </a: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Gaps are also left between the sectors.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gaps allow for a physical separation between the blocks of data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and are typically used to help the hard drive controller </a:t>
            </a:r>
          </a:p>
          <a:p>
            <a:pPr algn="l">
              <a:buNone/>
            </a:pP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when reading from or writing to the disk. These gaps are called </a:t>
            </a:r>
            <a:r>
              <a:rPr lang="en-US" b="1" i="1" dirty="0" err="1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intersector</a:t>
            </a:r>
            <a:r>
              <a:rPr lang="en-US" b="1" i="1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gaps</a:t>
            </a:r>
            <a:r>
              <a:rPr lang="en-US" b="0" i="0" dirty="0">
                <a:solidFill>
                  <a:srgbClr val="0033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A09A0-92DC-8A49-1618-C52B37D2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180" y="3801946"/>
            <a:ext cx="3360041" cy="286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5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FA241-EBD3-014D-FF1E-C3F0D41D8058}"/>
              </a:ext>
            </a:extLst>
          </p:cNvPr>
          <p:cNvSpPr txBox="1"/>
          <p:nvPr/>
        </p:nvSpPr>
        <p:spPr>
          <a:xfrm>
            <a:off x="245806" y="819661"/>
            <a:ext cx="117790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 this model, a sorting algorithm reads a block of data into a buffer in main memory, </a:t>
            </a:r>
          </a:p>
          <a:p>
            <a:r>
              <a:rPr lang="en-US" dirty="0"/>
              <a:t>performs some processing on it, </a:t>
            </a:r>
          </a:p>
          <a:p>
            <a:r>
              <a:rPr lang="en-US" dirty="0"/>
              <a:t>and at some future time writes it back to disk. </a:t>
            </a:r>
          </a:p>
          <a:p>
            <a:endParaRPr lang="en-US" dirty="0"/>
          </a:p>
          <a:p>
            <a:r>
              <a:rPr lang="en-US" dirty="0"/>
              <a:t>reading or writing a block from disk takes on the order of one million times longer than a memory access. </a:t>
            </a:r>
          </a:p>
          <a:p>
            <a:r>
              <a:rPr lang="en-US" dirty="0"/>
              <a:t>Based on this fact, we can reasonably expect that the records contained in a single block can be sorted by an internal sorting algorithm such as Quicksort in less time than is required to read or write the block.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FAC74-06E0-CC44-B9DF-0E057D2E9219}"/>
              </a:ext>
            </a:extLst>
          </p:cNvPr>
          <p:cNvSpPr/>
          <p:nvPr/>
        </p:nvSpPr>
        <p:spPr>
          <a:xfrm>
            <a:off x="245806" y="115669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  <p:pic>
        <p:nvPicPr>
          <p:cNvPr id="2050" name="Picture 2" descr="Hard disk structure and analysis">
            <a:extLst>
              <a:ext uri="{FF2B5EF4-FFF2-40B4-BE49-F238E27FC236}">
                <a16:creationId xmlns:a16="http://schemas.microsoft.com/office/drawing/2014/main" id="{EF718800-9255-DAA3-6301-1184B4AA3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65" y="3332822"/>
            <a:ext cx="3337309" cy="297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rd Disk Drive Basics">
            <a:extLst>
              <a:ext uri="{FF2B5EF4-FFF2-40B4-BE49-F238E27FC236}">
                <a16:creationId xmlns:a16="http://schemas.microsoft.com/office/drawing/2014/main" id="{6DCF7235-3F7D-1B23-1451-4207FCF21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033" y="3536233"/>
            <a:ext cx="3729553" cy="255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troduction">
            <a:extLst>
              <a:ext uri="{FF2B5EF4-FFF2-40B4-BE49-F238E27FC236}">
                <a16:creationId xmlns:a16="http://schemas.microsoft.com/office/drawing/2014/main" id="{1C0C40B1-1374-8FA8-B269-64356E8F1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644" y="3332823"/>
            <a:ext cx="3779208" cy="23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0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7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EE3556-AE7D-CC2C-D352-0EB2B106627C}"/>
              </a:ext>
            </a:extLst>
          </p:cNvPr>
          <p:cNvSpPr txBox="1"/>
          <p:nvPr/>
        </p:nvSpPr>
        <p:spPr>
          <a:xfrm>
            <a:off x="540774" y="1358743"/>
            <a:ext cx="112382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 good conditions, reading from a file in sequential order is more efficient </a:t>
            </a:r>
          </a:p>
          <a:p>
            <a:r>
              <a:rPr lang="en-US" dirty="0"/>
              <a:t> than reading blocks in random order. </a:t>
            </a:r>
          </a:p>
          <a:p>
            <a:endParaRPr lang="en-US" dirty="0"/>
          </a:p>
          <a:p>
            <a:r>
              <a:rPr lang="en-US" dirty="0"/>
              <a:t>Given the significant impact of seek time on disk access, it might seem obvious that sequential processing is faster. </a:t>
            </a:r>
          </a:p>
          <a:p>
            <a:endParaRPr lang="en-US" dirty="0"/>
          </a:p>
          <a:p>
            <a:r>
              <a:rPr lang="en-US" dirty="0"/>
              <a:t>However, it is important to understand precisely under what circumstances sequential file processing is actually faster than random access, </a:t>
            </a:r>
          </a:p>
          <a:p>
            <a:r>
              <a:rPr lang="en-US" dirty="0"/>
              <a:t>because it affects our approach to designing an external sorting algorithm.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1DC3D-0927-C2DC-5474-ACB0B2D5DE51}"/>
              </a:ext>
            </a:extLst>
          </p:cNvPr>
          <p:cNvSpPr/>
          <p:nvPr/>
        </p:nvSpPr>
        <p:spPr>
          <a:xfrm>
            <a:off x="540774" y="290558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</p:spTree>
    <p:extLst>
      <p:ext uri="{BB962C8B-B14F-4D97-AF65-F5344CB8AC3E}">
        <p14:creationId xmlns:p14="http://schemas.microsoft.com/office/powerpoint/2010/main" val="324588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BBB4-2EA3-69E4-0983-01FE7500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41D36-28F4-B8A8-9523-8BF353BC5018}"/>
              </a:ext>
            </a:extLst>
          </p:cNvPr>
          <p:cNvSpPr txBox="1"/>
          <p:nvPr/>
        </p:nvSpPr>
        <p:spPr>
          <a:xfrm>
            <a:off x="432620" y="1525970"/>
            <a:ext cx="107269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Efficient sequential access relies on seek time being kept to a minimum. </a:t>
            </a:r>
          </a:p>
          <a:p>
            <a:endParaRPr lang="en-US" dirty="0"/>
          </a:p>
          <a:p>
            <a:r>
              <a:rPr lang="en-US" dirty="0"/>
              <a:t>The first requirement is that the blocks making up a file are in fact stored on disk in sequential order and close together, </a:t>
            </a:r>
          </a:p>
          <a:p>
            <a:r>
              <a:rPr lang="en-US" dirty="0"/>
              <a:t>preferably filling a small number of contiguous tracks. </a:t>
            </a:r>
          </a:p>
          <a:p>
            <a:endParaRPr lang="en-US" dirty="0"/>
          </a:p>
          <a:p>
            <a:r>
              <a:rPr lang="en-US" dirty="0"/>
              <a:t>Users typically do not have much control over the layout of their file on disk,</a:t>
            </a:r>
          </a:p>
          <a:p>
            <a:r>
              <a:rPr lang="en-US" dirty="0"/>
              <a:t>but writing a file all at once in sequential order to a disk drive with a high percentage of free space  increases the likelihood of such an arrangement.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18F39-F569-35C9-0C0F-345224831714}"/>
              </a:ext>
            </a:extLst>
          </p:cNvPr>
          <p:cNvSpPr/>
          <p:nvPr/>
        </p:nvSpPr>
        <p:spPr>
          <a:xfrm>
            <a:off x="334296" y="273296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</p:spTree>
    <p:extLst>
      <p:ext uri="{BB962C8B-B14F-4D97-AF65-F5344CB8AC3E}">
        <p14:creationId xmlns:p14="http://schemas.microsoft.com/office/powerpoint/2010/main" val="85386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06FB-F516-0472-942A-687182385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10707D-E415-6492-3C44-46BCF279BB5F}"/>
              </a:ext>
            </a:extLst>
          </p:cNvPr>
          <p:cNvSpPr/>
          <p:nvPr/>
        </p:nvSpPr>
        <p:spPr>
          <a:xfrm>
            <a:off x="0" y="315894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B737D-3329-8AF2-E582-08A027B0AAA0}"/>
              </a:ext>
            </a:extLst>
          </p:cNvPr>
          <p:cNvSpPr txBox="1"/>
          <p:nvPr/>
        </p:nvSpPr>
        <p:spPr>
          <a:xfrm>
            <a:off x="158693" y="1814924"/>
            <a:ext cx="121316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second requirement is that the disk drive’s I/O head remain positioned over the file throughout sequential processing.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will not happen if there is competition of any kind for the I/O head. </a:t>
            </a:r>
          </a:p>
          <a:p>
            <a:pPr algn="just"/>
            <a:r>
              <a:rPr lang="en-US" dirty="0"/>
              <a:t>For example, on a multi-user time-shared computer the sorting process might compete for the I/O head with the processes of other users.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Even when the sorting process has sole control of the I/O head, it is still likely that sequential processing will not be efficient. 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5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85CDDE-F06F-E4A6-7091-C87F14B477B8}"/>
              </a:ext>
            </a:extLst>
          </p:cNvPr>
          <p:cNvSpPr txBox="1"/>
          <p:nvPr/>
        </p:nvSpPr>
        <p:spPr>
          <a:xfrm>
            <a:off x="530942" y="1900279"/>
            <a:ext cx="105795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Imagine the situation where all processing is done on a single disk drive, with the typical arrangement of a single bank of read/write heads that move together over a stack of platters.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the sorting process involves reading from an input file, alternated with writing to an output file, then the I/O head will continuously seek between the input file and the output file.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Similarly, if two input files are being processed simultaneously (such as during a merge process), then the I/O head will continuously seek between these two files.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54083-00F5-A80B-DCBA-3B2D87B4B604}"/>
              </a:ext>
            </a:extLst>
          </p:cNvPr>
          <p:cNvSpPr/>
          <p:nvPr/>
        </p:nvSpPr>
        <p:spPr>
          <a:xfrm>
            <a:off x="530942" y="345391"/>
            <a:ext cx="60531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>
                  <a:solidFill>
                    <a:schemeClr val="accent1"/>
                  </a:solidFill>
                </a:ln>
                <a:solidFill>
                  <a:schemeClr val="accent5"/>
                </a:solidFill>
                <a:effectLst/>
              </a:rPr>
              <a:t>Information Access from Disk</a:t>
            </a:r>
          </a:p>
        </p:txBody>
      </p:sp>
    </p:spTree>
    <p:extLst>
      <p:ext uri="{BB962C8B-B14F-4D97-AF65-F5344CB8AC3E}">
        <p14:creationId xmlns:p14="http://schemas.microsoft.com/office/powerpoint/2010/main" val="178627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58CB-6AFA-3C0C-E4BB-530B9444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E6E377-2F26-DACA-B749-A2C1B1C81C3E}"/>
              </a:ext>
            </a:extLst>
          </p:cNvPr>
          <p:cNvSpPr txBox="1"/>
          <p:nvPr/>
        </p:nvSpPr>
        <p:spPr>
          <a:xfrm>
            <a:off x="471948" y="1747202"/>
            <a:ext cx="11631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moral is that, with a single disk drive, there often is no such thing as efficient sequential processing of a data file. </a:t>
            </a:r>
          </a:p>
          <a:p>
            <a:r>
              <a:rPr lang="en-US" dirty="0"/>
              <a:t>Thus, a sorting algorithm might be more efficient </a:t>
            </a:r>
          </a:p>
          <a:p>
            <a:endParaRPr lang="en-US" dirty="0"/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it performs a smaller number of non-sequential disk operations rather than a larger number of logically sequential disk operations that require a large number of seeks in practice.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4782D-01CA-2953-1568-D45F1C9E4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2" y="274193"/>
            <a:ext cx="6053853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1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6F3C-F1DC-8F96-1688-86A9EE4E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405397-1C8D-9B58-5A26-2480882A2052}"/>
              </a:ext>
            </a:extLst>
          </p:cNvPr>
          <p:cNvSpPr txBox="1"/>
          <p:nvPr/>
        </p:nvSpPr>
        <p:spPr>
          <a:xfrm>
            <a:off x="385659" y="1147178"/>
            <a:ext cx="1064833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External sorting typically involves two main phases: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Sort Phase (or Distribution Pass):</a:t>
            </a:r>
          </a:p>
          <a:p>
            <a:endParaRPr lang="en-US" sz="2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The large dataset is read from the disk in smaller blocks that fit into the available main memory. </a:t>
            </a:r>
          </a:p>
          <a:p>
            <a:endParaRPr lang="en-US" dirty="0"/>
          </a:p>
          <a:p>
            <a:r>
              <a:rPr lang="en-US" dirty="0"/>
              <a:t>Each block is sorted internally using a fast, in-memory sorting algorithm like Quicksort or Merge Sort. </a:t>
            </a:r>
          </a:p>
          <a:p>
            <a:endParaRPr lang="en-US" dirty="0"/>
          </a:p>
          <a:p>
            <a:r>
              <a:rPr lang="en-US" dirty="0"/>
              <a:t>These sorted blocks, called "runs," are then written to temporary files on the disk. 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A0EEEE-A231-6539-343D-8DF2C9888BC1}"/>
              </a:ext>
            </a:extLst>
          </p:cNvPr>
          <p:cNvSpPr/>
          <p:nvPr/>
        </p:nvSpPr>
        <p:spPr>
          <a:xfrm>
            <a:off x="385659" y="78658"/>
            <a:ext cx="579883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External Sort - Phases</a:t>
            </a:r>
          </a:p>
        </p:txBody>
      </p:sp>
    </p:spTree>
    <p:extLst>
      <p:ext uri="{BB962C8B-B14F-4D97-AF65-F5344CB8AC3E}">
        <p14:creationId xmlns:p14="http://schemas.microsoft.com/office/powerpoint/2010/main" val="11108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43AEA6-BABE-FF74-1ECA-3451136A1602}"/>
              </a:ext>
            </a:extLst>
          </p:cNvPr>
          <p:cNvSpPr txBox="1"/>
          <p:nvPr/>
        </p:nvSpPr>
        <p:spPr>
          <a:xfrm>
            <a:off x="462117" y="1317182"/>
            <a:ext cx="103632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Merge Phase:</a:t>
            </a:r>
          </a:p>
          <a:p>
            <a:endParaRPr lang="en-US" sz="2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The multiple sorted runs are then merged together. </a:t>
            </a:r>
          </a:p>
          <a:p>
            <a:endParaRPr lang="en-US" dirty="0"/>
          </a:p>
          <a:p>
            <a:r>
              <a:rPr lang="en-US" dirty="0"/>
              <a:t>This is often done using a multi-way merge process, which reads from several sorted runs simultaneously and combines them into a larger sorted run. </a:t>
            </a:r>
          </a:p>
          <a:p>
            <a:endParaRPr lang="en-US" dirty="0"/>
          </a:p>
          <a:p>
            <a:r>
              <a:rPr lang="en-US" dirty="0"/>
              <a:t>This merge process is repeated in several passes, with each pass producing larger and larger sorted runs, until a single, completely sorted file is created.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1FE81D-5362-B0F6-E889-D97945102FA3}"/>
              </a:ext>
            </a:extLst>
          </p:cNvPr>
          <p:cNvSpPr/>
          <p:nvPr/>
        </p:nvSpPr>
        <p:spPr>
          <a:xfrm>
            <a:off x="385659" y="78658"/>
            <a:ext cx="579883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External Sort - Phases</a:t>
            </a:r>
          </a:p>
        </p:txBody>
      </p:sp>
    </p:spTree>
    <p:extLst>
      <p:ext uri="{BB962C8B-B14F-4D97-AF65-F5344CB8AC3E}">
        <p14:creationId xmlns:p14="http://schemas.microsoft.com/office/powerpoint/2010/main" val="336530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0028-C227-9C00-B5B1-DEFD7A76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5081B-FF98-9F31-CEB1-F17BD2989692}"/>
              </a:ext>
            </a:extLst>
          </p:cNvPr>
          <p:cNvSpPr txBox="1"/>
          <p:nvPr/>
        </p:nvSpPr>
        <p:spPr>
          <a:xfrm>
            <a:off x="304799" y="357463"/>
            <a:ext cx="1095313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400" b="1" i="0" dirty="0">
                <a:solidFill>
                  <a:srgbClr val="000000"/>
                </a:solidFill>
                <a:effectLst/>
                <a:latin typeface="ui-sans-serif"/>
              </a:rPr>
              <a:t>Merge Sort--A Digression</a:t>
            </a:r>
          </a:p>
          <a:p>
            <a:pPr algn="l">
              <a:buNone/>
            </a:pPr>
            <a:endParaRPr lang="en-US" b="1" dirty="0">
              <a:solidFill>
                <a:srgbClr val="000000"/>
              </a:solidFill>
              <a:latin typeface="ui-sans-serif"/>
            </a:endParaRPr>
          </a:p>
          <a:p>
            <a:pPr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ui-sans-serif"/>
            </a:endParaRPr>
          </a:p>
          <a:p>
            <a:pPr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Merge sort is an ideal candidate for external sorting because it satisfies the two criteria for developing an external sorting algorithm. </a:t>
            </a:r>
          </a:p>
          <a:p>
            <a:pPr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Merge sort can be implemented either top-down or bottom-up. </a:t>
            </a:r>
          </a:p>
          <a:p>
            <a:pPr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The top-down strategy is typically used for internal sorting, whereas the bottom-up strategy is typically used for external sorting.</a:t>
            </a:r>
          </a:p>
          <a:p>
            <a:pPr>
              <a:buNone/>
            </a:pPr>
            <a:endParaRPr lang="en-US" dirty="0"/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ui-sans-serif"/>
              </a:rPr>
              <a:t>Top-Down Strategy</a:t>
            </a:r>
          </a:p>
          <a:p>
            <a:pPr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The top-down strategy works by: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/>
            <a:r>
              <a:rPr lang="en-US" dirty="0">
                <a:solidFill>
                  <a:srgbClr val="000000"/>
                </a:solidFill>
                <a:latin typeface="ui-sans-serif"/>
              </a:rPr>
              <a:t>   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Dividing the data in half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  Sorting each half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  Merging the two halves</a:t>
            </a:r>
          </a:p>
        </p:txBody>
      </p:sp>
    </p:spTree>
    <p:extLst>
      <p:ext uri="{BB962C8B-B14F-4D97-AF65-F5344CB8AC3E}">
        <p14:creationId xmlns:p14="http://schemas.microsoft.com/office/powerpoint/2010/main" val="97518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44644-D0F0-801A-FDDB-066390BB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16844-ACB5-18B7-4DEA-30CDDDFCDFF1}"/>
              </a:ext>
            </a:extLst>
          </p:cNvPr>
          <p:cNvSpPr txBox="1"/>
          <p:nvPr/>
        </p:nvSpPr>
        <p:spPr>
          <a:xfrm>
            <a:off x="329381" y="2176430"/>
            <a:ext cx="115332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ui-sans-serif"/>
              </a:rPr>
              <a:t>Bottom-Up Strategy</a:t>
            </a:r>
          </a:p>
          <a:p>
            <a:pPr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The bottom-up strategy is the strategy that is used for external sorting.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The bottom-up strategy for merge sort works by: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Scanning through data performing 1-by-1 merges to get sorted lists of size 2.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Scanning through the size 2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ui-sans-serif"/>
              </a:rPr>
              <a:t>sublists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and perform 2-by-2 merges to get sorted lists of size 4.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Continuing the process of scanning through size 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ui-sans-serif"/>
              </a:rPr>
              <a:t>sublists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and performing n-by-n merges to get sorted lists of size 2n until the file is sorted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(i.e., 2n &gt;= N, where N is the size of the file).</a:t>
            </a:r>
          </a:p>
          <a:p>
            <a:pPr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77208-C1A9-A119-E7D8-0BE4E7BD3E1F}"/>
              </a:ext>
            </a:extLst>
          </p:cNvPr>
          <p:cNvSpPr txBox="1"/>
          <p:nvPr/>
        </p:nvSpPr>
        <p:spPr>
          <a:xfrm>
            <a:off x="329381" y="522409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 i="0" dirty="0">
                <a:solidFill>
                  <a:srgbClr val="000000"/>
                </a:solidFill>
                <a:effectLst/>
                <a:latin typeface="ui-sans-serif"/>
              </a:rPr>
              <a:t>Merge Sort--A Digression</a:t>
            </a:r>
          </a:p>
          <a:p>
            <a:pPr algn="l">
              <a:buNone/>
            </a:pPr>
            <a:endParaRPr lang="en-US" b="1" dirty="0">
              <a:solidFill>
                <a:srgbClr val="000000"/>
              </a:solidFill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02325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DFF1B-5745-D25D-520C-D2C8552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xternal merge sort">
            <a:extLst>
              <a:ext uri="{FF2B5EF4-FFF2-40B4-BE49-F238E27FC236}">
                <a16:creationId xmlns:a16="http://schemas.microsoft.com/office/drawing/2014/main" id="{7FC38AAC-6F92-5A68-5F85-8A578A533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3" y="685833"/>
            <a:ext cx="9386486" cy="570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25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AD48-E27B-8D23-16EE-20CA14AA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7D135-77AE-48CE-8BFB-583A0EC0A3F3}"/>
              </a:ext>
            </a:extLst>
          </p:cNvPr>
          <p:cNvSpPr txBox="1"/>
          <p:nvPr/>
        </p:nvSpPr>
        <p:spPr>
          <a:xfrm>
            <a:off x="298733" y="902524"/>
            <a:ext cx="10983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Imagine dividing the integers stored in the input file into n sorted blocks, each of size k, </a:t>
            </a:r>
          </a:p>
          <a:p>
            <a:r>
              <a:rPr lang="en-US"/>
              <a:t>where k is initially equal to one and n is equal to the number of integers stored in the file. </a:t>
            </a:r>
          </a:p>
          <a:p>
            <a:endParaRPr lang="en-US"/>
          </a:p>
          <a:p>
            <a:r>
              <a:rPr lang="en-US"/>
              <a:t>On each pass through the file, data held in odd blocks can be merged with data held in even blocks to create n/2 blocks each of length 2k. </a:t>
            </a:r>
          </a:p>
          <a:p>
            <a:endParaRPr lang="en-US"/>
          </a:p>
          <a:p>
            <a:r>
              <a:rPr lang="en-US"/>
              <a:t>On each pass, data will need to be read from one file and written to the other. </a:t>
            </a:r>
          </a:p>
          <a:p>
            <a:endParaRPr lang="en-US"/>
          </a:p>
          <a:p>
            <a:r>
              <a:rPr lang="en-US"/>
              <a:t>For example, on the first pass, data in file A will be used as input, and the results of the merge will be written into file B; </a:t>
            </a:r>
          </a:p>
          <a:p>
            <a:r>
              <a:rPr lang="en-US"/>
              <a:t>on the second pass, data in file B will be used as input, and the results of the merge will be written into file A. </a:t>
            </a:r>
          </a:p>
          <a:p>
            <a:r>
              <a:rPr lang="en-US"/>
              <a:t>In this way, after log n passes, a sorted copy of the data will reside in either file A or file B.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9AD9B0-9B51-9850-1611-1F801CC8820E}"/>
              </a:ext>
            </a:extLst>
          </p:cNvPr>
          <p:cNvSpPr/>
          <p:nvPr/>
        </p:nvSpPr>
        <p:spPr>
          <a:xfrm>
            <a:off x="298733" y="194638"/>
            <a:ext cx="468820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External Merge sort</a:t>
            </a:r>
            <a:endParaRPr lang="en-US" sz="4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EE38E-764C-C782-AF62-A7F61ACD8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42" y="4384676"/>
            <a:ext cx="3753130" cy="227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4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66F0CB-0DD9-464B-70DD-11344C0E2F19}"/>
              </a:ext>
            </a:extLst>
          </p:cNvPr>
          <p:cNvSpPr/>
          <p:nvPr/>
        </p:nvSpPr>
        <p:spPr>
          <a:xfrm>
            <a:off x="2971976" y="2967335"/>
            <a:ext cx="62480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5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Sorting using Tapes</a:t>
            </a:r>
          </a:p>
        </p:txBody>
      </p:sp>
    </p:spTree>
    <p:extLst>
      <p:ext uri="{BB962C8B-B14F-4D97-AF65-F5344CB8AC3E}">
        <p14:creationId xmlns:p14="http://schemas.microsoft.com/office/powerpoint/2010/main" val="2713334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-344129"/>
            <a:ext cx="10668000" cy="74823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22924"/>
            <a:ext cx="10515600" cy="809965"/>
          </a:xfrm>
          <a:prstGeom prst="rect">
            <a:avLst/>
          </a:prstGeom>
        </p:spPr>
        <p:txBody>
          <a:bodyPr vert="horz" wrap="square" lIns="0" tIns="131572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external</a:t>
            </a:r>
            <a:r>
              <a:rPr spc="-65" dirty="0"/>
              <a:t> </a:t>
            </a:r>
            <a:r>
              <a:rPr spc="-10" dirty="0"/>
              <a:t>sorting?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683373"/>
            <a:ext cx="5801360" cy="118046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0"/>
              </a:spcBef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Problem:</a:t>
            </a:r>
            <a:r>
              <a:rPr sz="2400" spc="-3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sort</a:t>
            </a:r>
            <a:r>
              <a:rPr sz="2400" spc="-3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1TB</a:t>
            </a:r>
            <a:r>
              <a:rPr sz="2400" spc="-3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data</a:t>
            </a:r>
            <a:r>
              <a:rPr sz="2400" spc="-3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with</a:t>
            </a:r>
            <a:r>
              <a:rPr sz="2400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1GB</a:t>
            </a:r>
            <a:r>
              <a:rPr sz="2400" spc="-3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0000BE"/>
                </a:solidFill>
                <a:latin typeface="Calibri"/>
                <a:cs typeface="Calibri"/>
              </a:rPr>
              <a:t> RAM.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20"/>
              </a:spcBef>
              <a:buClr>
                <a:srgbClr val="0000BE"/>
              </a:buClr>
              <a:buSzPct val="77272"/>
              <a:buChar char="–"/>
              <a:tabLst>
                <a:tab pos="755015" algn="l"/>
              </a:tabLst>
            </a:pPr>
            <a:r>
              <a:rPr sz="2200" dirty="0">
                <a:latin typeface="Calibri"/>
                <a:cs typeface="Calibri"/>
              </a:rPr>
              <a:t>why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virtual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memory?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60"/>
              </a:spcBef>
              <a:buClr>
                <a:srgbClr val="0000BE"/>
              </a:buClr>
              <a:buSzPct val="77272"/>
              <a:buFont typeface="Arial MT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Swap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involves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expensive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IOs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u="heavy" dirty="0">
                <a:uFill>
                  <a:solidFill>
                    <a:srgbClr val="0000BE"/>
                  </a:solidFill>
                </a:uFill>
              </a:rPr>
              <a:t>Using</a:t>
            </a:r>
            <a:r>
              <a:rPr u="heavy" spc="-85" dirty="0">
                <a:uFill>
                  <a:solidFill>
                    <a:srgbClr val="0000BE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BE"/>
                  </a:solidFill>
                </a:uFill>
              </a:rPr>
              <a:t>secondary</a:t>
            </a:r>
            <a:r>
              <a:rPr u="heavy" spc="-90" dirty="0">
                <a:uFill>
                  <a:solidFill>
                    <a:srgbClr val="0000BE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BE"/>
                  </a:solidFill>
                </a:uFill>
              </a:rPr>
              <a:t>storage</a:t>
            </a:r>
            <a:r>
              <a:rPr u="heavy" spc="-90" dirty="0">
                <a:uFill>
                  <a:solidFill>
                    <a:srgbClr val="0000BE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BE"/>
                  </a:solidFill>
                </a:uFill>
              </a:rPr>
              <a:t>effectively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510284"/>
            <a:ext cx="6036945" cy="1778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General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Wisdom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70"/>
              </a:spcBef>
              <a:buClr>
                <a:srgbClr val="0000BE"/>
              </a:buClr>
              <a:buSzPct val="81250"/>
              <a:buChar char="–"/>
              <a:tabLst>
                <a:tab pos="754380" algn="l"/>
              </a:tabLst>
            </a:pPr>
            <a:r>
              <a:rPr sz="3200" dirty="0">
                <a:latin typeface="Calibri"/>
                <a:cs typeface="Calibri"/>
              </a:rPr>
              <a:t>I/O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dominate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5"/>
              </a:spcBef>
              <a:buClr>
                <a:srgbClr val="0000BE"/>
              </a:buClr>
              <a:buSzPct val="81250"/>
              <a:buChar char="–"/>
              <a:tabLst>
                <a:tab pos="754380" algn="l"/>
              </a:tabLst>
            </a:pP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I/O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5C0B10A-C040-E6CC-85B8-E15A51769A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826D57BD-6221-7F06-D680-641A0572B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Streaming Data Through RAM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3A8225C-4C27-9C3F-C69B-76E26187A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3352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An important detail for sorting &amp; other DB operations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Simple case: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Compute </a:t>
            </a:r>
            <a:r>
              <a:rPr lang="en-US" altLang="en-US" sz="2000" i="1"/>
              <a:t>f(x)</a:t>
            </a:r>
            <a:r>
              <a:rPr lang="en-US" altLang="en-US" sz="2000"/>
              <a:t> for each record, write out the result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Read a page from INPUT to Input Buffer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Write </a:t>
            </a:r>
            <a:r>
              <a:rPr lang="en-US" altLang="en-US" sz="2000" i="1"/>
              <a:t>f(x)</a:t>
            </a:r>
            <a:r>
              <a:rPr lang="en-US" altLang="en-US" sz="2000"/>
              <a:t> for each item to Output Buffer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When Input Buffer is consumed, read another page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When Output Buffer fills, write it to OUTPUT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Reads and Writes are </a:t>
            </a:r>
            <a:r>
              <a:rPr lang="en-US" altLang="en-US" sz="2000" i="1"/>
              <a:t>not </a:t>
            </a:r>
            <a:r>
              <a:rPr lang="en-US" altLang="en-US" sz="2000"/>
              <a:t>coordinated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E.g., if f() is Compress(), you read many pages per write.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E.g., if f() is DeCompress(), you write many pages per read.</a:t>
            </a:r>
          </a:p>
        </p:txBody>
      </p:sp>
      <p:grpSp>
        <p:nvGrpSpPr>
          <p:cNvPr id="48132" name="Group 4">
            <a:extLst>
              <a:ext uri="{FF2B5EF4-FFF2-40B4-BE49-F238E27FC236}">
                <a16:creationId xmlns:a16="http://schemas.microsoft.com/office/drawing/2014/main" id="{837991B6-D9DF-1BD8-9558-72EA4E5E6FB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334000"/>
            <a:ext cx="1219200" cy="1219200"/>
            <a:chOff x="3794" y="2614"/>
            <a:chExt cx="1966" cy="1706"/>
          </a:xfrm>
        </p:grpSpPr>
        <p:sp>
          <p:nvSpPr>
            <p:cNvPr id="48133" name="Oval 5">
              <a:extLst>
                <a:ext uri="{FF2B5EF4-FFF2-40B4-BE49-F238E27FC236}">
                  <a16:creationId xmlns:a16="http://schemas.microsoft.com/office/drawing/2014/main" id="{7A0D32C4-5751-4C8E-C230-D418A40EF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4" name="Rectangle 6">
              <a:extLst>
                <a:ext uri="{FF2B5EF4-FFF2-40B4-BE49-F238E27FC236}">
                  <a16:creationId xmlns:a16="http://schemas.microsoft.com/office/drawing/2014/main" id="{D1D55025-7956-2AA2-FF4F-8E0DE0957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8135" name="Object 7">
              <a:extLst>
                <a:ext uri="{FF2B5EF4-FFF2-40B4-BE49-F238E27FC236}">
                  <a16:creationId xmlns:a16="http://schemas.microsoft.com/office/drawing/2014/main" id="{C6D8F654-BEC1-09CF-FEF4-C845008334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663920" imgH="1666440" progId="MS_ClipArt_Gallery.2">
                    <p:embed/>
                  </p:oleObj>
                </mc:Choice>
                <mc:Fallback>
                  <p:oleObj name="Clip" r:id="rId2" imgW="1663920" imgH="1666440" progId="MS_ClipArt_Gallery.2">
                    <p:embed/>
                    <p:pic>
                      <p:nvPicPr>
                        <p:cNvPr id="48135" name="Object 7">
                          <a:extLst>
                            <a:ext uri="{FF2B5EF4-FFF2-40B4-BE49-F238E27FC236}">
                              <a16:creationId xmlns:a16="http://schemas.microsoft.com/office/drawing/2014/main" id="{C6D8F654-BEC1-09CF-FEF4-C845008334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4" y="2614"/>
                          <a:ext cx="1966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36" name="Group 8">
            <a:extLst>
              <a:ext uri="{FF2B5EF4-FFF2-40B4-BE49-F238E27FC236}">
                <a16:creationId xmlns:a16="http://schemas.microsoft.com/office/drawing/2014/main" id="{7AE3B17B-3329-A760-E5C5-611BEBFCB1F3}"/>
              </a:ext>
            </a:extLst>
          </p:cNvPr>
          <p:cNvGrpSpPr>
            <a:grpSpLocks/>
          </p:cNvGrpSpPr>
          <p:nvPr/>
        </p:nvGrpSpPr>
        <p:grpSpPr bwMode="auto">
          <a:xfrm>
            <a:off x="9067800" y="5410200"/>
            <a:ext cx="1219200" cy="1219200"/>
            <a:chOff x="3794" y="2614"/>
            <a:chExt cx="1966" cy="1706"/>
          </a:xfrm>
        </p:grpSpPr>
        <p:sp>
          <p:nvSpPr>
            <p:cNvPr id="48137" name="Oval 9">
              <a:extLst>
                <a:ext uri="{FF2B5EF4-FFF2-40B4-BE49-F238E27FC236}">
                  <a16:creationId xmlns:a16="http://schemas.microsoft.com/office/drawing/2014/main" id="{33C09588-8C63-E899-3067-D3CDB30D2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8" name="Rectangle 10">
              <a:extLst>
                <a:ext uri="{FF2B5EF4-FFF2-40B4-BE49-F238E27FC236}">
                  <a16:creationId xmlns:a16="http://schemas.microsoft.com/office/drawing/2014/main" id="{7118B540-67AE-6AF1-A0FC-EF94867F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8139" name="Object 11">
              <a:extLst>
                <a:ext uri="{FF2B5EF4-FFF2-40B4-BE49-F238E27FC236}">
                  <a16:creationId xmlns:a16="http://schemas.microsoft.com/office/drawing/2014/main" id="{6B200611-EE4E-AF10-A8AF-3AF7F02C95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663920" imgH="1666440" progId="MS_ClipArt_Gallery.2">
                    <p:embed/>
                  </p:oleObj>
                </mc:Choice>
                <mc:Fallback>
                  <p:oleObj name="Clip" r:id="rId2" imgW="1663920" imgH="1666440" progId="MS_ClipArt_Gallery.2">
                    <p:embed/>
                    <p:pic>
                      <p:nvPicPr>
                        <p:cNvPr id="48139" name="Object 11">
                          <a:extLst>
                            <a:ext uri="{FF2B5EF4-FFF2-40B4-BE49-F238E27FC236}">
                              <a16:creationId xmlns:a16="http://schemas.microsoft.com/office/drawing/2014/main" id="{6B200611-EE4E-AF10-A8AF-3AF7F02C95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4" y="2614"/>
                          <a:ext cx="1966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40" name="Rectangle 12">
            <a:extLst>
              <a:ext uri="{FF2B5EF4-FFF2-40B4-BE49-F238E27FC236}">
                <a16:creationId xmlns:a16="http://schemas.microsoft.com/office/drawing/2014/main" id="{FAAE5DF2-EB6E-6420-7388-9166875A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486400"/>
            <a:ext cx="3733800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Rectangle 13">
            <a:extLst>
              <a:ext uri="{FF2B5EF4-FFF2-40B4-BE49-F238E27FC236}">
                <a16:creationId xmlns:a16="http://schemas.microsoft.com/office/drawing/2014/main" id="{C61696CB-70D3-6111-753A-3DBB5A49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6096000"/>
            <a:ext cx="762000" cy="304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Rectangle 14">
            <a:extLst>
              <a:ext uri="{FF2B5EF4-FFF2-40B4-BE49-F238E27FC236}">
                <a16:creationId xmlns:a16="http://schemas.microsoft.com/office/drawing/2014/main" id="{C9AA6177-584F-8232-7387-6FB034057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6096000"/>
            <a:ext cx="762000" cy="304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Text Box 17">
            <a:extLst>
              <a:ext uri="{FF2B5EF4-FFF2-40B4-BE49-F238E27FC236}">
                <a16:creationId xmlns:a16="http://schemas.microsoft.com/office/drawing/2014/main" id="{E29C944D-AB34-70AC-E8DE-B9C40F1D0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022" y="5791201"/>
            <a:ext cx="926857" cy="769441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4400" i="1"/>
              <a:t>f(x)</a:t>
            </a:r>
          </a:p>
        </p:txBody>
      </p:sp>
      <p:sp>
        <p:nvSpPr>
          <p:cNvPr id="48146" name="Text Box 18">
            <a:extLst>
              <a:ext uri="{FF2B5EF4-FFF2-40B4-BE49-F238E27FC236}">
                <a16:creationId xmlns:a16="http://schemas.microsoft.com/office/drawing/2014/main" id="{57B540FA-102A-C78E-F36B-E86C9EDB8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1"/>
            <a:ext cx="794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RAM</a:t>
            </a:r>
          </a:p>
        </p:txBody>
      </p:sp>
      <p:sp>
        <p:nvSpPr>
          <p:cNvPr id="48147" name="Text Box 19">
            <a:extLst>
              <a:ext uri="{FF2B5EF4-FFF2-40B4-BE49-F238E27FC236}">
                <a16:creationId xmlns:a16="http://schemas.microsoft.com/office/drawing/2014/main" id="{902DFB29-DCAF-8E5A-6E9B-3FAB39FC9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7075" y="5537201"/>
            <a:ext cx="7445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>
                <a:solidFill>
                  <a:schemeClr val="accent1"/>
                </a:solidFill>
              </a:rPr>
              <a:t>Input</a:t>
            </a:r>
          </a:p>
          <a:p>
            <a:pPr algn="ctr"/>
            <a:r>
              <a:rPr lang="en-US" altLang="en-US" sz="1600">
                <a:solidFill>
                  <a:schemeClr val="accent1"/>
                </a:solidFill>
              </a:rPr>
              <a:t>Buffer</a:t>
            </a:r>
          </a:p>
        </p:txBody>
      </p:sp>
      <p:sp>
        <p:nvSpPr>
          <p:cNvPr id="48148" name="Text Box 20">
            <a:extLst>
              <a:ext uri="{FF2B5EF4-FFF2-40B4-BE49-F238E27FC236}">
                <a16:creationId xmlns:a16="http://schemas.microsoft.com/office/drawing/2014/main" id="{8CA4FB1C-A071-1BD4-C89F-6E4EAA88F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363" y="5537201"/>
            <a:ext cx="8445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>
                <a:solidFill>
                  <a:schemeClr val="accent1"/>
                </a:solidFill>
              </a:rPr>
              <a:t>Output</a:t>
            </a:r>
          </a:p>
          <a:p>
            <a:pPr algn="ctr"/>
            <a:r>
              <a:rPr lang="en-US" altLang="en-US" sz="1600">
                <a:solidFill>
                  <a:schemeClr val="accent1"/>
                </a:solidFill>
              </a:rPr>
              <a:t>Buffer</a:t>
            </a:r>
          </a:p>
        </p:txBody>
      </p:sp>
      <p:cxnSp>
        <p:nvCxnSpPr>
          <p:cNvPr id="48149" name="AutoShape 21">
            <a:extLst>
              <a:ext uri="{FF2B5EF4-FFF2-40B4-BE49-F238E27FC236}">
                <a16:creationId xmlns:a16="http://schemas.microsoft.com/office/drawing/2014/main" id="{0F1DF0EE-B019-72E1-D06B-26DC8067C4B4}"/>
              </a:ext>
            </a:extLst>
          </p:cNvPr>
          <p:cNvCxnSpPr>
            <a:cxnSpLocks noChangeShapeType="1"/>
            <a:stCxn id="48134" idx="3"/>
            <a:endCxn id="48141" idx="1"/>
          </p:cNvCxnSpPr>
          <p:nvPr/>
        </p:nvCxnSpPr>
        <p:spPr bwMode="auto">
          <a:xfrm>
            <a:off x="3352800" y="5953126"/>
            <a:ext cx="1143000" cy="29527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50" name="AutoShape 22">
            <a:extLst>
              <a:ext uri="{FF2B5EF4-FFF2-40B4-BE49-F238E27FC236}">
                <a16:creationId xmlns:a16="http://schemas.microsoft.com/office/drawing/2014/main" id="{87EFBB59-0F74-C8CB-4B08-4A81A06EABC2}"/>
              </a:ext>
            </a:extLst>
          </p:cNvPr>
          <p:cNvCxnSpPr>
            <a:cxnSpLocks noChangeShapeType="1"/>
            <a:stCxn id="48141" idx="3"/>
            <a:endCxn id="48145" idx="0"/>
          </p:cNvCxnSpPr>
          <p:nvPr/>
        </p:nvCxnSpPr>
        <p:spPr bwMode="auto">
          <a:xfrm flipV="1">
            <a:off x="5257800" y="5791200"/>
            <a:ext cx="882650" cy="457200"/>
          </a:xfrm>
          <a:prstGeom prst="curvedConnector4">
            <a:avLst>
              <a:gd name="adj1" fmla="val 23748"/>
              <a:gd name="adj2" fmla="val 150000"/>
            </a:avLst>
          </a:prstGeom>
          <a:noFill/>
          <a:ln w="28575">
            <a:solidFill>
              <a:schemeClr val="folHlink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51" name="AutoShape 23">
            <a:extLst>
              <a:ext uri="{FF2B5EF4-FFF2-40B4-BE49-F238E27FC236}">
                <a16:creationId xmlns:a16="http://schemas.microsoft.com/office/drawing/2014/main" id="{5BF6255E-E5F7-A49E-864B-3363472A6C48}"/>
              </a:ext>
            </a:extLst>
          </p:cNvPr>
          <p:cNvCxnSpPr>
            <a:cxnSpLocks noChangeShapeType="1"/>
            <a:stCxn id="48145" idx="2"/>
            <a:endCxn id="48142" idx="1"/>
          </p:cNvCxnSpPr>
          <p:nvPr/>
        </p:nvCxnSpPr>
        <p:spPr bwMode="auto">
          <a:xfrm rot="5400000" flipH="1" flipV="1">
            <a:off x="6457405" y="5931446"/>
            <a:ext cx="312241" cy="946150"/>
          </a:xfrm>
          <a:prstGeom prst="curvedConnector4">
            <a:avLst>
              <a:gd name="adj1" fmla="val -73213"/>
              <a:gd name="adj2" fmla="val 74490"/>
            </a:avLst>
          </a:prstGeom>
          <a:noFill/>
          <a:ln w="28575">
            <a:solidFill>
              <a:schemeClr val="folHlink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52" name="AutoShape 24">
            <a:extLst>
              <a:ext uri="{FF2B5EF4-FFF2-40B4-BE49-F238E27FC236}">
                <a16:creationId xmlns:a16="http://schemas.microsoft.com/office/drawing/2014/main" id="{B10EF7B2-BFD9-A52D-F9D7-EF4A285986D6}"/>
              </a:ext>
            </a:extLst>
          </p:cNvPr>
          <p:cNvCxnSpPr>
            <a:cxnSpLocks noChangeShapeType="1"/>
            <a:stCxn id="48142" idx="3"/>
            <a:endCxn id="48138" idx="1"/>
          </p:cNvCxnSpPr>
          <p:nvPr/>
        </p:nvCxnSpPr>
        <p:spPr bwMode="auto">
          <a:xfrm flipV="1">
            <a:off x="7848600" y="6029326"/>
            <a:ext cx="1219200" cy="21907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53" name="Text Box 25">
            <a:extLst>
              <a:ext uri="{FF2B5EF4-FFF2-40B4-BE49-F238E27FC236}">
                <a16:creationId xmlns:a16="http://schemas.microsoft.com/office/drawing/2014/main" id="{085697D1-E9FA-6EAD-EB66-B0091D9D7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5943600"/>
            <a:ext cx="9284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48154" name="Text Box 26">
            <a:extLst>
              <a:ext uri="{FF2B5EF4-FFF2-40B4-BE49-F238E27FC236}">
                <a16:creationId xmlns:a16="http://schemas.microsoft.com/office/drawing/2014/main" id="{3091180D-FEE6-9071-8CC9-78A77B56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867400"/>
            <a:ext cx="7377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bg1"/>
                </a:solidFill>
              </a:rPr>
              <a:t>INPUT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37D9FFF-CF48-7CBA-49D3-16E6580082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238FC8B9-19E7-15CB-F99B-575A2B567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D083135-5BAB-6FDA-631A-723003547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6CB26C3-0983-5AC4-8C97-88F4331FD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2-Way Sort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F2CBB537-28EE-249E-A8C1-302D5B02D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8332" y="1768475"/>
            <a:ext cx="8763000" cy="4953000"/>
          </a:xfrm>
          <a:noFill/>
          <a:ln/>
        </p:spPr>
        <p:txBody>
          <a:bodyPr/>
          <a:lstStyle/>
          <a:p>
            <a:r>
              <a:rPr lang="en-US" altLang="en-US" dirty="0"/>
              <a:t>Pass 0: Read a page, sort it, write it.</a:t>
            </a:r>
          </a:p>
          <a:p>
            <a:pPr lvl="1"/>
            <a:r>
              <a:rPr lang="en-US" altLang="en-US" dirty="0"/>
              <a:t>only one buffer page is used (as in previous slide)</a:t>
            </a:r>
          </a:p>
          <a:p>
            <a:r>
              <a:rPr lang="en-US" altLang="en-US" dirty="0"/>
              <a:t>Pass 1, 2, …, etc.:</a:t>
            </a:r>
          </a:p>
          <a:p>
            <a:pPr lvl="1"/>
            <a:r>
              <a:rPr lang="en-US" altLang="en-US" dirty="0"/>
              <a:t>requires 3 buffer pages</a:t>
            </a:r>
          </a:p>
          <a:p>
            <a:pPr lvl="1"/>
            <a:r>
              <a:rPr lang="en-US" altLang="en-US" dirty="0"/>
              <a:t>merge pairs of runs into runs twice as long</a:t>
            </a:r>
          </a:p>
          <a:p>
            <a:pPr lvl="1"/>
            <a:r>
              <a:rPr lang="en-US" altLang="en-US" dirty="0"/>
              <a:t>three buffer pages used.</a:t>
            </a:r>
          </a:p>
        </p:txBody>
      </p:sp>
      <p:sp>
        <p:nvSpPr>
          <p:cNvPr id="8198" name="Freeform 6">
            <a:extLst>
              <a:ext uri="{FF2B5EF4-FFF2-40B4-BE49-F238E27FC236}">
                <a16:creationId xmlns:a16="http://schemas.microsoft.com/office/drawing/2014/main" id="{9959DCA4-58D2-41A5-A234-D8D46E912B72}"/>
              </a:ext>
            </a:extLst>
          </p:cNvPr>
          <p:cNvSpPr>
            <a:spLocks/>
          </p:cNvSpPr>
          <p:nvPr/>
        </p:nvSpPr>
        <p:spPr bwMode="auto">
          <a:xfrm>
            <a:off x="8393114" y="4632326"/>
            <a:ext cx="1316037" cy="220663"/>
          </a:xfrm>
          <a:custGeom>
            <a:avLst/>
            <a:gdLst>
              <a:gd name="T0" fmla="*/ 828 w 829"/>
              <a:gd name="T1" fmla="*/ 70 h 139"/>
              <a:gd name="T2" fmla="*/ 796 w 829"/>
              <a:gd name="T3" fmla="*/ 42 h 139"/>
              <a:gd name="T4" fmla="*/ 707 w 829"/>
              <a:gd name="T5" fmla="*/ 21 h 139"/>
              <a:gd name="T6" fmla="*/ 414 w 829"/>
              <a:gd name="T7" fmla="*/ 0 h 139"/>
              <a:gd name="T8" fmla="*/ 122 w 829"/>
              <a:gd name="T9" fmla="*/ 21 h 139"/>
              <a:gd name="T10" fmla="*/ 33 w 829"/>
              <a:gd name="T11" fmla="*/ 42 h 139"/>
              <a:gd name="T12" fmla="*/ 0 w 829"/>
              <a:gd name="T13" fmla="*/ 70 h 139"/>
              <a:gd name="T14" fmla="*/ 33 w 829"/>
              <a:gd name="T15" fmla="*/ 97 h 139"/>
              <a:gd name="T16" fmla="*/ 122 w 829"/>
              <a:gd name="T17" fmla="*/ 118 h 139"/>
              <a:gd name="T18" fmla="*/ 414 w 829"/>
              <a:gd name="T19" fmla="*/ 138 h 139"/>
              <a:gd name="T20" fmla="*/ 707 w 829"/>
              <a:gd name="T21" fmla="*/ 118 h 139"/>
              <a:gd name="T22" fmla="*/ 796 w 829"/>
              <a:gd name="T23" fmla="*/ 97 h 139"/>
              <a:gd name="T24" fmla="*/ 828 w 829"/>
              <a:gd name="T25" fmla="*/ 7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29" h="139">
                <a:moveTo>
                  <a:pt x="828" y="70"/>
                </a:moveTo>
                <a:lnTo>
                  <a:pt x="796" y="42"/>
                </a:lnTo>
                <a:lnTo>
                  <a:pt x="707" y="21"/>
                </a:lnTo>
                <a:lnTo>
                  <a:pt x="414" y="0"/>
                </a:lnTo>
                <a:lnTo>
                  <a:pt x="122" y="21"/>
                </a:lnTo>
                <a:lnTo>
                  <a:pt x="33" y="42"/>
                </a:lnTo>
                <a:lnTo>
                  <a:pt x="0" y="70"/>
                </a:lnTo>
                <a:lnTo>
                  <a:pt x="33" y="97"/>
                </a:lnTo>
                <a:lnTo>
                  <a:pt x="122" y="118"/>
                </a:lnTo>
                <a:lnTo>
                  <a:pt x="414" y="138"/>
                </a:lnTo>
                <a:lnTo>
                  <a:pt x="707" y="118"/>
                </a:lnTo>
                <a:lnTo>
                  <a:pt x="796" y="97"/>
                </a:lnTo>
                <a:lnTo>
                  <a:pt x="828" y="70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Freeform 7">
            <a:extLst>
              <a:ext uri="{FF2B5EF4-FFF2-40B4-BE49-F238E27FC236}">
                <a16:creationId xmlns:a16="http://schemas.microsoft.com/office/drawing/2014/main" id="{B553C1A3-C7D8-CC87-B372-AD73F63B4544}"/>
              </a:ext>
            </a:extLst>
          </p:cNvPr>
          <p:cNvSpPr>
            <a:spLocks/>
          </p:cNvSpPr>
          <p:nvPr/>
        </p:nvSpPr>
        <p:spPr bwMode="auto">
          <a:xfrm>
            <a:off x="3048001" y="5029201"/>
            <a:ext cx="1039813" cy="150813"/>
          </a:xfrm>
          <a:custGeom>
            <a:avLst/>
            <a:gdLst>
              <a:gd name="T0" fmla="*/ 0 w 655"/>
              <a:gd name="T1" fmla="*/ 94 h 95"/>
              <a:gd name="T2" fmla="*/ 0 w 655"/>
              <a:gd name="T3" fmla="*/ 0 h 95"/>
              <a:gd name="T4" fmla="*/ 654 w 655"/>
              <a:gd name="T5" fmla="*/ 0 h 95"/>
              <a:gd name="T6" fmla="*/ 654 w 655"/>
              <a:gd name="T7" fmla="*/ 94 h 95"/>
              <a:gd name="T8" fmla="*/ 0 w 655"/>
              <a:gd name="T9" fmla="*/ 9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5" h="95">
                <a:moveTo>
                  <a:pt x="0" y="94"/>
                </a:moveTo>
                <a:lnTo>
                  <a:pt x="0" y="0"/>
                </a:lnTo>
                <a:lnTo>
                  <a:pt x="654" y="0"/>
                </a:lnTo>
                <a:lnTo>
                  <a:pt x="654" y="94"/>
                </a:lnTo>
                <a:lnTo>
                  <a:pt x="0" y="9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Freeform 8">
            <a:extLst>
              <a:ext uri="{FF2B5EF4-FFF2-40B4-BE49-F238E27FC236}">
                <a16:creationId xmlns:a16="http://schemas.microsoft.com/office/drawing/2014/main" id="{594E25F2-96DF-5470-2101-83ADA4D359B6}"/>
              </a:ext>
            </a:extLst>
          </p:cNvPr>
          <p:cNvSpPr>
            <a:spLocks/>
          </p:cNvSpPr>
          <p:nvPr/>
        </p:nvSpPr>
        <p:spPr bwMode="auto">
          <a:xfrm>
            <a:off x="3048000" y="5776913"/>
            <a:ext cx="1068388" cy="138112"/>
          </a:xfrm>
          <a:custGeom>
            <a:avLst/>
            <a:gdLst>
              <a:gd name="T0" fmla="*/ 0 w 673"/>
              <a:gd name="T1" fmla="*/ 86 h 87"/>
              <a:gd name="T2" fmla="*/ 0 w 673"/>
              <a:gd name="T3" fmla="*/ 0 h 87"/>
              <a:gd name="T4" fmla="*/ 672 w 673"/>
              <a:gd name="T5" fmla="*/ 0 h 87"/>
              <a:gd name="T6" fmla="*/ 672 w 673"/>
              <a:gd name="T7" fmla="*/ 86 h 87"/>
              <a:gd name="T8" fmla="*/ 0 w 673"/>
              <a:gd name="T9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3" h="87">
                <a:moveTo>
                  <a:pt x="0" y="86"/>
                </a:moveTo>
                <a:lnTo>
                  <a:pt x="0" y="0"/>
                </a:lnTo>
                <a:lnTo>
                  <a:pt x="672" y="0"/>
                </a:lnTo>
                <a:lnTo>
                  <a:pt x="672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Freeform 9">
            <a:extLst>
              <a:ext uri="{FF2B5EF4-FFF2-40B4-BE49-F238E27FC236}">
                <a16:creationId xmlns:a16="http://schemas.microsoft.com/office/drawing/2014/main" id="{719C3A62-ECEC-CB5A-E96D-79A959701EE9}"/>
              </a:ext>
            </a:extLst>
          </p:cNvPr>
          <p:cNvSpPr>
            <a:spLocks/>
          </p:cNvSpPr>
          <p:nvPr/>
        </p:nvSpPr>
        <p:spPr bwMode="auto">
          <a:xfrm>
            <a:off x="2909888" y="4660901"/>
            <a:ext cx="1314450" cy="219075"/>
          </a:xfrm>
          <a:custGeom>
            <a:avLst/>
            <a:gdLst>
              <a:gd name="T0" fmla="*/ 827 w 828"/>
              <a:gd name="T1" fmla="*/ 69 h 138"/>
              <a:gd name="T2" fmla="*/ 795 w 828"/>
              <a:gd name="T3" fmla="*/ 42 h 138"/>
              <a:gd name="T4" fmla="*/ 706 w 828"/>
              <a:gd name="T5" fmla="*/ 20 h 138"/>
              <a:gd name="T6" fmla="*/ 414 w 828"/>
              <a:gd name="T7" fmla="*/ 0 h 138"/>
              <a:gd name="T8" fmla="*/ 121 w 828"/>
              <a:gd name="T9" fmla="*/ 20 h 138"/>
              <a:gd name="T10" fmla="*/ 32 w 828"/>
              <a:gd name="T11" fmla="*/ 42 h 138"/>
              <a:gd name="T12" fmla="*/ 0 w 828"/>
              <a:gd name="T13" fmla="*/ 69 h 138"/>
              <a:gd name="T14" fmla="*/ 32 w 828"/>
              <a:gd name="T15" fmla="*/ 95 h 138"/>
              <a:gd name="T16" fmla="*/ 121 w 828"/>
              <a:gd name="T17" fmla="*/ 117 h 138"/>
              <a:gd name="T18" fmla="*/ 414 w 828"/>
              <a:gd name="T19" fmla="*/ 137 h 138"/>
              <a:gd name="T20" fmla="*/ 706 w 828"/>
              <a:gd name="T21" fmla="*/ 117 h 138"/>
              <a:gd name="T22" fmla="*/ 795 w 828"/>
              <a:gd name="T23" fmla="*/ 95 h 138"/>
              <a:gd name="T24" fmla="*/ 827 w 828"/>
              <a:gd name="T25" fmla="*/ 69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28" h="138">
                <a:moveTo>
                  <a:pt x="827" y="69"/>
                </a:moveTo>
                <a:lnTo>
                  <a:pt x="795" y="42"/>
                </a:lnTo>
                <a:lnTo>
                  <a:pt x="706" y="20"/>
                </a:lnTo>
                <a:lnTo>
                  <a:pt x="414" y="0"/>
                </a:lnTo>
                <a:lnTo>
                  <a:pt x="121" y="20"/>
                </a:lnTo>
                <a:lnTo>
                  <a:pt x="32" y="42"/>
                </a:lnTo>
                <a:lnTo>
                  <a:pt x="0" y="69"/>
                </a:lnTo>
                <a:lnTo>
                  <a:pt x="32" y="95"/>
                </a:lnTo>
                <a:lnTo>
                  <a:pt x="121" y="117"/>
                </a:lnTo>
                <a:lnTo>
                  <a:pt x="414" y="137"/>
                </a:lnTo>
                <a:lnTo>
                  <a:pt x="706" y="117"/>
                </a:lnTo>
                <a:lnTo>
                  <a:pt x="795" y="95"/>
                </a:lnTo>
                <a:lnTo>
                  <a:pt x="827" y="6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0588B3F9-AEEA-3BA0-3A58-F302D97E5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8" y="6097588"/>
            <a:ext cx="29892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Main memory buffers</a:t>
            </a:r>
          </a:p>
        </p:txBody>
      </p:sp>
      <p:sp>
        <p:nvSpPr>
          <p:cNvPr id="8203" name="Freeform 11">
            <a:extLst>
              <a:ext uri="{FF2B5EF4-FFF2-40B4-BE49-F238E27FC236}">
                <a16:creationId xmlns:a16="http://schemas.microsoft.com/office/drawing/2014/main" id="{42934C51-BA90-5193-0092-A61EF492A6E4}"/>
              </a:ext>
            </a:extLst>
          </p:cNvPr>
          <p:cNvSpPr>
            <a:spLocks/>
          </p:cNvSpPr>
          <p:nvPr/>
        </p:nvSpPr>
        <p:spPr bwMode="auto">
          <a:xfrm>
            <a:off x="8502650" y="5327651"/>
            <a:ext cx="1055688" cy="138113"/>
          </a:xfrm>
          <a:custGeom>
            <a:avLst/>
            <a:gdLst>
              <a:gd name="T0" fmla="*/ 0 w 665"/>
              <a:gd name="T1" fmla="*/ 86 h 87"/>
              <a:gd name="T2" fmla="*/ 0 w 665"/>
              <a:gd name="T3" fmla="*/ 0 h 87"/>
              <a:gd name="T4" fmla="*/ 664 w 665"/>
              <a:gd name="T5" fmla="*/ 0 h 87"/>
              <a:gd name="T6" fmla="*/ 664 w 665"/>
              <a:gd name="T7" fmla="*/ 86 h 87"/>
              <a:gd name="T8" fmla="*/ 0 w 665"/>
              <a:gd name="T9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5" h="87">
                <a:moveTo>
                  <a:pt x="0" y="86"/>
                </a:moveTo>
                <a:lnTo>
                  <a:pt x="0" y="0"/>
                </a:lnTo>
                <a:lnTo>
                  <a:pt x="664" y="0"/>
                </a:lnTo>
                <a:lnTo>
                  <a:pt x="664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Freeform 12">
            <a:extLst>
              <a:ext uri="{FF2B5EF4-FFF2-40B4-BE49-F238E27FC236}">
                <a16:creationId xmlns:a16="http://schemas.microsoft.com/office/drawing/2014/main" id="{C05C99D7-4177-4240-6782-52779FD15819}"/>
              </a:ext>
            </a:extLst>
          </p:cNvPr>
          <p:cNvSpPr>
            <a:spLocks/>
          </p:cNvSpPr>
          <p:nvPr/>
        </p:nvSpPr>
        <p:spPr bwMode="auto">
          <a:xfrm>
            <a:off x="8516939" y="5559426"/>
            <a:ext cx="1055687" cy="125413"/>
          </a:xfrm>
          <a:custGeom>
            <a:avLst/>
            <a:gdLst>
              <a:gd name="T0" fmla="*/ 0 w 665"/>
              <a:gd name="T1" fmla="*/ 78 h 79"/>
              <a:gd name="T2" fmla="*/ 0 w 665"/>
              <a:gd name="T3" fmla="*/ 0 h 79"/>
              <a:gd name="T4" fmla="*/ 664 w 665"/>
              <a:gd name="T5" fmla="*/ 0 h 79"/>
              <a:gd name="T6" fmla="*/ 664 w 665"/>
              <a:gd name="T7" fmla="*/ 78 h 79"/>
              <a:gd name="T8" fmla="*/ 0 w 665"/>
              <a:gd name="T9" fmla="*/ 78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5" h="79">
                <a:moveTo>
                  <a:pt x="0" y="78"/>
                </a:moveTo>
                <a:lnTo>
                  <a:pt x="0" y="0"/>
                </a:lnTo>
                <a:lnTo>
                  <a:pt x="664" y="0"/>
                </a:lnTo>
                <a:lnTo>
                  <a:pt x="664" y="78"/>
                </a:lnTo>
                <a:lnTo>
                  <a:pt x="0" y="78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Freeform 13">
            <a:extLst>
              <a:ext uri="{FF2B5EF4-FFF2-40B4-BE49-F238E27FC236}">
                <a16:creationId xmlns:a16="http://schemas.microsoft.com/office/drawing/2014/main" id="{5C4B3707-58AB-A42B-AFCA-0436E5221121}"/>
              </a:ext>
            </a:extLst>
          </p:cNvPr>
          <p:cNvSpPr>
            <a:spLocks/>
          </p:cNvSpPr>
          <p:nvPr/>
        </p:nvSpPr>
        <p:spPr bwMode="auto">
          <a:xfrm>
            <a:off x="5057776" y="4775200"/>
            <a:ext cx="1127125" cy="444500"/>
          </a:xfrm>
          <a:custGeom>
            <a:avLst/>
            <a:gdLst>
              <a:gd name="T0" fmla="*/ 0 w 710"/>
              <a:gd name="T1" fmla="*/ 279 h 280"/>
              <a:gd name="T2" fmla="*/ 0 w 710"/>
              <a:gd name="T3" fmla="*/ 0 h 280"/>
              <a:gd name="T4" fmla="*/ 709 w 710"/>
              <a:gd name="T5" fmla="*/ 0 h 280"/>
              <a:gd name="T6" fmla="*/ 709 w 710"/>
              <a:gd name="T7" fmla="*/ 279 h 280"/>
              <a:gd name="T8" fmla="*/ 0 w 710"/>
              <a:gd name="T9" fmla="*/ 279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0" h="280">
                <a:moveTo>
                  <a:pt x="0" y="279"/>
                </a:moveTo>
                <a:lnTo>
                  <a:pt x="0" y="0"/>
                </a:lnTo>
                <a:lnTo>
                  <a:pt x="709" y="0"/>
                </a:lnTo>
                <a:lnTo>
                  <a:pt x="709" y="279"/>
                </a:lnTo>
                <a:lnTo>
                  <a:pt x="0" y="27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chemeClr val="tx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Freeform 14">
            <a:extLst>
              <a:ext uri="{FF2B5EF4-FFF2-40B4-BE49-F238E27FC236}">
                <a16:creationId xmlns:a16="http://schemas.microsoft.com/office/drawing/2014/main" id="{DD7B8302-5425-388D-52A7-BACDFA1A4819}"/>
              </a:ext>
            </a:extLst>
          </p:cNvPr>
          <p:cNvSpPr>
            <a:spLocks/>
          </p:cNvSpPr>
          <p:nvPr/>
        </p:nvSpPr>
        <p:spPr bwMode="auto">
          <a:xfrm>
            <a:off x="6810376" y="5251451"/>
            <a:ext cx="1001713" cy="360363"/>
          </a:xfrm>
          <a:custGeom>
            <a:avLst/>
            <a:gdLst>
              <a:gd name="T0" fmla="*/ 0 w 631"/>
              <a:gd name="T1" fmla="*/ 226 h 227"/>
              <a:gd name="T2" fmla="*/ 0 w 631"/>
              <a:gd name="T3" fmla="*/ 0 h 227"/>
              <a:gd name="T4" fmla="*/ 630 w 631"/>
              <a:gd name="T5" fmla="*/ 0 h 227"/>
              <a:gd name="T6" fmla="*/ 630 w 631"/>
              <a:gd name="T7" fmla="*/ 226 h 227"/>
              <a:gd name="T8" fmla="*/ 0 w 631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1" h="227">
                <a:moveTo>
                  <a:pt x="0" y="226"/>
                </a:moveTo>
                <a:lnTo>
                  <a:pt x="0" y="0"/>
                </a:lnTo>
                <a:lnTo>
                  <a:pt x="630" y="0"/>
                </a:lnTo>
                <a:lnTo>
                  <a:pt x="630" y="226"/>
                </a:lnTo>
                <a:lnTo>
                  <a:pt x="0" y="226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Freeform 15">
            <a:extLst>
              <a:ext uri="{FF2B5EF4-FFF2-40B4-BE49-F238E27FC236}">
                <a16:creationId xmlns:a16="http://schemas.microsoft.com/office/drawing/2014/main" id="{069C997D-4A0F-B7A1-11E4-99C4AAE19B4C}"/>
              </a:ext>
            </a:extLst>
          </p:cNvPr>
          <p:cNvSpPr>
            <a:spLocks/>
          </p:cNvSpPr>
          <p:nvPr/>
        </p:nvSpPr>
        <p:spPr bwMode="auto">
          <a:xfrm>
            <a:off x="5030789" y="5618164"/>
            <a:ext cx="1127125" cy="446087"/>
          </a:xfrm>
          <a:custGeom>
            <a:avLst/>
            <a:gdLst>
              <a:gd name="T0" fmla="*/ 0 w 710"/>
              <a:gd name="T1" fmla="*/ 280 h 281"/>
              <a:gd name="T2" fmla="*/ 0 w 710"/>
              <a:gd name="T3" fmla="*/ 0 h 281"/>
              <a:gd name="T4" fmla="*/ 709 w 710"/>
              <a:gd name="T5" fmla="*/ 0 h 281"/>
              <a:gd name="T6" fmla="*/ 709 w 710"/>
              <a:gd name="T7" fmla="*/ 280 h 281"/>
              <a:gd name="T8" fmla="*/ 0 w 710"/>
              <a:gd name="T9" fmla="*/ 280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0" h="281">
                <a:moveTo>
                  <a:pt x="0" y="280"/>
                </a:moveTo>
                <a:lnTo>
                  <a:pt x="0" y="0"/>
                </a:lnTo>
                <a:lnTo>
                  <a:pt x="709" y="0"/>
                </a:lnTo>
                <a:lnTo>
                  <a:pt x="709" y="280"/>
                </a:lnTo>
                <a:lnTo>
                  <a:pt x="0" y="280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Freeform 16">
            <a:extLst>
              <a:ext uri="{FF2B5EF4-FFF2-40B4-BE49-F238E27FC236}">
                <a16:creationId xmlns:a16="http://schemas.microsoft.com/office/drawing/2014/main" id="{F312D569-94F9-0546-0285-1D0ED7D803F4}"/>
              </a:ext>
            </a:extLst>
          </p:cNvPr>
          <p:cNvSpPr>
            <a:spLocks/>
          </p:cNvSpPr>
          <p:nvPr/>
        </p:nvSpPr>
        <p:spPr bwMode="auto">
          <a:xfrm>
            <a:off x="4552951" y="4457701"/>
            <a:ext cx="3433763" cy="2055813"/>
          </a:xfrm>
          <a:custGeom>
            <a:avLst/>
            <a:gdLst>
              <a:gd name="T0" fmla="*/ 0 w 2163"/>
              <a:gd name="T1" fmla="*/ 1294 h 1295"/>
              <a:gd name="T2" fmla="*/ 0 w 2163"/>
              <a:gd name="T3" fmla="*/ 0 h 1295"/>
              <a:gd name="T4" fmla="*/ 2162 w 2163"/>
              <a:gd name="T5" fmla="*/ 0 h 1295"/>
              <a:gd name="T6" fmla="*/ 2162 w 2163"/>
              <a:gd name="T7" fmla="*/ 1294 h 1295"/>
              <a:gd name="T8" fmla="*/ 0 w 2163"/>
              <a:gd name="T9" fmla="*/ 1294 h 1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3" h="1295">
                <a:moveTo>
                  <a:pt x="0" y="1294"/>
                </a:moveTo>
                <a:lnTo>
                  <a:pt x="0" y="0"/>
                </a:lnTo>
                <a:lnTo>
                  <a:pt x="2162" y="0"/>
                </a:lnTo>
                <a:lnTo>
                  <a:pt x="2162" y="1294"/>
                </a:lnTo>
                <a:lnTo>
                  <a:pt x="0" y="129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2662D773-539E-478C-39D5-89D98C4A4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4813300"/>
            <a:ext cx="1049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latin typeface="Bookman Old Style" panose="02050604050505020204" pitchFamily="18" charset="0"/>
              </a:rPr>
              <a:t>INPUT 1</a:t>
            </a:r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0F35CBA7-8891-6764-94BB-28F726F4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5657850"/>
            <a:ext cx="1049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latin typeface="Bookman Old Style" panose="02050604050505020204" pitchFamily="18" charset="0"/>
              </a:rPr>
              <a:t>INPUT 2</a:t>
            </a: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9BAA0DF1-0EE8-79CF-1EBA-9F1AC27F0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9" y="5260975"/>
            <a:ext cx="1078821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latin typeface="Bookman Old Style" panose="02050604050505020204" pitchFamily="18" charset="0"/>
              </a:rPr>
              <a:t>OUTPUT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ABCCD4DF-833F-DDAA-A397-64ECFA319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7764" y="6210301"/>
            <a:ext cx="714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Disk</a:t>
            </a:r>
          </a:p>
        </p:txBody>
      </p:sp>
      <p:sp>
        <p:nvSpPr>
          <p:cNvPr id="8213" name="Rectangle 21">
            <a:extLst>
              <a:ext uri="{FF2B5EF4-FFF2-40B4-BE49-F238E27FC236}">
                <a16:creationId xmlns:a16="http://schemas.microsoft.com/office/drawing/2014/main" id="{8767F5EC-B506-031A-0A3D-AABA24D2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6238876"/>
            <a:ext cx="714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Disk</a:t>
            </a:r>
          </a:p>
        </p:txBody>
      </p:sp>
      <p:sp>
        <p:nvSpPr>
          <p:cNvPr id="8214" name="Line 22">
            <a:extLst>
              <a:ext uri="{FF2B5EF4-FFF2-40B4-BE49-F238E27FC236}">
                <a16:creationId xmlns:a16="http://schemas.microsoft.com/office/drawing/2014/main" id="{F2A91553-450C-69FF-9499-0AEB5E139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175" y="4760913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E9286452-01B0-BE6F-D94A-66133E95F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575" y="4760913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18" name="Group 26">
            <a:extLst>
              <a:ext uri="{FF2B5EF4-FFF2-40B4-BE49-F238E27FC236}">
                <a16:creationId xmlns:a16="http://schemas.microsoft.com/office/drawing/2014/main" id="{0C684B53-01C1-D623-C8DD-D8AAC38AFDE0}"/>
              </a:ext>
            </a:extLst>
          </p:cNvPr>
          <p:cNvGrpSpPr>
            <a:grpSpLocks/>
          </p:cNvGrpSpPr>
          <p:nvPr/>
        </p:nvGrpSpPr>
        <p:grpSpPr bwMode="auto">
          <a:xfrm>
            <a:off x="2925763" y="5980113"/>
            <a:ext cx="1293812" cy="152400"/>
            <a:chOff x="961" y="3456"/>
            <a:chExt cx="815" cy="96"/>
          </a:xfrm>
        </p:grpSpPr>
        <p:sp>
          <p:nvSpPr>
            <p:cNvPr id="8216" name="Arc 24">
              <a:extLst>
                <a:ext uri="{FF2B5EF4-FFF2-40B4-BE49-F238E27FC236}">
                  <a16:creationId xmlns:a16="http://schemas.microsoft.com/office/drawing/2014/main" id="{BEACAFCE-6184-0956-634A-9221F6A5D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456"/>
              <a:ext cx="432" cy="96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Arc 25">
              <a:extLst>
                <a:ext uri="{FF2B5EF4-FFF2-40B4-BE49-F238E27FC236}">
                  <a16:creationId xmlns:a16="http://schemas.microsoft.com/office/drawing/2014/main" id="{A02705F7-98DB-4E5B-CEA5-7A2479169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3456"/>
              <a:ext cx="432" cy="9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21" name="Group 29">
            <a:extLst>
              <a:ext uri="{FF2B5EF4-FFF2-40B4-BE49-F238E27FC236}">
                <a16:creationId xmlns:a16="http://schemas.microsoft.com/office/drawing/2014/main" id="{07919BFD-123C-254E-68E1-4B8108674030}"/>
              </a:ext>
            </a:extLst>
          </p:cNvPr>
          <p:cNvGrpSpPr>
            <a:grpSpLocks/>
          </p:cNvGrpSpPr>
          <p:nvPr/>
        </p:nvGrpSpPr>
        <p:grpSpPr bwMode="auto">
          <a:xfrm>
            <a:off x="8412163" y="5980113"/>
            <a:ext cx="1293812" cy="152400"/>
            <a:chOff x="4417" y="3456"/>
            <a:chExt cx="815" cy="96"/>
          </a:xfrm>
        </p:grpSpPr>
        <p:sp>
          <p:nvSpPr>
            <p:cNvPr id="8219" name="Arc 27">
              <a:extLst>
                <a:ext uri="{FF2B5EF4-FFF2-40B4-BE49-F238E27FC236}">
                  <a16:creationId xmlns:a16="http://schemas.microsoft.com/office/drawing/2014/main" id="{BC1002FB-57F9-77CC-B82D-1E3BC9471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3456"/>
              <a:ext cx="432" cy="96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Arc 28">
              <a:extLst>
                <a:ext uri="{FF2B5EF4-FFF2-40B4-BE49-F238E27FC236}">
                  <a16:creationId xmlns:a16="http://schemas.microsoft.com/office/drawing/2014/main" id="{0537C832-B8A3-FC7E-FE28-47A515C54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3456"/>
              <a:ext cx="432" cy="9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22" name="Line 30">
            <a:extLst>
              <a:ext uri="{FF2B5EF4-FFF2-40B4-BE49-F238E27FC236}">
                <a16:creationId xmlns:a16="http://schemas.microsoft.com/office/drawing/2014/main" id="{CBDA14D8-5E09-34A0-62FB-E8A898814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0575" y="4760913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3" name="Line 31">
            <a:extLst>
              <a:ext uri="{FF2B5EF4-FFF2-40B4-BE49-F238E27FC236}">
                <a16:creationId xmlns:a16="http://schemas.microsoft.com/office/drawing/2014/main" id="{ADFD9D6F-3F0D-3EA7-AED6-015619495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5975" y="4760913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4" name="Line 32">
            <a:extLst>
              <a:ext uri="{FF2B5EF4-FFF2-40B4-BE49-F238E27FC236}">
                <a16:creationId xmlns:a16="http://schemas.microsoft.com/office/drawing/2014/main" id="{DE3E0FFA-522F-2918-330E-837E82FDB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5065713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5" name="Line 33">
            <a:extLst>
              <a:ext uri="{FF2B5EF4-FFF2-40B4-BE49-F238E27FC236}">
                <a16:creationId xmlns:a16="http://schemas.microsoft.com/office/drawing/2014/main" id="{F2EB2340-4558-590A-B7E2-79563B990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5827713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6" name="Line 34">
            <a:extLst>
              <a:ext uri="{FF2B5EF4-FFF2-40B4-BE49-F238E27FC236}">
                <a16:creationId xmlns:a16="http://schemas.microsoft.com/office/drawing/2014/main" id="{0D7DCAD7-98C5-8239-F08C-7D499B0B9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0775" y="4989513"/>
            <a:ext cx="60960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7" name="Line 35">
            <a:extLst>
              <a:ext uri="{FF2B5EF4-FFF2-40B4-BE49-F238E27FC236}">
                <a16:creationId xmlns:a16="http://schemas.microsoft.com/office/drawing/2014/main" id="{7C90BA74-B715-A509-8E00-599D676ED0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0775" y="5522913"/>
            <a:ext cx="6096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8" name="Line 36">
            <a:extLst>
              <a:ext uri="{FF2B5EF4-FFF2-40B4-BE49-F238E27FC236}">
                <a16:creationId xmlns:a16="http://schemas.microsoft.com/office/drawing/2014/main" id="{BC39A6AF-9966-A72B-EE9E-3FAABCEED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0975" y="5446713"/>
            <a:ext cx="609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506" y="-145924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Two-</a:t>
            </a:r>
            <a:r>
              <a:rPr dirty="0"/>
              <a:t>Way</a:t>
            </a:r>
            <a:r>
              <a:rPr spc="-45" dirty="0"/>
              <a:t> </a:t>
            </a:r>
            <a:r>
              <a:rPr dirty="0"/>
              <a:t>External</a:t>
            </a:r>
            <a:r>
              <a:rPr spc="-40" dirty="0"/>
              <a:t> </a:t>
            </a:r>
            <a:r>
              <a:rPr dirty="0"/>
              <a:t>Merge</a:t>
            </a:r>
            <a:r>
              <a:rPr spc="-40" dirty="0"/>
              <a:t> </a:t>
            </a:r>
            <a:r>
              <a:rPr spc="-20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4409" y="1462532"/>
            <a:ext cx="2825750" cy="14947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5080" indent="-342900">
              <a:lnSpc>
                <a:spcPct val="100600"/>
              </a:lnSpc>
              <a:spcBef>
                <a:spcPts val="8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  <a:tab pos="1201420" algn="l"/>
              </a:tabLst>
            </a:pP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Idea:</a:t>
            </a:r>
            <a:r>
              <a:rPr sz="2400" i="1" dirty="0">
                <a:latin typeface="Arial"/>
                <a:cs typeface="Arial"/>
              </a:rPr>
              <a:t>	Divide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and </a:t>
            </a:r>
            <a:r>
              <a:rPr sz="2400" i="1" dirty="0">
                <a:latin typeface="Arial"/>
                <a:cs typeface="Arial"/>
              </a:rPr>
              <a:t>conquer: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sort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sub-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merge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sorts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409" y="3443732"/>
            <a:ext cx="2843530" cy="27292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4965" marR="327025" indent="-342900">
              <a:lnSpc>
                <a:spcPct val="100800"/>
              </a:lnSpc>
              <a:spcBef>
                <a:spcPts val="7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records</a:t>
            </a:r>
            <a:endParaRPr sz="2400">
              <a:latin typeface="Arial MT"/>
              <a:cs typeface="Arial MT"/>
            </a:endParaRPr>
          </a:p>
          <a:p>
            <a:pPr marL="354965" marR="5715" indent="-342900">
              <a:lnSpc>
                <a:spcPct val="100800"/>
              </a:lnSpc>
              <a:spcBef>
                <a:spcPts val="48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records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page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99200"/>
              </a:lnSpc>
              <a:spcBef>
                <a:spcPts val="65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records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202" y="2241803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2-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2202" y="3268979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4-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7927" y="5064252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8-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8062" y="1095756"/>
            <a:ext cx="1113155" cy="10312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6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file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0</a:t>
            </a:r>
            <a:endParaRPr sz="1400">
              <a:latin typeface="Cambria"/>
              <a:cs typeface="Cambria"/>
            </a:endParaRPr>
          </a:p>
          <a:p>
            <a:pPr marL="96520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latin typeface="Arial"/>
                <a:cs typeface="Arial"/>
              </a:rPr>
              <a:t>1-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8062" y="2659379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28062" y="3942588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37112" y="1093787"/>
            <a:ext cx="3660775" cy="1554480"/>
            <a:chOff x="4837112" y="1093787"/>
            <a:chExt cx="3660775" cy="1554480"/>
          </a:xfrm>
        </p:grpSpPr>
        <p:sp>
          <p:nvSpPr>
            <p:cNvPr id="12" name="object 12"/>
            <p:cNvSpPr/>
            <p:nvPr/>
          </p:nvSpPr>
          <p:spPr>
            <a:xfrm>
              <a:off x="4843462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812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9437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062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4687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23125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99375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4038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317498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7498" y="255587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74038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37500" y="21288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315912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5912" y="255587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7500" y="21288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37500" y="2384426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5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5"/>
                  </a:lnTo>
                  <a:lnTo>
                    <a:pt x="0" y="257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181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181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43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43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706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706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468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468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2312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2312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9937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9937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74038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498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498" y="257175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74038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43462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43462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883151" y="1141476"/>
            <a:ext cx="2644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8790" algn="l"/>
                <a:tab pos="955040" algn="l"/>
                <a:tab pos="1431290" algn="l"/>
                <a:tab pos="1907539" algn="l"/>
                <a:tab pos="2383790" algn="l"/>
              </a:tabLst>
            </a:pPr>
            <a:r>
              <a:rPr sz="1400" b="1" spc="-25" dirty="0">
                <a:latin typeface="Arial"/>
                <a:cs typeface="Arial"/>
              </a:rPr>
              <a:t>3,4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2100" b="1" spc="-37" baseline="3968" dirty="0">
                <a:latin typeface="Arial"/>
                <a:cs typeface="Arial"/>
              </a:rPr>
              <a:t>6,2</a:t>
            </a:r>
            <a:r>
              <a:rPr sz="2100" b="1" baseline="3968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9,4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8,7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5,6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3,1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00976" y="1129284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73626" y="1656588"/>
            <a:ext cx="2177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1450340" algn="l"/>
                <a:tab pos="1917064" algn="l"/>
              </a:tabLst>
            </a:pPr>
            <a:r>
              <a:rPr sz="1400" b="1" spc="-25" dirty="0">
                <a:latin typeface="Arial"/>
                <a:cs typeface="Arial"/>
              </a:rPr>
              <a:t>3,4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2,6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4,9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7,8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45352" y="1644396"/>
            <a:ext cx="6692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sz="1400" b="1" spc="-25" dirty="0">
                <a:latin typeface="Arial"/>
                <a:cs typeface="Arial"/>
              </a:rPr>
              <a:t>1,3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800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34925">
              <a:lnSpc>
                <a:spcPts val="1525"/>
              </a:lnSpc>
              <a:spcBef>
                <a:spcPts val="484"/>
              </a:spcBef>
            </a:pPr>
            <a:r>
              <a:rPr sz="1400" b="1" spc="-25" dirty="0">
                <a:latin typeface="Arial"/>
                <a:cs typeface="Arial"/>
              </a:rPr>
              <a:t>2,3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00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4450">
              <a:lnSpc>
                <a:spcPts val="1610"/>
              </a:lnSpc>
              <a:spcBef>
                <a:spcPts val="415"/>
              </a:spcBef>
            </a:pPr>
            <a:r>
              <a:rPr sz="1400" b="1" spc="-25" dirty="0">
                <a:latin typeface="Arial"/>
                <a:cs typeface="Arial"/>
              </a:rPr>
              <a:t>4,6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325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5"/>
              </a:spcBef>
            </a:pPr>
            <a:r>
              <a:rPr sz="1400" b="1" spc="-25" dirty="0">
                <a:latin typeface="Arial"/>
                <a:cs typeface="Arial"/>
              </a:rPr>
              <a:t>4,7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325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8,9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50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45"/>
              </a:spcBef>
            </a:pPr>
            <a:r>
              <a:rPr sz="1400" b="1" spc="-25" dirty="0">
                <a:latin typeface="Arial"/>
                <a:cs typeface="Arial"/>
              </a:rPr>
              <a:t>1,3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850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43850" y="2391155"/>
            <a:ext cx="303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5549901" y="2898776"/>
          <a:ext cx="319405" cy="1017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545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425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349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5875" algn="ctr">
                        <a:lnSpc>
                          <a:spcPts val="1430"/>
                        </a:lnSpc>
                        <a:spcBef>
                          <a:spcPts val="49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8,9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7453314" y="2884487"/>
          <a:ext cx="319405" cy="103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22225" algn="ctr">
                        <a:lnSpc>
                          <a:spcPts val="1425"/>
                        </a:lnSpc>
                        <a:spcBef>
                          <a:spcPts val="4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222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3655" algn="ctr">
                        <a:lnSpc>
                          <a:spcPts val="1670"/>
                        </a:lnSpc>
                        <a:spcBef>
                          <a:spcPts val="25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6502400" y="4168776"/>
          <a:ext cx="317500" cy="205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17780" algn="ctr">
                        <a:lnSpc>
                          <a:spcPts val="1520"/>
                        </a:lnSpc>
                        <a:spcBef>
                          <a:spcPts val="35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6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95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10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90"/>
                        </a:lnSpc>
                        <a:spcBef>
                          <a:spcPts val="334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85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7,8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R="1270" algn="ctr">
                        <a:lnSpc>
                          <a:spcPts val="1595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4806951" y="3950075"/>
            <a:ext cx="3815079" cy="259715"/>
            <a:chOff x="4806951" y="3950075"/>
            <a:chExt cx="3815079" cy="259715"/>
          </a:xfrm>
        </p:grpSpPr>
        <p:sp>
          <p:nvSpPr>
            <p:cNvPr id="55" name="object 55"/>
            <p:cNvSpPr/>
            <p:nvPr/>
          </p:nvSpPr>
          <p:spPr>
            <a:xfrm>
              <a:off x="4806951" y="40386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721210" y="3950080"/>
              <a:ext cx="1915160" cy="259715"/>
            </a:xfrm>
            <a:custGeom>
              <a:avLst/>
              <a:gdLst/>
              <a:ahLst/>
              <a:cxnLst/>
              <a:rect l="l" t="t" r="r" b="b"/>
              <a:pathLst>
                <a:path w="1915159" h="259714">
                  <a:moveTo>
                    <a:pt x="851039" y="240919"/>
                  </a:moveTo>
                  <a:lnTo>
                    <a:pt x="849947" y="239953"/>
                  </a:lnTo>
                  <a:lnTo>
                    <a:pt x="787387" y="184302"/>
                  </a:lnTo>
                  <a:lnTo>
                    <a:pt x="797115" y="213233"/>
                  </a:lnTo>
                  <a:lnTo>
                    <a:pt x="801979" y="227685"/>
                  </a:lnTo>
                  <a:lnTo>
                    <a:pt x="797115" y="213233"/>
                  </a:lnTo>
                  <a:lnTo>
                    <a:pt x="6616" y="63"/>
                  </a:lnTo>
                  <a:lnTo>
                    <a:pt x="0" y="24587"/>
                  </a:lnTo>
                  <a:lnTo>
                    <a:pt x="790498" y="237756"/>
                  </a:lnTo>
                  <a:lnTo>
                    <a:pt x="767537" y="257873"/>
                  </a:lnTo>
                  <a:lnTo>
                    <a:pt x="851039" y="240919"/>
                  </a:lnTo>
                  <a:close/>
                </a:path>
                <a:path w="1915159" h="259714">
                  <a:moveTo>
                    <a:pt x="1914550" y="24650"/>
                  </a:moveTo>
                  <a:lnTo>
                    <a:pt x="1908416" y="0"/>
                  </a:lnTo>
                  <a:lnTo>
                    <a:pt x="1046772" y="214299"/>
                  </a:lnTo>
                  <a:lnTo>
                    <a:pt x="1057071" y="185559"/>
                  </a:lnTo>
                  <a:lnTo>
                    <a:pt x="992251" y="240982"/>
                  </a:lnTo>
                  <a:lnTo>
                    <a:pt x="992606" y="240982"/>
                  </a:lnTo>
                  <a:lnTo>
                    <a:pt x="1075461" y="259511"/>
                  </a:lnTo>
                  <a:lnTo>
                    <a:pt x="1052906" y="238950"/>
                  </a:lnTo>
                  <a:lnTo>
                    <a:pt x="1914550" y="24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4729162" y="914400"/>
            <a:ext cx="3892550" cy="5486400"/>
            <a:chOff x="4729162" y="914400"/>
            <a:chExt cx="3892550" cy="5486400"/>
          </a:xfrm>
        </p:grpSpPr>
        <p:sp>
          <p:nvSpPr>
            <p:cNvPr id="58" name="object 58"/>
            <p:cNvSpPr/>
            <p:nvPr/>
          </p:nvSpPr>
          <p:spPr>
            <a:xfrm>
              <a:off x="4735512" y="15240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735512" y="19812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06951" y="27432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9988" y="1371600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3850" y="1371600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9150" y="1371600"/>
              <a:ext cx="76200" cy="228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2863" y="1371600"/>
              <a:ext cx="76200" cy="2286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8163" y="1371600"/>
              <a:ext cx="76200" cy="2286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2025" y="1371600"/>
              <a:ext cx="76200" cy="2286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5738" y="1371600"/>
              <a:ext cx="76200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1038" y="1371600"/>
              <a:ext cx="76200" cy="2286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8909" y="1896383"/>
              <a:ext cx="220466" cy="23721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0813" y="1896383"/>
              <a:ext cx="220466" cy="23721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7920" y="1896383"/>
              <a:ext cx="220466" cy="23721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9825" y="1896383"/>
              <a:ext cx="220466" cy="23721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6934" y="1896383"/>
              <a:ext cx="220465" cy="23721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08838" y="1896383"/>
              <a:ext cx="220466" cy="2372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4541" y="1896348"/>
              <a:ext cx="222022" cy="23725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6413" y="1896348"/>
              <a:ext cx="222022" cy="237251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224780" y="2655823"/>
              <a:ext cx="2839085" cy="240029"/>
            </a:xfrm>
            <a:custGeom>
              <a:avLst/>
              <a:gdLst/>
              <a:ahLst/>
              <a:cxnLst/>
              <a:rect l="l" t="t" r="r" b="b"/>
              <a:pathLst>
                <a:path w="2839084" h="240030">
                  <a:moveTo>
                    <a:pt x="429895" y="239776"/>
                  </a:moveTo>
                  <a:lnTo>
                    <a:pt x="420801" y="226847"/>
                  </a:lnTo>
                  <a:lnTo>
                    <a:pt x="380911" y="170078"/>
                  </a:lnTo>
                  <a:lnTo>
                    <a:pt x="383755" y="200469"/>
                  </a:lnTo>
                  <a:lnTo>
                    <a:pt x="12052" y="0"/>
                  </a:lnTo>
                  <a:lnTo>
                    <a:pt x="0" y="22364"/>
                  </a:lnTo>
                  <a:lnTo>
                    <a:pt x="371690" y="222821"/>
                  </a:lnTo>
                  <a:lnTo>
                    <a:pt x="344741" y="237147"/>
                  </a:lnTo>
                  <a:lnTo>
                    <a:pt x="429895" y="239776"/>
                  </a:lnTo>
                  <a:close/>
                </a:path>
                <a:path w="2839084" h="240030">
                  <a:moveTo>
                    <a:pt x="930516" y="21831"/>
                  </a:moveTo>
                  <a:lnTo>
                    <a:pt x="916686" y="520"/>
                  </a:lnTo>
                  <a:lnTo>
                    <a:pt x="620712" y="192519"/>
                  </a:lnTo>
                  <a:lnTo>
                    <a:pt x="620712" y="222796"/>
                  </a:lnTo>
                  <a:lnTo>
                    <a:pt x="606882" y="201485"/>
                  </a:lnTo>
                  <a:lnTo>
                    <a:pt x="613803" y="212140"/>
                  </a:lnTo>
                  <a:lnTo>
                    <a:pt x="620712" y="222796"/>
                  </a:lnTo>
                  <a:lnTo>
                    <a:pt x="620712" y="192519"/>
                  </a:lnTo>
                  <a:lnTo>
                    <a:pt x="613994" y="196875"/>
                  </a:lnTo>
                  <a:lnTo>
                    <a:pt x="614375" y="166344"/>
                  </a:lnTo>
                  <a:lnTo>
                    <a:pt x="571182" y="239776"/>
                  </a:lnTo>
                  <a:lnTo>
                    <a:pt x="655840" y="230276"/>
                  </a:lnTo>
                  <a:lnTo>
                    <a:pt x="638492" y="222796"/>
                  </a:lnTo>
                  <a:lnTo>
                    <a:pt x="627811" y="218186"/>
                  </a:lnTo>
                  <a:lnTo>
                    <a:pt x="930516" y="21831"/>
                  </a:lnTo>
                  <a:close/>
                </a:path>
                <a:path w="2839084" h="240030">
                  <a:moveTo>
                    <a:pt x="2336482" y="239776"/>
                  </a:moveTo>
                  <a:lnTo>
                    <a:pt x="2327389" y="226847"/>
                  </a:lnTo>
                  <a:lnTo>
                    <a:pt x="2287498" y="170078"/>
                  </a:lnTo>
                  <a:lnTo>
                    <a:pt x="2290343" y="200469"/>
                  </a:lnTo>
                  <a:lnTo>
                    <a:pt x="1918639" y="0"/>
                  </a:lnTo>
                  <a:lnTo>
                    <a:pt x="1906587" y="22364"/>
                  </a:lnTo>
                  <a:lnTo>
                    <a:pt x="2278278" y="222821"/>
                  </a:lnTo>
                  <a:lnTo>
                    <a:pt x="2251329" y="237147"/>
                  </a:lnTo>
                  <a:lnTo>
                    <a:pt x="2336482" y="239776"/>
                  </a:lnTo>
                  <a:close/>
                </a:path>
                <a:path w="2839084" h="240030">
                  <a:moveTo>
                    <a:pt x="2838666" y="21856"/>
                  </a:moveTo>
                  <a:lnTo>
                    <a:pt x="2824886" y="508"/>
                  </a:lnTo>
                  <a:lnTo>
                    <a:pt x="2527325" y="192659"/>
                  </a:lnTo>
                  <a:lnTo>
                    <a:pt x="2527325" y="222897"/>
                  </a:lnTo>
                  <a:lnTo>
                    <a:pt x="2513546" y="201549"/>
                  </a:lnTo>
                  <a:lnTo>
                    <a:pt x="2520442" y="212229"/>
                  </a:lnTo>
                  <a:lnTo>
                    <a:pt x="2527325" y="222897"/>
                  </a:lnTo>
                  <a:lnTo>
                    <a:pt x="2527325" y="192659"/>
                  </a:lnTo>
                  <a:lnTo>
                    <a:pt x="2520658" y="196964"/>
                  </a:lnTo>
                  <a:lnTo>
                    <a:pt x="2521115" y="166433"/>
                  </a:lnTo>
                  <a:lnTo>
                    <a:pt x="2477770" y="239776"/>
                  </a:lnTo>
                  <a:lnTo>
                    <a:pt x="2562441" y="230454"/>
                  </a:lnTo>
                  <a:lnTo>
                    <a:pt x="2545029" y="222897"/>
                  </a:lnTo>
                  <a:lnTo>
                    <a:pt x="2534437" y="218300"/>
                  </a:lnTo>
                  <a:lnTo>
                    <a:pt x="2838666" y="21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735512" y="914400"/>
              <a:ext cx="0" cy="5486400"/>
            </a:xfrm>
            <a:custGeom>
              <a:avLst/>
              <a:gdLst/>
              <a:ahLst/>
              <a:cxnLst/>
              <a:rect l="l" t="t" r="r" b="b"/>
              <a:pathLst>
                <a:path h="5486400">
                  <a:moveTo>
                    <a:pt x="0" y="0"/>
                  </a:moveTo>
                  <a:lnTo>
                    <a:pt x="1" y="5486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87873"/>
            <a:ext cx="10515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</a:t>
            </a:r>
            <a:r>
              <a:rPr sz="28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</a:t>
            </a:r>
            <a:r>
              <a:rPr sz="28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sz="28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7404" y="1340611"/>
            <a:ext cx="248539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10800"/>
              </a:lnSpc>
              <a:spcBef>
                <a:spcPts val="1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433070" algn="l"/>
              </a:tabLst>
            </a:pP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 	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pages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7404" y="2572003"/>
            <a:ext cx="209613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29">
              <a:lnSpc>
                <a:spcPct val="107500"/>
              </a:lnSpc>
              <a:spcBef>
                <a:spcPts val="100"/>
              </a:spcBef>
              <a:buFont typeface="Wingdings"/>
              <a:buChar char=""/>
              <a:tabLst>
                <a:tab pos="264795" algn="l"/>
                <a:tab pos="354965" algn="l"/>
              </a:tabLst>
            </a:pPr>
            <a:r>
              <a:rPr sz="1800" dirty="0">
                <a:solidFill>
                  <a:srgbClr val="0000BE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 MT"/>
                <a:cs typeface="Arial MT"/>
              </a:rPr>
              <a:t>#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 </a:t>
            </a:r>
            <a:r>
              <a:rPr sz="2400" dirty="0">
                <a:latin typeface="Arial MT"/>
                <a:cs typeface="Arial MT"/>
              </a:rPr>
              <a:t>height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404" y="3772915"/>
            <a:ext cx="263334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08300"/>
              </a:lnSpc>
              <a:spcBef>
                <a:spcPts val="100"/>
              </a:spcBef>
              <a:buFont typeface="Wingdings"/>
              <a:buChar char=""/>
              <a:tabLst>
                <a:tab pos="348615" algn="l"/>
                <a:tab pos="354965" algn="l"/>
              </a:tabLst>
            </a:pPr>
            <a:r>
              <a:rPr sz="1800" dirty="0">
                <a:solidFill>
                  <a:srgbClr val="0000BE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above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2202" y="2241803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2-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202" y="3268979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4-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7927" y="5064252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8-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8062" y="1095756"/>
            <a:ext cx="1113155" cy="10312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6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file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0</a:t>
            </a:r>
            <a:endParaRPr sz="1400">
              <a:latin typeface="Cambria"/>
              <a:cs typeface="Cambria"/>
            </a:endParaRPr>
          </a:p>
          <a:p>
            <a:pPr marL="96520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latin typeface="Arial"/>
                <a:cs typeface="Arial"/>
              </a:rPr>
              <a:t>1-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28062" y="2659379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28062" y="3942588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37112" y="1093787"/>
            <a:ext cx="3660775" cy="1554480"/>
            <a:chOff x="4837112" y="1093787"/>
            <a:chExt cx="3660775" cy="1554480"/>
          </a:xfrm>
        </p:grpSpPr>
        <p:sp>
          <p:nvSpPr>
            <p:cNvPr id="13" name="object 13"/>
            <p:cNvSpPr/>
            <p:nvPr/>
          </p:nvSpPr>
          <p:spPr>
            <a:xfrm>
              <a:off x="4843462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1812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437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7062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46875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23125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99375" y="16144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74038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317498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7498" y="255587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4038" y="16144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7500" y="21288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315912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5912" y="255587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37500" y="21288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37500" y="2384426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5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5"/>
                  </a:lnTo>
                  <a:lnTo>
                    <a:pt x="0" y="257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181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181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43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43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706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7062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468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46875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2312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2312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9937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99375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74038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498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498" y="257175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74038" y="11001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43462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3462" y="11001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778627" y="1141476"/>
            <a:ext cx="748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</a:tabLst>
            </a:pPr>
            <a:r>
              <a:rPr sz="1400" b="1" spc="-25" dirty="0">
                <a:latin typeface="Arial"/>
                <a:cs typeface="Arial"/>
              </a:rPr>
              <a:t>5,6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3,1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00976" y="1129284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73626" y="1141476"/>
            <a:ext cx="217741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1440815" algn="l"/>
              </a:tabLst>
            </a:pPr>
            <a:r>
              <a:rPr sz="1400" b="1" spc="-25" dirty="0">
                <a:latin typeface="Arial"/>
                <a:cs typeface="Arial"/>
              </a:rPr>
              <a:t>3,4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2100" b="1" spc="-37" baseline="3968" dirty="0">
                <a:latin typeface="Arial"/>
                <a:cs typeface="Arial"/>
              </a:rPr>
              <a:t>6,2</a:t>
            </a:r>
            <a:r>
              <a:rPr sz="2100" b="1" baseline="3968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9,4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8,7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88315" algn="l"/>
                <a:tab pos="964565" algn="l"/>
                <a:tab pos="1450340" algn="l"/>
                <a:tab pos="1917064" algn="l"/>
              </a:tabLst>
            </a:pPr>
            <a:r>
              <a:rPr sz="1400" b="1" spc="-25" dirty="0">
                <a:latin typeface="Arial"/>
                <a:cs typeface="Arial"/>
              </a:rPr>
              <a:t>3,4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2,6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4,9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7,8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45352" y="1644396"/>
            <a:ext cx="6692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sz="1400" b="1" spc="-25" dirty="0">
                <a:latin typeface="Arial"/>
                <a:cs typeface="Arial"/>
              </a:rPr>
              <a:t>1,3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00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34925">
              <a:lnSpc>
                <a:spcPts val="1525"/>
              </a:lnSpc>
              <a:spcBef>
                <a:spcPts val="484"/>
              </a:spcBef>
            </a:pPr>
            <a:r>
              <a:rPr sz="1400" b="1" spc="-25" dirty="0">
                <a:latin typeface="Arial"/>
                <a:cs typeface="Arial"/>
              </a:rPr>
              <a:t>2,3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00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4450">
              <a:lnSpc>
                <a:spcPts val="1610"/>
              </a:lnSpc>
              <a:spcBef>
                <a:spcPts val="415"/>
              </a:spcBef>
            </a:pPr>
            <a:r>
              <a:rPr sz="1400" b="1" spc="-25" dirty="0">
                <a:latin typeface="Arial"/>
                <a:cs typeface="Arial"/>
              </a:rPr>
              <a:t>4,6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325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5"/>
              </a:spcBef>
            </a:pPr>
            <a:r>
              <a:rPr sz="1400" b="1" spc="-25" dirty="0">
                <a:latin typeface="Arial"/>
                <a:cs typeface="Arial"/>
              </a:rPr>
              <a:t>4,7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325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8,9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85000" y="21288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45"/>
              </a:spcBef>
            </a:pPr>
            <a:r>
              <a:rPr sz="1400" b="1" spc="-25" dirty="0">
                <a:latin typeface="Arial"/>
                <a:cs typeface="Arial"/>
              </a:rPr>
              <a:t>1,3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85000" y="23844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943850" y="2391155"/>
            <a:ext cx="303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5549901" y="2898776"/>
          <a:ext cx="319405" cy="1017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545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425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349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5875" algn="ctr">
                        <a:lnSpc>
                          <a:spcPts val="1430"/>
                        </a:lnSpc>
                        <a:spcBef>
                          <a:spcPts val="49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8,9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7453314" y="2884487"/>
          <a:ext cx="319405" cy="103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22225" algn="ctr">
                        <a:lnSpc>
                          <a:spcPts val="1425"/>
                        </a:lnSpc>
                        <a:spcBef>
                          <a:spcPts val="4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222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3655" algn="ctr">
                        <a:lnSpc>
                          <a:spcPts val="1670"/>
                        </a:lnSpc>
                        <a:spcBef>
                          <a:spcPts val="25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6502400" y="4168776"/>
          <a:ext cx="317500" cy="205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17780" algn="ctr">
                        <a:lnSpc>
                          <a:spcPts val="1520"/>
                        </a:lnSpc>
                        <a:spcBef>
                          <a:spcPts val="35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6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95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10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90"/>
                        </a:lnSpc>
                        <a:spcBef>
                          <a:spcPts val="334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85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7,8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R="1270" algn="ctr">
                        <a:lnSpc>
                          <a:spcPts val="1595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5" name="object 55"/>
          <p:cNvGrpSpPr/>
          <p:nvPr/>
        </p:nvGrpSpPr>
        <p:grpSpPr>
          <a:xfrm>
            <a:off x="4806951" y="3950075"/>
            <a:ext cx="3815079" cy="259715"/>
            <a:chOff x="4806951" y="3950075"/>
            <a:chExt cx="3815079" cy="259715"/>
          </a:xfrm>
        </p:grpSpPr>
        <p:sp>
          <p:nvSpPr>
            <p:cNvPr id="56" name="object 56"/>
            <p:cNvSpPr/>
            <p:nvPr/>
          </p:nvSpPr>
          <p:spPr>
            <a:xfrm>
              <a:off x="4806951" y="40386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721210" y="3950080"/>
              <a:ext cx="1915160" cy="259715"/>
            </a:xfrm>
            <a:custGeom>
              <a:avLst/>
              <a:gdLst/>
              <a:ahLst/>
              <a:cxnLst/>
              <a:rect l="l" t="t" r="r" b="b"/>
              <a:pathLst>
                <a:path w="1915159" h="259714">
                  <a:moveTo>
                    <a:pt x="851039" y="240919"/>
                  </a:moveTo>
                  <a:lnTo>
                    <a:pt x="849947" y="239953"/>
                  </a:lnTo>
                  <a:lnTo>
                    <a:pt x="787387" y="184302"/>
                  </a:lnTo>
                  <a:lnTo>
                    <a:pt x="797115" y="213233"/>
                  </a:lnTo>
                  <a:lnTo>
                    <a:pt x="801979" y="227685"/>
                  </a:lnTo>
                  <a:lnTo>
                    <a:pt x="797115" y="213233"/>
                  </a:lnTo>
                  <a:lnTo>
                    <a:pt x="6616" y="63"/>
                  </a:lnTo>
                  <a:lnTo>
                    <a:pt x="0" y="24587"/>
                  </a:lnTo>
                  <a:lnTo>
                    <a:pt x="790498" y="237756"/>
                  </a:lnTo>
                  <a:lnTo>
                    <a:pt x="767537" y="257873"/>
                  </a:lnTo>
                  <a:lnTo>
                    <a:pt x="851039" y="240919"/>
                  </a:lnTo>
                  <a:close/>
                </a:path>
                <a:path w="1915159" h="259714">
                  <a:moveTo>
                    <a:pt x="1914550" y="24650"/>
                  </a:moveTo>
                  <a:lnTo>
                    <a:pt x="1908416" y="0"/>
                  </a:lnTo>
                  <a:lnTo>
                    <a:pt x="1046772" y="214299"/>
                  </a:lnTo>
                  <a:lnTo>
                    <a:pt x="1057071" y="185559"/>
                  </a:lnTo>
                  <a:lnTo>
                    <a:pt x="992251" y="240982"/>
                  </a:lnTo>
                  <a:lnTo>
                    <a:pt x="992606" y="240982"/>
                  </a:lnTo>
                  <a:lnTo>
                    <a:pt x="1075461" y="259511"/>
                  </a:lnTo>
                  <a:lnTo>
                    <a:pt x="1052906" y="238950"/>
                  </a:lnTo>
                  <a:lnTo>
                    <a:pt x="1914550" y="24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729162" y="914400"/>
            <a:ext cx="3892550" cy="5486400"/>
            <a:chOff x="4729162" y="914400"/>
            <a:chExt cx="3892550" cy="5486400"/>
          </a:xfrm>
        </p:grpSpPr>
        <p:sp>
          <p:nvSpPr>
            <p:cNvPr id="59" name="object 59"/>
            <p:cNvSpPr/>
            <p:nvPr/>
          </p:nvSpPr>
          <p:spPr>
            <a:xfrm>
              <a:off x="4735512" y="15240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35512" y="19812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06951" y="27432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9988" y="1371600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3850" y="1371600"/>
              <a:ext cx="76200" cy="228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9150" y="1371600"/>
              <a:ext cx="76200" cy="2286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2863" y="1371600"/>
              <a:ext cx="76200" cy="2286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8163" y="1371600"/>
              <a:ext cx="76200" cy="2286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2025" y="1371600"/>
              <a:ext cx="76200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5738" y="1371600"/>
              <a:ext cx="76200" cy="2286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1038" y="1371600"/>
              <a:ext cx="76200" cy="2286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8909" y="1896383"/>
              <a:ext cx="220466" cy="23721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0813" y="1896383"/>
              <a:ext cx="220466" cy="23721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7920" y="1896383"/>
              <a:ext cx="220466" cy="23721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6934" y="1896383"/>
              <a:ext cx="220465" cy="23721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9825" y="1896383"/>
              <a:ext cx="220466" cy="2372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8838" y="1896383"/>
              <a:ext cx="220466" cy="23721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4541" y="1896348"/>
              <a:ext cx="222022" cy="23725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6413" y="1896348"/>
              <a:ext cx="222022" cy="23725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224780" y="2655823"/>
              <a:ext cx="2839085" cy="240029"/>
            </a:xfrm>
            <a:custGeom>
              <a:avLst/>
              <a:gdLst/>
              <a:ahLst/>
              <a:cxnLst/>
              <a:rect l="l" t="t" r="r" b="b"/>
              <a:pathLst>
                <a:path w="2839084" h="240030">
                  <a:moveTo>
                    <a:pt x="429895" y="239776"/>
                  </a:moveTo>
                  <a:lnTo>
                    <a:pt x="420801" y="226847"/>
                  </a:lnTo>
                  <a:lnTo>
                    <a:pt x="380911" y="170078"/>
                  </a:lnTo>
                  <a:lnTo>
                    <a:pt x="383755" y="200469"/>
                  </a:lnTo>
                  <a:lnTo>
                    <a:pt x="12052" y="0"/>
                  </a:lnTo>
                  <a:lnTo>
                    <a:pt x="0" y="22364"/>
                  </a:lnTo>
                  <a:lnTo>
                    <a:pt x="371690" y="222821"/>
                  </a:lnTo>
                  <a:lnTo>
                    <a:pt x="344741" y="237147"/>
                  </a:lnTo>
                  <a:lnTo>
                    <a:pt x="429895" y="239776"/>
                  </a:lnTo>
                  <a:close/>
                </a:path>
                <a:path w="2839084" h="240030">
                  <a:moveTo>
                    <a:pt x="930516" y="21831"/>
                  </a:moveTo>
                  <a:lnTo>
                    <a:pt x="916686" y="520"/>
                  </a:lnTo>
                  <a:lnTo>
                    <a:pt x="620712" y="192519"/>
                  </a:lnTo>
                  <a:lnTo>
                    <a:pt x="620712" y="222796"/>
                  </a:lnTo>
                  <a:lnTo>
                    <a:pt x="606882" y="201485"/>
                  </a:lnTo>
                  <a:lnTo>
                    <a:pt x="613803" y="212140"/>
                  </a:lnTo>
                  <a:lnTo>
                    <a:pt x="620712" y="222796"/>
                  </a:lnTo>
                  <a:lnTo>
                    <a:pt x="620712" y="192519"/>
                  </a:lnTo>
                  <a:lnTo>
                    <a:pt x="613994" y="196875"/>
                  </a:lnTo>
                  <a:lnTo>
                    <a:pt x="614375" y="166344"/>
                  </a:lnTo>
                  <a:lnTo>
                    <a:pt x="571182" y="239776"/>
                  </a:lnTo>
                  <a:lnTo>
                    <a:pt x="655840" y="230276"/>
                  </a:lnTo>
                  <a:lnTo>
                    <a:pt x="638492" y="222796"/>
                  </a:lnTo>
                  <a:lnTo>
                    <a:pt x="627811" y="218186"/>
                  </a:lnTo>
                  <a:lnTo>
                    <a:pt x="930516" y="21831"/>
                  </a:lnTo>
                  <a:close/>
                </a:path>
                <a:path w="2839084" h="240030">
                  <a:moveTo>
                    <a:pt x="2336482" y="239776"/>
                  </a:moveTo>
                  <a:lnTo>
                    <a:pt x="2327389" y="226847"/>
                  </a:lnTo>
                  <a:lnTo>
                    <a:pt x="2287498" y="170078"/>
                  </a:lnTo>
                  <a:lnTo>
                    <a:pt x="2290343" y="200469"/>
                  </a:lnTo>
                  <a:lnTo>
                    <a:pt x="1918639" y="0"/>
                  </a:lnTo>
                  <a:lnTo>
                    <a:pt x="1906587" y="22364"/>
                  </a:lnTo>
                  <a:lnTo>
                    <a:pt x="2278278" y="222821"/>
                  </a:lnTo>
                  <a:lnTo>
                    <a:pt x="2251329" y="237147"/>
                  </a:lnTo>
                  <a:lnTo>
                    <a:pt x="2336482" y="239776"/>
                  </a:lnTo>
                  <a:close/>
                </a:path>
                <a:path w="2839084" h="240030">
                  <a:moveTo>
                    <a:pt x="2838666" y="21856"/>
                  </a:moveTo>
                  <a:lnTo>
                    <a:pt x="2824886" y="508"/>
                  </a:lnTo>
                  <a:lnTo>
                    <a:pt x="2527325" y="192659"/>
                  </a:lnTo>
                  <a:lnTo>
                    <a:pt x="2527325" y="222897"/>
                  </a:lnTo>
                  <a:lnTo>
                    <a:pt x="2513546" y="201549"/>
                  </a:lnTo>
                  <a:lnTo>
                    <a:pt x="2520442" y="212229"/>
                  </a:lnTo>
                  <a:lnTo>
                    <a:pt x="2527325" y="222897"/>
                  </a:lnTo>
                  <a:lnTo>
                    <a:pt x="2527325" y="192659"/>
                  </a:lnTo>
                  <a:lnTo>
                    <a:pt x="2520658" y="196964"/>
                  </a:lnTo>
                  <a:lnTo>
                    <a:pt x="2521115" y="166433"/>
                  </a:lnTo>
                  <a:lnTo>
                    <a:pt x="2477770" y="239776"/>
                  </a:lnTo>
                  <a:lnTo>
                    <a:pt x="2562441" y="230454"/>
                  </a:lnTo>
                  <a:lnTo>
                    <a:pt x="2545029" y="222897"/>
                  </a:lnTo>
                  <a:lnTo>
                    <a:pt x="2534437" y="218300"/>
                  </a:lnTo>
                  <a:lnTo>
                    <a:pt x="2838666" y="21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735512" y="914400"/>
              <a:ext cx="0" cy="5486400"/>
            </a:xfrm>
            <a:custGeom>
              <a:avLst/>
              <a:gdLst/>
              <a:ahLst/>
              <a:cxnLst/>
              <a:rect l="l" t="t" r="r" b="b"/>
              <a:pathLst>
                <a:path h="5486400">
                  <a:moveTo>
                    <a:pt x="0" y="0"/>
                  </a:moveTo>
                  <a:lnTo>
                    <a:pt x="1" y="5486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943250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F9C203A-72C2-C6AF-C2E0-A51AE50D85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3EA4A95-D1C2-EA0E-A300-23922479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B75C4B3-8A78-4569-39D2-1C4215BB3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FCC0CC81-B775-D3EE-A372-8A9BC2C9A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2286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Two-Way External Merge Sort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6816A32-DBD0-E245-B244-8526CAD0B9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524000"/>
            <a:ext cx="4191000" cy="43434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sz="2000"/>
              <a:t>Each pass we read + write each page in file.</a:t>
            </a:r>
          </a:p>
          <a:p>
            <a:r>
              <a:rPr lang="en-US" altLang="en-US" sz="2000"/>
              <a:t>N pages in the file =&gt; the number of passes</a:t>
            </a:r>
          </a:p>
          <a:p>
            <a:pPr>
              <a:buFontTx/>
              <a:buNone/>
            </a:pP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So total cost is:</a:t>
            </a:r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 </a:t>
            </a:r>
          </a:p>
          <a:p>
            <a:endParaRPr lang="en-US" altLang="en-US" sz="2000" i="1" u="sng"/>
          </a:p>
          <a:p>
            <a:r>
              <a:rPr lang="en-US" altLang="en-US" sz="2000" i="1" u="sng"/>
              <a:t>Idea:</a:t>
            </a:r>
            <a:r>
              <a:rPr lang="en-US" altLang="en-US" sz="2000" i="1"/>
              <a:t>  Divide and conquer: </a:t>
            </a:r>
            <a:r>
              <a:rPr lang="en-US" altLang="en-US" sz="2000"/>
              <a:t>sort subfiles and merge</a:t>
            </a: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0037FCA6-F8C9-1CF1-451E-7EAF4FB5466A}"/>
              </a:ext>
            </a:extLst>
          </p:cNvPr>
          <p:cNvGraphicFramePr>
            <a:graphicFrameLocks/>
          </p:cNvGraphicFramePr>
          <p:nvPr/>
        </p:nvGraphicFramePr>
        <p:xfrm>
          <a:off x="2438400" y="2895601"/>
          <a:ext cx="2590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77640" imgH="239400" progId="Equation.3">
                  <p:embed/>
                </p:oleObj>
              </mc:Choice>
              <mc:Fallback>
                <p:oleObj name="Equation" r:id="rId2" imgW="1277640" imgH="239400" progId="Equation.3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0037FCA6-F8C9-1CF1-451E-7EAF4FB546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95601"/>
                        <a:ext cx="2590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BEA91CFD-F866-D511-6174-3FB5FD636F7C}"/>
              </a:ext>
            </a:extLst>
          </p:cNvPr>
          <p:cNvGraphicFramePr>
            <a:graphicFrameLocks/>
          </p:cNvGraphicFramePr>
          <p:nvPr/>
        </p:nvGraphicFramePr>
        <p:xfrm>
          <a:off x="2286001" y="3962400"/>
          <a:ext cx="276701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0440" imgH="290160" progId="Equation.3">
                  <p:embed/>
                </p:oleObj>
              </mc:Choice>
              <mc:Fallback>
                <p:oleObj name="Equation" r:id="rId4" imgW="1090440" imgH="290160" progId="Equation.3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BEA91CFD-F866-D511-6174-3FB5FD636F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3962400"/>
                        <a:ext cx="276701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>
            <a:extLst>
              <a:ext uri="{FF2B5EF4-FFF2-40B4-BE49-F238E27FC236}">
                <a16:creationId xmlns:a16="http://schemas.microsoft.com/office/drawing/2014/main" id="{4D6E0359-48D3-F8CC-5340-EECE4D1DE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8325" y="1401764"/>
            <a:ext cx="92974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Input file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530A7A7E-047F-7A5F-2290-A7D259E63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8325" y="1914526"/>
            <a:ext cx="119904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1-page runs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378C0856-1637-78D8-B68E-48031DD3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8325" y="2513014"/>
            <a:ext cx="119904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2-page runs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14A0F2C3-DD24-CDC1-A894-61CDA0BE9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913" y="3540126"/>
            <a:ext cx="119904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4-page runs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65F7056B-BC21-0531-84C1-E2A583B65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638" y="5337176"/>
            <a:ext cx="119904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8-page runs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FFEDFAAD-6037-980E-851D-92E9AA77E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188" y="1660526"/>
            <a:ext cx="74488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Times New Roman" panose="02020603050405020304" pitchFamily="18" charset="0"/>
              </a:rPr>
              <a:t>PASS 0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20750F26-F9D5-CBFB-84AB-2B1D27AED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188" y="2173289"/>
            <a:ext cx="74488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Times New Roman" panose="02020603050405020304" pitchFamily="18" charset="0"/>
              </a:rPr>
              <a:t>PASS 1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CB3B32A5-E1A0-5D78-E5BB-D967CD00B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188" y="2943226"/>
            <a:ext cx="74488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Times New Roman" panose="02020603050405020304" pitchFamily="18" charset="0"/>
              </a:rPr>
              <a:t>PASS 2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54B46D87-ED4A-C037-2F46-BC561FBF8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5775" y="4227514"/>
            <a:ext cx="74488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Times New Roman" panose="02020603050405020304" pitchFamily="18" charset="0"/>
              </a:rPr>
              <a:t>PASS 3</a:t>
            </a:r>
          </a:p>
        </p:txBody>
      </p:sp>
      <p:sp>
        <p:nvSpPr>
          <p:cNvPr id="10257" name="Freeform 17">
            <a:extLst>
              <a:ext uri="{FF2B5EF4-FFF2-40B4-BE49-F238E27FC236}">
                <a16:creationId xmlns:a16="http://schemas.microsoft.com/office/drawing/2014/main" id="{703E5DFF-30DE-8753-AFE2-051D4F91F297}"/>
              </a:ext>
            </a:extLst>
          </p:cNvPr>
          <p:cNvSpPr>
            <a:spLocks/>
          </p:cNvSpPr>
          <p:nvPr/>
        </p:nvSpPr>
        <p:spPr bwMode="auto">
          <a:xfrm>
            <a:off x="5670550" y="1919289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Freeform 18">
            <a:extLst>
              <a:ext uri="{FF2B5EF4-FFF2-40B4-BE49-F238E27FC236}">
                <a16:creationId xmlns:a16="http://schemas.microsoft.com/office/drawing/2014/main" id="{F4C7C53B-3854-F537-96A4-6043FF83ABFC}"/>
              </a:ext>
            </a:extLst>
          </p:cNvPr>
          <p:cNvSpPr>
            <a:spLocks/>
          </p:cNvSpPr>
          <p:nvPr/>
        </p:nvSpPr>
        <p:spPr bwMode="auto">
          <a:xfrm>
            <a:off x="6145214" y="191928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Freeform 19">
            <a:extLst>
              <a:ext uri="{FF2B5EF4-FFF2-40B4-BE49-F238E27FC236}">
                <a16:creationId xmlns:a16="http://schemas.microsoft.com/office/drawing/2014/main" id="{F22FB636-209B-E51C-2E02-73DCF14D7350}"/>
              </a:ext>
            </a:extLst>
          </p:cNvPr>
          <p:cNvSpPr>
            <a:spLocks/>
          </p:cNvSpPr>
          <p:nvPr/>
        </p:nvSpPr>
        <p:spPr bwMode="auto">
          <a:xfrm>
            <a:off x="6621464" y="191928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Freeform 20">
            <a:extLst>
              <a:ext uri="{FF2B5EF4-FFF2-40B4-BE49-F238E27FC236}">
                <a16:creationId xmlns:a16="http://schemas.microsoft.com/office/drawing/2014/main" id="{643F5BE3-2F37-D744-B828-B14C54BB049E}"/>
              </a:ext>
            </a:extLst>
          </p:cNvPr>
          <p:cNvSpPr>
            <a:spLocks/>
          </p:cNvSpPr>
          <p:nvPr/>
        </p:nvSpPr>
        <p:spPr bwMode="auto">
          <a:xfrm>
            <a:off x="7097714" y="191928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Freeform 21">
            <a:extLst>
              <a:ext uri="{FF2B5EF4-FFF2-40B4-BE49-F238E27FC236}">
                <a16:creationId xmlns:a16="http://schemas.microsoft.com/office/drawing/2014/main" id="{B2158B2E-CA38-7531-9806-35932C233B30}"/>
              </a:ext>
            </a:extLst>
          </p:cNvPr>
          <p:cNvSpPr>
            <a:spLocks/>
          </p:cNvSpPr>
          <p:nvPr/>
        </p:nvSpPr>
        <p:spPr bwMode="auto">
          <a:xfrm>
            <a:off x="7573964" y="191928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2" name="Freeform 22">
            <a:extLst>
              <a:ext uri="{FF2B5EF4-FFF2-40B4-BE49-F238E27FC236}">
                <a16:creationId xmlns:a16="http://schemas.microsoft.com/office/drawing/2014/main" id="{0F1AA6AC-3D08-FB48-D2CD-BBB451DDA098}"/>
              </a:ext>
            </a:extLst>
          </p:cNvPr>
          <p:cNvSpPr>
            <a:spLocks/>
          </p:cNvSpPr>
          <p:nvPr/>
        </p:nvSpPr>
        <p:spPr bwMode="auto">
          <a:xfrm>
            <a:off x="8050213" y="1919289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3" name="Freeform 23">
            <a:extLst>
              <a:ext uri="{FF2B5EF4-FFF2-40B4-BE49-F238E27FC236}">
                <a16:creationId xmlns:a16="http://schemas.microsoft.com/office/drawing/2014/main" id="{1F89972B-BA94-3938-8960-A0F7E7971D47}"/>
              </a:ext>
            </a:extLst>
          </p:cNvPr>
          <p:cNvSpPr>
            <a:spLocks/>
          </p:cNvSpPr>
          <p:nvPr/>
        </p:nvSpPr>
        <p:spPr bwMode="auto">
          <a:xfrm>
            <a:off x="8526463" y="1919289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4" name="Freeform 24">
            <a:extLst>
              <a:ext uri="{FF2B5EF4-FFF2-40B4-BE49-F238E27FC236}">
                <a16:creationId xmlns:a16="http://schemas.microsoft.com/office/drawing/2014/main" id="{9A717EDD-79EF-83C6-5C40-5848B1B0787D}"/>
              </a:ext>
            </a:extLst>
          </p:cNvPr>
          <p:cNvSpPr>
            <a:spLocks/>
          </p:cNvSpPr>
          <p:nvPr/>
        </p:nvSpPr>
        <p:spPr bwMode="auto">
          <a:xfrm>
            <a:off x="9001125" y="1919289"/>
            <a:ext cx="319088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5" name="Freeform 25">
            <a:extLst>
              <a:ext uri="{FF2B5EF4-FFF2-40B4-BE49-F238E27FC236}">
                <a16:creationId xmlns:a16="http://schemas.microsoft.com/office/drawing/2014/main" id="{79771CA3-F037-2B26-762C-68F77D246BCD}"/>
              </a:ext>
            </a:extLst>
          </p:cNvPr>
          <p:cNvSpPr>
            <a:spLocks/>
          </p:cNvSpPr>
          <p:nvPr/>
        </p:nvSpPr>
        <p:spPr bwMode="auto">
          <a:xfrm>
            <a:off x="5907089" y="243363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6" name="Freeform 26">
            <a:extLst>
              <a:ext uri="{FF2B5EF4-FFF2-40B4-BE49-F238E27FC236}">
                <a16:creationId xmlns:a16="http://schemas.microsoft.com/office/drawing/2014/main" id="{F945CDDA-ED0A-0116-BFEA-20F85CA087FB}"/>
              </a:ext>
            </a:extLst>
          </p:cNvPr>
          <p:cNvSpPr>
            <a:spLocks/>
          </p:cNvSpPr>
          <p:nvPr/>
        </p:nvSpPr>
        <p:spPr bwMode="auto">
          <a:xfrm>
            <a:off x="5907089" y="2689226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7" name="Freeform 27">
            <a:extLst>
              <a:ext uri="{FF2B5EF4-FFF2-40B4-BE49-F238E27FC236}">
                <a16:creationId xmlns:a16="http://schemas.microsoft.com/office/drawing/2014/main" id="{4E4A3BAC-9478-9D2A-E231-F4F913E5E5B6}"/>
              </a:ext>
            </a:extLst>
          </p:cNvPr>
          <p:cNvSpPr>
            <a:spLocks/>
          </p:cNvSpPr>
          <p:nvPr/>
        </p:nvSpPr>
        <p:spPr bwMode="auto">
          <a:xfrm>
            <a:off x="6859589" y="243363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8" name="Freeform 28">
            <a:extLst>
              <a:ext uri="{FF2B5EF4-FFF2-40B4-BE49-F238E27FC236}">
                <a16:creationId xmlns:a16="http://schemas.microsoft.com/office/drawing/2014/main" id="{5BBF7685-1CAC-6B94-7B67-F93714764F95}"/>
              </a:ext>
            </a:extLst>
          </p:cNvPr>
          <p:cNvSpPr>
            <a:spLocks/>
          </p:cNvSpPr>
          <p:nvPr/>
        </p:nvSpPr>
        <p:spPr bwMode="auto">
          <a:xfrm>
            <a:off x="6859589" y="2689226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9" name="Freeform 29">
            <a:extLst>
              <a:ext uri="{FF2B5EF4-FFF2-40B4-BE49-F238E27FC236}">
                <a16:creationId xmlns:a16="http://schemas.microsoft.com/office/drawing/2014/main" id="{B4ED29DB-FEF1-B190-A670-C8FE85921DC2}"/>
              </a:ext>
            </a:extLst>
          </p:cNvPr>
          <p:cNvSpPr>
            <a:spLocks/>
          </p:cNvSpPr>
          <p:nvPr/>
        </p:nvSpPr>
        <p:spPr bwMode="auto">
          <a:xfrm>
            <a:off x="7812089" y="2433639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0" name="Freeform 30">
            <a:extLst>
              <a:ext uri="{FF2B5EF4-FFF2-40B4-BE49-F238E27FC236}">
                <a16:creationId xmlns:a16="http://schemas.microsoft.com/office/drawing/2014/main" id="{8F56ADC1-717D-4903-0965-4206749F1B07}"/>
              </a:ext>
            </a:extLst>
          </p:cNvPr>
          <p:cNvSpPr>
            <a:spLocks/>
          </p:cNvSpPr>
          <p:nvPr/>
        </p:nvSpPr>
        <p:spPr bwMode="auto">
          <a:xfrm>
            <a:off x="7812089" y="2689226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1" name="Freeform 31">
            <a:extLst>
              <a:ext uri="{FF2B5EF4-FFF2-40B4-BE49-F238E27FC236}">
                <a16:creationId xmlns:a16="http://schemas.microsoft.com/office/drawing/2014/main" id="{97B5D2BE-FF56-2A9B-D7BD-F378EA9ABBC0}"/>
              </a:ext>
            </a:extLst>
          </p:cNvPr>
          <p:cNvSpPr>
            <a:spLocks/>
          </p:cNvSpPr>
          <p:nvPr/>
        </p:nvSpPr>
        <p:spPr bwMode="auto">
          <a:xfrm>
            <a:off x="8764588" y="2433639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2" name="Freeform 32">
            <a:extLst>
              <a:ext uri="{FF2B5EF4-FFF2-40B4-BE49-F238E27FC236}">
                <a16:creationId xmlns:a16="http://schemas.microsoft.com/office/drawing/2014/main" id="{887DF8B3-D59D-0101-181C-B6274937B014}"/>
              </a:ext>
            </a:extLst>
          </p:cNvPr>
          <p:cNvSpPr>
            <a:spLocks/>
          </p:cNvSpPr>
          <p:nvPr/>
        </p:nvSpPr>
        <p:spPr bwMode="auto">
          <a:xfrm>
            <a:off x="8764588" y="2689226"/>
            <a:ext cx="317500" cy="258763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3" name="Freeform 33">
            <a:extLst>
              <a:ext uri="{FF2B5EF4-FFF2-40B4-BE49-F238E27FC236}">
                <a16:creationId xmlns:a16="http://schemas.microsoft.com/office/drawing/2014/main" id="{E7F7CE82-5589-8302-11E5-E36000920A88}"/>
              </a:ext>
            </a:extLst>
          </p:cNvPr>
          <p:cNvSpPr>
            <a:spLocks/>
          </p:cNvSpPr>
          <p:nvPr/>
        </p:nvSpPr>
        <p:spPr bwMode="auto">
          <a:xfrm>
            <a:off x="6383339" y="3459163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4" name="Freeform 34">
            <a:extLst>
              <a:ext uri="{FF2B5EF4-FFF2-40B4-BE49-F238E27FC236}">
                <a16:creationId xmlns:a16="http://schemas.microsoft.com/office/drawing/2014/main" id="{AD79AD2D-19AD-C347-141D-6C14A2771FEF}"/>
              </a:ext>
            </a:extLst>
          </p:cNvPr>
          <p:cNvSpPr>
            <a:spLocks/>
          </p:cNvSpPr>
          <p:nvPr/>
        </p:nvSpPr>
        <p:spPr bwMode="auto">
          <a:xfrm>
            <a:off x="6383339" y="3716339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5" name="Freeform 35">
            <a:extLst>
              <a:ext uri="{FF2B5EF4-FFF2-40B4-BE49-F238E27FC236}">
                <a16:creationId xmlns:a16="http://schemas.microsoft.com/office/drawing/2014/main" id="{1C99E610-B235-84BB-633D-476ECD0808E0}"/>
              </a:ext>
            </a:extLst>
          </p:cNvPr>
          <p:cNvSpPr>
            <a:spLocks/>
          </p:cNvSpPr>
          <p:nvPr/>
        </p:nvSpPr>
        <p:spPr bwMode="auto">
          <a:xfrm>
            <a:off x="6383339" y="3971926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6" name="Freeform 36">
            <a:extLst>
              <a:ext uri="{FF2B5EF4-FFF2-40B4-BE49-F238E27FC236}">
                <a16:creationId xmlns:a16="http://schemas.microsoft.com/office/drawing/2014/main" id="{12368FA7-DC48-C0BF-612F-019D4A0606CD}"/>
              </a:ext>
            </a:extLst>
          </p:cNvPr>
          <p:cNvSpPr>
            <a:spLocks/>
          </p:cNvSpPr>
          <p:nvPr/>
        </p:nvSpPr>
        <p:spPr bwMode="auto">
          <a:xfrm>
            <a:off x="8286751" y="3201988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7" name="Freeform 37">
            <a:extLst>
              <a:ext uri="{FF2B5EF4-FFF2-40B4-BE49-F238E27FC236}">
                <a16:creationId xmlns:a16="http://schemas.microsoft.com/office/drawing/2014/main" id="{05D4DBC0-4BCD-2210-6650-B7E1E0777D1F}"/>
              </a:ext>
            </a:extLst>
          </p:cNvPr>
          <p:cNvSpPr>
            <a:spLocks/>
          </p:cNvSpPr>
          <p:nvPr/>
        </p:nvSpPr>
        <p:spPr bwMode="auto">
          <a:xfrm>
            <a:off x="8286751" y="3459163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8" name="Freeform 38">
            <a:extLst>
              <a:ext uri="{FF2B5EF4-FFF2-40B4-BE49-F238E27FC236}">
                <a16:creationId xmlns:a16="http://schemas.microsoft.com/office/drawing/2014/main" id="{5A1A56B4-7942-970A-1E02-22467577523C}"/>
              </a:ext>
            </a:extLst>
          </p:cNvPr>
          <p:cNvSpPr>
            <a:spLocks/>
          </p:cNvSpPr>
          <p:nvPr/>
        </p:nvSpPr>
        <p:spPr bwMode="auto">
          <a:xfrm>
            <a:off x="8286751" y="3716339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9" name="Freeform 39">
            <a:extLst>
              <a:ext uri="{FF2B5EF4-FFF2-40B4-BE49-F238E27FC236}">
                <a16:creationId xmlns:a16="http://schemas.microsoft.com/office/drawing/2014/main" id="{9DEAFA95-2C3D-6A3A-42B1-7AF908AFE7B2}"/>
              </a:ext>
            </a:extLst>
          </p:cNvPr>
          <p:cNvSpPr>
            <a:spLocks/>
          </p:cNvSpPr>
          <p:nvPr/>
        </p:nvSpPr>
        <p:spPr bwMode="auto">
          <a:xfrm>
            <a:off x="8286751" y="3971926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0" name="Freeform 40">
            <a:extLst>
              <a:ext uri="{FF2B5EF4-FFF2-40B4-BE49-F238E27FC236}">
                <a16:creationId xmlns:a16="http://schemas.microsoft.com/office/drawing/2014/main" id="{16F8C392-791E-CF42-F272-C52E9F8615F7}"/>
              </a:ext>
            </a:extLst>
          </p:cNvPr>
          <p:cNvSpPr>
            <a:spLocks/>
          </p:cNvSpPr>
          <p:nvPr/>
        </p:nvSpPr>
        <p:spPr bwMode="auto">
          <a:xfrm>
            <a:off x="7335839" y="4486276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1" name="Freeform 41">
            <a:extLst>
              <a:ext uri="{FF2B5EF4-FFF2-40B4-BE49-F238E27FC236}">
                <a16:creationId xmlns:a16="http://schemas.microsoft.com/office/drawing/2014/main" id="{01F5F55F-B164-40A3-FA91-4FA7D8833668}"/>
              </a:ext>
            </a:extLst>
          </p:cNvPr>
          <p:cNvSpPr>
            <a:spLocks/>
          </p:cNvSpPr>
          <p:nvPr/>
        </p:nvSpPr>
        <p:spPr bwMode="auto">
          <a:xfrm>
            <a:off x="7335839" y="47418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2" name="Freeform 42">
            <a:extLst>
              <a:ext uri="{FF2B5EF4-FFF2-40B4-BE49-F238E27FC236}">
                <a16:creationId xmlns:a16="http://schemas.microsoft.com/office/drawing/2014/main" id="{153B8A6C-A360-4BD0-6D46-78B6322F8AF0}"/>
              </a:ext>
            </a:extLst>
          </p:cNvPr>
          <p:cNvSpPr>
            <a:spLocks/>
          </p:cNvSpPr>
          <p:nvPr/>
        </p:nvSpPr>
        <p:spPr bwMode="auto">
          <a:xfrm>
            <a:off x="7335839" y="49990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3" name="Freeform 43">
            <a:extLst>
              <a:ext uri="{FF2B5EF4-FFF2-40B4-BE49-F238E27FC236}">
                <a16:creationId xmlns:a16="http://schemas.microsoft.com/office/drawing/2014/main" id="{CA68881A-34C3-F29E-AFB4-770F3C1329AF}"/>
              </a:ext>
            </a:extLst>
          </p:cNvPr>
          <p:cNvSpPr>
            <a:spLocks/>
          </p:cNvSpPr>
          <p:nvPr/>
        </p:nvSpPr>
        <p:spPr bwMode="auto">
          <a:xfrm>
            <a:off x="7335839" y="5256214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4" name="Freeform 44">
            <a:extLst>
              <a:ext uri="{FF2B5EF4-FFF2-40B4-BE49-F238E27FC236}">
                <a16:creationId xmlns:a16="http://schemas.microsoft.com/office/drawing/2014/main" id="{D411399A-7B66-A347-71C8-35D93244CBE6}"/>
              </a:ext>
            </a:extLst>
          </p:cNvPr>
          <p:cNvSpPr>
            <a:spLocks/>
          </p:cNvSpPr>
          <p:nvPr/>
        </p:nvSpPr>
        <p:spPr bwMode="auto">
          <a:xfrm>
            <a:off x="7335839" y="5511801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5" name="Freeform 45">
            <a:extLst>
              <a:ext uri="{FF2B5EF4-FFF2-40B4-BE49-F238E27FC236}">
                <a16:creationId xmlns:a16="http://schemas.microsoft.com/office/drawing/2014/main" id="{0D426C4B-0E1C-4E74-DA37-8FC82F6BB7F2}"/>
              </a:ext>
            </a:extLst>
          </p:cNvPr>
          <p:cNvSpPr>
            <a:spLocks/>
          </p:cNvSpPr>
          <p:nvPr/>
        </p:nvSpPr>
        <p:spPr bwMode="auto">
          <a:xfrm>
            <a:off x="7335839" y="5768976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6" name="Freeform 46">
            <a:extLst>
              <a:ext uri="{FF2B5EF4-FFF2-40B4-BE49-F238E27FC236}">
                <a16:creationId xmlns:a16="http://schemas.microsoft.com/office/drawing/2014/main" id="{C6ED2A89-3E51-29DF-6B6B-CCF89F19F434}"/>
              </a:ext>
            </a:extLst>
          </p:cNvPr>
          <p:cNvSpPr>
            <a:spLocks/>
          </p:cNvSpPr>
          <p:nvPr/>
        </p:nvSpPr>
        <p:spPr bwMode="auto">
          <a:xfrm>
            <a:off x="7335839" y="6026151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7" name="Freeform 47">
            <a:extLst>
              <a:ext uri="{FF2B5EF4-FFF2-40B4-BE49-F238E27FC236}">
                <a16:creationId xmlns:a16="http://schemas.microsoft.com/office/drawing/2014/main" id="{8A45EDCA-0208-DEDD-5119-4CBD731C28CE}"/>
              </a:ext>
            </a:extLst>
          </p:cNvPr>
          <p:cNvSpPr>
            <a:spLocks/>
          </p:cNvSpPr>
          <p:nvPr/>
        </p:nvSpPr>
        <p:spPr bwMode="auto">
          <a:xfrm>
            <a:off x="7335839" y="62817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8" name="Rectangle 48">
            <a:extLst>
              <a:ext uri="{FF2B5EF4-FFF2-40B4-BE49-F238E27FC236}">
                <a16:creationId xmlns:a16="http://schemas.microsoft.com/office/drawing/2014/main" id="{12420928-D855-6397-34BD-A272FA26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9" y="6278564"/>
            <a:ext cx="28533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0289" name="Freeform 49">
            <a:extLst>
              <a:ext uri="{FF2B5EF4-FFF2-40B4-BE49-F238E27FC236}">
                <a16:creationId xmlns:a16="http://schemas.microsoft.com/office/drawing/2014/main" id="{2ED4CF63-E764-0EAD-B5D2-5E00720463A2}"/>
              </a:ext>
            </a:extLst>
          </p:cNvPr>
          <p:cNvSpPr>
            <a:spLocks/>
          </p:cNvSpPr>
          <p:nvPr/>
        </p:nvSpPr>
        <p:spPr bwMode="auto">
          <a:xfrm>
            <a:off x="6145214" y="14049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0" name="Freeform 50">
            <a:extLst>
              <a:ext uri="{FF2B5EF4-FFF2-40B4-BE49-F238E27FC236}">
                <a16:creationId xmlns:a16="http://schemas.microsoft.com/office/drawing/2014/main" id="{9F540D60-A88D-EA0C-754C-CC861D40273F}"/>
              </a:ext>
            </a:extLst>
          </p:cNvPr>
          <p:cNvSpPr>
            <a:spLocks/>
          </p:cNvSpPr>
          <p:nvPr/>
        </p:nvSpPr>
        <p:spPr bwMode="auto">
          <a:xfrm>
            <a:off x="6621464" y="14049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1" name="Freeform 51">
            <a:extLst>
              <a:ext uri="{FF2B5EF4-FFF2-40B4-BE49-F238E27FC236}">
                <a16:creationId xmlns:a16="http://schemas.microsoft.com/office/drawing/2014/main" id="{21478EA7-84C9-0D20-537A-6B491CD74F45}"/>
              </a:ext>
            </a:extLst>
          </p:cNvPr>
          <p:cNvSpPr>
            <a:spLocks/>
          </p:cNvSpPr>
          <p:nvPr/>
        </p:nvSpPr>
        <p:spPr bwMode="auto">
          <a:xfrm>
            <a:off x="7097714" y="14049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2" name="Freeform 52">
            <a:extLst>
              <a:ext uri="{FF2B5EF4-FFF2-40B4-BE49-F238E27FC236}">
                <a16:creationId xmlns:a16="http://schemas.microsoft.com/office/drawing/2014/main" id="{B5696E80-1B1F-AD7D-59AD-F73232B0EC06}"/>
              </a:ext>
            </a:extLst>
          </p:cNvPr>
          <p:cNvSpPr>
            <a:spLocks/>
          </p:cNvSpPr>
          <p:nvPr/>
        </p:nvSpPr>
        <p:spPr bwMode="auto">
          <a:xfrm>
            <a:off x="7573964" y="140493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3" name="Freeform 53">
            <a:extLst>
              <a:ext uri="{FF2B5EF4-FFF2-40B4-BE49-F238E27FC236}">
                <a16:creationId xmlns:a16="http://schemas.microsoft.com/office/drawing/2014/main" id="{BEB6F10B-C51D-DC87-0ACE-E6FC2A322FD4}"/>
              </a:ext>
            </a:extLst>
          </p:cNvPr>
          <p:cNvSpPr>
            <a:spLocks/>
          </p:cNvSpPr>
          <p:nvPr/>
        </p:nvSpPr>
        <p:spPr bwMode="auto">
          <a:xfrm>
            <a:off x="8050213" y="1404938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4" name="Freeform 54">
            <a:extLst>
              <a:ext uri="{FF2B5EF4-FFF2-40B4-BE49-F238E27FC236}">
                <a16:creationId xmlns:a16="http://schemas.microsoft.com/office/drawing/2014/main" id="{0EB59776-ADFB-F45D-4BAF-223E6CD83DD2}"/>
              </a:ext>
            </a:extLst>
          </p:cNvPr>
          <p:cNvSpPr>
            <a:spLocks/>
          </p:cNvSpPr>
          <p:nvPr/>
        </p:nvSpPr>
        <p:spPr bwMode="auto">
          <a:xfrm>
            <a:off x="8526463" y="1404938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5" name="Freeform 55">
            <a:extLst>
              <a:ext uri="{FF2B5EF4-FFF2-40B4-BE49-F238E27FC236}">
                <a16:creationId xmlns:a16="http://schemas.microsoft.com/office/drawing/2014/main" id="{5FC48104-4CF4-AD8D-46A1-8320CC99B9F8}"/>
              </a:ext>
            </a:extLst>
          </p:cNvPr>
          <p:cNvSpPr>
            <a:spLocks/>
          </p:cNvSpPr>
          <p:nvPr/>
        </p:nvSpPr>
        <p:spPr bwMode="auto">
          <a:xfrm>
            <a:off x="9001125" y="1404938"/>
            <a:ext cx="319088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6" name="Freeform 56">
            <a:extLst>
              <a:ext uri="{FF2B5EF4-FFF2-40B4-BE49-F238E27FC236}">
                <a16:creationId xmlns:a16="http://schemas.microsoft.com/office/drawing/2014/main" id="{0CB64F26-B33D-FB6C-8829-C1FF3CA611C6}"/>
              </a:ext>
            </a:extLst>
          </p:cNvPr>
          <p:cNvSpPr>
            <a:spLocks/>
          </p:cNvSpPr>
          <p:nvPr/>
        </p:nvSpPr>
        <p:spPr bwMode="auto">
          <a:xfrm>
            <a:off x="5670550" y="1404938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7" name="Rectangle 57">
            <a:extLst>
              <a:ext uri="{FF2B5EF4-FFF2-40B4-BE49-F238E27FC236}">
                <a16:creationId xmlns:a16="http://schemas.microsoft.com/office/drawing/2014/main" id="{EB7EC6C7-B60D-BA4D-2505-794E559E5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275" y="141446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3,4</a:t>
            </a:r>
          </a:p>
        </p:txBody>
      </p:sp>
      <p:sp>
        <p:nvSpPr>
          <p:cNvPr id="10298" name="Rectangle 58">
            <a:extLst>
              <a:ext uri="{FF2B5EF4-FFF2-40B4-BE49-F238E27FC236}">
                <a16:creationId xmlns:a16="http://schemas.microsoft.com/office/drawing/2014/main" id="{85A8C40F-3529-DC8C-C0AC-3224FF154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40176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6,2</a:t>
            </a:r>
          </a:p>
        </p:txBody>
      </p:sp>
      <p:sp>
        <p:nvSpPr>
          <p:cNvPr id="10299" name="Rectangle 59">
            <a:extLst>
              <a:ext uri="{FF2B5EF4-FFF2-40B4-BE49-F238E27FC236}">
                <a16:creationId xmlns:a16="http://schemas.microsoft.com/office/drawing/2014/main" id="{9B88B672-C1EC-E1BE-CF82-678DB9AC5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141287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9,4</a:t>
            </a:r>
          </a:p>
        </p:txBody>
      </p:sp>
      <p:sp>
        <p:nvSpPr>
          <p:cNvPr id="10300" name="Rectangle 60">
            <a:extLst>
              <a:ext uri="{FF2B5EF4-FFF2-40B4-BE49-F238E27FC236}">
                <a16:creationId xmlns:a16="http://schemas.microsoft.com/office/drawing/2014/main" id="{67C2DE99-5DDA-BE05-BA34-8C4080C6B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141287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8,7</a:t>
            </a:r>
          </a:p>
        </p:txBody>
      </p:sp>
      <p:sp>
        <p:nvSpPr>
          <p:cNvPr id="10301" name="Rectangle 61">
            <a:extLst>
              <a:ext uri="{FF2B5EF4-FFF2-40B4-BE49-F238E27FC236}">
                <a16:creationId xmlns:a16="http://schemas.microsoft.com/office/drawing/2014/main" id="{DB9BBCC7-FC52-B641-10C2-DFB720CDA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41287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5,6</a:t>
            </a:r>
          </a:p>
        </p:txBody>
      </p:sp>
      <p:sp>
        <p:nvSpPr>
          <p:cNvPr id="10302" name="Rectangle 62">
            <a:extLst>
              <a:ext uri="{FF2B5EF4-FFF2-40B4-BE49-F238E27FC236}">
                <a16:creationId xmlns:a16="http://schemas.microsoft.com/office/drawing/2014/main" id="{C4FBB2D1-D34A-DCAF-1B79-383E6C98F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1287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3,1</a:t>
            </a:r>
          </a:p>
        </p:txBody>
      </p:sp>
      <p:sp>
        <p:nvSpPr>
          <p:cNvPr id="10303" name="Rectangle 63">
            <a:extLst>
              <a:ext uri="{FF2B5EF4-FFF2-40B4-BE49-F238E27FC236}">
                <a16:creationId xmlns:a16="http://schemas.microsoft.com/office/drawing/2014/main" id="{1E44FC21-EB00-A55A-E874-F429D2128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101" y="1401764"/>
            <a:ext cx="28533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304" name="Rectangle 64">
            <a:extLst>
              <a:ext uri="{FF2B5EF4-FFF2-40B4-BE49-F238E27FC236}">
                <a16:creationId xmlns:a16="http://schemas.microsoft.com/office/drawing/2014/main" id="{FC39DC2A-E142-256A-369D-1EEDB6379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92881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3,4</a:t>
            </a:r>
          </a:p>
        </p:txBody>
      </p:sp>
      <p:sp>
        <p:nvSpPr>
          <p:cNvPr id="10305" name="Rectangle 65">
            <a:extLst>
              <a:ext uri="{FF2B5EF4-FFF2-40B4-BE49-F238E27FC236}">
                <a16:creationId xmlns:a16="http://schemas.microsoft.com/office/drawing/2014/main" id="{B76A4798-388D-CC5E-9360-01BC9C88C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9272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5,6</a:t>
            </a:r>
          </a:p>
        </p:txBody>
      </p:sp>
      <p:sp>
        <p:nvSpPr>
          <p:cNvPr id="10306" name="Rectangle 66">
            <a:extLst>
              <a:ext uri="{FF2B5EF4-FFF2-40B4-BE49-F238E27FC236}">
                <a16:creationId xmlns:a16="http://schemas.microsoft.com/office/drawing/2014/main" id="{2E32E9EB-76AF-204D-DD86-FB8B24AB3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272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2,6</a:t>
            </a:r>
          </a:p>
        </p:txBody>
      </p:sp>
      <p:sp>
        <p:nvSpPr>
          <p:cNvPr id="10307" name="Rectangle 67">
            <a:extLst>
              <a:ext uri="{FF2B5EF4-FFF2-40B4-BE49-F238E27FC236}">
                <a16:creationId xmlns:a16="http://schemas.microsoft.com/office/drawing/2014/main" id="{F2B26E64-C38B-DA45-908F-333B52752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19272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4,9</a:t>
            </a:r>
          </a:p>
        </p:txBody>
      </p:sp>
      <p:sp>
        <p:nvSpPr>
          <p:cNvPr id="10308" name="Rectangle 68">
            <a:extLst>
              <a:ext uri="{FF2B5EF4-FFF2-40B4-BE49-F238E27FC236}">
                <a16:creationId xmlns:a16="http://schemas.microsoft.com/office/drawing/2014/main" id="{70FA4DF9-EF88-9485-9694-D3CC40EF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025" y="19272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7,8</a:t>
            </a:r>
          </a:p>
        </p:txBody>
      </p:sp>
      <p:sp>
        <p:nvSpPr>
          <p:cNvPr id="10309" name="Rectangle 69">
            <a:extLst>
              <a:ext uri="{FF2B5EF4-FFF2-40B4-BE49-F238E27FC236}">
                <a16:creationId xmlns:a16="http://schemas.microsoft.com/office/drawing/2014/main" id="{22E2CAAC-1EDE-A8BF-BA2C-32FE0AAC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19145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1,3</a:t>
            </a:r>
          </a:p>
        </p:txBody>
      </p:sp>
      <p:sp>
        <p:nvSpPr>
          <p:cNvPr id="10310" name="Rectangle 70">
            <a:extLst>
              <a:ext uri="{FF2B5EF4-FFF2-40B4-BE49-F238E27FC236}">
                <a16:creationId xmlns:a16="http://schemas.microsoft.com/office/drawing/2014/main" id="{5B1E9BDA-D627-8BC7-969A-C68018FE1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989" y="1914526"/>
            <a:ext cx="28533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311" name="Rectangle 71">
            <a:extLst>
              <a:ext uri="{FF2B5EF4-FFF2-40B4-BE49-F238E27FC236}">
                <a16:creationId xmlns:a16="http://schemas.microsoft.com/office/drawing/2014/main" id="{343E297A-1B20-D5EA-47B4-9A3ED9294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350" y="2451101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2,3</a:t>
            </a:r>
          </a:p>
        </p:txBody>
      </p:sp>
      <p:sp>
        <p:nvSpPr>
          <p:cNvPr id="10312" name="Rectangle 72">
            <a:extLst>
              <a:ext uri="{FF2B5EF4-FFF2-40B4-BE49-F238E27FC236}">
                <a16:creationId xmlns:a16="http://schemas.microsoft.com/office/drawing/2014/main" id="{FBAFF8DA-C9A8-AB6B-B8CB-9F5661DCA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269716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4,6</a:t>
            </a:r>
          </a:p>
        </p:txBody>
      </p:sp>
      <p:sp>
        <p:nvSpPr>
          <p:cNvPr id="10313" name="Rectangle 73">
            <a:extLst>
              <a:ext uri="{FF2B5EF4-FFF2-40B4-BE49-F238E27FC236}">
                <a16:creationId xmlns:a16="http://schemas.microsoft.com/office/drawing/2014/main" id="{EB177389-DF53-0617-CE93-5E5EB68AF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23971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4,7</a:t>
            </a:r>
          </a:p>
        </p:txBody>
      </p:sp>
      <p:sp>
        <p:nvSpPr>
          <p:cNvPr id="10314" name="Rectangle 74">
            <a:extLst>
              <a:ext uri="{FF2B5EF4-FFF2-40B4-BE49-F238E27FC236}">
                <a16:creationId xmlns:a16="http://schemas.microsoft.com/office/drawing/2014/main" id="{36625E70-1BD0-4364-FF9A-BABE5C64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6638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8,9</a:t>
            </a:r>
          </a:p>
        </p:txBody>
      </p:sp>
      <p:sp>
        <p:nvSpPr>
          <p:cNvPr id="10315" name="Rectangle 75">
            <a:extLst>
              <a:ext uri="{FF2B5EF4-FFF2-40B4-BE49-F238E27FC236}">
                <a16:creationId xmlns:a16="http://schemas.microsoft.com/office/drawing/2014/main" id="{4F0A87BC-C2FC-83DA-AF9D-850F98932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3513" y="241776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1,3</a:t>
            </a:r>
          </a:p>
        </p:txBody>
      </p:sp>
      <p:sp>
        <p:nvSpPr>
          <p:cNvPr id="10316" name="Rectangle 76">
            <a:extLst>
              <a:ext uri="{FF2B5EF4-FFF2-40B4-BE49-F238E27FC236}">
                <a16:creationId xmlns:a16="http://schemas.microsoft.com/office/drawing/2014/main" id="{AA235B57-484F-B2B4-4A91-FE0B941C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6638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5,6</a:t>
            </a:r>
          </a:p>
        </p:txBody>
      </p:sp>
      <p:sp>
        <p:nvSpPr>
          <p:cNvPr id="10317" name="Rectangle 77">
            <a:extLst>
              <a:ext uri="{FF2B5EF4-FFF2-40B4-BE49-F238E27FC236}">
                <a16:creationId xmlns:a16="http://schemas.microsoft.com/office/drawing/2014/main" id="{748E6EE8-139F-C3C1-A002-863EBBFB4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114" y="2663826"/>
            <a:ext cx="28533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318" name="Rectangle 78">
            <a:extLst>
              <a:ext uri="{FF2B5EF4-FFF2-40B4-BE49-F238E27FC236}">
                <a16:creationId xmlns:a16="http://schemas.microsoft.com/office/drawing/2014/main" id="{2DB46BBE-890E-547B-FF82-9EEA757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320833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2,3</a:t>
            </a:r>
          </a:p>
        </p:txBody>
      </p:sp>
      <p:sp>
        <p:nvSpPr>
          <p:cNvPr id="10319" name="Rectangle 79">
            <a:extLst>
              <a:ext uri="{FF2B5EF4-FFF2-40B4-BE49-F238E27FC236}">
                <a16:creationId xmlns:a16="http://schemas.microsoft.com/office/drawing/2014/main" id="{3CC3FA47-B7DE-A212-3671-4A4E8E516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34766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4,4</a:t>
            </a:r>
          </a:p>
        </p:txBody>
      </p:sp>
      <p:sp>
        <p:nvSpPr>
          <p:cNvPr id="10320" name="Rectangle 80">
            <a:extLst>
              <a:ext uri="{FF2B5EF4-FFF2-40B4-BE49-F238E27FC236}">
                <a16:creationId xmlns:a16="http://schemas.microsoft.com/office/drawing/2014/main" id="{AA6E983D-2CCC-8F12-C34A-FA18958F1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238" y="372268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6,7</a:t>
            </a:r>
          </a:p>
        </p:txBody>
      </p:sp>
      <p:sp>
        <p:nvSpPr>
          <p:cNvPr id="10321" name="Rectangle 81">
            <a:extLst>
              <a:ext uri="{FF2B5EF4-FFF2-40B4-BE49-F238E27FC236}">
                <a16:creationId xmlns:a16="http://schemas.microsoft.com/office/drawing/2014/main" id="{50C114AC-A102-0F57-1FBB-940F00566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398938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8,9</a:t>
            </a:r>
          </a:p>
        </p:txBody>
      </p:sp>
      <p:sp>
        <p:nvSpPr>
          <p:cNvPr id="10322" name="Rectangle 82">
            <a:extLst>
              <a:ext uri="{FF2B5EF4-FFF2-40B4-BE49-F238E27FC236}">
                <a16:creationId xmlns:a16="http://schemas.microsoft.com/office/drawing/2014/main" id="{D6CD098C-35D6-2391-280C-48B2B8AC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3476626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1,2</a:t>
            </a:r>
          </a:p>
        </p:txBody>
      </p:sp>
      <p:sp>
        <p:nvSpPr>
          <p:cNvPr id="10323" name="Rectangle 83">
            <a:extLst>
              <a:ext uri="{FF2B5EF4-FFF2-40B4-BE49-F238E27FC236}">
                <a16:creationId xmlns:a16="http://schemas.microsoft.com/office/drawing/2014/main" id="{80900AFE-0870-67D3-467A-31C583DDC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372268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3,5</a:t>
            </a:r>
          </a:p>
        </p:txBody>
      </p:sp>
      <p:sp>
        <p:nvSpPr>
          <p:cNvPr id="10324" name="Rectangle 84">
            <a:extLst>
              <a:ext uri="{FF2B5EF4-FFF2-40B4-BE49-F238E27FC236}">
                <a16:creationId xmlns:a16="http://schemas.microsoft.com/office/drawing/2014/main" id="{ABA28114-0817-46BD-E2DF-D0E628246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676" y="3957639"/>
            <a:ext cx="28533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0325" name="Rectangle 85">
            <a:extLst>
              <a:ext uri="{FF2B5EF4-FFF2-40B4-BE49-F238E27FC236}">
                <a16:creationId xmlns:a16="http://schemas.microsoft.com/office/drawing/2014/main" id="{F9097FC2-1A63-231E-319D-F55286B2A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474821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1,2</a:t>
            </a:r>
          </a:p>
        </p:txBody>
      </p:sp>
      <p:sp>
        <p:nvSpPr>
          <p:cNvPr id="10326" name="Rectangle 86">
            <a:extLst>
              <a:ext uri="{FF2B5EF4-FFF2-40B4-BE49-F238E27FC236}">
                <a16:creationId xmlns:a16="http://schemas.microsoft.com/office/drawing/2014/main" id="{DE14F8C3-2442-3DE5-A134-2A5BB9BF6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4995864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2,3</a:t>
            </a:r>
          </a:p>
        </p:txBody>
      </p:sp>
      <p:sp>
        <p:nvSpPr>
          <p:cNvPr id="10327" name="Rectangle 87">
            <a:extLst>
              <a:ext uri="{FF2B5EF4-FFF2-40B4-BE49-F238E27FC236}">
                <a16:creationId xmlns:a16="http://schemas.microsoft.com/office/drawing/2014/main" id="{5680B1DE-EF0A-6296-FC48-D87A869C8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5251451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3,4</a:t>
            </a:r>
          </a:p>
        </p:txBody>
      </p:sp>
      <p:sp>
        <p:nvSpPr>
          <p:cNvPr id="10328" name="Rectangle 88">
            <a:extLst>
              <a:ext uri="{FF2B5EF4-FFF2-40B4-BE49-F238E27FC236}">
                <a16:creationId xmlns:a16="http://schemas.microsoft.com/office/drawing/2014/main" id="{DA971DB5-4C6C-9E09-51E8-C39732F8B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551973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4,5</a:t>
            </a:r>
          </a:p>
        </p:txBody>
      </p:sp>
      <p:sp>
        <p:nvSpPr>
          <p:cNvPr id="10329" name="Rectangle 89">
            <a:extLst>
              <a:ext uri="{FF2B5EF4-FFF2-40B4-BE49-F238E27FC236}">
                <a16:creationId xmlns:a16="http://schemas.microsoft.com/office/drawing/2014/main" id="{221896A5-6D34-582C-0748-90B1EF87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5765801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6,6</a:t>
            </a:r>
          </a:p>
        </p:txBody>
      </p:sp>
      <p:sp>
        <p:nvSpPr>
          <p:cNvPr id="10330" name="Rectangle 90">
            <a:extLst>
              <a:ext uri="{FF2B5EF4-FFF2-40B4-BE49-F238E27FC236}">
                <a16:creationId xmlns:a16="http://schemas.microsoft.com/office/drawing/2014/main" id="{06C7215F-8A6A-090B-5DB5-879CB0E9D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6021389"/>
            <a:ext cx="434414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7,8</a:t>
            </a:r>
          </a:p>
        </p:txBody>
      </p:sp>
      <p:sp>
        <p:nvSpPr>
          <p:cNvPr id="10331" name="Freeform 91">
            <a:extLst>
              <a:ext uri="{FF2B5EF4-FFF2-40B4-BE49-F238E27FC236}">
                <a16:creationId xmlns:a16="http://schemas.microsoft.com/office/drawing/2014/main" id="{525D2CF9-813D-AF3E-E00E-91F041255172}"/>
              </a:ext>
            </a:extLst>
          </p:cNvPr>
          <p:cNvSpPr>
            <a:spLocks/>
          </p:cNvSpPr>
          <p:nvPr/>
        </p:nvSpPr>
        <p:spPr bwMode="auto">
          <a:xfrm>
            <a:off x="6383339" y="3209926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2" name="Line 92">
            <a:extLst>
              <a:ext uri="{FF2B5EF4-FFF2-40B4-BE49-F238E27FC236}">
                <a16:creationId xmlns:a16="http://schemas.microsoft.com/office/drawing/2014/main" id="{FE374A14-BA52-D0F0-52C7-425D9B037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1" y="1828800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3" name="Line 93">
            <a:extLst>
              <a:ext uri="{FF2B5EF4-FFF2-40B4-BE49-F238E27FC236}">
                <a16:creationId xmlns:a16="http://schemas.microsoft.com/office/drawing/2014/main" id="{07257A29-9E23-4F68-47AC-2C7745CC5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1" y="2286000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4" name="Line 94">
            <a:extLst>
              <a:ext uri="{FF2B5EF4-FFF2-40B4-BE49-F238E27FC236}">
                <a16:creationId xmlns:a16="http://schemas.microsoft.com/office/drawing/2014/main" id="{68D1DF7C-3450-8592-A687-AD91CD7EA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3048000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5" name="Line 95">
            <a:extLst>
              <a:ext uri="{FF2B5EF4-FFF2-40B4-BE49-F238E27FC236}">
                <a16:creationId xmlns:a16="http://schemas.microsoft.com/office/drawing/2014/main" id="{EBBBE475-7E07-817C-66F0-B86E80FEA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4343400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6" name="Line 96">
            <a:extLst>
              <a:ext uri="{FF2B5EF4-FFF2-40B4-BE49-F238E27FC236}">
                <a16:creationId xmlns:a16="http://schemas.microsoft.com/office/drawing/2014/main" id="{29552EDC-CF9D-A07B-7E80-EAA291751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5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7" name="Line 97">
            <a:extLst>
              <a:ext uri="{FF2B5EF4-FFF2-40B4-BE49-F238E27FC236}">
                <a16:creationId xmlns:a16="http://schemas.microsoft.com/office/drawing/2014/main" id="{2BF7919E-9E56-EB2C-C077-2005C094D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038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8" name="Line 98">
            <a:extLst>
              <a:ext uri="{FF2B5EF4-FFF2-40B4-BE49-F238E27FC236}">
                <a16:creationId xmlns:a16="http://schemas.microsoft.com/office/drawing/2014/main" id="{B573A56D-226B-7186-F237-E71C94AE6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338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9" name="Line 99">
            <a:extLst>
              <a:ext uri="{FF2B5EF4-FFF2-40B4-BE49-F238E27FC236}">
                <a16:creationId xmlns:a16="http://schemas.microsoft.com/office/drawing/2014/main" id="{B8D58CC4-656F-99B0-9CCF-FAADBED74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8050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0" name="Line 100">
            <a:extLst>
              <a:ext uri="{FF2B5EF4-FFF2-40B4-BE49-F238E27FC236}">
                <a16:creationId xmlns:a16="http://schemas.microsoft.com/office/drawing/2014/main" id="{B941BB5E-0E3B-CF1F-E657-037E76949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0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1" name="Line 101">
            <a:extLst>
              <a:ext uri="{FF2B5EF4-FFF2-40B4-BE49-F238E27FC236}">
                <a16:creationId xmlns:a16="http://schemas.microsoft.com/office/drawing/2014/main" id="{41710312-6945-B914-F12F-2EEB12ED8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7213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2" name="Line 102">
            <a:extLst>
              <a:ext uri="{FF2B5EF4-FFF2-40B4-BE49-F238E27FC236}">
                <a16:creationId xmlns:a16="http://schemas.microsoft.com/office/drawing/2014/main" id="{62E6D88E-E8B6-E790-A521-E746AAC07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0925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" name="Line 103">
            <a:extLst>
              <a:ext uri="{FF2B5EF4-FFF2-40B4-BE49-F238E27FC236}">
                <a16:creationId xmlns:a16="http://schemas.microsoft.com/office/drawing/2014/main" id="{744EA6E2-DA13-1369-245E-00417F1B6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6225" y="1676400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" name="Line 104">
            <a:extLst>
              <a:ext uri="{FF2B5EF4-FFF2-40B4-BE49-F238E27FC236}">
                <a16:creationId xmlns:a16="http://schemas.microsoft.com/office/drawing/2014/main" id="{3FA0F2F2-62B1-F75B-91E1-5DEB7EC88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5325" y="2209800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" name="Line 105">
            <a:extLst>
              <a:ext uri="{FF2B5EF4-FFF2-40B4-BE49-F238E27FC236}">
                <a16:creationId xmlns:a16="http://schemas.microsoft.com/office/drawing/2014/main" id="{297C1333-BB71-E8FB-DCAE-2066437180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7900" y="2209800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6" name="Line 106">
            <a:extLst>
              <a:ext uri="{FF2B5EF4-FFF2-40B4-BE49-F238E27FC236}">
                <a16:creationId xmlns:a16="http://schemas.microsoft.com/office/drawing/2014/main" id="{1CE4B4FE-D79A-6AC1-58A5-8693CB0E4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339" y="2209800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7" name="Line 107">
            <a:extLst>
              <a:ext uri="{FF2B5EF4-FFF2-40B4-BE49-F238E27FC236}">
                <a16:creationId xmlns:a16="http://schemas.microsoft.com/office/drawing/2014/main" id="{4E52D331-B502-38D2-2487-91917E12B1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6914" y="2209800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8" name="Line 108">
            <a:extLst>
              <a:ext uri="{FF2B5EF4-FFF2-40B4-BE49-F238E27FC236}">
                <a16:creationId xmlns:a16="http://schemas.microsoft.com/office/drawing/2014/main" id="{FC035801-D05F-F51E-6739-A7233BE59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0" y="2209800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9" name="Line 109">
            <a:extLst>
              <a:ext uri="{FF2B5EF4-FFF2-40B4-BE49-F238E27FC236}">
                <a16:creationId xmlns:a16="http://schemas.microsoft.com/office/drawing/2014/main" id="{8136C978-610F-C29D-D6B5-20AB87E25A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5925" y="2209800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0" name="Line 110">
            <a:extLst>
              <a:ext uri="{FF2B5EF4-FFF2-40B4-BE49-F238E27FC236}">
                <a16:creationId xmlns:a16="http://schemas.microsoft.com/office/drawing/2014/main" id="{A5439143-0178-0BFA-7076-6FB7EFB46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0926" y="2209800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1" name="Line 111">
            <a:extLst>
              <a:ext uri="{FF2B5EF4-FFF2-40B4-BE49-F238E27FC236}">
                <a16:creationId xmlns:a16="http://schemas.microsoft.com/office/drawing/2014/main" id="{59B82D57-8EED-4AA9-1CC2-CDEBECB831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53501" y="2209800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2" name="Line 112">
            <a:extLst>
              <a:ext uri="{FF2B5EF4-FFF2-40B4-BE49-F238E27FC236}">
                <a16:creationId xmlns:a16="http://schemas.microsoft.com/office/drawing/2014/main" id="{921FBAFF-90CF-68DC-BBB5-1268822FA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901" y="2971800"/>
            <a:ext cx="4238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3" name="Line 113">
            <a:extLst>
              <a:ext uri="{FF2B5EF4-FFF2-40B4-BE49-F238E27FC236}">
                <a16:creationId xmlns:a16="http://schemas.microsoft.com/office/drawing/2014/main" id="{F2E73593-0677-9006-9BA0-0A126B708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3051" y="2971800"/>
            <a:ext cx="3524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4" name="Line 114">
            <a:extLst>
              <a:ext uri="{FF2B5EF4-FFF2-40B4-BE49-F238E27FC236}">
                <a16:creationId xmlns:a16="http://schemas.microsoft.com/office/drawing/2014/main" id="{EE728F28-0994-04C0-0F1C-464EEE00A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4488" y="2971800"/>
            <a:ext cx="42386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5" name="Line 115">
            <a:extLst>
              <a:ext uri="{FF2B5EF4-FFF2-40B4-BE49-F238E27FC236}">
                <a16:creationId xmlns:a16="http://schemas.microsoft.com/office/drawing/2014/main" id="{A36910D1-06F7-3B86-2D86-E9E72649BC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29638" y="2971800"/>
            <a:ext cx="35401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6" name="Line 116">
            <a:extLst>
              <a:ext uri="{FF2B5EF4-FFF2-40B4-BE49-F238E27FC236}">
                <a16:creationId xmlns:a16="http://schemas.microsoft.com/office/drawing/2014/main" id="{1D667E01-7C50-B10B-79EB-F087783EE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614" y="4267200"/>
            <a:ext cx="847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7" name="Line 117">
            <a:extLst>
              <a:ext uri="{FF2B5EF4-FFF2-40B4-BE49-F238E27FC236}">
                <a16:creationId xmlns:a16="http://schemas.microsoft.com/office/drawing/2014/main" id="{D8C3F2A9-B57E-96E7-2D23-8D36BF4B13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0626" y="4267200"/>
            <a:ext cx="9191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8" name="Line 118">
            <a:extLst>
              <a:ext uri="{FF2B5EF4-FFF2-40B4-BE49-F238E27FC236}">
                <a16:creationId xmlns:a16="http://schemas.microsoft.com/office/drawing/2014/main" id="{3698FB68-8A87-123D-B1FE-A4590B12A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219200"/>
            <a:ext cx="0" cy="5486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527" y="169500"/>
            <a:ext cx="10515600" cy="59759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</a:t>
            </a:r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</a:t>
            </a:r>
            <a:r>
              <a:rPr sz="32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</a:t>
            </a:r>
            <a:r>
              <a:rPr sz="32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sz="32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2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8406" y="1282700"/>
            <a:ext cx="3952875" cy="1129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write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N/B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pages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2N/B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406" y="2818891"/>
            <a:ext cx="2843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passes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406" y="4839716"/>
            <a:ext cx="2434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697" y="3952547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338706" y="0"/>
                </a:lnTo>
              </a:path>
            </a:pathLst>
          </a:custGeom>
          <a:ln w="14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83228" y="3910823"/>
            <a:ext cx="131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9905" y="3950722"/>
            <a:ext cx="513080" cy="443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750" i="1" spc="65" dirty="0">
                <a:latin typeface="Times New Roman"/>
                <a:cs typeface="Times New Roman"/>
              </a:rPr>
              <a:t>B</a:t>
            </a:r>
            <a:r>
              <a:rPr sz="2750" i="1" spc="-100" dirty="0">
                <a:latin typeface="Times New Roman"/>
                <a:cs typeface="Times New Roman"/>
              </a:rPr>
              <a:t> </a:t>
            </a:r>
            <a:r>
              <a:rPr sz="4125" spc="-75" baseline="-7070" dirty="0">
                <a:latin typeface="Symbol"/>
                <a:cs typeface="Symbol"/>
              </a:rPr>
              <a:t></a:t>
            </a:r>
            <a:endParaRPr sz="4125" baseline="-707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8288" y="3678643"/>
            <a:ext cx="2197100" cy="757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2885"/>
              </a:lnSpc>
              <a:spcBef>
                <a:spcPts val="90"/>
              </a:spcBef>
              <a:tabLst>
                <a:tab pos="1206500" algn="l"/>
              </a:tabLst>
            </a:pPr>
            <a:r>
              <a:rPr sz="2750" dirty="0">
                <a:latin typeface="Symbol"/>
                <a:cs typeface="Symbol"/>
              </a:rPr>
              <a:t>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4125" spc="-30" baseline="31313" dirty="0">
                <a:latin typeface="Symbol"/>
                <a:cs typeface="Symbol"/>
              </a:rPr>
              <a:t></a:t>
            </a:r>
            <a:r>
              <a:rPr sz="2750" spc="-20" dirty="0">
                <a:latin typeface="Times New Roman"/>
                <a:cs typeface="Times New Roman"/>
              </a:rPr>
              <a:t>log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4125" i="1" spc="82" baseline="35353" dirty="0">
                <a:latin typeface="Times New Roman"/>
                <a:cs typeface="Times New Roman"/>
              </a:rPr>
              <a:t>N</a:t>
            </a:r>
            <a:r>
              <a:rPr sz="4125" i="1" spc="-89" baseline="35353" dirty="0">
                <a:latin typeface="Times New Roman"/>
                <a:cs typeface="Times New Roman"/>
              </a:rPr>
              <a:t> </a:t>
            </a:r>
            <a:r>
              <a:rPr sz="4125" baseline="31313" dirty="0">
                <a:latin typeface="Symbol"/>
                <a:cs typeface="Symbol"/>
              </a:rPr>
              <a:t></a:t>
            </a:r>
            <a:r>
              <a:rPr sz="4125" spc="-172" baseline="31313" dirty="0">
                <a:latin typeface="Times New Roman"/>
                <a:cs typeface="Times New Roman"/>
              </a:rPr>
              <a:t> </a:t>
            </a:r>
            <a:r>
              <a:rPr sz="2750" spc="130" dirty="0">
                <a:latin typeface="Symbol"/>
                <a:cs typeface="Symbol"/>
              </a:rPr>
              <a:t></a:t>
            </a:r>
            <a:r>
              <a:rPr sz="2750" spc="130" dirty="0">
                <a:latin typeface="Times New Roman"/>
                <a:cs typeface="Times New Roman"/>
              </a:rPr>
              <a:t>1</a:t>
            </a:r>
            <a:endParaRPr sz="2750">
              <a:latin typeface="Times New Roman"/>
              <a:cs typeface="Times New Roman"/>
            </a:endParaRPr>
          </a:p>
          <a:p>
            <a:pPr marL="339725">
              <a:lnSpc>
                <a:spcPts val="2885"/>
              </a:lnSpc>
            </a:pPr>
            <a:r>
              <a:rPr sz="2750" spc="-50" dirty="0">
                <a:latin typeface="Symbol"/>
                <a:cs typeface="Symbol"/>
              </a:rPr>
              <a:t>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71041" y="5794255"/>
            <a:ext cx="244475" cy="0"/>
          </a:xfrm>
          <a:custGeom>
            <a:avLst/>
            <a:gdLst/>
            <a:ahLst/>
            <a:cxnLst/>
            <a:rect l="l" t="t" r="r" b="b"/>
            <a:pathLst>
              <a:path w="244475">
                <a:moveTo>
                  <a:pt x="0" y="0"/>
                </a:moveTo>
                <a:lnTo>
                  <a:pt x="244153" y="0"/>
                </a:lnTo>
              </a:path>
            </a:pathLst>
          </a:custGeom>
          <a:ln w="10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81798" y="5794255"/>
            <a:ext cx="244475" cy="0"/>
          </a:xfrm>
          <a:custGeom>
            <a:avLst/>
            <a:gdLst/>
            <a:ahLst/>
            <a:cxnLst/>
            <a:rect l="l" t="t" r="r" b="b"/>
            <a:pathLst>
              <a:path w="244475">
                <a:moveTo>
                  <a:pt x="0" y="0"/>
                </a:moveTo>
                <a:lnTo>
                  <a:pt x="244153" y="0"/>
                </a:lnTo>
              </a:path>
            </a:pathLst>
          </a:custGeom>
          <a:ln w="10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75686" y="5677541"/>
            <a:ext cx="126364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latin typeface="Symbol"/>
                <a:cs typeface="Symbol"/>
              </a:rPr>
              <a:t>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5686" y="5841562"/>
            <a:ext cx="126364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latin typeface="Symbol"/>
                <a:cs typeface="Symbol"/>
              </a:rPr>
              <a:t>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9336" y="5841562"/>
            <a:ext cx="126364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latin typeface="Symbol"/>
                <a:cs typeface="Symbol"/>
              </a:rPr>
              <a:t>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81053" y="5589537"/>
            <a:ext cx="42100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50" dirty="0">
                <a:latin typeface="Symbol"/>
                <a:cs typeface="Symbol"/>
              </a:rPr>
              <a:t></a:t>
            </a:r>
            <a:r>
              <a:rPr sz="2000" spc="50" dirty="0">
                <a:latin typeface="Times New Roman"/>
                <a:cs typeface="Times New Roman"/>
              </a:rPr>
              <a:t>1</a:t>
            </a:r>
            <a:r>
              <a:rPr sz="2000" spc="50" dirty="0">
                <a:latin typeface="Symbol"/>
                <a:cs typeface="Symbol"/>
              </a:rPr>
              <a:t>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9336" y="5589537"/>
            <a:ext cx="59817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9554" algn="l"/>
              </a:tabLst>
            </a:pPr>
            <a:r>
              <a:rPr sz="2000" spc="-50" dirty="0">
                <a:latin typeface="Symbol"/>
                <a:cs typeface="Symbol"/>
              </a:rPr>
              <a:t>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log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90568" y="5589537"/>
            <a:ext cx="15684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6555" y="5760215"/>
            <a:ext cx="10223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50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79328" y="5677541"/>
            <a:ext cx="54673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000" i="1" baseline="-25000" dirty="0">
                <a:latin typeface="Times New Roman"/>
                <a:cs typeface="Times New Roman"/>
              </a:rPr>
              <a:t>B</a:t>
            </a:r>
            <a:r>
              <a:rPr sz="3000" i="1" spc="172" baseline="-25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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3000" spc="-89" baseline="-30555" dirty="0">
                <a:latin typeface="Symbol"/>
                <a:cs typeface="Symbol"/>
              </a:rPr>
              <a:t></a:t>
            </a:r>
            <a:endParaRPr sz="3000" baseline="-30555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2934" y="5374058"/>
            <a:ext cx="1877060" cy="74866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  <a:tabLst>
                <a:tab pos="1048385" algn="l"/>
                <a:tab pos="1725295" algn="l"/>
              </a:tabLst>
            </a:pPr>
            <a:r>
              <a:rPr sz="2000" i="1" dirty="0">
                <a:latin typeface="Times New Roman"/>
                <a:cs typeface="Times New Roman"/>
              </a:rPr>
              <a:t>N</a:t>
            </a:r>
            <a:r>
              <a:rPr sz="2000" i="1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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3000" spc="-89" baseline="-4166" dirty="0">
                <a:latin typeface="Symbol"/>
                <a:cs typeface="Symbol"/>
              </a:rPr>
              <a:t></a:t>
            </a:r>
            <a:r>
              <a:rPr sz="3000" baseline="-4166" dirty="0">
                <a:latin typeface="Times New Roman"/>
                <a:cs typeface="Times New Roman"/>
              </a:rPr>
              <a:t>	</a:t>
            </a:r>
            <a:r>
              <a:rPr sz="2000" i="1" dirty="0">
                <a:latin typeface="Times New Roman"/>
                <a:cs typeface="Times New Roman"/>
              </a:rPr>
              <a:t>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3000" spc="-75" baseline="-4166" dirty="0">
                <a:latin typeface="Symbol"/>
                <a:cs typeface="Symbol"/>
              </a:rPr>
              <a:t></a:t>
            </a:r>
            <a:r>
              <a:rPr sz="3000" baseline="-4166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Symbol"/>
                <a:cs typeface="Symbol"/>
              </a:rPr>
              <a:t></a:t>
            </a:r>
            <a:endParaRPr sz="2000">
              <a:latin typeface="Symbol"/>
              <a:cs typeface="Symbol"/>
            </a:endParaRPr>
          </a:p>
          <a:p>
            <a:pPr marL="1064895">
              <a:lnSpc>
                <a:spcPct val="100000"/>
              </a:lnSpc>
              <a:spcBef>
                <a:spcPts val="445"/>
              </a:spcBef>
            </a:pP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3000" spc="-75" baseline="-6944" dirty="0">
                <a:latin typeface="Symbol"/>
                <a:cs typeface="Symbol"/>
              </a:rPr>
              <a:t></a:t>
            </a:r>
            <a:endParaRPr sz="3000" baseline="-6944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55150" y="1400556"/>
            <a:ext cx="1113155" cy="138493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6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file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0</a:t>
            </a:r>
            <a:endParaRPr sz="1400">
              <a:latin typeface="Cambria"/>
              <a:cs typeface="Cambria"/>
            </a:endParaRPr>
          </a:p>
          <a:p>
            <a:pPr marL="252729" indent="-160020">
              <a:lnSpc>
                <a:spcPct val="100000"/>
              </a:lnSpc>
              <a:spcBef>
                <a:spcPts val="434"/>
              </a:spcBef>
              <a:buSzPct val="92857"/>
              <a:buAutoNum type="arabicPlain"/>
              <a:tabLst>
                <a:tab pos="252729" algn="l"/>
              </a:tabLst>
            </a:pP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runs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CF0E30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252729" indent="-160020">
              <a:lnSpc>
                <a:spcPct val="100000"/>
              </a:lnSpc>
              <a:spcBef>
                <a:spcPts val="1100"/>
              </a:spcBef>
              <a:buSzPct val="92857"/>
              <a:buAutoNum type="arabicPlain" startAt="2"/>
              <a:tabLst>
                <a:tab pos="252729" algn="l"/>
              </a:tabLst>
            </a:pP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39289" y="3573779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4-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25014" y="5369052"/>
            <a:ext cx="1028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8-</a:t>
            </a:r>
            <a:r>
              <a:rPr sz="1400" b="1" dirty="0">
                <a:latin typeface="Arial"/>
                <a:cs typeface="Arial"/>
              </a:rPr>
              <a:t>page</a:t>
            </a:r>
            <a:r>
              <a:rPr sz="1400" b="1" spc="-20" dirty="0">
                <a:latin typeface="Arial"/>
                <a:cs typeface="Arial"/>
              </a:rPr>
              <a:t> runs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55150" y="2964179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55150" y="4247388"/>
            <a:ext cx="621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5" dirty="0">
                <a:solidFill>
                  <a:srgbClr val="CF0E30"/>
                </a:solidFill>
                <a:latin typeface="Cambria"/>
                <a:cs typeface="Cambria"/>
              </a:rPr>
              <a:t>PASS</a:t>
            </a:r>
            <a:r>
              <a:rPr sz="1400" b="1" spc="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400" b="1" spc="-65" dirty="0">
                <a:solidFill>
                  <a:srgbClr val="CF0E30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64200" y="1398587"/>
            <a:ext cx="3660775" cy="1554480"/>
            <a:chOff x="5664200" y="1398587"/>
            <a:chExt cx="3660775" cy="1554480"/>
          </a:xfrm>
        </p:grpSpPr>
        <p:sp>
          <p:nvSpPr>
            <p:cNvPr id="27" name="object 27"/>
            <p:cNvSpPr/>
            <p:nvPr/>
          </p:nvSpPr>
          <p:spPr>
            <a:xfrm>
              <a:off x="5670550" y="19192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45213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21463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97713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73963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50212" y="19192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526462" y="191928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01125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317500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7500" y="255587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01125" y="1919288"/>
              <a:ext cx="317500" cy="255904"/>
            </a:xfrm>
            <a:custGeom>
              <a:avLst/>
              <a:gdLst/>
              <a:ahLst/>
              <a:cxnLst/>
              <a:rect l="l" t="t" r="r" b="b"/>
              <a:pathLst>
                <a:path w="317500" h="255905">
                  <a:moveTo>
                    <a:pt x="0" y="255587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64587" y="24336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315912" y="0"/>
                  </a:moveTo>
                  <a:lnTo>
                    <a:pt x="0" y="0"/>
                  </a:lnTo>
                  <a:lnTo>
                    <a:pt x="0" y="255587"/>
                  </a:lnTo>
                  <a:lnTo>
                    <a:pt x="315912" y="255587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64587" y="2433638"/>
              <a:ext cx="316230" cy="255904"/>
            </a:xfrm>
            <a:custGeom>
              <a:avLst/>
              <a:gdLst/>
              <a:ahLst/>
              <a:cxnLst/>
              <a:rect l="l" t="t" r="r" b="b"/>
              <a:pathLst>
                <a:path w="316229" h="255905">
                  <a:moveTo>
                    <a:pt x="0" y="255587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5587"/>
                  </a:lnTo>
                  <a:lnTo>
                    <a:pt x="0" y="255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64587" y="2689226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5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5"/>
                  </a:lnTo>
                  <a:lnTo>
                    <a:pt x="0" y="257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4521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4521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2146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498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498" y="257175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2146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9771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498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498" y="257175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9771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396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498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498" y="257175"/>
                  </a:lnTo>
                  <a:lnTo>
                    <a:pt x="317498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73963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499" y="0"/>
                  </a:lnTo>
                  <a:lnTo>
                    <a:pt x="317499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50212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50212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26462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526462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001125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3175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7500" y="257175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01125" y="1404937"/>
              <a:ext cx="317500" cy="257175"/>
            </a:xfrm>
            <a:custGeom>
              <a:avLst/>
              <a:gdLst/>
              <a:ahLst/>
              <a:cxnLst/>
              <a:rect l="l" t="t" r="r" b="b"/>
              <a:pathLst>
                <a:path w="317500" h="257175">
                  <a:moveTo>
                    <a:pt x="0" y="257174"/>
                  </a:moveTo>
                  <a:lnTo>
                    <a:pt x="0" y="0"/>
                  </a:lnTo>
                  <a:lnTo>
                    <a:pt x="317500" y="0"/>
                  </a:lnTo>
                  <a:lnTo>
                    <a:pt x="317500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0550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315912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15912" y="257175"/>
                  </a:lnTo>
                  <a:lnTo>
                    <a:pt x="315912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70550" y="1404937"/>
              <a:ext cx="316230" cy="257175"/>
            </a:xfrm>
            <a:custGeom>
              <a:avLst/>
              <a:gdLst/>
              <a:ahLst/>
              <a:cxnLst/>
              <a:rect l="l" t="t" r="r" b="b"/>
              <a:pathLst>
                <a:path w="316229" h="257175">
                  <a:moveTo>
                    <a:pt x="0" y="257174"/>
                  </a:moveTo>
                  <a:lnTo>
                    <a:pt x="0" y="0"/>
                  </a:lnTo>
                  <a:lnTo>
                    <a:pt x="315912" y="0"/>
                  </a:lnTo>
                  <a:lnTo>
                    <a:pt x="315912" y="257174"/>
                  </a:lnTo>
                  <a:lnTo>
                    <a:pt x="0" y="2571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710238" y="1446276"/>
            <a:ext cx="272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3,4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76963" y="1434084"/>
            <a:ext cx="272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6,2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53214" y="1446276"/>
            <a:ext cx="170116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1440815" algn="l"/>
              </a:tabLst>
            </a:pPr>
            <a:r>
              <a:rPr sz="1400" b="1" spc="-25" dirty="0">
                <a:latin typeface="Arial"/>
                <a:cs typeface="Arial"/>
              </a:rPr>
              <a:t>9,4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8,7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5,6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3,1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628062" y="1434084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00713" y="1961388"/>
            <a:ext cx="2177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1450340" algn="l"/>
                <a:tab pos="1917064" algn="l"/>
              </a:tabLst>
            </a:pPr>
            <a:r>
              <a:rPr sz="1400" b="1" spc="-25" dirty="0">
                <a:latin typeface="Arial"/>
                <a:cs typeface="Arial"/>
              </a:rPr>
              <a:t>3,4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2,6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4,9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7,8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072439" y="1949196"/>
            <a:ext cx="6692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sz="1400" b="1" spc="-25" dirty="0">
                <a:latin typeface="Arial"/>
                <a:cs typeface="Arial"/>
              </a:rPr>
              <a:t>1,3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07088" y="24336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34925">
              <a:lnSpc>
                <a:spcPts val="1525"/>
              </a:lnSpc>
              <a:spcBef>
                <a:spcPts val="484"/>
              </a:spcBef>
            </a:pPr>
            <a:r>
              <a:rPr sz="1400" b="1" spc="-25" dirty="0">
                <a:latin typeface="Arial"/>
                <a:cs typeface="Arial"/>
              </a:rPr>
              <a:t>2,3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907088" y="26892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4450">
              <a:lnSpc>
                <a:spcPts val="1610"/>
              </a:lnSpc>
              <a:spcBef>
                <a:spcPts val="415"/>
              </a:spcBef>
            </a:pPr>
            <a:r>
              <a:rPr sz="1400" b="1" spc="-25" dirty="0">
                <a:latin typeface="Arial"/>
                <a:cs typeface="Arial"/>
              </a:rPr>
              <a:t>4,6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59589" y="24336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5"/>
              </a:spcBef>
            </a:pPr>
            <a:r>
              <a:rPr sz="1400" b="1" spc="-25" dirty="0">
                <a:latin typeface="Arial"/>
                <a:cs typeface="Arial"/>
              </a:rPr>
              <a:t>4,7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859589" y="26892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8,9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812089" y="2433638"/>
            <a:ext cx="317500" cy="2559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45"/>
              </a:spcBef>
            </a:pPr>
            <a:r>
              <a:rPr sz="1400" b="1" spc="-25" dirty="0">
                <a:latin typeface="Arial"/>
                <a:cs typeface="Arial"/>
              </a:rPr>
              <a:t>1,3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12089" y="2689226"/>
            <a:ext cx="317500" cy="257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50"/>
              </a:spcBef>
            </a:pPr>
            <a:r>
              <a:rPr sz="1400" b="1" spc="-25" dirty="0">
                <a:latin typeface="Arial"/>
                <a:cs typeface="Arial"/>
              </a:rPr>
              <a:t>5,6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770937" y="2695955"/>
            <a:ext cx="303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6376988" y="3203576"/>
          <a:ext cx="319405" cy="1017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545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15875" algn="ctr">
                        <a:lnSpc>
                          <a:spcPts val="1425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349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5875" algn="ctr">
                        <a:lnSpc>
                          <a:spcPts val="1430"/>
                        </a:lnSpc>
                        <a:spcBef>
                          <a:spcPts val="49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8,9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8280400" y="3189287"/>
          <a:ext cx="319405" cy="103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22225" algn="ctr">
                        <a:lnSpc>
                          <a:spcPts val="1425"/>
                        </a:lnSpc>
                        <a:spcBef>
                          <a:spcPts val="4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22225" algn="ctr">
                        <a:lnSpc>
                          <a:spcPts val="1495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3655" algn="ctr">
                        <a:lnSpc>
                          <a:spcPts val="1670"/>
                        </a:lnSpc>
                        <a:spcBef>
                          <a:spcPts val="25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0" name="object 70"/>
          <p:cNvGraphicFramePr>
            <a:graphicFrameLocks noGrp="1"/>
          </p:cNvGraphicFramePr>
          <p:nvPr/>
        </p:nvGraphicFramePr>
        <p:xfrm>
          <a:off x="7329489" y="4473576"/>
          <a:ext cx="317500" cy="205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17780" algn="ctr">
                        <a:lnSpc>
                          <a:spcPts val="1520"/>
                        </a:lnSpc>
                        <a:spcBef>
                          <a:spcPts val="35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1,2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6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2,3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95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3,4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10"/>
                        </a:lnSpc>
                        <a:spcBef>
                          <a:spcPts val="4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4,5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7780" algn="ctr">
                        <a:lnSpc>
                          <a:spcPts val="1590"/>
                        </a:lnSpc>
                        <a:spcBef>
                          <a:spcPts val="334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6,6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17780" algn="ctr">
                        <a:lnSpc>
                          <a:spcPts val="1585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7,8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R="1270" algn="ctr">
                        <a:lnSpc>
                          <a:spcPts val="1595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1" name="object 71"/>
          <p:cNvGrpSpPr/>
          <p:nvPr/>
        </p:nvGrpSpPr>
        <p:grpSpPr>
          <a:xfrm>
            <a:off x="5634037" y="4254875"/>
            <a:ext cx="3815079" cy="259715"/>
            <a:chOff x="5634037" y="4254875"/>
            <a:chExt cx="3815079" cy="259715"/>
          </a:xfrm>
        </p:grpSpPr>
        <p:sp>
          <p:nvSpPr>
            <p:cNvPr id="72" name="object 72"/>
            <p:cNvSpPr/>
            <p:nvPr/>
          </p:nvSpPr>
          <p:spPr>
            <a:xfrm>
              <a:off x="5634037" y="43434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548298" y="4254880"/>
              <a:ext cx="1915160" cy="259715"/>
            </a:xfrm>
            <a:custGeom>
              <a:avLst/>
              <a:gdLst/>
              <a:ahLst/>
              <a:cxnLst/>
              <a:rect l="l" t="t" r="r" b="b"/>
              <a:pathLst>
                <a:path w="1915159" h="259714">
                  <a:moveTo>
                    <a:pt x="851039" y="240919"/>
                  </a:moveTo>
                  <a:lnTo>
                    <a:pt x="849947" y="239953"/>
                  </a:lnTo>
                  <a:lnTo>
                    <a:pt x="787387" y="184302"/>
                  </a:lnTo>
                  <a:lnTo>
                    <a:pt x="797115" y="213233"/>
                  </a:lnTo>
                  <a:lnTo>
                    <a:pt x="801979" y="227685"/>
                  </a:lnTo>
                  <a:lnTo>
                    <a:pt x="797115" y="213233"/>
                  </a:lnTo>
                  <a:lnTo>
                    <a:pt x="6616" y="63"/>
                  </a:lnTo>
                  <a:lnTo>
                    <a:pt x="0" y="24587"/>
                  </a:lnTo>
                  <a:lnTo>
                    <a:pt x="790511" y="237756"/>
                  </a:lnTo>
                  <a:lnTo>
                    <a:pt x="767549" y="257873"/>
                  </a:lnTo>
                  <a:lnTo>
                    <a:pt x="851039" y="240919"/>
                  </a:lnTo>
                  <a:close/>
                </a:path>
                <a:path w="1915159" h="259714">
                  <a:moveTo>
                    <a:pt x="1914550" y="24650"/>
                  </a:moveTo>
                  <a:lnTo>
                    <a:pt x="1908416" y="0"/>
                  </a:lnTo>
                  <a:lnTo>
                    <a:pt x="1046772" y="214299"/>
                  </a:lnTo>
                  <a:lnTo>
                    <a:pt x="1057071" y="185559"/>
                  </a:lnTo>
                  <a:lnTo>
                    <a:pt x="992251" y="240982"/>
                  </a:lnTo>
                  <a:lnTo>
                    <a:pt x="992606" y="240982"/>
                  </a:lnTo>
                  <a:lnTo>
                    <a:pt x="1075461" y="259511"/>
                  </a:lnTo>
                  <a:lnTo>
                    <a:pt x="1052906" y="238950"/>
                  </a:lnTo>
                  <a:lnTo>
                    <a:pt x="1914550" y="24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5556250" y="1219200"/>
            <a:ext cx="3892550" cy="5486400"/>
            <a:chOff x="5556250" y="1219200"/>
            <a:chExt cx="3892550" cy="5486400"/>
          </a:xfrm>
        </p:grpSpPr>
        <p:sp>
          <p:nvSpPr>
            <p:cNvPr id="75" name="object 75"/>
            <p:cNvSpPr/>
            <p:nvPr/>
          </p:nvSpPr>
          <p:spPr>
            <a:xfrm>
              <a:off x="5562601" y="18288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62601" y="22860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3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34037" y="3048000"/>
              <a:ext cx="3815079" cy="0"/>
            </a:xfrm>
            <a:custGeom>
              <a:avLst/>
              <a:gdLst/>
              <a:ahLst/>
              <a:cxnLst/>
              <a:rect l="l" t="t" r="r" b="b"/>
              <a:pathLst>
                <a:path w="3815079">
                  <a:moveTo>
                    <a:pt x="0" y="0"/>
                  </a:moveTo>
                  <a:lnTo>
                    <a:pt x="3814762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7076" y="1676400"/>
              <a:ext cx="76200" cy="2286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0938" y="1676400"/>
              <a:ext cx="76200" cy="2286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6238" y="1676400"/>
              <a:ext cx="76200" cy="2286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50" y="1676400"/>
              <a:ext cx="76200" cy="2286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50" y="1676400"/>
              <a:ext cx="76200" cy="2286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9113" y="1676400"/>
              <a:ext cx="76200" cy="2286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2826" y="1676400"/>
              <a:ext cx="76200" cy="2286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28126" y="1676400"/>
              <a:ext cx="76200" cy="2286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995" y="2201183"/>
              <a:ext cx="220466" cy="23721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900" y="2201183"/>
              <a:ext cx="220466" cy="23721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5009" y="2201183"/>
              <a:ext cx="220465" cy="23721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6913" y="2201183"/>
              <a:ext cx="220466" cy="23721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4020" y="2201183"/>
              <a:ext cx="220466" cy="23721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5925" y="2201183"/>
              <a:ext cx="220466" cy="23721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1628" y="2201148"/>
              <a:ext cx="222022" cy="23725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53501" y="2201148"/>
              <a:ext cx="222021" cy="23725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051867" y="2960623"/>
              <a:ext cx="2839085" cy="240029"/>
            </a:xfrm>
            <a:custGeom>
              <a:avLst/>
              <a:gdLst/>
              <a:ahLst/>
              <a:cxnLst/>
              <a:rect l="l" t="t" r="r" b="b"/>
              <a:pathLst>
                <a:path w="2839084" h="240030">
                  <a:moveTo>
                    <a:pt x="429895" y="239776"/>
                  </a:moveTo>
                  <a:lnTo>
                    <a:pt x="420801" y="226847"/>
                  </a:lnTo>
                  <a:lnTo>
                    <a:pt x="380911" y="170078"/>
                  </a:lnTo>
                  <a:lnTo>
                    <a:pt x="383755" y="200469"/>
                  </a:lnTo>
                  <a:lnTo>
                    <a:pt x="12052" y="0"/>
                  </a:lnTo>
                  <a:lnTo>
                    <a:pt x="0" y="22364"/>
                  </a:lnTo>
                  <a:lnTo>
                    <a:pt x="371690" y="222821"/>
                  </a:lnTo>
                  <a:lnTo>
                    <a:pt x="344741" y="237147"/>
                  </a:lnTo>
                  <a:lnTo>
                    <a:pt x="429895" y="239776"/>
                  </a:lnTo>
                  <a:close/>
                </a:path>
                <a:path w="2839084" h="240030">
                  <a:moveTo>
                    <a:pt x="930516" y="21831"/>
                  </a:moveTo>
                  <a:lnTo>
                    <a:pt x="916686" y="520"/>
                  </a:lnTo>
                  <a:lnTo>
                    <a:pt x="613994" y="196875"/>
                  </a:lnTo>
                  <a:lnTo>
                    <a:pt x="614375" y="166344"/>
                  </a:lnTo>
                  <a:lnTo>
                    <a:pt x="571182" y="239776"/>
                  </a:lnTo>
                  <a:lnTo>
                    <a:pt x="655840" y="230276"/>
                  </a:lnTo>
                  <a:lnTo>
                    <a:pt x="638492" y="222796"/>
                  </a:lnTo>
                  <a:lnTo>
                    <a:pt x="627811" y="218186"/>
                  </a:lnTo>
                  <a:lnTo>
                    <a:pt x="930516" y="21831"/>
                  </a:lnTo>
                  <a:close/>
                </a:path>
                <a:path w="2839084" h="240030">
                  <a:moveTo>
                    <a:pt x="2336482" y="239776"/>
                  </a:moveTo>
                  <a:lnTo>
                    <a:pt x="2327389" y="226847"/>
                  </a:lnTo>
                  <a:lnTo>
                    <a:pt x="2287498" y="170078"/>
                  </a:lnTo>
                  <a:lnTo>
                    <a:pt x="2290343" y="200469"/>
                  </a:lnTo>
                  <a:lnTo>
                    <a:pt x="1918639" y="0"/>
                  </a:lnTo>
                  <a:lnTo>
                    <a:pt x="1906587" y="22364"/>
                  </a:lnTo>
                  <a:lnTo>
                    <a:pt x="2278278" y="222821"/>
                  </a:lnTo>
                  <a:lnTo>
                    <a:pt x="2251329" y="237147"/>
                  </a:lnTo>
                  <a:lnTo>
                    <a:pt x="2336482" y="239776"/>
                  </a:lnTo>
                  <a:close/>
                </a:path>
                <a:path w="2839084" h="240030">
                  <a:moveTo>
                    <a:pt x="2838666" y="21856"/>
                  </a:moveTo>
                  <a:lnTo>
                    <a:pt x="2824886" y="508"/>
                  </a:lnTo>
                  <a:lnTo>
                    <a:pt x="2527325" y="192659"/>
                  </a:lnTo>
                  <a:lnTo>
                    <a:pt x="2527325" y="222897"/>
                  </a:lnTo>
                  <a:lnTo>
                    <a:pt x="2513546" y="201549"/>
                  </a:lnTo>
                  <a:lnTo>
                    <a:pt x="2520442" y="212229"/>
                  </a:lnTo>
                  <a:lnTo>
                    <a:pt x="2527325" y="222897"/>
                  </a:lnTo>
                  <a:lnTo>
                    <a:pt x="2527325" y="192659"/>
                  </a:lnTo>
                  <a:lnTo>
                    <a:pt x="2520658" y="196964"/>
                  </a:lnTo>
                  <a:lnTo>
                    <a:pt x="2521115" y="166433"/>
                  </a:lnTo>
                  <a:lnTo>
                    <a:pt x="2477770" y="239776"/>
                  </a:lnTo>
                  <a:lnTo>
                    <a:pt x="2562441" y="230454"/>
                  </a:lnTo>
                  <a:lnTo>
                    <a:pt x="2545029" y="222897"/>
                  </a:lnTo>
                  <a:lnTo>
                    <a:pt x="2534437" y="218300"/>
                  </a:lnTo>
                  <a:lnTo>
                    <a:pt x="2838666" y="21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562600" y="1219200"/>
              <a:ext cx="0" cy="5486400"/>
            </a:xfrm>
            <a:custGeom>
              <a:avLst/>
              <a:gdLst/>
              <a:ahLst/>
              <a:cxnLst/>
              <a:rect l="l" t="t" r="r" b="b"/>
              <a:pathLst>
                <a:path h="5486400">
                  <a:moveTo>
                    <a:pt x="0" y="0"/>
                  </a:moveTo>
                  <a:lnTo>
                    <a:pt x="1" y="5486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669308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40" y="0"/>
            <a:ext cx="10515600" cy="1325563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External</a:t>
            </a:r>
            <a:r>
              <a:rPr spc="-60" dirty="0"/>
              <a:t> </a:t>
            </a:r>
            <a:r>
              <a:rPr dirty="0"/>
              <a:t>Merge</a:t>
            </a:r>
            <a:r>
              <a:rPr spc="-65" dirty="0"/>
              <a:t> </a:t>
            </a:r>
            <a:r>
              <a:rPr spc="-20" dirty="0"/>
              <a:t>Sort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2940" y="1532635"/>
            <a:ext cx="6976745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passes:</a:t>
            </a:r>
            <a:endParaRPr sz="2400" dirty="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150"/>
              </a:spcBef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Cost</a:t>
            </a:r>
            <a:r>
              <a:rPr sz="24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=</a:t>
            </a:r>
            <a:r>
              <a:rPr sz="2400" spc="-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2N/B</a:t>
            </a:r>
            <a:r>
              <a:rPr sz="24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*</a:t>
            </a:r>
            <a:r>
              <a:rPr sz="2400" spc="-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(#</a:t>
            </a:r>
            <a:r>
              <a:rPr sz="2400" spc="-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BE"/>
                </a:solidFill>
                <a:latin typeface="Calibri"/>
                <a:cs typeface="Calibri"/>
              </a:rPr>
              <a:t>passes)</a:t>
            </a:r>
            <a:r>
              <a:rPr sz="2400" spc="6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endParaRPr lang="en-US" sz="2400" spc="60" dirty="0">
              <a:solidFill>
                <a:srgbClr val="0000BE"/>
              </a:solidFill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150"/>
              </a:spcBef>
              <a:buSzPct val="75000"/>
              <a:buFont typeface="Wingdings"/>
              <a:buChar char=""/>
              <a:tabLst>
                <a:tab pos="380365" algn="l"/>
              </a:tabLst>
            </a:pPr>
            <a:endParaRPr lang="en-US" sz="2400" spc="60" baseline="1157" dirty="0">
              <a:solidFill>
                <a:srgbClr val="0000BE"/>
              </a:solidFill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150"/>
              </a:spcBef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lang="en-US" sz="2400" spc="60" baseline="1157" dirty="0">
                <a:solidFill>
                  <a:srgbClr val="0000BE"/>
                </a:solidFill>
                <a:latin typeface="Calibri"/>
                <a:cs typeface="Calibri"/>
              </a:rPr>
              <a:t>=</a:t>
            </a:r>
            <a:r>
              <a:rPr sz="3600" spc="592" baseline="1157" dirty="0">
                <a:latin typeface="Times New Roman"/>
                <a:cs typeface="Times New Roman"/>
              </a:rPr>
              <a:t>1</a:t>
            </a:r>
            <a:r>
              <a:rPr sz="3600" spc="592" baseline="1157" dirty="0">
                <a:latin typeface="Symbol"/>
                <a:cs typeface="Symbol"/>
              </a:rPr>
              <a:t></a:t>
            </a:r>
            <a:r>
              <a:rPr sz="3600" spc="-37" baseline="1157" dirty="0">
                <a:latin typeface="Times New Roman"/>
                <a:cs typeface="Times New Roman"/>
              </a:rPr>
              <a:t> </a:t>
            </a:r>
            <a:r>
              <a:rPr sz="4275" spc="284" baseline="-7797" dirty="0">
                <a:latin typeface="Symbol"/>
                <a:cs typeface="Symbol"/>
              </a:rPr>
              <a:t></a:t>
            </a:r>
            <a:r>
              <a:rPr sz="3600" spc="284" baseline="1157" dirty="0">
                <a:latin typeface="Times New Roman"/>
                <a:cs typeface="Times New Roman"/>
              </a:rPr>
              <a:t>log</a:t>
            </a:r>
            <a:r>
              <a:rPr sz="2100" i="1" spc="284" baseline="-21825" dirty="0">
                <a:latin typeface="Times New Roman"/>
                <a:cs typeface="Times New Roman"/>
              </a:rPr>
              <a:t>M</a:t>
            </a:r>
            <a:r>
              <a:rPr sz="2100" i="1" spc="179" baseline="-21825" dirty="0">
                <a:latin typeface="Times New Roman"/>
                <a:cs typeface="Times New Roman"/>
              </a:rPr>
              <a:t> </a:t>
            </a:r>
            <a:r>
              <a:rPr sz="2100" spc="127" baseline="-21825" dirty="0">
                <a:latin typeface="Times New Roman"/>
                <a:cs typeface="Times New Roman"/>
              </a:rPr>
              <a:t>/</a:t>
            </a:r>
            <a:r>
              <a:rPr sz="2100" spc="-82" baseline="-21825" dirty="0">
                <a:latin typeface="Times New Roman"/>
                <a:cs typeface="Times New Roman"/>
              </a:rPr>
              <a:t> </a:t>
            </a:r>
            <a:r>
              <a:rPr sz="2100" i="1" spc="277" baseline="-21825" dirty="0">
                <a:latin typeface="Times New Roman"/>
                <a:cs typeface="Times New Roman"/>
              </a:rPr>
              <a:t>B</a:t>
            </a:r>
            <a:r>
              <a:rPr sz="2100" spc="277" baseline="-21825" dirty="0">
                <a:latin typeface="Symbol"/>
                <a:cs typeface="Symbol"/>
              </a:rPr>
              <a:t></a:t>
            </a:r>
            <a:r>
              <a:rPr sz="2100" spc="277" baseline="-21825" dirty="0">
                <a:latin typeface="Times New Roman"/>
                <a:cs typeface="Times New Roman"/>
              </a:rPr>
              <a:t>1</a:t>
            </a:r>
            <a:r>
              <a:rPr sz="2100" spc="-97" baseline="-21825" dirty="0">
                <a:latin typeface="Times New Roman"/>
                <a:cs typeface="Times New Roman"/>
              </a:rPr>
              <a:t> </a:t>
            </a:r>
            <a:r>
              <a:rPr sz="4275" spc="277" baseline="-7797" dirty="0">
                <a:latin typeface="Symbol"/>
                <a:cs typeface="Symbol"/>
              </a:rPr>
              <a:t></a:t>
            </a:r>
            <a:r>
              <a:rPr sz="3600" i="1" spc="277" baseline="1157" dirty="0">
                <a:latin typeface="Times New Roman"/>
                <a:cs typeface="Times New Roman"/>
              </a:rPr>
              <a:t>N</a:t>
            </a:r>
            <a:r>
              <a:rPr sz="3600" i="1" spc="202" baseline="1157" dirty="0">
                <a:latin typeface="Times New Roman"/>
                <a:cs typeface="Times New Roman"/>
              </a:rPr>
              <a:t> </a:t>
            </a:r>
            <a:r>
              <a:rPr sz="3600" spc="225" baseline="1157" dirty="0">
                <a:latin typeface="Times New Roman"/>
                <a:cs typeface="Times New Roman"/>
              </a:rPr>
              <a:t>/</a:t>
            </a:r>
            <a:r>
              <a:rPr sz="3600" spc="-82" baseline="1157" dirty="0">
                <a:latin typeface="Times New Roman"/>
                <a:cs typeface="Times New Roman"/>
              </a:rPr>
              <a:t> </a:t>
            </a:r>
            <a:r>
              <a:rPr sz="3600" i="1" spc="660" baseline="1157" dirty="0">
                <a:latin typeface="Times New Roman"/>
                <a:cs typeface="Times New Roman"/>
              </a:rPr>
              <a:t>M</a:t>
            </a:r>
            <a:r>
              <a:rPr sz="3600" i="1" spc="-97" baseline="1157" dirty="0">
                <a:latin typeface="Times New Roman"/>
                <a:cs typeface="Times New Roman"/>
              </a:rPr>
              <a:t> </a:t>
            </a:r>
            <a:r>
              <a:rPr sz="4275" spc="-37" baseline="-7797" dirty="0">
                <a:latin typeface="Symbol"/>
                <a:cs typeface="Symbol"/>
              </a:rPr>
              <a:t></a:t>
            </a:r>
            <a:endParaRPr sz="4275" baseline="-7797" dirty="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8FD8B37-F200-38A4-EA06-C660099DC8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A9EEBC66-D906-4CF7-59C8-FC28F4E4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65DF1E3-C46C-C042-955E-E5E632731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CFB3340C-BB7A-BCAC-04D3-31B616A6E5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General External Merge Sort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BE649503-F88C-154A-41EC-1CC2C7A35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2057400"/>
            <a:ext cx="8991600" cy="4114800"/>
          </a:xfrm>
          <a:noFill/>
          <a:ln/>
        </p:spPr>
        <p:txBody>
          <a:bodyPr/>
          <a:lstStyle/>
          <a:p>
            <a:r>
              <a:rPr lang="en-US" altLang="en-US"/>
              <a:t>To sort a file with </a:t>
            </a:r>
            <a:r>
              <a:rPr lang="en-US" altLang="en-US" i="1"/>
              <a:t>N</a:t>
            </a:r>
            <a:r>
              <a:rPr lang="en-US" altLang="en-US"/>
              <a:t> pages using </a:t>
            </a:r>
            <a:r>
              <a:rPr lang="en-US" altLang="en-US" i="1"/>
              <a:t>B</a:t>
            </a:r>
            <a:r>
              <a:rPr lang="en-US" altLang="en-US"/>
              <a:t> buffer pages: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Pass 0: use </a:t>
            </a:r>
            <a:r>
              <a:rPr lang="en-US" altLang="en-US" i="1">
                <a:solidFill>
                  <a:schemeClr val="accent2"/>
                </a:solidFill>
              </a:rPr>
              <a:t>B </a:t>
            </a:r>
            <a:r>
              <a:rPr lang="en-US" altLang="en-US">
                <a:solidFill>
                  <a:schemeClr val="accent2"/>
                </a:solidFill>
              </a:rPr>
              <a:t>buffer pages. </a:t>
            </a:r>
            <a:r>
              <a:rPr lang="en-US" altLang="en-US"/>
              <a:t>Produce              sorted runs of</a:t>
            </a:r>
            <a:r>
              <a:rPr lang="en-US" altLang="en-US" i="1"/>
              <a:t> B</a:t>
            </a:r>
            <a:r>
              <a:rPr lang="en-US" altLang="en-US"/>
              <a:t> pages each.</a:t>
            </a:r>
            <a:r>
              <a:rPr lang="en-US" altLang="en-US" i="1"/>
              <a:t> </a:t>
            </a:r>
            <a:endParaRPr lang="en-US" altLang="en-US"/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Pass 1, 2, …,  etc.: merge </a:t>
            </a:r>
            <a:r>
              <a:rPr lang="en-US" altLang="en-US" i="1">
                <a:solidFill>
                  <a:schemeClr val="accent2"/>
                </a:solidFill>
              </a:rPr>
              <a:t>B-1 </a:t>
            </a:r>
            <a:r>
              <a:rPr lang="en-US" altLang="en-US">
                <a:solidFill>
                  <a:schemeClr val="accent2"/>
                </a:solidFill>
              </a:rPr>
              <a:t>runs</a:t>
            </a:r>
            <a:r>
              <a:rPr lang="en-US" altLang="en-US"/>
              <a:t>. </a:t>
            </a:r>
          </a:p>
        </p:txBody>
      </p:sp>
      <p:graphicFrame>
        <p:nvGraphicFramePr>
          <p:cNvPr id="12294" name="Object 6">
            <a:extLst>
              <a:ext uri="{FF2B5EF4-FFF2-40B4-BE49-F238E27FC236}">
                <a16:creationId xmlns:a16="http://schemas.microsoft.com/office/drawing/2014/main" id="{789F01D8-F898-E127-49F9-75F9961ADDC5}"/>
              </a:ext>
            </a:extLst>
          </p:cNvPr>
          <p:cNvGraphicFramePr>
            <a:graphicFrameLocks/>
          </p:cNvGraphicFramePr>
          <p:nvPr/>
        </p:nvGraphicFramePr>
        <p:xfrm>
          <a:off x="7467600" y="2514600"/>
          <a:ext cx="19637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363240" progId="Equation.3">
                  <p:embed/>
                </p:oleObj>
              </mc:Choice>
              <mc:Fallback>
                <p:oleObj name="Equation" r:id="rId2" imgW="1041120" imgH="363240" progId="Equation.3">
                  <p:embed/>
                  <p:pic>
                    <p:nvPicPr>
                      <p:cNvPr id="12294" name="Object 6">
                        <a:extLst>
                          <a:ext uri="{FF2B5EF4-FFF2-40B4-BE49-F238E27FC236}">
                            <a16:creationId xmlns:a16="http://schemas.microsoft.com/office/drawing/2014/main" id="{789F01D8-F898-E127-49F9-75F9961ADD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514600"/>
                        <a:ext cx="19637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Freeform 7">
            <a:extLst>
              <a:ext uri="{FF2B5EF4-FFF2-40B4-BE49-F238E27FC236}">
                <a16:creationId xmlns:a16="http://schemas.microsoft.com/office/drawing/2014/main" id="{0125CFEF-669C-AF52-8DBA-77D60BE86E3C}"/>
              </a:ext>
            </a:extLst>
          </p:cNvPr>
          <p:cNvSpPr>
            <a:spLocks/>
          </p:cNvSpPr>
          <p:nvPr/>
        </p:nvSpPr>
        <p:spPr bwMode="auto">
          <a:xfrm>
            <a:off x="8361364" y="4097338"/>
            <a:ext cx="1393825" cy="254000"/>
          </a:xfrm>
          <a:custGeom>
            <a:avLst/>
            <a:gdLst>
              <a:gd name="T0" fmla="*/ 877 w 878"/>
              <a:gd name="T1" fmla="*/ 81 h 160"/>
              <a:gd name="T2" fmla="*/ 843 w 878"/>
              <a:gd name="T3" fmla="*/ 48 h 160"/>
              <a:gd name="T4" fmla="*/ 749 w 878"/>
              <a:gd name="T5" fmla="*/ 24 h 160"/>
              <a:gd name="T6" fmla="*/ 439 w 878"/>
              <a:gd name="T7" fmla="*/ 0 h 160"/>
              <a:gd name="T8" fmla="*/ 129 w 878"/>
              <a:gd name="T9" fmla="*/ 24 h 160"/>
              <a:gd name="T10" fmla="*/ 35 w 878"/>
              <a:gd name="T11" fmla="*/ 48 h 160"/>
              <a:gd name="T12" fmla="*/ 0 w 878"/>
              <a:gd name="T13" fmla="*/ 81 h 160"/>
              <a:gd name="T14" fmla="*/ 35 w 878"/>
              <a:gd name="T15" fmla="*/ 112 h 160"/>
              <a:gd name="T16" fmla="*/ 129 w 878"/>
              <a:gd name="T17" fmla="*/ 136 h 160"/>
              <a:gd name="T18" fmla="*/ 439 w 878"/>
              <a:gd name="T19" fmla="*/ 159 h 160"/>
              <a:gd name="T20" fmla="*/ 749 w 878"/>
              <a:gd name="T21" fmla="*/ 136 h 160"/>
              <a:gd name="T22" fmla="*/ 843 w 878"/>
              <a:gd name="T23" fmla="*/ 112 h 160"/>
              <a:gd name="T24" fmla="*/ 877 w 878"/>
              <a:gd name="T25" fmla="*/ 8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8" h="160">
                <a:moveTo>
                  <a:pt x="877" y="81"/>
                </a:moveTo>
                <a:lnTo>
                  <a:pt x="843" y="48"/>
                </a:lnTo>
                <a:lnTo>
                  <a:pt x="749" y="24"/>
                </a:lnTo>
                <a:lnTo>
                  <a:pt x="439" y="0"/>
                </a:lnTo>
                <a:lnTo>
                  <a:pt x="129" y="24"/>
                </a:lnTo>
                <a:lnTo>
                  <a:pt x="35" y="48"/>
                </a:lnTo>
                <a:lnTo>
                  <a:pt x="0" y="81"/>
                </a:lnTo>
                <a:lnTo>
                  <a:pt x="35" y="112"/>
                </a:lnTo>
                <a:lnTo>
                  <a:pt x="129" y="136"/>
                </a:lnTo>
                <a:lnTo>
                  <a:pt x="439" y="159"/>
                </a:lnTo>
                <a:lnTo>
                  <a:pt x="749" y="136"/>
                </a:lnTo>
                <a:lnTo>
                  <a:pt x="843" y="112"/>
                </a:lnTo>
                <a:lnTo>
                  <a:pt x="877" y="81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Freeform 8">
            <a:extLst>
              <a:ext uri="{FF2B5EF4-FFF2-40B4-BE49-F238E27FC236}">
                <a16:creationId xmlns:a16="http://schemas.microsoft.com/office/drawing/2014/main" id="{99200306-0515-EE02-BE9B-B50B37945374}"/>
              </a:ext>
            </a:extLst>
          </p:cNvPr>
          <p:cNvSpPr>
            <a:spLocks/>
          </p:cNvSpPr>
          <p:nvPr/>
        </p:nvSpPr>
        <p:spPr bwMode="auto">
          <a:xfrm>
            <a:off x="2722563" y="4486276"/>
            <a:ext cx="1098550" cy="182563"/>
          </a:xfrm>
          <a:custGeom>
            <a:avLst/>
            <a:gdLst>
              <a:gd name="T0" fmla="*/ 0 w 692"/>
              <a:gd name="T1" fmla="*/ 114 h 115"/>
              <a:gd name="T2" fmla="*/ 0 w 692"/>
              <a:gd name="T3" fmla="*/ 0 h 115"/>
              <a:gd name="T4" fmla="*/ 691 w 692"/>
              <a:gd name="T5" fmla="*/ 0 h 115"/>
              <a:gd name="T6" fmla="*/ 691 w 692"/>
              <a:gd name="T7" fmla="*/ 114 h 115"/>
              <a:gd name="T8" fmla="*/ 0 w 692"/>
              <a:gd name="T9" fmla="*/ 114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Freeform 9">
            <a:extLst>
              <a:ext uri="{FF2B5EF4-FFF2-40B4-BE49-F238E27FC236}">
                <a16:creationId xmlns:a16="http://schemas.microsoft.com/office/drawing/2014/main" id="{7E032A77-25E9-220A-8B27-2C7BBA472544}"/>
              </a:ext>
            </a:extLst>
          </p:cNvPr>
          <p:cNvSpPr>
            <a:spLocks/>
          </p:cNvSpPr>
          <p:nvPr/>
        </p:nvSpPr>
        <p:spPr bwMode="auto">
          <a:xfrm>
            <a:off x="2722563" y="5486400"/>
            <a:ext cx="1128712" cy="166688"/>
          </a:xfrm>
          <a:custGeom>
            <a:avLst/>
            <a:gdLst>
              <a:gd name="T0" fmla="*/ 0 w 711"/>
              <a:gd name="T1" fmla="*/ 104 h 105"/>
              <a:gd name="T2" fmla="*/ 0 w 711"/>
              <a:gd name="T3" fmla="*/ 0 h 105"/>
              <a:gd name="T4" fmla="*/ 710 w 711"/>
              <a:gd name="T5" fmla="*/ 0 h 105"/>
              <a:gd name="T6" fmla="*/ 710 w 711"/>
              <a:gd name="T7" fmla="*/ 104 h 105"/>
              <a:gd name="T8" fmla="*/ 0 w 711"/>
              <a:gd name="T9" fmla="*/ 10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1" h="105">
                <a:moveTo>
                  <a:pt x="0" y="104"/>
                </a:moveTo>
                <a:lnTo>
                  <a:pt x="0" y="0"/>
                </a:lnTo>
                <a:lnTo>
                  <a:pt x="710" y="0"/>
                </a:lnTo>
                <a:lnTo>
                  <a:pt x="710" y="104"/>
                </a:lnTo>
                <a:lnTo>
                  <a:pt x="0" y="10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Freeform 10">
            <a:extLst>
              <a:ext uri="{FF2B5EF4-FFF2-40B4-BE49-F238E27FC236}">
                <a16:creationId xmlns:a16="http://schemas.microsoft.com/office/drawing/2014/main" id="{C3463FBA-5DD4-E9A3-6385-BA9CB59AF185}"/>
              </a:ext>
            </a:extLst>
          </p:cNvPr>
          <p:cNvSpPr>
            <a:spLocks/>
          </p:cNvSpPr>
          <p:nvPr/>
        </p:nvSpPr>
        <p:spPr bwMode="auto">
          <a:xfrm>
            <a:off x="2576514" y="4132263"/>
            <a:ext cx="1387475" cy="265112"/>
          </a:xfrm>
          <a:custGeom>
            <a:avLst/>
            <a:gdLst>
              <a:gd name="T0" fmla="*/ 873 w 874"/>
              <a:gd name="T1" fmla="*/ 84 h 167"/>
              <a:gd name="T2" fmla="*/ 839 w 874"/>
              <a:gd name="T3" fmla="*/ 51 h 167"/>
              <a:gd name="T4" fmla="*/ 745 w 874"/>
              <a:gd name="T5" fmla="*/ 24 h 167"/>
              <a:gd name="T6" fmla="*/ 437 w 874"/>
              <a:gd name="T7" fmla="*/ 0 h 167"/>
              <a:gd name="T8" fmla="*/ 128 w 874"/>
              <a:gd name="T9" fmla="*/ 24 h 167"/>
              <a:gd name="T10" fmla="*/ 34 w 874"/>
              <a:gd name="T11" fmla="*/ 51 h 167"/>
              <a:gd name="T12" fmla="*/ 0 w 874"/>
              <a:gd name="T13" fmla="*/ 84 h 167"/>
              <a:gd name="T14" fmla="*/ 34 w 874"/>
              <a:gd name="T15" fmla="*/ 115 h 167"/>
              <a:gd name="T16" fmla="*/ 128 w 874"/>
              <a:gd name="T17" fmla="*/ 142 h 167"/>
              <a:gd name="T18" fmla="*/ 437 w 874"/>
              <a:gd name="T19" fmla="*/ 166 h 167"/>
              <a:gd name="T20" fmla="*/ 745 w 874"/>
              <a:gd name="T21" fmla="*/ 142 h 167"/>
              <a:gd name="T22" fmla="*/ 839 w 874"/>
              <a:gd name="T23" fmla="*/ 115 h 167"/>
              <a:gd name="T24" fmla="*/ 873 w 874"/>
              <a:gd name="T25" fmla="*/ 84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4" h="167">
                <a:moveTo>
                  <a:pt x="873" y="84"/>
                </a:moveTo>
                <a:lnTo>
                  <a:pt x="839" y="51"/>
                </a:lnTo>
                <a:lnTo>
                  <a:pt x="745" y="24"/>
                </a:lnTo>
                <a:lnTo>
                  <a:pt x="437" y="0"/>
                </a:lnTo>
                <a:lnTo>
                  <a:pt x="128" y="24"/>
                </a:lnTo>
                <a:lnTo>
                  <a:pt x="34" y="51"/>
                </a:lnTo>
                <a:lnTo>
                  <a:pt x="0" y="84"/>
                </a:lnTo>
                <a:lnTo>
                  <a:pt x="34" y="115"/>
                </a:lnTo>
                <a:lnTo>
                  <a:pt x="128" y="142"/>
                </a:lnTo>
                <a:lnTo>
                  <a:pt x="437" y="166"/>
                </a:lnTo>
                <a:lnTo>
                  <a:pt x="745" y="142"/>
                </a:lnTo>
                <a:lnTo>
                  <a:pt x="839" y="115"/>
                </a:lnTo>
                <a:lnTo>
                  <a:pt x="873" y="8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AE4BA948-4265-623B-2B0D-B1A7DDCA0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4" y="6069013"/>
            <a:ext cx="3055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B Main memory buffers</a:t>
            </a:r>
          </a:p>
        </p:txBody>
      </p:sp>
      <p:sp>
        <p:nvSpPr>
          <p:cNvPr id="12300" name="Freeform 12">
            <a:extLst>
              <a:ext uri="{FF2B5EF4-FFF2-40B4-BE49-F238E27FC236}">
                <a16:creationId xmlns:a16="http://schemas.microsoft.com/office/drawing/2014/main" id="{AAD70D50-C65E-E402-CDC6-CD0D2CB121C1}"/>
              </a:ext>
            </a:extLst>
          </p:cNvPr>
          <p:cNvSpPr>
            <a:spLocks/>
          </p:cNvSpPr>
          <p:nvPr/>
        </p:nvSpPr>
        <p:spPr bwMode="auto">
          <a:xfrm>
            <a:off x="8477250" y="4572001"/>
            <a:ext cx="1119188" cy="157163"/>
          </a:xfrm>
          <a:custGeom>
            <a:avLst/>
            <a:gdLst>
              <a:gd name="T0" fmla="*/ 0 w 705"/>
              <a:gd name="T1" fmla="*/ 98 h 99"/>
              <a:gd name="T2" fmla="*/ 0 w 705"/>
              <a:gd name="T3" fmla="*/ 0 h 99"/>
              <a:gd name="T4" fmla="*/ 704 w 705"/>
              <a:gd name="T5" fmla="*/ 0 h 99"/>
              <a:gd name="T6" fmla="*/ 704 w 705"/>
              <a:gd name="T7" fmla="*/ 98 h 99"/>
              <a:gd name="T8" fmla="*/ 0 w 705"/>
              <a:gd name="T9" fmla="*/ 9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5" h="99">
                <a:moveTo>
                  <a:pt x="0" y="98"/>
                </a:moveTo>
                <a:lnTo>
                  <a:pt x="0" y="0"/>
                </a:lnTo>
                <a:lnTo>
                  <a:pt x="704" y="0"/>
                </a:lnTo>
                <a:lnTo>
                  <a:pt x="704" y="98"/>
                </a:lnTo>
                <a:lnTo>
                  <a:pt x="0" y="98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Freeform 13">
            <a:extLst>
              <a:ext uri="{FF2B5EF4-FFF2-40B4-BE49-F238E27FC236}">
                <a16:creationId xmlns:a16="http://schemas.microsoft.com/office/drawing/2014/main" id="{1AABF59A-BB38-8DA9-DE43-3B7D1C40DDD9}"/>
              </a:ext>
            </a:extLst>
          </p:cNvPr>
          <p:cNvSpPr>
            <a:spLocks/>
          </p:cNvSpPr>
          <p:nvPr/>
        </p:nvSpPr>
        <p:spPr bwMode="auto">
          <a:xfrm>
            <a:off x="8491539" y="4852989"/>
            <a:ext cx="1120775" cy="142875"/>
          </a:xfrm>
          <a:custGeom>
            <a:avLst/>
            <a:gdLst>
              <a:gd name="T0" fmla="*/ 0 w 706"/>
              <a:gd name="T1" fmla="*/ 89 h 90"/>
              <a:gd name="T2" fmla="*/ 0 w 706"/>
              <a:gd name="T3" fmla="*/ 0 h 90"/>
              <a:gd name="T4" fmla="*/ 705 w 706"/>
              <a:gd name="T5" fmla="*/ 0 h 90"/>
              <a:gd name="T6" fmla="*/ 705 w 706"/>
              <a:gd name="T7" fmla="*/ 89 h 90"/>
              <a:gd name="T8" fmla="*/ 0 w 706"/>
              <a:gd name="T9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Freeform 14">
            <a:extLst>
              <a:ext uri="{FF2B5EF4-FFF2-40B4-BE49-F238E27FC236}">
                <a16:creationId xmlns:a16="http://schemas.microsoft.com/office/drawing/2014/main" id="{7FA97B84-2ED1-9537-3184-60DF59C1B7A4}"/>
              </a:ext>
            </a:extLst>
          </p:cNvPr>
          <p:cNvSpPr>
            <a:spLocks/>
          </p:cNvSpPr>
          <p:nvPr/>
        </p:nvSpPr>
        <p:spPr bwMode="auto">
          <a:xfrm>
            <a:off x="4845050" y="3994151"/>
            <a:ext cx="1189038" cy="538163"/>
          </a:xfrm>
          <a:custGeom>
            <a:avLst/>
            <a:gdLst>
              <a:gd name="T0" fmla="*/ 0 w 749"/>
              <a:gd name="T1" fmla="*/ 338 h 339"/>
              <a:gd name="T2" fmla="*/ 0 w 749"/>
              <a:gd name="T3" fmla="*/ 0 h 339"/>
              <a:gd name="T4" fmla="*/ 748 w 749"/>
              <a:gd name="T5" fmla="*/ 0 h 339"/>
              <a:gd name="T6" fmla="*/ 748 w 749"/>
              <a:gd name="T7" fmla="*/ 338 h 339"/>
              <a:gd name="T8" fmla="*/ 0 w 749"/>
              <a:gd name="T9" fmla="*/ 338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39">
                <a:moveTo>
                  <a:pt x="0" y="338"/>
                </a:moveTo>
                <a:lnTo>
                  <a:pt x="0" y="0"/>
                </a:lnTo>
                <a:lnTo>
                  <a:pt x="748" y="0"/>
                </a:lnTo>
                <a:lnTo>
                  <a:pt x="748" y="338"/>
                </a:lnTo>
                <a:lnTo>
                  <a:pt x="0" y="338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Freeform 15">
            <a:extLst>
              <a:ext uri="{FF2B5EF4-FFF2-40B4-BE49-F238E27FC236}">
                <a16:creationId xmlns:a16="http://schemas.microsoft.com/office/drawing/2014/main" id="{981021A1-613A-6851-E52F-17A3E227589C}"/>
              </a:ext>
            </a:extLst>
          </p:cNvPr>
          <p:cNvSpPr>
            <a:spLocks/>
          </p:cNvSpPr>
          <p:nvPr/>
        </p:nvSpPr>
        <p:spPr bwMode="auto">
          <a:xfrm>
            <a:off x="6694488" y="4848226"/>
            <a:ext cx="1058862" cy="436563"/>
          </a:xfrm>
          <a:custGeom>
            <a:avLst/>
            <a:gdLst>
              <a:gd name="T0" fmla="*/ 0 w 667"/>
              <a:gd name="T1" fmla="*/ 274 h 275"/>
              <a:gd name="T2" fmla="*/ 0 w 667"/>
              <a:gd name="T3" fmla="*/ 0 h 275"/>
              <a:gd name="T4" fmla="*/ 666 w 667"/>
              <a:gd name="T5" fmla="*/ 0 h 275"/>
              <a:gd name="T6" fmla="*/ 666 w 667"/>
              <a:gd name="T7" fmla="*/ 274 h 275"/>
              <a:gd name="T8" fmla="*/ 0 w 667"/>
              <a:gd name="T9" fmla="*/ 274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7" h="275">
                <a:moveTo>
                  <a:pt x="0" y="274"/>
                </a:moveTo>
                <a:lnTo>
                  <a:pt x="0" y="0"/>
                </a:lnTo>
                <a:lnTo>
                  <a:pt x="666" y="0"/>
                </a:lnTo>
                <a:lnTo>
                  <a:pt x="666" y="274"/>
                </a:lnTo>
                <a:lnTo>
                  <a:pt x="0" y="274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Freeform 16">
            <a:extLst>
              <a:ext uri="{FF2B5EF4-FFF2-40B4-BE49-F238E27FC236}">
                <a16:creationId xmlns:a16="http://schemas.microsoft.com/office/drawing/2014/main" id="{2AADBD6D-94D1-F565-E1A0-1D355F00705E}"/>
              </a:ext>
            </a:extLst>
          </p:cNvPr>
          <p:cNvSpPr>
            <a:spLocks/>
          </p:cNvSpPr>
          <p:nvPr/>
        </p:nvSpPr>
        <p:spPr bwMode="auto">
          <a:xfrm>
            <a:off x="4816475" y="5570538"/>
            <a:ext cx="1189038" cy="539750"/>
          </a:xfrm>
          <a:custGeom>
            <a:avLst/>
            <a:gdLst>
              <a:gd name="T0" fmla="*/ 0 w 749"/>
              <a:gd name="T1" fmla="*/ 339 h 340"/>
              <a:gd name="T2" fmla="*/ 0 w 749"/>
              <a:gd name="T3" fmla="*/ 0 h 340"/>
              <a:gd name="T4" fmla="*/ 748 w 749"/>
              <a:gd name="T5" fmla="*/ 0 h 340"/>
              <a:gd name="T6" fmla="*/ 748 w 749"/>
              <a:gd name="T7" fmla="*/ 339 h 340"/>
              <a:gd name="T8" fmla="*/ 0 w 749"/>
              <a:gd name="T9" fmla="*/ 339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Freeform 17">
            <a:extLst>
              <a:ext uri="{FF2B5EF4-FFF2-40B4-BE49-F238E27FC236}">
                <a16:creationId xmlns:a16="http://schemas.microsoft.com/office/drawing/2014/main" id="{0F63F283-3D0B-8F54-DC4D-12B769AF9C2D}"/>
              </a:ext>
            </a:extLst>
          </p:cNvPr>
          <p:cNvSpPr>
            <a:spLocks/>
          </p:cNvSpPr>
          <p:nvPr/>
        </p:nvSpPr>
        <p:spPr bwMode="auto">
          <a:xfrm>
            <a:off x="4311650" y="3886201"/>
            <a:ext cx="3625850" cy="2492375"/>
          </a:xfrm>
          <a:custGeom>
            <a:avLst/>
            <a:gdLst>
              <a:gd name="T0" fmla="*/ 0 w 2284"/>
              <a:gd name="T1" fmla="*/ 1569 h 1570"/>
              <a:gd name="T2" fmla="*/ 0 w 2284"/>
              <a:gd name="T3" fmla="*/ 0 h 1570"/>
              <a:gd name="T4" fmla="*/ 2283 w 2284"/>
              <a:gd name="T5" fmla="*/ 0 h 1570"/>
              <a:gd name="T6" fmla="*/ 2283 w 2284"/>
              <a:gd name="T7" fmla="*/ 1569 h 1570"/>
              <a:gd name="T8" fmla="*/ 0 w 2284"/>
              <a:gd name="T9" fmla="*/ 1569 h 1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4" h="1570">
                <a:moveTo>
                  <a:pt x="0" y="1569"/>
                </a:moveTo>
                <a:lnTo>
                  <a:pt x="0" y="0"/>
                </a:lnTo>
                <a:lnTo>
                  <a:pt x="2283" y="0"/>
                </a:lnTo>
                <a:lnTo>
                  <a:pt x="2283" y="1569"/>
                </a:lnTo>
                <a:lnTo>
                  <a:pt x="0" y="156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8C8618FA-2C2D-75F2-3717-AEE2F359E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4049713"/>
            <a:ext cx="1049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tx2"/>
                </a:solidFill>
                <a:latin typeface="Bookman Old Style" panose="02050604050505020204" pitchFamily="18" charset="0"/>
              </a:rPr>
              <a:t>INPUT 1</a:t>
            </a:r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43CF12DE-EC2E-F8E9-E969-0482D761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6" y="5627688"/>
            <a:ext cx="12684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tx2"/>
                </a:solidFill>
                <a:latin typeface="Bookman Old Style" panose="02050604050505020204" pitchFamily="18" charset="0"/>
              </a:rPr>
              <a:t>INPUT B-1</a:t>
            </a:r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658D9E28-B276-DB22-4B10-498D38A67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4870450"/>
            <a:ext cx="1068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tx2"/>
                </a:solidFill>
                <a:latin typeface="Bookman Old Style" panose="02050604050505020204" pitchFamily="18" charset="0"/>
              </a:rPr>
              <a:t>OUTPUT</a:t>
            </a:r>
          </a:p>
        </p:txBody>
      </p:sp>
      <p:sp>
        <p:nvSpPr>
          <p:cNvPr id="12309" name="Rectangle 21">
            <a:extLst>
              <a:ext uri="{FF2B5EF4-FFF2-40B4-BE49-F238E27FC236}">
                <a16:creationId xmlns:a16="http://schemas.microsoft.com/office/drawing/2014/main" id="{1B1214B8-AE4A-2548-6EAD-801F118A5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7764" y="5929313"/>
            <a:ext cx="714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Disk</a:t>
            </a:r>
          </a:p>
        </p:txBody>
      </p:sp>
      <p:sp>
        <p:nvSpPr>
          <p:cNvPr id="12310" name="Rectangle 22">
            <a:extLst>
              <a:ext uri="{FF2B5EF4-FFF2-40B4-BE49-F238E27FC236}">
                <a16:creationId xmlns:a16="http://schemas.microsoft.com/office/drawing/2014/main" id="{CC1A01E1-E24C-3DED-100E-59E278201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26" y="5962651"/>
            <a:ext cx="714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latin typeface="Bookman Old Style" panose="02050604050505020204" pitchFamily="18" charset="0"/>
              </a:rPr>
              <a:t>Disk</a:t>
            </a:r>
          </a:p>
        </p:txBody>
      </p:sp>
      <p:sp>
        <p:nvSpPr>
          <p:cNvPr id="12311" name="Line 23">
            <a:extLst>
              <a:ext uri="{FF2B5EF4-FFF2-40B4-BE49-F238E27FC236}">
                <a16:creationId xmlns:a16="http://schemas.microsoft.com/office/drawing/2014/main" id="{37CAF77F-8752-930C-7283-C7728F5B9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4254501"/>
            <a:ext cx="0" cy="1477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Line 24">
            <a:extLst>
              <a:ext uri="{FF2B5EF4-FFF2-40B4-BE49-F238E27FC236}">
                <a16:creationId xmlns:a16="http://schemas.microsoft.com/office/drawing/2014/main" id="{AFC12507-8778-B55A-4176-1B2934F6E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9225" y="4254501"/>
            <a:ext cx="0" cy="1477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15" name="Group 27">
            <a:extLst>
              <a:ext uri="{FF2B5EF4-FFF2-40B4-BE49-F238E27FC236}">
                <a16:creationId xmlns:a16="http://schemas.microsoft.com/office/drawing/2014/main" id="{6D8AE8E8-D5A5-EBA5-816A-4BD245517DA6}"/>
              </a:ext>
            </a:extLst>
          </p:cNvPr>
          <p:cNvGrpSpPr>
            <a:grpSpLocks/>
          </p:cNvGrpSpPr>
          <p:nvPr/>
        </p:nvGrpSpPr>
        <p:grpSpPr bwMode="auto">
          <a:xfrm>
            <a:off x="2593975" y="5732464"/>
            <a:ext cx="1365250" cy="185737"/>
            <a:chOff x="674" y="3611"/>
            <a:chExt cx="860" cy="117"/>
          </a:xfrm>
        </p:grpSpPr>
        <p:sp>
          <p:nvSpPr>
            <p:cNvPr id="12313" name="Arc 25">
              <a:extLst>
                <a:ext uri="{FF2B5EF4-FFF2-40B4-BE49-F238E27FC236}">
                  <a16:creationId xmlns:a16="http://schemas.microsoft.com/office/drawing/2014/main" id="{3D91722E-FC45-793B-BD70-DD952C7B4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" y="3611"/>
              <a:ext cx="456" cy="117"/>
            </a:xfrm>
            <a:custGeom>
              <a:avLst/>
              <a:gdLst>
                <a:gd name="G0" fmla="+- 21600 0 0"/>
                <a:gd name="G1" fmla="+- 185 0 0"/>
                <a:gd name="G2" fmla="+- 21600 0 0"/>
                <a:gd name="T0" fmla="*/ 21600 w 21600"/>
                <a:gd name="T1" fmla="*/ 21785 h 21785"/>
                <a:gd name="T2" fmla="*/ 1 w 21600"/>
                <a:gd name="T3" fmla="*/ 0 h 21785"/>
                <a:gd name="T4" fmla="*/ 21600 w 21600"/>
                <a:gd name="T5" fmla="*/ 185 h 2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85" fill="none" extrusionOk="0">
                  <a:moveTo>
                    <a:pt x="21600" y="21784"/>
                  </a:moveTo>
                  <a:cubicBezTo>
                    <a:pt x="9670" y="21785"/>
                    <a:pt x="0" y="12114"/>
                    <a:pt x="0" y="185"/>
                  </a:cubicBezTo>
                  <a:cubicBezTo>
                    <a:pt x="0" y="123"/>
                    <a:pt x="0" y="61"/>
                    <a:pt x="0" y="-1"/>
                  </a:cubicBezTo>
                </a:path>
                <a:path w="21600" h="21785" stroke="0" extrusionOk="0">
                  <a:moveTo>
                    <a:pt x="21600" y="21784"/>
                  </a:moveTo>
                  <a:cubicBezTo>
                    <a:pt x="9670" y="21785"/>
                    <a:pt x="0" y="12114"/>
                    <a:pt x="0" y="185"/>
                  </a:cubicBezTo>
                  <a:cubicBezTo>
                    <a:pt x="0" y="123"/>
                    <a:pt x="0" y="61"/>
                    <a:pt x="0" y="-1"/>
                  </a:cubicBezTo>
                  <a:lnTo>
                    <a:pt x="21600" y="185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4" name="Arc 26">
              <a:extLst>
                <a:ext uri="{FF2B5EF4-FFF2-40B4-BE49-F238E27FC236}">
                  <a16:creationId xmlns:a16="http://schemas.microsoft.com/office/drawing/2014/main" id="{23CA8AFB-8F4C-3463-9DBE-EF2FC2352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" y="3611"/>
              <a:ext cx="456" cy="117"/>
            </a:xfrm>
            <a:custGeom>
              <a:avLst/>
              <a:gdLst>
                <a:gd name="G0" fmla="+- 0 0 0"/>
                <a:gd name="G1" fmla="+- 185 0 0"/>
                <a:gd name="G2" fmla="+- 21600 0 0"/>
                <a:gd name="T0" fmla="*/ 21599 w 21600"/>
                <a:gd name="T1" fmla="*/ 0 h 21785"/>
                <a:gd name="T2" fmla="*/ 0 w 21600"/>
                <a:gd name="T3" fmla="*/ 21785 h 21785"/>
                <a:gd name="T4" fmla="*/ 0 w 21600"/>
                <a:gd name="T5" fmla="*/ 185 h 2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85" fill="none" extrusionOk="0">
                  <a:moveTo>
                    <a:pt x="21599" y="-1"/>
                  </a:moveTo>
                  <a:cubicBezTo>
                    <a:pt x="21599" y="61"/>
                    <a:pt x="21600" y="123"/>
                    <a:pt x="21600" y="185"/>
                  </a:cubicBezTo>
                  <a:cubicBezTo>
                    <a:pt x="21600" y="12114"/>
                    <a:pt x="11929" y="21785"/>
                    <a:pt x="-1" y="21785"/>
                  </a:cubicBezTo>
                </a:path>
                <a:path w="21600" h="21785" stroke="0" extrusionOk="0">
                  <a:moveTo>
                    <a:pt x="21599" y="-1"/>
                  </a:moveTo>
                  <a:cubicBezTo>
                    <a:pt x="21599" y="61"/>
                    <a:pt x="21600" y="123"/>
                    <a:pt x="21600" y="185"/>
                  </a:cubicBezTo>
                  <a:cubicBezTo>
                    <a:pt x="21600" y="12114"/>
                    <a:pt x="11929" y="21785"/>
                    <a:pt x="-1" y="21785"/>
                  </a:cubicBezTo>
                  <a:lnTo>
                    <a:pt x="0" y="185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18" name="Group 30">
            <a:extLst>
              <a:ext uri="{FF2B5EF4-FFF2-40B4-BE49-F238E27FC236}">
                <a16:creationId xmlns:a16="http://schemas.microsoft.com/office/drawing/2014/main" id="{5F174680-AD30-9522-EC5F-9FD819CB860D}"/>
              </a:ext>
            </a:extLst>
          </p:cNvPr>
          <p:cNvGrpSpPr>
            <a:grpSpLocks/>
          </p:cNvGrpSpPr>
          <p:nvPr/>
        </p:nvGrpSpPr>
        <p:grpSpPr bwMode="auto">
          <a:xfrm>
            <a:off x="8380413" y="5656263"/>
            <a:ext cx="1371600" cy="176212"/>
            <a:chOff x="4319" y="3563"/>
            <a:chExt cx="864" cy="111"/>
          </a:xfrm>
        </p:grpSpPr>
        <p:sp>
          <p:nvSpPr>
            <p:cNvPr id="12316" name="Arc 28">
              <a:extLst>
                <a:ext uri="{FF2B5EF4-FFF2-40B4-BE49-F238E27FC236}">
                  <a16:creationId xmlns:a16="http://schemas.microsoft.com/office/drawing/2014/main" id="{589B1A53-D18B-7B6E-2ED6-305EF4C35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3563"/>
              <a:ext cx="458" cy="111"/>
            </a:xfrm>
            <a:custGeom>
              <a:avLst/>
              <a:gdLst>
                <a:gd name="G0" fmla="+- 21600 0 0"/>
                <a:gd name="G1" fmla="+- 195 0 0"/>
                <a:gd name="G2" fmla="+- 21600 0 0"/>
                <a:gd name="T0" fmla="*/ 21600 w 21600"/>
                <a:gd name="T1" fmla="*/ 21795 h 21795"/>
                <a:gd name="T2" fmla="*/ 1 w 21600"/>
                <a:gd name="T3" fmla="*/ 0 h 21795"/>
                <a:gd name="T4" fmla="*/ 21600 w 21600"/>
                <a:gd name="T5" fmla="*/ 195 h 2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95" fill="none" extrusionOk="0">
                  <a:moveTo>
                    <a:pt x="21600" y="21794"/>
                  </a:moveTo>
                  <a:cubicBezTo>
                    <a:pt x="9670" y="21795"/>
                    <a:pt x="0" y="12124"/>
                    <a:pt x="0" y="195"/>
                  </a:cubicBezTo>
                  <a:cubicBezTo>
                    <a:pt x="0" y="129"/>
                    <a:pt x="0" y="64"/>
                    <a:pt x="0" y="-1"/>
                  </a:cubicBezTo>
                </a:path>
                <a:path w="21600" h="21795" stroke="0" extrusionOk="0">
                  <a:moveTo>
                    <a:pt x="21600" y="21794"/>
                  </a:moveTo>
                  <a:cubicBezTo>
                    <a:pt x="9670" y="21795"/>
                    <a:pt x="0" y="12124"/>
                    <a:pt x="0" y="195"/>
                  </a:cubicBezTo>
                  <a:cubicBezTo>
                    <a:pt x="0" y="129"/>
                    <a:pt x="0" y="64"/>
                    <a:pt x="0" y="-1"/>
                  </a:cubicBezTo>
                  <a:lnTo>
                    <a:pt x="21600" y="195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Arc 29">
              <a:extLst>
                <a:ext uri="{FF2B5EF4-FFF2-40B4-BE49-F238E27FC236}">
                  <a16:creationId xmlns:a16="http://schemas.microsoft.com/office/drawing/2014/main" id="{15723F7B-1901-52A6-7129-949B0B31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3563"/>
              <a:ext cx="458" cy="111"/>
            </a:xfrm>
            <a:custGeom>
              <a:avLst/>
              <a:gdLst>
                <a:gd name="G0" fmla="+- 0 0 0"/>
                <a:gd name="G1" fmla="+- 195 0 0"/>
                <a:gd name="G2" fmla="+- 21600 0 0"/>
                <a:gd name="T0" fmla="*/ 21599 w 21600"/>
                <a:gd name="T1" fmla="*/ 0 h 21795"/>
                <a:gd name="T2" fmla="*/ 0 w 21600"/>
                <a:gd name="T3" fmla="*/ 21795 h 21795"/>
                <a:gd name="T4" fmla="*/ 0 w 21600"/>
                <a:gd name="T5" fmla="*/ 195 h 2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95" fill="none" extrusionOk="0">
                  <a:moveTo>
                    <a:pt x="21599" y="-1"/>
                  </a:moveTo>
                  <a:cubicBezTo>
                    <a:pt x="21599" y="64"/>
                    <a:pt x="21600" y="129"/>
                    <a:pt x="21600" y="195"/>
                  </a:cubicBezTo>
                  <a:cubicBezTo>
                    <a:pt x="21600" y="12124"/>
                    <a:pt x="11929" y="21795"/>
                    <a:pt x="-1" y="21795"/>
                  </a:cubicBezTo>
                </a:path>
                <a:path w="21600" h="21795" stroke="0" extrusionOk="0">
                  <a:moveTo>
                    <a:pt x="21599" y="-1"/>
                  </a:moveTo>
                  <a:cubicBezTo>
                    <a:pt x="21599" y="64"/>
                    <a:pt x="21600" y="129"/>
                    <a:pt x="21600" y="195"/>
                  </a:cubicBezTo>
                  <a:cubicBezTo>
                    <a:pt x="21600" y="12124"/>
                    <a:pt x="11929" y="21795"/>
                    <a:pt x="-1" y="21795"/>
                  </a:cubicBezTo>
                  <a:lnTo>
                    <a:pt x="0" y="195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19" name="Line 31">
            <a:extLst>
              <a:ext uri="{FF2B5EF4-FFF2-40B4-BE49-F238E27FC236}">
                <a16:creationId xmlns:a16="http://schemas.microsoft.com/office/drawing/2014/main" id="{69B22422-F6EA-0769-789C-02045ED3A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5175" y="4254500"/>
            <a:ext cx="0" cy="1397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Line 32">
            <a:extLst>
              <a:ext uri="{FF2B5EF4-FFF2-40B4-BE49-F238E27FC236}">
                <a16:creationId xmlns:a16="http://schemas.microsoft.com/office/drawing/2014/main" id="{C5B1AF2F-3C28-D58A-D8DB-4BF9E0957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2013" y="4254500"/>
            <a:ext cx="0" cy="1397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1" name="Line 33">
            <a:extLst>
              <a:ext uri="{FF2B5EF4-FFF2-40B4-BE49-F238E27FC236}">
                <a16:creationId xmlns:a16="http://schemas.microsoft.com/office/drawing/2014/main" id="{B4ABEE22-D668-5F3C-AE64-17B5B3FAD2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8888" y="4346575"/>
            <a:ext cx="1046162" cy="1841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2" name="Line 34">
            <a:extLst>
              <a:ext uri="{FF2B5EF4-FFF2-40B4-BE49-F238E27FC236}">
                <a16:creationId xmlns:a16="http://schemas.microsoft.com/office/drawing/2014/main" id="{0468559E-DEFE-03DE-99C8-5D2204DA8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8888" y="4900613"/>
            <a:ext cx="104616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Line 35">
            <a:extLst>
              <a:ext uri="{FF2B5EF4-FFF2-40B4-BE49-F238E27FC236}">
                <a16:creationId xmlns:a16="http://schemas.microsoft.com/office/drawing/2014/main" id="{4B986DE7-01CA-0EC8-B66A-87BCEEE95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1550" y="4530726"/>
            <a:ext cx="642938" cy="461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4" name="Line 36">
            <a:extLst>
              <a:ext uri="{FF2B5EF4-FFF2-40B4-BE49-F238E27FC236}">
                <a16:creationId xmlns:a16="http://schemas.microsoft.com/office/drawing/2014/main" id="{8A769DBB-DE62-36BB-44E8-93C1136D3C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51550" y="5178425"/>
            <a:ext cx="642938" cy="368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5" name="Line 37">
            <a:extLst>
              <a:ext uri="{FF2B5EF4-FFF2-40B4-BE49-F238E27FC236}">
                <a16:creationId xmlns:a16="http://schemas.microsoft.com/office/drawing/2014/main" id="{A0599842-1589-F73A-4448-62DB8C311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0651" y="5084763"/>
            <a:ext cx="644525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6" name="Freeform 38">
            <a:extLst>
              <a:ext uri="{FF2B5EF4-FFF2-40B4-BE49-F238E27FC236}">
                <a16:creationId xmlns:a16="http://schemas.microsoft.com/office/drawing/2014/main" id="{34CEC41A-08CB-1357-DE43-AAB6E3DDE7E1}"/>
              </a:ext>
            </a:extLst>
          </p:cNvPr>
          <p:cNvSpPr>
            <a:spLocks/>
          </p:cNvSpPr>
          <p:nvPr/>
        </p:nvSpPr>
        <p:spPr bwMode="auto">
          <a:xfrm>
            <a:off x="4845050" y="4640263"/>
            <a:ext cx="1189038" cy="539750"/>
          </a:xfrm>
          <a:custGeom>
            <a:avLst/>
            <a:gdLst>
              <a:gd name="T0" fmla="*/ 0 w 749"/>
              <a:gd name="T1" fmla="*/ 339 h 340"/>
              <a:gd name="T2" fmla="*/ 0 w 749"/>
              <a:gd name="T3" fmla="*/ 0 h 340"/>
              <a:gd name="T4" fmla="*/ 748 w 749"/>
              <a:gd name="T5" fmla="*/ 0 h 340"/>
              <a:gd name="T6" fmla="*/ 748 w 749"/>
              <a:gd name="T7" fmla="*/ 339 h 340"/>
              <a:gd name="T8" fmla="*/ 0 w 749"/>
              <a:gd name="T9" fmla="*/ 339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7" name="Rectangle 39">
            <a:extLst>
              <a:ext uri="{FF2B5EF4-FFF2-40B4-BE49-F238E27FC236}">
                <a16:creationId xmlns:a16="http://schemas.microsoft.com/office/drawing/2014/main" id="{30150B9C-34C1-051D-ADFB-183138E6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4695825"/>
            <a:ext cx="1049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tx2"/>
                </a:solidFill>
                <a:latin typeface="Bookman Old Style" panose="02050604050505020204" pitchFamily="18" charset="0"/>
              </a:rPr>
              <a:t>INPUT 2</a:t>
            </a:r>
          </a:p>
        </p:txBody>
      </p:sp>
      <p:sp>
        <p:nvSpPr>
          <p:cNvPr id="12328" name="Rectangle 40">
            <a:extLst>
              <a:ext uri="{FF2B5EF4-FFF2-40B4-BE49-F238E27FC236}">
                <a16:creationId xmlns:a16="http://schemas.microsoft.com/office/drawing/2014/main" id="{C9507597-67B6-2709-2925-0510B202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6" y="4764088"/>
            <a:ext cx="831959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4000">
                <a:solidFill>
                  <a:schemeClr val="tx2"/>
                </a:solidFill>
              </a:rPr>
              <a:t>. . .</a:t>
            </a:r>
          </a:p>
        </p:txBody>
      </p:sp>
      <p:sp>
        <p:nvSpPr>
          <p:cNvPr id="12329" name="Freeform 41">
            <a:extLst>
              <a:ext uri="{FF2B5EF4-FFF2-40B4-BE49-F238E27FC236}">
                <a16:creationId xmlns:a16="http://schemas.microsoft.com/office/drawing/2014/main" id="{98E43BC5-776E-C419-EA86-37ED20421683}"/>
              </a:ext>
            </a:extLst>
          </p:cNvPr>
          <p:cNvSpPr>
            <a:spLocks/>
          </p:cNvSpPr>
          <p:nvPr/>
        </p:nvSpPr>
        <p:spPr bwMode="auto">
          <a:xfrm>
            <a:off x="2722563" y="4764088"/>
            <a:ext cx="1098550" cy="182562"/>
          </a:xfrm>
          <a:custGeom>
            <a:avLst/>
            <a:gdLst>
              <a:gd name="T0" fmla="*/ 0 w 692"/>
              <a:gd name="T1" fmla="*/ 114 h 115"/>
              <a:gd name="T2" fmla="*/ 0 w 692"/>
              <a:gd name="T3" fmla="*/ 0 h 115"/>
              <a:gd name="T4" fmla="*/ 691 w 692"/>
              <a:gd name="T5" fmla="*/ 0 h 115"/>
              <a:gd name="T6" fmla="*/ 691 w 692"/>
              <a:gd name="T7" fmla="*/ 114 h 115"/>
              <a:gd name="T8" fmla="*/ 0 w 692"/>
              <a:gd name="T9" fmla="*/ 114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0" name="Line 42">
            <a:extLst>
              <a:ext uri="{FF2B5EF4-FFF2-40B4-BE49-F238E27FC236}">
                <a16:creationId xmlns:a16="http://schemas.microsoft.com/office/drawing/2014/main" id="{CD51B9AE-E4B8-B290-587D-BB712547F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9850" y="5546726"/>
            <a:ext cx="965200" cy="2778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31" name="Line 43">
            <a:extLst>
              <a:ext uri="{FF2B5EF4-FFF2-40B4-BE49-F238E27FC236}">
                <a16:creationId xmlns:a16="http://schemas.microsoft.com/office/drawing/2014/main" id="{EDA24B96-045D-96C9-1737-A59E7BC78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1550" y="4900613"/>
            <a:ext cx="642938" cy="1841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32" name="Rectangle 44">
            <a:extLst>
              <a:ext uri="{FF2B5EF4-FFF2-40B4-BE49-F238E27FC236}">
                <a16:creationId xmlns:a16="http://schemas.microsoft.com/office/drawing/2014/main" id="{68FB286E-8E5C-1BEE-2E29-06A676E8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1" y="4670426"/>
            <a:ext cx="822325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4000">
                <a:solidFill>
                  <a:schemeClr val="tx2"/>
                </a:solidFill>
              </a:rPr>
              <a:t>. . .</a:t>
            </a:r>
          </a:p>
        </p:txBody>
      </p:sp>
      <p:sp>
        <p:nvSpPr>
          <p:cNvPr id="12333" name="Freeform 45">
            <a:extLst>
              <a:ext uri="{FF2B5EF4-FFF2-40B4-BE49-F238E27FC236}">
                <a16:creationId xmlns:a16="http://schemas.microsoft.com/office/drawing/2014/main" id="{3AEF3130-B587-B975-D8B3-9C95B904F8E6}"/>
              </a:ext>
            </a:extLst>
          </p:cNvPr>
          <p:cNvSpPr>
            <a:spLocks/>
          </p:cNvSpPr>
          <p:nvPr/>
        </p:nvSpPr>
        <p:spPr bwMode="auto">
          <a:xfrm>
            <a:off x="8491539" y="5407026"/>
            <a:ext cx="1120775" cy="142875"/>
          </a:xfrm>
          <a:custGeom>
            <a:avLst/>
            <a:gdLst>
              <a:gd name="T0" fmla="*/ 0 w 706"/>
              <a:gd name="T1" fmla="*/ 89 h 90"/>
              <a:gd name="T2" fmla="*/ 0 w 706"/>
              <a:gd name="T3" fmla="*/ 0 h 90"/>
              <a:gd name="T4" fmla="*/ 705 w 706"/>
              <a:gd name="T5" fmla="*/ 0 h 90"/>
              <a:gd name="T6" fmla="*/ 705 w 706"/>
              <a:gd name="T7" fmla="*/ 89 h 90"/>
              <a:gd name="T8" fmla="*/ 0 w 706"/>
              <a:gd name="T9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4" name="Rectangle 46">
            <a:extLst>
              <a:ext uri="{FF2B5EF4-FFF2-40B4-BE49-F238E27FC236}">
                <a16:creationId xmlns:a16="http://schemas.microsoft.com/office/drawing/2014/main" id="{5C539499-B2F3-6E79-1183-0F46E8807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989" y="4672013"/>
            <a:ext cx="831959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4000">
                <a:solidFill>
                  <a:schemeClr val="tx2"/>
                </a:solidFill>
              </a:rPr>
              <a:t>. . .</a:t>
            </a:r>
          </a:p>
        </p:txBody>
      </p:sp>
      <p:sp>
        <p:nvSpPr>
          <p:cNvPr id="12335" name="Rectangle 47">
            <a:extLst>
              <a:ext uri="{FF2B5EF4-FFF2-40B4-BE49-F238E27FC236}">
                <a16:creationId xmlns:a16="http://schemas.microsoft.com/office/drawing/2014/main" id="{014D6B66-3B5D-6C91-A32D-DF292B0C1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9" y="1617663"/>
            <a:ext cx="88995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Font typeface="Monotype Sorts" pitchFamily="2" charset="2"/>
              <a:buChar char="*"/>
            </a:pPr>
            <a:r>
              <a:rPr lang="en-US" altLang="en-US" sz="2800" b="1" i="1">
                <a:solidFill>
                  <a:schemeClr val="folHlink"/>
                </a:solidFill>
              </a:rPr>
              <a:t> More than 3 buffer pages.  How can we utilize them?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20C3902-B053-A020-9211-3E65C62C1F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B687B1A-1179-687D-0EDF-16A67B56B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11FEFEA-B16C-7763-D01F-7F76FECD1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8209533-1F08-3A58-A9D8-B8E44C854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Cost of External Merge Sort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4724EF53-5C01-CD77-25C9-FB13EB9A9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Number of passes:</a:t>
            </a:r>
          </a:p>
          <a:p>
            <a:r>
              <a:rPr lang="en-US" altLang="en-US">
                <a:solidFill>
                  <a:schemeClr val="accent2"/>
                </a:solidFill>
              </a:rPr>
              <a:t>Cost = 2N * (# of passes)</a:t>
            </a:r>
            <a:endParaRPr lang="en-US" altLang="en-US"/>
          </a:p>
          <a:p>
            <a:r>
              <a:rPr lang="en-US" altLang="en-US"/>
              <a:t>E.g., with 5 buffer pages, to sort 108 page file:</a:t>
            </a:r>
          </a:p>
          <a:p>
            <a:pPr lvl="1"/>
            <a:r>
              <a:rPr lang="en-US" altLang="en-US"/>
              <a:t>Pass 0:                   = 22 sorted runs of 5 pages each (last run is only 3 pages) </a:t>
            </a:r>
          </a:p>
          <a:p>
            <a:r>
              <a:rPr lang="en-US" altLang="en-US"/>
              <a:t>Now, do four-way (B-1) merges</a:t>
            </a:r>
          </a:p>
          <a:p>
            <a:pPr lvl="1"/>
            <a:r>
              <a:rPr lang="en-US" altLang="en-US"/>
              <a:t>Pass 1:                 = 6 sorted runs of 20 pages each (last run is only 8 pages)</a:t>
            </a:r>
          </a:p>
          <a:p>
            <a:pPr lvl="1"/>
            <a:r>
              <a:rPr lang="en-US" altLang="en-US"/>
              <a:t>Pass 2:  2 sorted runs, 80 pages and 28 pages</a:t>
            </a:r>
          </a:p>
          <a:p>
            <a:pPr lvl="1"/>
            <a:r>
              <a:rPr lang="en-US" altLang="en-US"/>
              <a:t>Pass 3:  Sorted file of 108 pages</a:t>
            </a:r>
          </a:p>
        </p:txBody>
      </p:sp>
      <p:graphicFrame>
        <p:nvGraphicFramePr>
          <p:cNvPr id="14342" name="Object 6">
            <a:extLst>
              <a:ext uri="{FF2B5EF4-FFF2-40B4-BE49-F238E27FC236}">
                <a16:creationId xmlns:a16="http://schemas.microsoft.com/office/drawing/2014/main" id="{704632BA-2809-25A3-CBCE-60A8700A88EC}"/>
              </a:ext>
            </a:extLst>
          </p:cNvPr>
          <p:cNvGraphicFramePr>
            <a:graphicFrameLocks/>
          </p:cNvGraphicFramePr>
          <p:nvPr/>
        </p:nvGraphicFramePr>
        <p:xfrm>
          <a:off x="5715000" y="1981200"/>
          <a:ext cx="44592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363240" progId="Equation.3">
                  <p:embed/>
                </p:oleObj>
              </mc:Choice>
              <mc:Fallback>
                <p:oleObj name="Equation" r:id="rId2" imgW="1765080" imgH="363240" progId="Equation.3">
                  <p:embed/>
                  <p:pic>
                    <p:nvPicPr>
                      <p:cNvPr id="14342" name="Object 6">
                        <a:extLst>
                          <a:ext uri="{FF2B5EF4-FFF2-40B4-BE49-F238E27FC236}">
                            <a16:creationId xmlns:a16="http://schemas.microsoft.com/office/drawing/2014/main" id="{704632BA-2809-25A3-CBCE-60A8700A88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981200"/>
                        <a:ext cx="44592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>
            <a:extLst>
              <a:ext uri="{FF2B5EF4-FFF2-40B4-BE49-F238E27FC236}">
                <a16:creationId xmlns:a16="http://schemas.microsoft.com/office/drawing/2014/main" id="{2FC4D416-DD5C-72AF-DB34-7E020D41CC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671202"/>
              </p:ext>
            </p:extLst>
          </p:nvPr>
        </p:nvGraphicFramePr>
        <p:xfrm>
          <a:off x="2517058" y="3261366"/>
          <a:ext cx="240890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0200" imgH="301320" progId="Equation.3">
                  <p:embed/>
                </p:oleObj>
              </mc:Choice>
              <mc:Fallback>
                <p:oleObj name="Equation" r:id="rId4" imgW="1060200" imgH="301320" progId="Equation.3">
                  <p:embed/>
                  <p:pic>
                    <p:nvPicPr>
                      <p:cNvPr id="14343" name="Object 7">
                        <a:extLst>
                          <a:ext uri="{FF2B5EF4-FFF2-40B4-BE49-F238E27FC236}">
                            <a16:creationId xmlns:a16="http://schemas.microsoft.com/office/drawing/2014/main" id="{2FC4D416-DD5C-72AF-DB34-7E020D41CC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058" y="3261366"/>
                        <a:ext cx="240890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EE3EF69C-F955-8573-B363-07A65B726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7266412"/>
              </p:ext>
            </p:extLst>
          </p:nvPr>
        </p:nvGraphicFramePr>
        <p:xfrm>
          <a:off x="2578509" y="4198630"/>
          <a:ext cx="22860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4360" imgH="352080" progId="Equation.3">
                  <p:embed/>
                </p:oleObj>
              </mc:Choice>
              <mc:Fallback>
                <p:oleObj name="Equation" r:id="rId6" imgW="1044360" imgH="352080" progId="Equation.3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EE3EF69C-F955-8573-B363-07A65B7265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509" y="4198630"/>
                        <a:ext cx="22860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0507427-D619-A8D6-8D7F-1AE83377A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E6C801B4-A357-2430-9F9B-9C6670504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28F0A8B-F3DC-CFC6-2894-073F5239A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8A208C1-CF43-FF63-8D02-CED0358AA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Number of Passes of External Sort</a:t>
            </a:r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A4A663A1-1AF6-0653-CD17-1955F7FA11FE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881188" y="1912938"/>
          <a:ext cx="8602662" cy="445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474040" imgH="4392360" progId="Word.Document.8">
                  <p:embed/>
                </p:oleObj>
              </mc:Choice>
              <mc:Fallback>
                <p:oleObj name="Document" r:id="rId2" imgW="8474040" imgH="4392360" progId="Word.Document.8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A4A663A1-1AF6-0653-CD17-1955F7FA11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1912938"/>
                        <a:ext cx="8602662" cy="445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>
            <a:extLst>
              <a:ext uri="{FF2B5EF4-FFF2-40B4-BE49-F238E27FC236}">
                <a16:creationId xmlns:a16="http://schemas.microsoft.com/office/drawing/2014/main" id="{689D8E76-B5BC-D5D0-2C3F-3E04E613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1470026"/>
            <a:ext cx="470852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( I/O cost is 2N times number of passes)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54672"/>
            <a:ext cx="10515600" cy="1325563"/>
          </a:xfrm>
          <a:prstGeom prst="rect">
            <a:avLst/>
          </a:prstGeom>
        </p:spPr>
        <p:txBody>
          <a:bodyPr vert="horz" wrap="square" lIns="0" tIns="14985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External</a:t>
            </a:r>
            <a:r>
              <a:rPr spc="-90" dirty="0"/>
              <a:t> </a:t>
            </a:r>
            <a:r>
              <a:rPr dirty="0"/>
              <a:t>Merge</a:t>
            </a:r>
            <a:r>
              <a:rPr spc="-90" dirty="0"/>
              <a:t> </a:t>
            </a:r>
            <a:r>
              <a:rPr spc="-20" dirty="0"/>
              <a:t>Sort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380235"/>
            <a:ext cx="4748530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wisely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564" y="98392"/>
            <a:ext cx="10515600" cy="132556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00"/>
              </a:spcBef>
            </a:pPr>
            <a:r>
              <a:rPr dirty="0"/>
              <a:t>Phase</a:t>
            </a:r>
            <a:r>
              <a:rPr spc="-35" dirty="0"/>
              <a:t> </a:t>
            </a:r>
            <a:r>
              <a:rPr dirty="0"/>
              <a:t>1</a:t>
            </a:r>
            <a:r>
              <a:rPr spc="-25" dirty="0"/>
              <a:t> </a:t>
            </a:r>
            <a:r>
              <a:rPr dirty="0"/>
              <a:t>:</a:t>
            </a:r>
            <a:r>
              <a:rPr spc="-35" dirty="0"/>
              <a:t> </a:t>
            </a:r>
            <a:r>
              <a:rPr spc="-10" dirty="0"/>
              <a:t>Prepare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41588" y="1841500"/>
            <a:ext cx="7190105" cy="1567180"/>
            <a:chOff x="2541588" y="1841500"/>
            <a:chExt cx="7190105" cy="1567180"/>
          </a:xfrm>
        </p:grpSpPr>
        <p:sp>
          <p:nvSpPr>
            <p:cNvPr id="4" name="object 4"/>
            <p:cNvSpPr/>
            <p:nvPr/>
          </p:nvSpPr>
          <p:spPr>
            <a:xfrm>
              <a:off x="8332788" y="1847850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30">
                  <a:moveTo>
                    <a:pt x="696912" y="0"/>
                  </a:move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32788" y="1847850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30">
                  <a:moveTo>
                    <a:pt x="1392237" y="128587"/>
                  </a:move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6787" y="2236788"/>
              <a:ext cx="285750" cy="209550"/>
            </a:xfrm>
            <a:custGeom>
              <a:avLst/>
              <a:gdLst/>
              <a:ahLst/>
              <a:cxnLst/>
              <a:rect l="l" t="t" r="r" b="b"/>
              <a:pathLst>
                <a:path w="285750" h="209550">
                  <a:moveTo>
                    <a:pt x="285337" y="0"/>
                  </a:moveTo>
                  <a:lnTo>
                    <a:pt x="0" y="0"/>
                  </a:lnTo>
                  <a:lnTo>
                    <a:pt x="0" y="209301"/>
                  </a:lnTo>
                  <a:lnTo>
                    <a:pt x="285337" y="209301"/>
                  </a:lnTo>
                  <a:lnTo>
                    <a:pt x="28533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6787" y="2236788"/>
              <a:ext cx="285750" cy="209550"/>
            </a:xfrm>
            <a:custGeom>
              <a:avLst/>
              <a:gdLst/>
              <a:ahLst/>
              <a:cxnLst/>
              <a:rect l="l" t="t" r="r" b="b"/>
              <a:pathLst>
                <a:path w="285750" h="209550">
                  <a:moveTo>
                    <a:pt x="0" y="209301"/>
                  </a:moveTo>
                  <a:lnTo>
                    <a:pt x="0" y="0"/>
                  </a:lnTo>
                  <a:lnTo>
                    <a:pt x="285337" y="0"/>
                  </a:lnTo>
                  <a:lnTo>
                    <a:pt x="285337" y="209301"/>
                  </a:lnTo>
                  <a:lnTo>
                    <a:pt x="0" y="20930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90913" y="3251200"/>
              <a:ext cx="331470" cy="151130"/>
            </a:xfrm>
            <a:custGeom>
              <a:avLst/>
              <a:gdLst/>
              <a:ahLst/>
              <a:cxnLst/>
              <a:rect l="l" t="t" r="r" b="b"/>
              <a:pathLst>
                <a:path w="331470" h="151129">
                  <a:moveTo>
                    <a:pt x="331320" y="0"/>
                  </a:moveTo>
                  <a:lnTo>
                    <a:pt x="0" y="0"/>
                  </a:lnTo>
                  <a:lnTo>
                    <a:pt x="0" y="150948"/>
                  </a:lnTo>
                  <a:lnTo>
                    <a:pt x="331320" y="150948"/>
                  </a:lnTo>
                  <a:lnTo>
                    <a:pt x="33132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0913" y="3251200"/>
              <a:ext cx="331470" cy="151130"/>
            </a:xfrm>
            <a:custGeom>
              <a:avLst/>
              <a:gdLst/>
              <a:ahLst/>
              <a:cxnLst/>
              <a:rect l="l" t="t" r="r" b="b"/>
              <a:pathLst>
                <a:path w="331470" h="151129">
                  <a:moveTo>
                    <a:pt x="0" y="150948"/>
                  </a:moveTo>
                  <a:lnTo>
                    <a:pt x="0" y="0"/>
                  </a:lnTo>
                  <a:lnTo>
                    <a:pt x="331320" y="0"/>
                  </a:lnTo>
                  <a:lnTo>
                    <a:pt x="331320" y="150948"/>
                  </a:lnTo>
                  <a:lnTo>
                    <a:pt x="0" y="1509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7938" y="1882776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693737" y="0"/>
                  </a:moveTo>
                  <a:lnTo>
                    <a:pt x="203200" y="38100"/>
                  </a:lnTo>
                  <a:lnTo>
                    <a:pt x="53975" y="80962"/>
                  </a:lnTo>
                  <a:lnTo>
                    <a:pt x="0" y="133350"/>
                  </a:lnTo>
                  <a:lnTo>
                    <a:pt x="53975" y="182562"/>
                  </a:lnTo>
                  <a:lnTo>
                    <a:pt x="203200" y="225425"/>
                  </a:lnTo>
                  <a:lnTo>
                    <a:pt x="693737" y="263525"/>
                  </a:lnTo>
                  <a:lnTo>
                    <a:pt x="1182687" y="225425"/>
                  </a:lnTo>
                  <a:lnTo>
                    <a:pt x="1331912" y="182562"/>
                  </a:lnTo>
                  <a:lnTo>
                    <a:pt x="1385887" y="133350"/>
                  </a:lnTo>
                  <a:lnTo>
                    <a:pt x="1331912" y="80962"/>
                  </a:lnTo>
                  <a:lnTo>
                    <a:pt x="1182687" y="38100"/>
                  </a:lnTo>
                  <a:lnTo>
                    <a:pt x="69373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47938" y="1882776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1385888" y="133350"/>
                  </a:moveTo>
                  <a:lnTo>
                    <a:pt x="1331912" y="80962"/>
                  </a:lnTo>
                  <a:lnTo>
                    <a:pt x="1182688" y="38100"/>
                  </a:lnTo>
                  <a:lnTo>
                    <a:pt x="693737" y="0"/>
                  </a:lnTo>
                  <a:lnTo>
                    <a:pt x="203200" y="38100"/>
                  </a:lnTo>
                  <a:lnTo>
                    <a:pt x="53975" y="80962"/>
                  </a:lnTo>
                  <a:lnTo>
                    <a:pt x="0" y="133350"/>
                  </a:lnTo>
                  <a:lnTo>
                    <a:pt x="53975" y="182562"/>
                  </a:lnTo>
                  <a:lnTo>
                    <a:pt x="203200" y="225425"/>
                  </a:lnTo>
                  <a:lnTo>
                    <a:pt x="693737" y="263525"/>
                  </a:lnTo>
                  <a:lnTo>
                    <a:pt x="1182688" y="225425"/>
                  </a:lnTo>
                  <a:lnTo>
                    <a:pt x="1331912" y="182562"/>
                  </a:lnTo>
                  <a:lnTo>
                    <a:pt x="1385888" y="133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05921" y="3839971"/>
            <a:ext cx="3157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solidFill>
                  <a:srgbClr val="CF0E30"/>
                </a:solidFill>
                <a:latin typeface="Cambria"/>
                <a:cs typeface="Cambria"/>
              </a:rPr>
              <a:t>M/B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0" dirty="0">
                <a:solidFill>
                  <a:srgbClr val="CF0E30"/>
                </a:solidFill>
                <a:latin typeface="Cambria"/>
                <a:cs typeface="Cambria"/>
              </a:rPr>
              <a:t>Main</a:t>
            </a:r>
            <a:r>
              <a:rPr sz="1800" b="1" spc="2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4" dirty="0">
                <a:solidFill>
                  <a:srgbClr val="CF0E30"/>
                </a:solidFill>
                <a:latin typeface="Cambria"/>
                <a:cs typeface="Cambria"/>
              </a:rPr>
              <a:t>memory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55" dirty="0">
                <a:solidFill>
                  <a:srgbClr val="CF0E30"/>
                </a:solidFill>
                <a:latin typeface="Cambria"/>
                <a:cs typeface="Cambria"/>
              </a:rPr>
              <a:t>buffers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56614" y="2597151"/>
            <a:ext cx="1132205" cy="154305"/>
            <a:chOff x="8456614" y="2597151"/>
            <a:chExt cx="1132205" cy="154305"/>
          </a:xfrm>
        </p:grpSpPr>
        <p:sp>
          <p:nvSpPr>
            <p:cNvPr id="14" name="object 14"/>
            <p:cNvSpPr/>
            <p:nvPr/>
          </p:nvSpPr>
          <p:spPr>
            <a:xfrm>
              <a:off x="8462964" y="2603501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5">
                  <a:moveTo>
                    <a:pt x="1119187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119187" y="141287"/>
                  </a:lnTo>
                  <a:lnTo>
                    <a:pt x="111918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62964" y="2603501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5">
                  <a:moveTo>
                    <a:pt x="0" y="141287"/>
                  </a:moveTo>
                  <a:lnTo>
                    <a:pt x="0" y="0"/>
                  </a:lnTo>
                  <a:lnTo>
                    <a:pt x="1119188" y="0"/>
                  </a:lnTo>
                  <a:lnTo>
                    <a:pt x="1119188" y="141287"/>
                  </a:ln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276725" y="1630363"/>
            <a:ext cx="3637279" cy="2503805"/>
            <a:chOff x="4276725" y="1630363"/>
            <a:chExt cx="3637279" cy="2503805"/>
          </a:xfrm>
        </p:grpSpPr>
        <p:sp>
          <p:nvSpPr>
            <p:cNvPr id="17" name="object 17"/>
            <p:cNvSpPr/>
            <p:nvPr/>
          </p:nvSpPr>
          <p:spPr>
            <a:xfrm>
              <a:off x="4816475" y="1744662"/>
              <a:ext cx="1187450" cy="536575"/>
            </a:xfrm>
            <a:custGeom>
              <a:avLst/>
              <a:gdLst/>
              <a:ahLst/>
              <a:cxnLst/>
              <a:rect l="l" t="t" r="r" b="b"/>
              <a:pathLst>
                <a:path w="1187450" h="536575">
                  <a:moveTo>
                    <a:pt x="1187450" y="0"/>
                  </a:moveTo>
                  <a:lnTo>
                    <a:pt x="0" y="0"/>
                  </a:lnTo>
                  <a:lnTo>
                    <a:pt x="0" y="536575"/>
                  </a:lnTo>
                  <a:lnTo>
                    <a:pt x="1187450" y="536575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16475" y="1744662"/>
              <a:ext cx="1187450" cy="536575"/>
            </a:xfrm>
            <a:custGeom>
              <a:avLst/>
              <a:gdLst/>
              <a:ahLst/>
              <a:cxnLst/>
              <a:rect l="l" t="t" r="r" b="b"/>
              <a:pathLst>
                <a:path w="1187450" h="536575">
                  <a:moveTo>
                    <a:pt x="0" y="536574"/>
                  </a:moveTo>
                  <a:lnTo>
                    <a:pt x="0" y="0"/>
                  </a:lnTo>
                  <a:lnTo>
                    <a:pt x="1187451" y="0"/>
                  </a:lnTo>
                  <a:lnTo>
                    <a:pt x="1187451" y="536574"/>
                  </a:lnTo>
                  <a:lnTo>
                    <a:pt x="0" y="5365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83075" y="1636713"/>
              <a:ext cx="3624579" cy="2491105"/>
            </a:xfrm>
            <a:custGeom>
              <a:avLst/>
              <a:gdLst/>
              <a:ahLst/>
              <a:cxnLst/>
              <a:rect l="l" t="t" r="r" b="b"/>
              <a:pathLst>
                <a:path w="3624579" h="2491104">
                  <a:moveTo>
                    <a:pt x="0" y="2490788"/>
                  </a:moveTo>
                  <a:lnTo>
                    <a:pt x="0" y="0"/>
                  </a:lnTo>
                  <a:lnTo>
                    <a:pt x="3624262" y="0"/>
                  </a:lnTo>
                  <a:lnTo>
                    <a:pt x="3624262" y="2490788"/>
                  </a:lnTo>
                  <a:lnTo>
                    <a:pt x="0" y="249078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6801" y="1820164"/>
            <a:ext cx="89026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0" dirty="0">
                <a:latin typeface="Cambria"/>
                <a:cs typeface="Cambria"/>
              </a:rPr>
              <a:t>INPUT</a:t>
            </a:r>
            <a:r>
              <a:rPr sz="1600" b="1" spc="19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45687" y="3389884"/>
            <a:ext cx="1066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5" dirty="0">
                <a:latin typeface="Cambria"/>
                <a:cs typeface="Cambria"/>
              </a:rPr>
              <a:t>I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7900" y="3321050"/>
            <a:ext cx="1187450" cy="538480"/>
          </a:xfrm>
          <a:prstGeom prst="rect">
            <a:avLst/>
          </a:prstGeom>
          <a:solidFill>
            <a:srgbClr val="F6BF69"/>
          </a:solidFill>
          <a:ln w="12700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640"/>
              </a:spcBef>
            </a:pPr>
            <a:r>
              <a:rPr sz="1600" b="1" spc="80" dirty="0">
                <a:latin typeface="Cambria"/>
                <a:cs typeface="Cambria"/>
              </a:rPr>
              <a:t>NPUT</a:t>
            </a:r>
            <a:r>
              <a:rPr sz="1600" b="1" spc="204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M/B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18562" y="3699764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55926" y="3733292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57463" y="1998662"/>
            <a:ext cx="7174230" cy="1681480"/>
            <a:chOff x="2557463" y="1998662"/>
            <a:chExt cx="7174230" cy="1681480"/>
          </a:xfrm>
        </p:grpSpPr>
        <p:sp>
          <p:nvSpPr>
            <p:cNvPr id="26" name="object 26"/>
            <p:cNvSpPr/>
            <p:nvPr/>
          </p:nvSpPr>
          <p:spPr>
            <a:xfrm>
              <a:off x="2563813" y="2005012"/>
              <a:ext cx="1905" cy="1478280"/>
            </a:xfrm>
            <a:custGeom>
              <a:avLst/>
              <a:gdLst/>
              <a:ahLst/>
              <a:cxnLst/>
              <a:rect l="l" t="t" r="r" b="b"/>
              <a:pathLst>
                <a:path w="1905" h="1478279">
                  <a:moveTo>
                    <a:pt x="0" y="0"/>
                  </a:moveTo>
                  <a:lnTo>
                    <a:pt x="1587" y="1477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30650" y="2005012"/>
              <a:ext cx="1905" cy="1478280"/>
            </a:xfrm>
            <a:custGeom>
              <a:avLst/>
              <a:gdLst/>
              <a:ahLst/>
              <a:cxnLst/>
              <a:rect l="l" t="t" r="r" b="b"/>
              <a:pathLst>
                <a:path w="1904" h="1478279">
                  <a:moveTo>
                    <a:pt x="0" y="0"/>
                  </a:moveTo>
                  <a:lnTo>
                    <a:pt x="1588" y="1477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66987" y="3482966"/>
              <a:ext cx="723900" cy="190500"/>
            </a:xfrm>
            <a:custGeom>
              <a:avLst/>
              <a:gdLst/>
              <a:ahLst/>
              <a:cxnLst/>
              <a:rect l="l" t="t" r="r" b="b"/>
              <a:pathLst>
                <a:path w="723900" h="190500">
                  <a:moveTo>
                    <a:pt x="402" y="0"/>
                  </a:moveTo>
                  <a:lnTo>
                    <a:pt x="134" y="2114"/>
                  </a:lnTo>
                  <a:lnTo>
                    <a:pt x="0" y="6352"/>
                  </a:lnTo>
                  <a:lnTo>
                    <a:pt x="3703" y="25094"/>
                  </a:lnTo>
                  <a:lnTo>
                    <a:pt x="32261" y="60878"/>
                  </a:lnTo>
                  <a:lnTo>
                    <a:pt x="86633" y="93782"/>
                  </a:lnTo>
                  <a:lnTo>
                    <a:pt x="122603" y="108924"/>
                  </a:lnTo>
                  <a:lnTo>
                    <a:pt x="163953" y="123072"/>
                  </a:lnTo>
                  <a:lnTo>
                    <a:pt x="210325" y="136133"/>
                  </a:lnTo>
                  <a:lnTo>
                    <a:pt x="261359" y="148016"/>
                  </a:lnTo>
                  <a:lnTo>
                    <a:pt x="316700" y="158629"/>
                  </a:lnTo>
                  <a:lnTo>
                    <a:pt x="375987" y="167880"/>
                  </a:lnTo>
                  <a:lnTo>
                    <a:pt x="438864" y="175677"/>
                  </a:lnTo>
                  <a:lnTo>
                    <a:pt x="504973" y="181930"/>
                  </a:lnTo>
                  <a:lnTo>
                    <a:pt x="573955" y="186546"/>
                  </a:lnTo>
                  <a:lnTo>
                    <a:pt x="645453" y="189433"/>
                  </a:lnTo>
                  <a:lnTo>
                    <a:pt x="719108" y="190500"/>
                  </a:lnTo>
                  <a:lnTo>
                    <a:pt x="723900" y="635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66954" y="3482966"/>
              <a:ext cx="719455" cy="190500"/>
            </a:xfrm>
            <a:custGeom>
              <a:avLst/>
              <a:gdLst/>
              <a:ahLst/>
              <a:cxnLst/>
              <a:rect l="l" t="t" r="r" b="b"/>
              <a:pathLst>
                <a:path w="719454" h="190500">
                  <a:moveTo>
                    <a:pt x="719141" y="190500"/>
                  </a:moveTo>
                  <a:lnTo>
                    <a:pt x="645485" y="189433"/>
                  </a:lnTo>
                  <a:lnTo>
                    <a:pt x="573988" y="186545"/>
                  </a:lnTo>
                  <a:lnTo>
                    <a:pt x="505006" y="181930"/>
                  </a:lnTo>
                  <a:lnTo>
                    <a:pt x="438897" y="175677"/>
                  </a:lnTo>
                  <a:lnTo>
                    <a:pt x="376020" y="167880"/>
                  </a:lnTo>
                  <a:lnTo>
                    <a:pt x="316733" y="158628"/>
                  </a:lnTo>
                  <a:lnTo>
                    <a:pt x="261393" y="148016"/>
                  </a:lnTo>
                  <a:lnTo>
                    <a:pt x="210358" y="136133"/>
                  </a:lnTo>
                  <a:lnTo>
                    <a:pt x="163986" y="123072"/>
                  </a:lnTo>
                  <a:lnTo>
                    <a:pt x="122637" y="108924"/>
                  </a:lnTo>
                  <a:lnTo>
                    <a:pt x="86666" y="93781"/>
                  </a:lnTo>
                  <a:lnTo>
                    <a:pt x="32295" y="60877"/>
                  </a:lnTo>
                  <a:lnTo>
                    <a:pt x="3737" y="25094"/>
                  </a:lnTo>
                  <a:lnTo>
                    <a:pt x="0" y="4228"/>
                  </a:lnTo>
                  <a:lnTo>
                    <a:pt x="167" y="2114"/>
                  </a:lnTo>
                  <a:lnTo>
                    <a:pt x="43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06750" y="3482966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0" y="1602"/>
                  </a:lnTo>
                  <a:lnTo>
                    <a:pt x="0" y="185746"/>
                  </a:lnTo>
                  <a:lnTo>
                    <a:pt x="74012" y="184794"/>
                  </a:lnTo>
                  <a:lnTo>
                    <a:pt x="145887" y="182002"/>
                  </a:lnTo>
                  <a:lnTo>
                    <a:pt x="215261" y="177464"/>
                  </a:lnTo>
                  <a:lnTo>
                    <a:pt x="281769" y="171271"/>
                  </a:lnTo>
                  <a:lnTo>
                    <a:pt x="345048" y="163517"/>
                  </a:lnTo>
                  <a:lnTo>
                    <a:pt x="404734" y="154293"/>
                  </a:lnTo>
                  <a:lnTo>
                    <a:pt x="460462" y="143693"/>
                  </a:lnTo>
                  <a:lnTo>
                    <a:pt x="511870" y="131808"/>
                  </a:lnTo>
                  <a:lnTo>
                    <a:pt x="558592" y="118731"/>
                  </a:lnTo>
                  <a:lnTo>
                    <a:pt x="600266" y="104556"/>
                  </a:lnTo>
                  <a:lnTo>
                    <a:pt x="636526" y="89374"/>
                  </a:lnTo>
                  <a:lnTo>
                    <a:pt x="691353" y="56360"/>
                  </a:lnTo>
                  <a:lnTo>
                    <a:pt x="720162" y="20429"/>
                  </a:lnTo>
                  <a:lnTo>
                    <a:pt x="723900" y="1602"/>
                  </a:lnTo>
                  <a:lnTo>
                    <a:pt x="72386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6750" y="3482966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723866" y="537"/>
                  </a:lnTo>
                  <a:lnTo>
                    <a:pt x="723900" y="1065"/>
                  </a:lnTo>
                  <a:lnTo>
                    <a:pt x="723900" y="1602"/>
                  </a:lnTo>
                  <a:lnTo>
                    <a:pt x="709192" y="38712"/>
                  </a:lnTo>
                  <a:lnTo>
                    <a:pt x="667010" y="73277"/>
                  </a:lnTo>
                  <a:lnTo>
                    <a:pt x="600266" y="104555"/>
                  </a:lnTo>
                  <a:lnTo>
                    <a:pt x="558592" y="118731"/>
                  </a:lnTo>
                  <a:lnTo>
                    <a:pt x="511870" y="131807"/>
                  </a:lnTo>
                  <a:lnTo>
                    <a:pt x="460462" y="143692"/>
                  </a:lnTo>
                  <a:lnTo>
                    <a:pt x="404734" y="154293"/>
                  </a:lnTo>
                  <a:lnTo>
                    <a:pt x="345048" y="163516"/>
                  </a:lnTo>
                  <a:lnTo>
                    <a:pt x="281769" y="171271"/>
                  </a:lnTo>
                  <a:lnTo>
                    <a:pt x="215261" y="177464"/>
                  </a:lnTo>
                  <a:lnTo>
                    <a:pt x="145887" y="182002"/>
                  </a:lnTo>
                  <a:lnTo>
                    <a:pt x="74012" y="184794"/>
                  </a:lnTo>
                  <a:lnTo>
                    <a:pt x="0" y="1857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53425" y="3406775"/>
              <a:ext cx="727075" cy="179705"/>
            </a:xfrm>
            <a:custGeom>
              <a:avLst/>
              <a:gdLst/>
              <a:ahLst/>
              <a:cxnLst/>
              <a:rect l="l" t="t" r="r" b="b"/>
              <a:pathLst>
                <a:path w="727075" h="179704">
                  <a:moveTo>
                    <a:pt x="269" y="0"/>
                  </a:moveTo>
                  <a:lnTo>
                    <a:pt x="14641" y="39797"/>
                  </a:lnTo>
                  <a:lnTo>
                    <a:pt x="56647" y="72450"/>
                  </a:lnTo>
                  <a:lnTo>
                    <a:pt x="123141" y="102025"/>
                  </a:lnTo>
                  <a:lnTo>
                    <a:pt x="164672" y="115441"/>
                  </a:lnTo>
                  <a:lnTo>
                    <a:pt x="211247" y="127826"/>
                  </a:lnTo>
                  <a:lnTo>
                    <a:pt x="262505" y="139094"/>
                  </a:lnTo>
                  <a:lnTo>
                    <a:pt x="318088" y="149158"/>
                  </a:lnTo>
                  <a:lnTo>
                    <a:pt x="377636" y="157930"/>
                  </a:lnTo>
                  <a:lnTo>
                    <a:pt x="440789" y="165324"/>
                  </a:lnTo>
                  <a:lnTo>
                    <a:pt x="507187" y="171253"/>
                  </a:lnTo>
                  <a:lnTo>
                    <a:pt x="576472" y="175630"/>
                  </a:lnTo>
                  <a:lnTo>
                    <a:pt x="648283" y="178368"/>
                  </a:lnTo>
                  <a:lnTo>
                    <a:pt x="722261" y="179379"/>
                  </a:lnTo>
                  <a:lnTo>
                    <a:pt x="727075" y="4761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53391" y="3406775"/>
              <a:ext cx="722630" cy="179705"/>
            </a:xfrm>
            <a:custGeom>
              <a:avLst/>
              <a:gdLst/>
              <a:ahLst/>
              <a:cxnLst/>
              <a:rect l="l" t="t" r="r" b="b"/>
              <a:pathLst>
                <a:path w="722629" h="179704">
                  <a:moveTo>
                    <a:pt x="722295" y="179379"/>
                  </a:moveTo>
                  <a:lnTo>
                    <a:pt x="648317" y="178368"/>
                  </a:lnTo>
                  <a:lnTo>
                    <a:pt x="576505" y="175630"/>
                  </a:lnTo>
                  <a:lnTo>
                    <a:pt x="507221" y="171253"/>
                  </a:lnTo>
                  <a:lnTo>
                    <a:pt x="440822" y="165324"/>
                  </a:lnTo>
                  <a:lnTo>
                    <a:pt x="377670" y="157930"/>
                  </a:lnTo>
                  <a:lnTo>
                    <a:pt x="318122" y="149158"/>
                  </a:lnTo>
                  <a:lnTo>
                    <a:pt x="262539" y="139094"/>
                  </a:lnTo>
                  <a:lnTo>
                    <a:pt x="211280" y="127826"/>
                  </a:lnTo>
                  <a:lnTo>
                    <a:pt x="164706" y="115441"/>
                  </a:lnTo>
                  <a:lnTo>
                    <a:pt x="123174" y="102025"/>
                  </a:lnTo>
                  <a:lnTo>
                    <a:pt x="87046" y="87666"/>
                  </a:lnTo>
                  <a:lnTo>
                    <a:pt x="32436" y="56465"/>
                  </a:lnTo>
                  <a:lnTo>
                    <a:pt x="3753" y="22534"/>
                  </a:lnTo>
                  <a:lnTo>
                    <a:pt x="0" y="3169"/>
                  </a:lnTo>
                  <a:lnTo>
                    <a:pt x="100" y="1584"/>
                  </a:lnTo>
                  <a:lnTo>
                    <a:pt x="30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996363" y="3406767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0" y="0"/>
                  </a:moveTo>
                  <a:lnTo>
                    <a:pt x="0" y="1600"/>
                  </a:lnTo>
                  <a:lnTo>
                    <a:pt x="0" y="176220"/>
                  </a:lnTo>
                  <a:lnTo>
                    <a:pt x="74337" y="175317"/>
                  </a:lnTo>
                  <a:lnTo>
                    <a:pt x="146527" y="172670"/>
                  </a:lnTo>
                  <a:lnTo>
                    <a:pt x="216205" y="168366"/>
                  </a:lnTo>
                  <a:lnTo>
                    <a:pt x="283005" y="162494"/>
                  </a:lnTo>
                  <a:lnTo>
                    <a:pt x="346562" y="155140"/>
                  </a:lnTo>
                  <a:lnTo>
                    <a:pt x="406509" y="146393"/>
                  </a:lnTo>
                  <a:lnTo>
                    <a:pt x="462482" y="136341"/>
                  </a:lnTo>
                  <a:lnTo>
                    <a:pt x="514115" y="125071"/>
                  </a:lnTo>
                  <a:lnTo>
                    <a:pt x="561042" y="112671"/>
                  </a:lnTo>
                  <a:lnTo>
                    <a:pt x="602898" y="99228"/>
                  </a:lnTo>
                  <a:lnTo>
                    <a:pt x="639318" y="84831"/>
                  </a:lnTo>
                  <a:lnTo>
                    <a:pt x="694386" y="53525"/>
                  </a:lnTo>
                  <a:lnTo>
                    <a:pt x="723321" y="19453"/>
                  </a:lnTo>
                  <a:lnTo>
                    <a:pt x="727075" y="1600"/>
                  </a:lnTo>
                  <a:lnTo>
                    <a:pt x="72704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996363" y="3406766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1" y="0"/>
                  </a:moveTo>
                  <a:lnTo>
                    <a:pt x="727041" y="533"/>
                  </a:lnTo>
                  <a:lnTo>
                    <a:pt x="727075" y="1067"/>
                  </a:lnTo>
                  <a:lnTo>
                    <a:pt x="727075" y="1600"/>
                  </a:lnTo>
                  <a:lnTo>
                    <a:pt x="712302" y="36791"/>
                  </a:lnTo>
                  <a:lnTo>
                    <a:pt x="669936" y="69568"/>
                  </a:lnTo>
                  <a:lnTo>
                    <a:pt x="602898" y="99229"/>
                  </a:lnTo>
                  <a:lnTo>
                    <a:pt x="561042" y="112671"/>
                  </a:lnTo>
                  <a:lnTo>
                    <a:pt x="514115" y="125071"/>
                  </a:lnTo>
                  <a:lnTo>
                    <a:pt x="462482" y="136341"/>
                  </a:lnTo>
                  <a:lnTo>
                    <a:pt x="406509" y="146394"/>
                  </a:lnTo>
                  <a:lnTo>
                    <a:pt x="346561" y="155141"/>
                  </a:lnTo>
                  <a:lnTo>
                    <a:pt x="283005" y="162494"/>
                  </a:lnTo>
                  <a:lnTo>
                    <a:pt x="216205" y="168367"/>
                  </a:lnTo>
                  <a:lnTo>
                    <a:pt x="146527" y="172670"/>
                  </a:lnTo>
                  <a:lnTo>
                    <a:pt x="74337" y="175318"/>
                  </a:lnTo>
                  <a:lnTo>
                    <a:pt x="0" y="17622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56600" y="2005012"/>
              <a:ext cx="1905" cy="1397000"/>
            </a:xfrm>
            <a:custGeom>
              <a:avLst/>
              <a:gdLst/>
              <a:ahLst/>
              <a:cxnLst/>
              <a:rect l="l" t="t" r="r" b="b"/>
              <a:pathLst>
                <a:path w="1904" h="1397000">
                  <a:moveTo>
                    <a:pt x="0" y="0"/>
                  </a:moveTo>
                  <a:lnTo>
                    <a:pt x="1588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723438" y="2005012"/>
              <a:ext cx="1905" cy="1397000"/>
            </a:xfrm>
            <a:custGeom>
              <a:avLst/>
              <a:gdLst/>
              <a:ahLst/>
              <a:cxnLst/>
              <a:rect l="l" t="t" r="r" b="b"/>
              <a:pathLst>
                <a:path w="1904" h="1397000">
                  <a:moveTo>
                    <a:pt x="0" y="0"/>
                  </a:moveTo>
                  <a:lnTo>
                    <a:pt x="1587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46298" y="2072779"/>
              <a:ext cx="5204460" cy="1541780"/>
            </a:xfrm>
            <a:custGeom>
              <a:avLst/>
              <a:gdLst/>
              <a:ahLst/>
              <a:cxnLst/>
              <a:rect l="l" t="t" r="r" b="b"/>
              <a:pathLst>
                <a:path w="5204459" h="1541779">
                  <a:moveTo>
                    <a:pt x="1665414" y="24307"/>
                  </a:moveTo>
                  <a:lnTo>
                    <a:pt x="1652981" y="20612"/>
                  </a:lnTo>
                  <a:lnTo>
                    <a:pt x="1583753" y="0"/>
                  </a:lnTo>
                  <a:lnTo>
                    <a:pt x="1604835" y="22085"/>
                  </a:lnTo>
                  <a:lnTo>
                    <a:pt x="617042" y="195961"/>
                  </a:lnTo>
                  <a:lnTo>
                    <a:pt x="621449" y="220967"/>
                  </a:lnTo>
                  <a:lnTo>
                    <a:pt x="1609242" y="47091"/>
                  </a:lnTo>
                  <a:lnTo>
                    <a:pt x="1596974" y="75044"/>
                  </a:lnTo>
                  <a:lnTo>
                    <a:pt x="1665414" y="24307"/>
                  </a:lnTo>
                  <a:close/>
                </a:path>
                <a:path w="5204459" h="1541779">
                  <a:moveTo>
                    <a:pt x="1684464" y="565658"/>
                  </a:moveTo>
                  <a:lnTo>
                    <a:pt x="1658708" y="552475"/>
                  </a:lnTo>
                  <a:lnTo>
                    <a:pt x="1608620" y="526834"/>
                  </a:lnTo>
                  <a:lnTo>
                    <a:pt x="1625307" y="552399"/>
                  </a:lnTo>
                  <a:lnTo>
                    <a:pt x="241" y="537083"/>
                  </a:lnTo>
                  <a:lnTo>
                    <a:pt x="101" y="552475"/>
                  </a:lnTo>
                  <a:lnTo>
                    <a:pt x="0" y="562470"/>
                  </a:lnTo>
                  <a:lnTo>
                    <a:pt x="1625066" y="577799"/>
                  </a:lnTo>
                  <a:lnTo>
                    <a:pt x="1633537" y="577875"/>
                  </a:lnTo>
                  <a:lnTo>
                    <a:pt x="1625015" y="577875"/>
                  </a:lnTo>
                  <a:lnTo>
                    <a:pt x="1607908" y="603034"/>
                  </a:lnTo>
                  <a:lnTo>
                    <a:pt x="1659432" y="577875"/>
                  </a:lnTo>
                  <a:lnTo>
                    <a:pt x="1684464" y="565658"/>
                  </a:lnTo>
                  <a:close/>
                </a:path>
                <a:path w="5204459" h="1541779">
                  <a:moveTo>
                    <a:pt x="5140452" y="1073658"/>
                  </a:moveTo>
                  <a:lnTo>
                    <a:pt x="5131041" y="1071067"/>
                  </a:lnTo>
                  <a:lnTo>
                    <a:pt x="5058295" y="1051090"/>
                  </a:lnTo>
                  <a:lnTo>
                    <a:pt x="5079835" y="1072718"/>
                  </a:lnTo>
                  <a:lnTo>
                    <a:pt x="2839275" y="1516811"/>
                  </a:lnTo>
                  <a:lnTo>
                    <a:pt x="2844215" y="1541716"/>
                  </a:lnTo>
                  <a:lnTo>
                    <a:pt x="5084775" y="1097635"/>
                  </a:lnTo>
                  <a:lnTo>
                    <a:pt x="5073104" y="1125842"/>
                  </a:lnTo>
                  <a:lnTo>
                    <a:pt x="5140452" y="1073658"/>
                  </a:lnTo>
                  <a:close/>
                </a:path>
                <a:path w="5204459" h="1541779">
                  <a:moveTo>
                    <a:pt x="5203952" y="510095"/>
                  </a:moveTo>
                  <a:lnTo>
                    <a:pt x="5134292" y="461035"/>
                  </a:lnTo>
                  <a:lnTo>
                    <a:pt x="5147246" y="488683"/>
                  </a:lnTo>
                  <a:lnTo>
                    <a:pt x="2821419" y="137172"/>
                  </a:lnTo>
                  <a:lnTo>
                    <a:pt x="2817622" y="162280"/>
                  </a:lnTo>
                  <a:lnTo>
                    <a:pt x="5143449" y="513791"/>
                  </a:lnTo>
                  <a:lnTo>
                    <a:pt x="5153711" y="502513"/>
                  </a:lnTo>
                  <a:lnTo>
                    <a:pt x="5143449" y="513791"/>
                  </a:lnTo>
                  <a:lnTo>
                    <a:pt x="5122913" y="536371"/>
                  </a:lnTo>
                  <a:lnTo>
                    <a:pt x="5188636" y="515061"/>
                  </a:lnTo>
                  <a:lnTo>
                    <a:pt x="5203952" y="510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16475" y="2390775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80">
                  <a:moveTo>
                    <a:pt x="1187450" y="0"/>
                  </a:moveTo>
                  <a:lnTo>
                    <a:pt x="0" y="0"/>
                  </a:lnTo>
                  <a:lnTo>
                    <a:pt x="0" y="538162"/>
                  </a:lnTo>
                  <a:lnTo>
                    <a:pt x="1187450" y="538162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16475" y="2390775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80">
                  <a:moveTo>
                    <a:pt x="0" y="538162"/>
                  </a:moveTo>
                  <a:lnTo>
                    <a:pt x="0" y="0"/>
                  </a:lnTo>
                  <a:lnTo>
                    <a:pt x="1187451" y="0"/>
                  </a:lnTo>
                  <a:lnTo>
                    <a:pt x="1187451" y="538162"/>
                  </a:lnTo>
                  <a:lnTo>
                    <a:pt x="0" y="5381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876801" y="2466340"/>
            <a:ext cx="890269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30"/>
              </a:lnSpc>
              <a:spcBef>
                <a:spcPts val="100"/>
              </a:spcBef>
            </a:pPr>
            <a:r>
              <a:rPr sz="1600" b="1" spc="75" dirty="0">
                <a:latin typeface="Cambria"/>
                <a:cs typeface="Cambria"/>
              </a:rPr>
              <a:t>INPUT</a:t>
            </a:r>
            <a:r>
              <a:rPr sz="1600" b="1" spc="21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  <a:p>
            <a:pPr marL="33655" algn="ctr">
              <a:lnSpc>
                <a:spcPts val="4010"/>
              </a:lnSpc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-555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87638" y="2508250"/>
            <a:ext cx="5616575" cy="1082675"/>
            <a:chOff x="2687638" y="2508250"/>
            <a:chExt cx="5616575" cy="1082675"/>
          </a:xfrm>
        </p:grpSpPr>
        <p:sp>
          <p:nvSpPr>
            <p:cNvPr id="43" name="object 43"/>
            <p:cNvSpPr/>
            <p:nvPr/>
          </p:nvSpPr>
          <p:spPr>
            <a:xfrm>
              <a:off x="2693988" y="2514600"/>
              <a:ext cx="299720" cy="196850"/>
            </a:xfrm>
            <a:custGeom>
              <a:avLst/>
              <a:gdLst/>
              <a:ahLst/>
              <a:cxnLst/>
              <a:rect l="l" t="t" r="r" b="b"/>
              <a:pathLst>
                <a:path w="299719" h="196850">
                  <a:moveTo>
                    <a:pt x="299603" y="0"/>
                  </a:moveTo>
                  <a:lnTo>
                    <a:pt x="0" y="0"/>
                  </a:lnTo>
                  <a:lnTo>
                    <a:pt x="0" y="196712"/>
                  </a:lnTo>
                  <a:lnTo>
                    <a:pt x="299603" y="196712"/>
                  </a:lnTo>
                  <a:lnTo>
                    <a:pt x="2996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93988" y="2514600"/>
              <a:ext cx="299720" cy="196850"/>
            </a:xfrm>
            <a:custGeom>
              <a:avLst/>
              <a:gdLst/>
              <a:ahLst/>
              <a:cxnLst/>
              <a:rect l="l" t="t" r="r" b="b"/>
              <a:pathLst>
                <a:path w="299719" h="196850">
                  <a:moveTo>
                    <a:pt x="0" y="196712"/>
                  </a:moveTo>
                  <a:lnTo>
                    <a:pt x="0" y="0"/>
                  </a:lnTo>
                  <a:lnTo>
                    <a:pt x="299603" y="0"/>
                  </a:lnTo>
                  <a:lnTo>
                    <a:pt x="299603" y="196712"/>
                  </a:lnTo>
                  <a:lnTo>
                    <a:pt x="0" y="1967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7757" y="2609926"/>
              <a:ext cx="4457065" cy="981075"/>
            </a:xfrm>
            <a:custGeom>
              <a:avLst/>
              <a:gdLst/>
              <a:ahLst/>
              <a:cxnLst/>
              <a:rect l="l" t="t" r="r" b="b"/>
              <a:pathLst>
                <a:path w="4457065" h="981075">
                  <a:moveTo>
                    <a:pt x="968717" y="965123"/>
                  </a:moveTo>
                  <a:lnTo>
                    <a:pt x="966711" y="963282"/>
                  </a:lnTo>
                  <a:lnTo>
                    <a:pt x="906018" y="907440"/>
                  </a:lnTo>
                  <a:lnTo>
                    <a:pt x="915263" y="936536"/>
                  </a:lnTo>
                  <a:lnTo>
                    <a:pt x="7023" y="675106"/>
                  </a:lnTo>
                  <a:lnTo>
                    <a:pt x="0" y="699516"/>
                  </a:lnTo>
                  <a:lnTo>
                    <a:pt x="908240" y="960945"/>
                  </a:lnTo>
                  <a:lnTo>
                    <a:pt x="884948" y="980668"/>
                  </a:lnTo>
                  <a:lnTo>
                    <a:pt x="968717" y="965123"/>
                  </a:lnTo>
                  <a:close/>
                </a:path>
                <a:path w="4457065" h="981075">
                  <a:moveTo>
                    <a:pt x="4456455" y="239649"/>
                  </a:moveTo>
                  <a:lnTo>
                    <a:pt x="4384510" y="194005"/>
                  </a:lnTo>
                  <a:lnTo>
                    <a:pt x="4398784" y="220992"/>
                  </a:lnTo>
                  <a:lnTo>
                    <a:pt x="2233650" y="0"/>
                  </a:lnTo>
                  <a:lnTo>
                    <a:pt x="2231072" y="25260"/>
                  </a:lnTo>
                  <a:lnTo>
                    <a:pt x="4396194" y="246265"/>
                  </a:lnTo>
                  <a:lnTo>
                    <a:pt x="4405909" y="234492"/>
                  </a:lnTo>
                  <a:lnTo>
                    <a:pt x="4404957" y="235661"/>
                  </a:lnTo>
                  <a:lnTo>
                    <a:pt x="4404957" y="243789"/>
                  </a:lnTo>
                  <a:lnTo>
                    <a:pt x="4404715" y="246265"/>
                  </a:lnTo>
                  <a:lnTo>
                    <a:pt x="4404626" y="247116"/>
                  </a:lnTo>
                  <a:lnTo>
                    <a:pt x="4404957" y="243789"/>
                  </a:lnTo>
                  <a:lnTo>
                    <a:pt x="4404957" y="235661"/>
                  </a:lnTo>
                  <a:lnTo>
                    <a:pt x="4396194" y="246265"/>
                  </a:lnTo>
                  <a:lnTo>
                    <a:pt x="4376775" y="269811"/>
                  </a:lnTo>
                  <a:lnTo>
                    <a:pt x="4436707" y="247116"/>
                  </a:lnTo>
                  <a:lnTo>
                    <a:pt x="4456455" y="2396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71788" y="2417571"/>
            <a:ext cx="660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20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78939" y="4933188"/>
            <a:ext cx="89763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314960" algn="l"/>
              </a:tabLst>
            </a:pP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Construct</a:t>
            </a:r>
            <a:r>
              <a:rPr sz="3200" b="1" spc="-5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as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large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as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possible</a:t>
            </a:r>
            <a:r>
              <a:rPr sz="3200" b="1" spc="-45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starter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lists.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722563" y="3209925"/>
            <a:ext cx="200025" cy="163830"/>
            <a:chOff x="2722563" y="3209925"/>
            <a:chExt cx="200025" cy="163830"/>
          </a:xfrm>
        </p:grpSpPr>
        <p:sp>
          <p:nvSpPr>
            <p:cNvPr id="49" name="object 49"/>
            <p:cNvSpPr/>
            <p:nvPr/>
          </p:nvSpPr>
          <p:spPr>
            <a:xfrm>
              <a:off x="2728913" y="3216275"/>
              <a:ext cx="187325" cy="151130"/>
            </a:xfrm>
            <a:custGeom>
              <a:avLst/>
              <a:gdLst/>
              <a:ahLst/>
              <a:cxnLst/>
              <a:rect l="l" t="t" r="r" b="b"/>
              <a:pathLst>
                <a:path w="187325" h="151129">
                  <a:moveTo>
                    <a:pt x="187062" y="0"/>
                  </a:moveTo>
                  <a:lnTo>
                    <a:pt x="0" y="0"/>
                  </a:lnTo>
                  <a:lnTo>
                    <a:pt x="0" y="150948"/>
                  </a:lnTo>
                  <a:lnTo>
                    <a:pt x="187062" y="150948"/>
                  </a:lnTo>
                  <a:lnTo>
                    <a:pt x="1870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28913" y="3216275"/>
              <a:ext cx="187325" cy="151130"/>
            </a:xfrm>
            <a:custGeom>
              <a:avLst/>
              <a:gdLst/>
              <a:ahLst/>
              <a:cxnLst/>
              <a:rect l="l" t="t" r="r" b="b"/>
              <a:pathLst>
                <a:path w="187325" h="151129">
                  <a:moveTo>
                    <a:pt x="0" y="150948"/>
                  </a:moveTo>
                  <a:lnTo>
                    <a:pt x="0" y="0"/>
                  </a:lnTo>
                  <a:lnTo>
                    <a:pt x="187061" y="0"/>
                  </a:lnTo>
                  <a:lnTo>
                    <a:pt x="187061" y="150948"/>
                  </a:lnTo>
                  <a:lnTo>
                    <a:pt x="0" y="1509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3580" y="-47874"/>
            <a:ext cx="10515600" cy="1325563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/>
              <a:t>Phase</a:t>
            </a:r>
            <a:r>
              <a:rPr spc="-35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:</a:t>
            </a:r>
            <a:r>
              <a:rPr spc="-35" dirty="0"/>
              <a:t> </a:t>
            </a:r>
            <a:r>
              <a:rPr spc="-20" dirty="0"/>
              <a:t>Merge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139" y="4883403"/>
            <a:ext cx="8416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Compose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sublists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list.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7138" y="1565275"/>
            <a:ext cx="7190105" cy="1567180"/>
            <a:chOff x="2497138" y="1565275"/>
            <a:chExt cx="7190105" cy="1567180"/>
          </a:xfrm>
        </p:grpSpPr>
        <p:sp>
          <p:nvSpPr>
            <p:cNvPr id="5" name="object 5"/>
            <p:cNvSpPr/>
            <p:nvPr/>
          </p:nvSpPr>
          <p:spPr>
            <a:xfrm>
              <a:off x="8288338" y="1571625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30">
                  <a:moveTo>
                    <a:pt x="696912" y="0"/>
                  </a:move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88338" y="1571625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30">
                  <a:moveTo>
                    <a:pt x="1392237" y="128587"/>
                  </a:move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08275" y="1960562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1096962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096962" y="180975"/>
                  </a:lnTo>
                  <a:lnTo>
                    <a:pt x="10969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08275" y="1960562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0" y="180974"/>
                  </a:moveTo>
                  <a:lnTo>
                    <a:pt x="0" y="0"/>
                  </a:lnTo>
                  <a:lnTo>
                    <a:pt x="1096962" y="0"/>
                  </a:lnTo>
                  <a:lnTo>
                    <a:pt x="1096962" y="180974"/>
                  </a:lnTo>
                  <a:lnTo>
                    <a:pt x="0" y="1809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92401" y="2960688"/>
              <a:ext cx="1127125" cy="165100"/>
            </a:xfrm>
            <a:custGeom>
              <a:avLst/>
              <a:gdLst/>
              <a:ahLst/>
              <a:cxnLst/>
              <a:rect l="l" t="t" r="r" b="b"/>
              <a:pathLst>
                <a:path w="1127125" h="165100">
                  <a:moveTo>
                    <a:pt x="1127124" y="0"/>
                  </a:moveTo>
                  <a:lnTo>
                    <a:pt x="0" y="0"/>
                  </a:lnTo>
                  <a:lnTo>
                    <a:pt x="0" y="165100"/>
                  </a:lnTo>
                  <a:lnTo>
                    <a:pt x="1127124" y="165100"/>
                  </a:lnTo>
                  <a:lnTo>
                    <a:pt x="112712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2401" y="2960688"/>
              <a:ext cx="1127125" cy="165100"/>
            </a:xfrm>
            <a:custGeom>
              <a:avLst/>
              <a:gdLst/>
              <a:ahLst/>
              <a:cxnLst/>
              <a:rect l="l" t="t" r="r" b="b"/>
              <a:pathLst>
                <a:path w="1127125" h="165100">
                  <a:moveTo>
                    <a:pt x="0" y="165099"/>
                  </a:moveTo>
                  <a:lnTo>
                    <a:pt x="0" y="0"/>
                  </a:lnTo>
                  <a:lnTo>
                    <a:pt x="1127126" y="0"/>
                  </a:lnTo>
                  <a:lnTo>
                    <a:pt x="1127126" y="165099"/>
                  </a:lnTo>
                  <a:lnTo>
                    <a:pt x="0" y="1650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3488" y="1606551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693737" y="0"/>
                  </a:moveTo>
                  <a:lnTo>
                    <a:pt x="203200" y="38100"/>
                  </a:lnTo>
                  <a:lnTo>
                    <a:pt x="53975" y="80962"/>
                  </a:lnTo>
                  <a:lnTo>
                    <a:pt x="0" y="133350"/>
                  </a:lnTo>
                  <a:lnTo>
                    <a:pt x="53975" y="182562"/>
                  </a:lnTo>
                  <a:lnTo>
                    <a:pt x="203200" y="225425"/>
                  </a:lnTo>
                  <a:lnTo>
                    <a:pt x="693737" y="263525"/>
                  </a:lnTo>
                  <a:lnTo>
                    <a:pt x="1182687" y="225425"/>
                  </a:lnTo>
                  <a:lnTo>
                    <a:pt x="1331912" y="182562"/>
                  </a:lnTo>
                  <a:lnTo>
                    <a:pt x="1385887" y="133350"/>
                  </a:lnTo>
                  <a:lnTo>
                    <a:pt x="1331912" y="80962"/>
                  </a:lnTo>
                  <a:lnTo>
                    <a:pt x="1182687" y="38100"/>
                  </a:lnTo>
                  <a:lnTo>
                    <a:pt x="69373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03488" y="1606551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1385888" y="133350"/>
                  </a:moveTo>
                  <a:lnTo>
                    <a:pt x="1331912" y="80962"/>
                  </a:lnTo>
                  <a:lnTo>
                    <a:pt x="1182688" y="38100"/>
                  </a:lnTo>
                  <a:lnTo>
                    <a:pt x="693737" y="0"/>
                  </a:lnTo>
                  <a:lnTo>
                    <a:pt x="203200" y="38100"/>
                  </a:lnTo>
                  <a:lnTo>
                    <a:pt x="53975" y="80962"/>
                  </a:lnTo>
                  <a:lnTo>
                    <a:pt x="0" y="133350"/>
                  </a:lnTo>
                  <a:lnTo>
                    <a:pt x="53975" y="182562"/>
                  </a:lnTo>
                  <a:lnTo>
                    <a:pt x="203200" y="225425"/>
                  </a:lnTo>
                  <a:lnTo>
                    <a:pt x="693737" y="263525"/>
                  </a:lnTo>
                  <a:lnTo>
                    <a:pt x="1182688" y="225425"/>
                  </a:lnTo>
                  <a:lnTo>
                    <a:pt x="1331912" y="182562"/>
                  </a:lnTo>
                  <a:lnTo>
                    <a:pt x="1385888" y="133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61471" y="3562604"/>
            <a:ext cx="3157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solidFill>
                  <a:srgbClr val="CF0E30"/>
                </a:solidFill>
                <a:latin typeface="Cambria"/>
                <a:cs typeface="Cambria"/>
              </a:rPr>
              <a:t>M/B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0" dirty="0">
                <a:solidFill>
                  <a:srgbClr val="CF0E30"/>
                </a:solidFill>
                <a:latin typeface="Cambria"/>
                <a:cs typeface="Cambria"/>
              </a:rPr>
              <a:t>Main</a:t>
            </a:r>
            <a:r>
              <a:rPr sz="1800" b="1" spc="2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4" dirty="0">
                <a:solidFill>
                  <a:srgbClr val="CF0E30"/>
                </a:solidFill>
                <a:latin typeface="Cambria"/>
                <a:cs typeface="Cambria"/>
              </a:rPr>
              <a:t>memory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55" dirty="0">
                <a:solidFill>
                  <a:srgbClr val="CF0E30"/>
                </a:solidFill>
                <a:latin typeface="Cambria"/>
                <a:cs typeface="Cambria"/>
              </a:rPr>
              <a:t>buffers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453437" y="2427288"/>
            <a:ext cx="1155700" cy="137160"/>
            <a:chOff x="8453437" y="2427288"/>
            <a:chExt cx="1155700" cy="137160"/>
          </a:xfrm>
        </p:grpSpPr>
        <p:sp>
          <p:nvSpPr>
            <p:cNvPr id="15" name="object 15"/>
            <p:cNvSpPr/>
            <p:nvPr/>
          </p:nvSpPr>
          <p:spPr>
            <a:xfrm>
              <a:off x="8459787" y="2433638"/>
              <a:ext cx="1143000" cy="124460"/>
            </a:xfrm>
            <a:custGeom>
              <a:avLst/>
              <a:gdLst/>
              <a:ahLst/>
              <a:cxnLst/>
              <a:rect l="l" t="t" r="r" b="b"/>
              <a:pathLst>
                <a:path w="1143000" h="124460">
                  <a:moveTo>
                    <a:pt x="1142963" y="0"/>
                  </a:moveTo>
                  <a:lnTo>
                    <a:pt x="0" y="0"/>
                  </a:lnTo>
                  <a:lnTo>
                    <a:pt x="0" y="124143"/>
                  </a:lnTo>
                  <a:lnTo>
                    <a:pt x="1142963" y="124143"/>
                  </a:lnTo>
                  <a:lnTo>
                    <a:pt x="11429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59787" y="2433638"/>
              <a:ext cx="1143000" cy="124460"/>
            </a:xfrm>
            <a:custGeom>
              <a:avLst/>
              <a:gdLst/>
              <a:ahLst/>
              <a:cxnLst/>
              <a:rect l="l" t="t" r="r" b="b"/>
              <a:pathLst>
                <a:path w="1143000" h="124460">
                  <a:moveTo>
                    <a:pt x="0" y="124144"/>
                  </a:moveTo>
                  <a:lnTo>
                    <a:pt x="0" y="0"/>
                  </a:lnTo>
                  <a:lnTo>
                    <a:pt x="1142964" y="0"/>
                  </a:lnTo>
                  <a:lnTo>
                    <a:pt x="1142964" y="124144"/>
                  </a:lnTo>
                  <a:lnTo>
                    <a:pt x="0" y="12414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232275" y="1354138"/>
            <a:ext cx="3637279" cy="2503805"/>
            <a:chOff x="4232275" y="1354138"/>
            <a:chExt cx="3637279" cy="2503805"/>
          </a:xfrm>
        </p:grpSpPr>
        <p:sp>
          <p:nvSpPr>
            <p:cNvPr id="18" name="object 18"/>
            <p:cNvSpPr/>
            <p:nvPr/>
          </p:nvSpPr>
          <p:spPr>
            <a:xfrm>
              <a:off x="4743450" y="3044824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1187450" y="0"/>
                  </a:moveTo>
                  <a:lnTo>
                    <a:pt x="0" y="0"/>
                  </a:lnTo>
                  <a:lnTo>
                    <a:pt x="0" y="538162"/>
                  </a:lnTo>
                  <a:lnTo>
                    <a:pt x="1187450" y="538162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43450" y="3044824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0" y="538162"/>
                  </a:moveTo>
                  <a:lnTo>
                    <a:pt x="0" y="0"/>
                  </a:lnTo>
                  <a:lnTo>
                    <a:pt x="1187450" y="0"/>
                  </a:lnTo>
                  <a:lnTo>
                    <a:pt x="1187450" y="538162"/>
                  </a:lnTo>
                  <a:lnTo>
                    <a:pt x="0" y="5381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38625" y="1360488"/>
              <a:ext cx="3624579" cy="2491105"/>
            </a:xfrm>
            <a:custGeom>
              <a:avLst/>
              <a:gdLst/>
              <a:ahLst/>
              <a:cxnLst/>
              <a:rect l="l" t="t" r="r" b="b"/>
              <a:pathLst>
                <a:path w="3624579" h="2491104">
                  <a:moveTo>
                    <a:pt x="0" y="2490788"/>
                  </a:moveTo>
                  <a:lnTo>
                    <a:pt x="0" y="0"/>
                  </a:lnTo>
                  <a:lnTo>
                    <a:pt x="3624262" y="0"/>
                  </a:lnTo>
                  <a:lnTo>
                    <a:pt x="3624262" y="2490788"/>
                  </a:lnTo>
                  <a:lnTo>
                    <a:pt x="0" y="249078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72025" y="1468437"/>
            <a:ext cx="1187450" cy="536575"/>
          </a:xfrm>
          <a:prstGeom prst="rect">
            <a:avLst/>
          </a:prstGeom>
          <a:solidFill>
            <a:srgbClr val="F6BF69"/>
          </a:solidFill>
          <a:ln w="12700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85"/>
              </a:spcBef>
            </a:pPr>
            <a:r>
              <a:rPr sz="1600" b="1" spc="80" dirty="0">
                <a:latin typeface="Cambria"/>
                <a:cs typeface="Cambria"/>
              </a:rPr>
              <a:t>INPUT</a:t>
            </a:r>
            <a:r>
              <a:rPr sz="1600" b="1" spc="19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52977" y="3121659"/>
            <a:ext cx="1421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0" dirty="0">
                <a:latin typeface="Cambria"/>
                <a:cs typeface="Cambria"/>
              </a:rPr>
              <a:t>INPUT</a:t>
            </a:r>
            <a:r>
              <a:rPr sz="1600" b="1" spc="21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M/B-</a:t>
            </a:r>
            <a:r>
              <a:rPr sz="1600" b="1" spc="50" dirty="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21462" y="2322512"/>
            <a:ext cx="1057275" cy="434975"/>
          </a:xfrm>
          <a:prstGeom prst="rect">
            <a:avLst/>
          </a:prstGeom>
          <a:solidFill>
            <a:srgbClr val="F6BF69"/>
          </a:solidFill>
          <a:ln w="12700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40"/>
              </a:spcBef>
            </a:pPr>
            <a:r>
              <a:rPr sz="1600" b="1" spc="85" dirty="0">
                <a:latin typeface="Cambria"/>
                <a:cs typeface="Cambria"/>
              </a:rPr>
              <a:t>OUTPUT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74112" y="3425444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11476" y="3455923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13012" y="1722437"/>
            <a:ext cx="7172325" cy="1681480"/>
            <a:chOff x="2513012" y="1722437"/>
            <a:chExt cx="7172325" cy="1681480"/>
          </a:xfrm>
        </p:grpSpPr>
        <p:sp>
          <p:nvSpPr>
            <p:cNvPr id="27" name="object 27"/>
            <p:cNvSpPr/>
            <p:nvPr/>
          </p:nvSpPr>
          <p:spPr>
            <a:xfrm>
              <a:off x="2519362" y="1728787"/>
              <a:ext cx="0" cy="1478280"/>
            </a:xfrm>
            <a:custGeom>
              <a:avLst/>
              <a:gdLst/>
              <a:ahLst/>
              <a:cxnLst/>
              <a:rect l="l" t="t" r="r" b="b"/>
              <a:pathLst>
                <a:path h="1478280">
                  <a:moveTo>
                    <a:pt x="0" y="0"/>
                  </a:moveTo>
                  <a:lnTo>
                    <a:pt x="1" y="1477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86200" y="1728787"/>
              <a:ext cx="0" cy="1478280"/>
            </a:xfrm>
            <a:custGeom>
              <a:avLst/>
              <a:gdLst/>
              <a:ahLst/>
              <a:cxnLst/>
              <a:rect l="l" t="t" r="r" b="b"/>
              <a:pathLst>
                <a:path h="1478280">
                  <a:moveTo>
                    <a:pt x="0" y="0"/>
                  </a:moveTo>
                  <a:lnTo>
                    <a:pt x="1" y="1477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22537" y="3206741"/>
              <a:ext cx="723900" cy="190500"/>
            </a:xfrm>
            <a:custGeom>
              <a:avLst/>
              <a:gdLst/>
              <a:ahLst/>
              <a:cxnLst/>
              <a:rect l="l" t="t" r="r" b="b"/>
              <a:pathLst>
                <a:path w="723900" h="190500">
                  <a:moveTo>
                    <a:pt x="402" y="0"/>
                  </a:moveTo>
                  <a:lnTo>
                    <a:pt x="134" y="2114"/>
                  </a:lnTo>
                  <a:lnTo>
                    <a:pt x="0" y="6352"/>
                  </a:lnTo>
                  <a:lnTo>
                    <a:pt x="3703" y="25094"/>
                  </a:lnTo>
                  <a:lnTo>
                    <a:pt x="32261" y="60878"/>
                  </a:lnTo>
                  <a:lnTo>
                    <a:pt x="86633" y="93782"/>
                  </a:lnTo>
                  <a:lnTo>
                    <a:pt x="122603" y="108924"/>
                  </a:lnTo>
                  <a:lnTo>
                    <a:pt x="163953" y="123072"/>
                  </a:lnTo>
                  <a:lnTo>
                    <a:pt x="210325" y="136133"/>
                  </a:lnTo>
                  <a:lnTo>
                    <a:pt x="261359" y="148016"/>
                  </a:lnTo>
                  <a:lnTo>
                    <a:pt x="316700" y="158629"/>
                  </a:lnTo>
                  <a:lnTo>
                    <a:pt x="375987" y="167880"/>
                  </a:lnTo>
                  <a:lnTo>
                    <a:pt x="438864" y="175677"/>
                  </a:lnTo>
                  <a:lnTo>
                    <a:pt x="504973" y="181930"/>
                  </a:lnTo>
                  <a:lnTo>
                    <a:pt x="573955" y="186546"/>
                  </a:lnTo>
                  <a:lnTo>
                    <a:pt x="645453" y="189433"/>
                  </a:lnTo>
                  <a:lnTo>
                    <a:pt x="719108" y="190500"/>
                  </a:lnTo>
                  <a:lnTo>
                    <a:pt x="723900" y="635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22503" y="3206741"/>
              <a:ext cx="719455" cy="190500"/>
            </a:xfrm>
            <a:custGeom>
              <a:avLst/>
              <a:gdLst/>
              <a:ahLst/>
              <a:cxnLst/>
              <a:rect l="l" t="t" r="r" b="b"/>
              <a:pathLst>
                <a:path w="719455" h="190500">
                  <a:moveTo>
                    <a:pt x="719141" y="190500"/>
                  </a:moveTo>
                  <a:lnTo>
                    <a:pt x="645485" y="189433"/>
                  </a:lnTo>
                  <a:lnTo>
                    <a:pt x="573988" y="186545"/>
                  </a:lnTo>
                  <a:lnTo>
                    <a:pt x="505006" y="181930"/>
                  </a:lnTo>
                  <a:lnTo>
                    <a:pt x="438897" y="175677"/>
                  </a:lnTo>
                  <a:lnTo>
                    <a:pt x="376020" y="167880"/>
                  </a:lnTo>
                  <a:lnTo>
                    <a:pt x="316733" y="158628"/>
                  </a:lnTo>
                  <a:lnTo>
                    <a:pt x="261393" y="148016"/>
                  </a:lnTo>
                  <a:lnTo>
                    <a:pt x="210358" y="136133"/>
                  </a:lnTo>
                  <a:lnTo>
                    <a:pt x="163986" y="123072"/>
                  </a:lnTo>
                  <a:lnTo>
                    <a:pt x="122637" y="108924"/>
                  </a:lnTo>
                  <a:lnTo>
                    <a:pt x="86666" y="93781"/>
                  </a:lnTo>
                  <a:lnTo>
                    <a:pt x="32295" y="60877"/>
                  </a:lnTo>
                  <a:lnTo>
                    <a:pt x="3737" y="25094"/>
                  </a:lnTo>
                  <a:lnTo>
                    <a:pt x="0" y="4228"/>
                  </a:lnTo>
                  <a:lnTo>
                    <a:pt x="167" y="2114"/>
                  </a:lnTo>
                  <a:lnTo>
                    <a:pt x="43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62300" y="3206741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0" y="1602"/>
                  </a:lnTo>
                  <a:lnTo>
                    <a:pt x="0" y="185746"/>
                  </a:lnTo>
                  <a:lnTo>
                    <a:pt x="74012" y="184794"/>
                  </a:lnTo>
                  <a:lnTo>
                    <a:pt x="145887" y="182002"/>
                  </a:lnTo>
                  <a:lnTo>
                    <a:pt x="215261" y="177464"/>
                  </a:lnTo>
                  <a:lnTo>
                    <a:pt x="281769" y="171271"/>
                  </a:lnTo>
                  <a:lnTo>
                    <a:pt x="345048" y="163517"/>
                  </a:lnTo>
                  <a:lnTo>
                    <a:pt x="404734" y="154293"/>
                  </a:lnTo>
                  <a:lnTo>
                    <a:pt x="460462" y="143693"/>
                  </a:lnTo>
                  <a:lnTo>
                    <a:pt x="511870" y="131808"/>
                  </a:lnTo>
                  <a:lnTo>
                    <a:pt x="558592" y="118731"/>
                  </a:lnTo>
                  <a:lnTo>
                    <a:pt x="600266" y="104556"/>
                  </a:lnTo>
                  <a:lnTo>
                    <a:pt x="636526" y="89374"/>
                  </a:lnTo>
                  <a:lnTo>
                    <a:pt x="691353" y="56360"/>
                  </a:lnTo>
                  <a:lnTo>
                    <a:pt x="720162" y="20429"/>
                  </a:lnTo>
                  <a:lnTo>
                    <a:pt x="723900" y="1602"/>
                  </a:lnTo>
                  <a:lnTo>
                    <a:pt x="72386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62300" y="3206741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723866" y="537"/>
                  </a:lnTo>
                  <a:lnTo>
                    <a:pt x="723900" y="1065"/>
                  </a:lnTo>
                  <a:lnTo>
                    <a:pt x="723900" y="1602"/>
                  </a:lnTo>
                  <a:lnTo>
                    <a:pt x="709192" y="38712"/>
                  </a:lnTo>
                  <a:lnTo>
                    <a:pt x="667010" y="73277"/>
                  </a:lnTo>
                  <a:lnTo>
                    <a:pt x="600266" y="104555"/>
                  </a:lnTo>
                  <a:lnTo>
                    <a:pt x="558592" y="118731"/>
                  </a:lnTo>
                  <a:lnTo>
                    <a:pt x="511870" y="131807"/>
                  </a:lnTo>
                  <a:lnTo>
                    <a:pt x="460462" y="143692"/>
                  </a:lnTo>
                  <a:lnTo>
                    <a:pt x="404734" y="154293"/>
                  </a:lnTo>
                  <a:lnTo>
                    <a:pt x="345048" y="163516"/>
                  </a:lnTo>
                  <a:lnTo>
                    <a:pt x="281769" y="171271"/>
                  </a:lnTo>
                  <a:lnTo>
                    <a:pt x="215261" y="177464"/>
                  </a:lnTo>
                  <a:lnTo>
                    <a:pt x="145887" y="182002"/>
                  </a:lnTo>
                  <a:lnTo>
                    <a:pt x="74012" y="184794"/>
                  </a:lnTo>
                  <a:lnTo>
                    <a:pt x="0" y="1857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08976" y="3130550"/>
              <a:ext cx="727075" cy="179705"/>
            </a:xfrm>
            <a:custGeom>
              <a:avLst/>
              <a:gdLst/>
              <a:ahLst/>
              <a:cxnLst/>
              <a:rect l="l" t="t" r="r" b="b"/>
              <a:pathLst>
                <a:path w="727075" h="179704">
                  <a:moveTo>
                    <a:pt x="269" y="0"/>
                  </a:moveTo>
                  <a:lnTo>
                    <a:pt x="14641" y="39797"/>
                  </a:lnTo>
                  <a:lnTo>
                    <a:pt x="56647" y="72450"/>
                  </a:lnTo>
                  <a:lnTo>
                    <a:pt x="123141" y="102025"/>
                  </a:lnTo>
                  <a:lnTo>
                    <a:pt x="164672" y="115441"/>
                  </a:lnTo>
                  <a:lnTo>
                    <a:pt x="211247" y="127826"/>
                  </a:lnTo>
                  <a:lnTo>
                    <a:pt x="262505" y="139094"/>
                  </a:lnTo>
                  <a:lnTo>
                    <a:pt x="318088" y="149158"/>
                  </a:lnTo>
                  <a:lnTo>
                    <a:pt x="377636" y="157930"/>
                  </a:lnTo>
                  <a:lnTo>
                    <a:pt x="440788" y="165324"/>
                  </a:lnTo>
                  <a:lnTo>
                    <a:pt x="507187" y="171253"/>
                  </a:lnTo>
                  <a:lnTo>
                    <a:pt x="576471" y="175630"/>
                  </a:lnTo>
                  <a:lnTo>
                    <a:pt x="648282" y="178368"/>
                  </a:lnTo>
                  <a:lnTo>
                    <a:pt x="722260" y="179379"/>
                  </a:lnTo>
                  <a:lnTo>
                    <a:pt x="727075" y="4761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308942" y="3130550"/>
              <a:ext cx="722630" cy="179705"/>
            </a:xfrm>
            <a:custGeom>
              <a:avLst/>
              <a:gdLst/>
              <a:ahLst/>
              <a:cxnLst/>
              <a:rect l="l" t="t" r="r" b="b"/>
              <a:pathLst>
                <a:path w="722629" h="179704">
                  <a:moveTo>
                    <a:pt x="722295" y="179379"/>
                  </a:moveTo>
                  <a:lnTo>
                    <a:pt x="648317" y="178368"/>
                  </a:lnTo>
                  <a:lnTo>
                    <a:pt x="576505" y="175630"/>
                  </a:lnTo>
                  <a:lnTo>
                    <a:pt x="507221" y="171253"/>
                  </a:lnTo>
                  <a:lnTo>
                    <a:pt x="440822" y="165324"/>
                  </a:lnTo>
                  <a:lnTo>
                    <a:pt x="377670" y="157930"/>
                  </a:lnTo>
                  <a:lnTo>
                    <a:pt x="318122" y="149158"/>
                  </a:lnTo>
                  <a:lnTo>
                    <a:pt x="262539" y="139094"/>
                  </a:lnTo>
                  <a:lnTo>
                    <a:pt x="211280" y="127826"/>
                  </a:lnTo>
                  <a:lnTo>
                    <a:pt x="164706" y="115441"/>
                  </a:lnTo>
                  <a:lnTo>
                    <a:pt x="123174" y="102025"/>
                  </a:lnTo>
                  <a:lnTo>
                    <a:pt x="87046" y="87666"/>
                  </a:lnTo>
                  <a:lnTo>
                    <a:pt x="32436" y="56465"/>
                  </a:lnTo>
                  <a:lnTo>
                    <a:pt x="3753" y="22534"/>
                  </a:lnTo>
                  <a:lnTo>
                    <a:pt x="0" y="3169"/>
                  </a:lnTo>
                  <a:lnTo>
                    <a:pt x="100" y="1584"/>
                  </a:lnTo>
                  <a:lnTo>
                    <a:pt x="30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951913" y="3130542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1" y="0"/>
                  </a:moveTo>
                  <a:lnTo>
                    <a:pt x="0" y="1600"/>
                  </a:lnTo>
                  <a:lnTo>
                    <a:pt x="0" y="176220"/>
                  </a:lnTo>
                  <a:lnTo>
                    <a:pt x="74337" y="175317"/>
                  </a:lnTo>
                  <a:lnTo>
                    <a:pt x="146527" y="172670"/>
                  </a:lnTo>
                  <a:lnTo>
                    <a:pt x="216205" y="168366"/>
                  </a:lnTo>
                  <a:lnTo>
                    <a:pt x="283005" y="162494"/>
                  </a:lnTo>
                  <a:lnTo>
                    <a:pt x="346562" y="155140"/>
                  </a:lnTo>
                  <a:lnTo>
                    <a:pt x="406509" y="146393"/>
                  </a:lnTo>
                  <a:lnTo>
                    <a:pt x="462482" y="136341"/>
                  </a:lnTo>
                  <a:lnTo>
                    <a:pt x="514115" y="125071"/>
                  </a:lnTo>
                  <a:lnTo>
                    <a:pt x="561042" y="112671"/>
                  </a:lnTo>
                  <a:lnTo>
                    <a:pt x="602898" y="99228"/>
                  </a:lnTo>
                  <a:lnTo>
                    <a:pt x="639318" y="84831"/>
                  </a:lnTo>
                  <a:lnTo>
                    <a:pt x="694386" y="53525"/>
                  </a:lnTo>
                  <a:lnTo>
                    <a:pt x="723321" y="19453"/>
                  </a:lnTo>
                  <a:lnTo>
                    <a:pt x="727075" y="1600"/>
                  </a:lnTo>
                  <a:lnTo>
                    <a:pt x="727041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951913" y="3130541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1" y="0"/>
                  </a:moveTo>
                  <a:lnTo>
                    <a:pt x="727041" y="533"/>
                  </a:lnTo>
                  <a:lnTo>
                    <a:pt x="727075" y="1067"/>
                  </a:lnTo>
                  <a:lnTo>
                    <a:pt x="727075" y="1600"/>
                  </a:lnTo>
                  <a:lnTo>
                    <a:pt x="712302" y="36791"/>
                  </a:lnTo>
                  <a:lnTo>
                    <a:pt x="669936" y="69568"/>
                  </a:lnTo>
                  <a:lnTo>
                    <a:pt x="602898" y="99229"/>
                  </a:lnTo>
                  <a:lnTo>
                    <a:pt x="561042" y="112671"/>
                  </a:lnTo>
                  <a:lnTo>
                    <a:pt x="514115" y="125071"/>
                  </a:lnTo>
                  <a:lnTo>
                    <a:pt x="462482" y="136341"/>
                  </a:lnTo>
                  <a:lnTo>
                    <a:pt x="406509" y="146394"/>
                  </a:lnTo>
                  <a:lnTo>
                    <a:pt x="346561" y="155141"/>
                  </a:lnTo>
                  <a:lnTo>
                    <a:pt x="283005" y="162494"/>
                  </a:lnTo>
                  <a:lnTo>
                    <a:pt x="216205" y="168367"/>
                  </a:lnTo>
                  <a:lnTo>
                    <a:pt x="146527" y="172670"/>
                  </a:lnTo>
                  <a:lnTo>
                    <a:pt x="74337" y="175318"/>
                  </a:lnTo>
                  <a:lnTo>
                    <a:pt x="0" y="17622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12150" y="1728787"/>
              <a:ext cx="0" cy="1397000"/>
            </a:xfrm>
            <a:custGeom>
              <a:avLst/>
              <a:gdLst/>
              <a:ahLst/>
              <a:cxnLst/>
              <a:rect l="l" t="t" r="r" b="b"/>
              <a:pathLst>
                <a:path h="1397000">
                  <a:moveTo>
                    <a:pt x="0" y="0"/>
                  </a:moveTo>
                  <a:lnTo>
                    <a:pt x="1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678987" y="1728787"/>
              <a:ext cx="0" cy="1397000"/>
            </a:xfrm>
            <a:custGeom>
              <a:avLst/>
              <a:gdLst/>
              <a:ahLst/>
              <a:cxnLst/>
              <a:rect l="l" t="t" r="r" b="b"/>
              <a:pathLst>
                <a:path h="1397000">
                  <a:moveTo>
                    <a:pt x="0" y="0"/>
                  </a:moveTo>
                  <a:lnTo>
                    <a:pt x="1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18890" y="1796554"/>
              <a:ext cx="4593590" cy="1235710"/>
            </a:xfrm>
            <a:custGeom>
              <a:avLst/>
              <a:gdLst/>
              <a:ahLst/>
              <a:cxnLst/>
              <a:rect l="l" t="t" r="r" b="b"/>
              <a:pathLst>
                <a:path w="4593590" h="1235710">
                  <a:moveTo>
                    <a:pt x="1048372" y="24307"/>
                  </a:moveTo>
                  <a:lnTo>
                    <a:pt x="1035939" y="20612"/>
                  </a:lnTo>
                  <a:lnTo>
                    <a:pt x="966711" y="0"/>
                  </a:lnTo>
                  <a:lnTo>
                    <a:pt x="987793" y="22085"/>
                  </a:lnTo>
                  <a:lnTo>
                    <a:pt x="0" y="195961"/>
                  </a:lnTo>
                  <a:lnTo>
                    <a:pt x="4406" y="220967"/>
                  </a:lnTo>
                  <a:lnTo>
                    <a:pt x="992200" y="47091"/>
                  </a:lnTo>
                  <a:lnTo>
                    <a:pt x="979932" y="75044"/>
                  </a:lnTo>
                  <a:lnTo>
                    <a:pt x="1048372" y="24307"/>
                  </a:lnTo>
                  <a:close/>
                </a:path>
                <a:path w="4593590" h="1235710">
                  <a:moveTo>
                    <a:pt x="1053134" y="578358"/>
                  </a:moveTo>
                  <a:lnTo>
                    <a:pt x="1027734" y="565658"/>
                  </a:lnTo>
                  <a:lnTo>
                    <a:pt x="976934" y="540258"/>
                  </a:lnTo>
                  <a:lnTo>
                    <a:pt x="993863" y="565658"/>
                  </a:lnTo>
                  <a:lnTo>
                    <a:pt x="6972" y="565658"/>
                  </a:lnTo>
                  <a:lnTo>
                    <a:pt x="6972" y="591058"/>
                  </a:lnTo>
                  <a:lnTo>
                    <a:pt x="993863" y="591058"/>
                  </a:lnTo>
                  <a:lnTo>
                    <a:pt x="976934" y="616458"/>
                  </a:lnTo>
                  <a:lnTo>
                    <a:pt x="1027734" y="591058"/>
                  </a:lnTo>
                  <a:lnTo>
                    <a:pt x="1053134" y="578358"/>
                  </a:lnTo>
                  <a:close/>
                </a:path>
                <a:path w="4593590" h="1235710">
                  <a:moveTo>
                    <a:pt x="2897809" y="856157"/>
                  </a:moveTo>
                  <a:lnTo>
                    <a:pt x="2812745" y="860983"/>
                  </a:lnTo>
                  <a:lnTo>
                    <a:pt x="2840063" y="874598"/>
                  </a:lnTo>
                  <a:lnTo>
                    <a:pt x="2248560" y="1213446"/>
                  </a:lnTo>
                  <a:lnTo>
                    <a:pt x="2261184" y="1235481"/>
                  </a:lnTo>
                  <a:lnTo>
                    <a:pt x="2852686" y="896645"/>
                  </a:lnTo>
                  <a:lnTo>
                    <a:pt x="2850616" y="927100"/>
                  </a:lnTo>
                  <a:lnTo>
                    <a:pt x="2888335" y="870394"/>
                  </a:lnTo>
                  <a:lnTo>
                    <a:pt x="2897809" y="856157"/>
                  </a:lnTo>
                  <a:close/>
                </a:path>
                <a:path w="4593590" h="1235710">
                  <a:moveTo>
                    <a:pt x="2902572" y="670420"/>
                  </a:moveTo>
                  <a:lnTo>
                    <a:pt x="2892399" y="651103"/>
                  </a:lnTo>
                  <a:lnTo>
                    <a:pt x="2862910" y="595020"/>
                  </a:lnTo>
                  <a:lnTo>
                    <a:pt x="2861843" y="625525"/>
                  </a:lnTo>
                  <a:lnTo>
                    <a:pt x="2267039" y="198145"/>
                  </a:lnTo>
                  <a:lnTo>
                    <a:pt x="2252218" y="218782"/>
                  </a:lnTo>
                  <a:lnTo>
                    <a:pt x="2847022" y="646163"/>
                  </a:lnTo>
                  <a:lnTo>
                    <a:pt x="2818447" y="656907"/>
                  </a:lnTo>
                  <a:lnTo>
                    <a:pt x="2902572" y="670420"/>
                  </a:lnTo>
                  <a:close/>
                </a:path>
                <a:path w="4593590" h="1235710">
                  <a:moveTo>
                    <a:pt x="4593260" y="762508"/>
                  </a:moveTo>
                  <a:lnTo>
                    <a:pt x="4567860" y="749808"/>
                  </a:lnTo>
                  <a:lnTo>
                    <a:pt x="4517060" y="724408"/>
                  </a:lnTo>
                  <a:lnTo>
                    <a:pt x="4533989" y="749808"/>
                  </a:lnTo>
                  <a:lnTo>
                    <a:pt x="3948734" y="749808"/>
                  </a:lnTo>
                  <a:lnTo>
                    <a:pt x="3948734" y="775208"/>
                  </a:lnTo>
                  <a:lnTo>
                    <a:pt x="4533989" y="775208"/>
                  </a:lnTo>
                  <a:lnTo>
                    <a:pt x="4517060" y="800608"/>
                  </a:lnTo>
                  <a:lnTo>
                    <a:pt x="4567860" y="775208"/>
                  </a:lnTo>
                  <a:lnTo>
                    <a:pt x="4593260" y="762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72025" y="2114550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80">
                  <a:moveTo>
                    <a:pt x="1187450" y="0"/>
                  </a:moveTo>
                  <a:lnTo>
                    <a:pt x="0" y="0"/>
                  </a:lnTo>
                  <a:lnTo>
                    <a:pt x="0" y="538162"/>
                  </a:lnTo>
                  <a:lnTo>
                    <a:pt x="1187450" y="538162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72025" y="2114550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80">
                  <a:moveTo>
                    <a:pt x="0" y="538162"/>
                  </a:moveTo>
                  <a:lnTo>
                    <a:pt x="0" y="0"/>
                  </a:lnTo>
                  <a:lnTo>
                    <a:pt x="1187450" y="0"/>
                  </a:lnTo>
                  <a:lnTo>
                    <a:pt x="1187450" y="538162"/>
                  </a:lnTo>
                  <a:lnTo>
                    <a:pt x="0" y="5381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832351" y="2188971"/>
            <a:ext cx="890269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30"/>
              </a:lnSpc>
              <a:spcBef>
                <a:spcPts val="100"/>
              </a:spcBef>
            </a:pPr>
            <a:r>
              <a:rPr sz="1600" b="1" spc="75" dirty="0">
                <a:latin typeface="Cambria"/>
                <a:cs typeface="Cambria"/>
              </a:rPr>
              <a:t>INPUT</a:t>
            </a:r>
            <a:r>
              <a:rPr sz="1600" b="1" spc="21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  <a:p>
            <a:pPr marL="33655" algn="ctr">
              <a:lnSpc>
                <a:spcPts val="4010"/>
              </a:lnSpc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-555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701925" y="2201862"/>
            <a:ext cx="3919854" cy="1112520"/>
            <a:chOff x="2701925" y="2201862"/>
            <a:chExt cx="3919854" cy="1112520"/>
          </a:xfrm>
        </p:grpSpPr>
        <p:sp>
          <p:nvSpPr>
            <p:cNvPr id="44" name="object 44"/>
            <p:cNvSpPr/>
            <p:nvPr/>
          </p:nvSpPr>
          <p:spPr>
            <a:xfrm>
              <a:off x="2708275" y="2208212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1096962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096962" y="180975"/>
                  </a:lnTo>
                  <a:lnTo>
                    <a:pt x="10969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08275" y="2208212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0" y="180974"/>
                  </a:moveTo>
                  <a:lnTo>
                    <a:pt x="0" y="0"/>
                  </a:lnTo>
                  <a:lnTo>
                    <a:pt x="1096962" y="0"/>
                  </a:lnTo>
                  <a:lnTo>
                    <a:pt x="1096962" y="180974"/>
                  </a:lnTo>
                  <a:lnTo>
                    <a:pt x="0" y="1809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03307" y="2362695"/>
              <a:ext cx="2818765" cy="951865"/>
            </a:xfrm>
            <a:custGeom>
              <a:avLst/>
              <a:gdLst/>
              <a:ahLst/>
              <a:cxnLst/>
              <a:rect l="l" t="t" r="r" b="b"/>
              <a:pathLst>
                <a:path w="2818765" h="951864">
                  <a:moveTo>
                    <a:pt x="968717" y="936129"/>
                  </a:moveTo>
                  <a:lnTo>
                    <a:pt x="966711" y="934288"/>
                  </a:lnTo>
                  <a:lnTo>
                    <a:pt x="906018" y="878446"/>
                  </a:lnTo>
                  <a:lnTo>
                    <a:pt x="915276" y="907542"/>
                  </a:lnTo>
                  <a:lnTo>
                    <a:pt x="7023" y="646112"/>
                  </a:lnTo>
                  <a:lnTo>
                    <a:pt x="0" y="670521"/>
                  </a:lnTo>
                  <a:lnTo>
                    <a:pt x="908240" y="931951"/>
                  </a:lnTo>
                  <a:lnTo>
                    <a:pt x="884948" y="951674"/>
                  </a:lnTo>
                  <a:lnTo>
                    <a:pt x="968717" y="936129"/>
                  </a:lnTo>
                  <a:close/>
                </a:path>
                <a:path w="2818765" h="951864">
                  <a:moveTo>
                    <a:pt x="2818155" y="196354"/>
                  </a:moveTo>
                  <a:lnTo>
                    <a:pt x="2816212" y="194576"/>
                  </a:lnTo>
                  <a:lnTo>
                    <a:pt x="2755392" y="138747"/>
                  </a:lnTo>
                  <a:lnTo>
                    <a:pt x="2764675" y="167830"/>
                  </a:lnTo>
                  <a:lnTo>
                    <a:pt x="2178710" y="0"/>
                  </a:lnTo>
                  <a:lnTo>
                    <a:pt x="2171712" y="24422"/>
                  </a:lnTo>
                  <a:lnTo>
                    <a:pt x="2757678" y="192252"/>
                  </a:lnTo>
                  <a:lnTo>
                    <a:pt x="2734399" y="212001"/>
                  </a:lnTo>
                  <a:lnTo>
                    <a:pt x="2818155" y="196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827338" y="2140203"/>
            <a:ext cx="660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20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042" y="34960"/>
            <a:ext cx="83365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spc="-95" dirty="0"/>
              <a:t> </a:t>
            </a:r>
            <a:r>
              <a:rPr dirty="0"/>
              <a:t>External</a:t>
            </a:r>
            <a:r>
              <a:rPr spc="-95" dirty="0"/>
              <a:t> </a:t>
            </a:r>
            <a:r>
              <a:rPr dirty="0"/>
              <a:t>Merge</a:t>
            </a:r>
            <a:r>
              <a:rPr spc="-95" dirty="0"/>
              <a:t> </a:t>
            </a:r>
            <a:r>
              <a:rPr spc="-20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107609"/>
            <a:ext cx="8483600" cy="117919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849630">
              <a:lnSpc>
                <a:spcPct val="100000"/>
              </a:lnSpc>
              <a:spcBef>
                <a:spcPts val="1630"/>
              </a:spcBef>
            </a:pPr>
            <a:r>
              <a:rPr sz="2800" spc="755" dirty="0">
                <a:solidFill>
                  <a:srgbClr val="0000BE"/>
                </a:solidFill>
                <a:latin typeface="Arial MT"/>
                <a:cs typeface="Arial MT"/>
              </a:rPr>
              <a:t>🖛</a:t>
            </a:r>
            <a:r>
              <a:rPr sz="2800" spc="-110" dirty="0">
                <a:solidFill>
                  <a:srgbClr val="0000BE"/>
                </a:solidFill>
                <a:latin typeface="Arial MT"/>
                <a:cs typeface="Arial MT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How</a:t>
            </a:r>
            <a:r>
              <a:rPr sz="2800" b="1" i="1" spc="-20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can</a:t>
            </a:r>
            <a:r>
              <a:rPr sz="2800" b="1" i="1" spc="-20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we</a:t>
            </a:r>
            <a:r>
              <a:rPr sz="2800" b="1" i="1" spc="-35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utilize</a:t>
            </a:r>
            <a:r>
              <a:rPr sz="2800" b="1" i="1" spc="-35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more</a:t>
            </a:r>
            <a:r>
              <a:rPr sz="2800" b="1" i="1" spc="-35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than</a:t>
            </a:r>
            <a:r>
              <a:rPr sz="2800" b="1" i="1" spc="-25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3</a:t>
            </a:r>
            <a:r>
              <a:rPr sz="2800" b="1" i="1" spc="-25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dirty="0">
                <a:solidFill>
                  <a:srgbClr val="0000BE"/>
                </a:solidFill>
                <a:latin typeface="Palatino Linotype"/>
                <a:cs typeface="Palatino Linotype"/>
              </a:rPr>
              <a:t>buffer</a:t>
            </a:r>
            <a:r>
              <a:rPr sz="2800" b="1" i="1" spc="-30" dirty="0">
                <a:solidFill>
                  <a:srgbClr val="0000BE"/>
                </a:solidFill>
                <a:latin typeface="Palatino Linotype"/>
                <a:cs typeface="Palatino Linotype"/>
              </a:rPr>
              <a:t> </a:t>
            </a:r>
            <a:r>
              <a:rPr sz="2800" b="1" i="1" spc="-100" dirty="0">
                <a:solidFill>
                  <a:srgbClr val="0000BE"/>
                </a:solidFill>
                <a:latin typeface="Palatino Linotype"/>
                <a:cs typeface="Palatino Linotype"/>
              </a:rPr>
              <a:t>pages?</a:t>
            </a:r>
            <a:endParaRPr sz="2800">
              <a:latin typeface="Palatino Linotype"/>
              <a:cs typeface="Palatino Linotype"/>
            </a:endParaRPr>
          </a:p>
          <a:p>
            <a:pPr marL="354965" indent="-342265">
              <a:lnSpc>
                <a:spcPct val="100000"/>
              </a:lnSpc>
              <a:spcBef>
                <a:spcPts val="131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N/B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/B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2731515"/>
            <a:ext cx="45237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  <a:tab pos="1798320" algn="l"/>
              </a:tabLst>
            </a:pPr>
            <a:r>
              <a:rPr sz="1700" spc="-50" dirty="0">
                <a:solidFill>
                  <a:srgbClr val="0000BE"/>
                </a:solidFill>
                <a:latin typeface="Calibri"/>
                <a:cs typeface="Calibri"/>
              </a:rPr>
              <a:t>–</a:t>
            </a:r>
            <a:r>
              <a:rPr sz="1700" dirty="0">
                <a:solidFill>
                  <a:srgbClr val="0000BE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Pass</a:t>
            </a:r>
            <a:r>
              <a:rPr sz="2200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1,</a:t>
            </a:r>
            <a:r>
              <a:rPr sz="2200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2,</a:t>
            </a:r>
            <a:r>
              <a:rPr sz="2200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00BE"/>
                </a:solidFill>
                <a:latin typeface="Calibri"/>
                <a:cs typeface="Calibri"/>
              </a:rPr>
              <a:t>…,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	etc.:</a:t>
            </a:r>
            <a:r>
              <a:rPr sz="2200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merge</a:t>
            </a:r>
            <a:r>
              <a:rPr sz="22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0000BE"/>
                </a:solidFill>
                <a:latin typeface="Calibri"/>
                <a:cs typeface="Calibri"/>
              </a:rPr>
              <a:t>M/B-</a:t>
            </a:r>
            <a:r>
              <a:rPr sz="2200" i="1" dirty="0">
                <a:solidFill>
                  <a:srgbClr val="0000BE"/>
                </a:solidFill>
                <a:latin typeface="Calibri"/>
                <a:cs typeface="Calibri"/>
              </a:rPr>
              <a:t>1</a:t>
            </a:r>
            <a:r>
              <a:rPr sz="2200" i="1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BE"/>
                </a:solidFill>
                <a:latin typeface="Calibri"/>
                <a:cs typeface="Calibri"/>
              </a:rPr>
              <a:t>runs.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45680" y="2571993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340" y="0"/>
                </a:lnTo>
              </a:path>
            </a:pathLst>
          </a:custGeom>
          <a:ln w="7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24529" y="2571993"/>
            <a:ext cx="267335" cy="0"/>
          </a:xfrm>
          <a:custGeom>
            <a:avLst/>
            <a:gdLst/>
            <a:ahLst/>
            <a:cxnLst/>
            <a:rect l="l" t="t" r="r" b="b"/>
            <a:pathLst>
              <a:path w="267334">
                <a:moveTo>
                  <a:pt x="0" y="0"/>
                </a:moveTo>
                <a:lnTo>
                  <a:pt x="267075" y="0"/>
                </a:lnTo>
              </a:path>
            </a:pathLst>
          </a:custGeom>
          <a:ln w="7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06970" y="2564984"/>
            <a:ext cx="92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81660" algn="l"/>
              </a:tabLst>
            </a:pPr>
            <a:r>
              <a:rPr sz="2100" spc="270" baseline="-5952" dirty="0">
                <a:latin typeface="Symbol"/>
                <a:cs typeface="Symbol"/>
              </a:rPr>
              <a:t></a:t>
            </a:r>
            <a:r>
              <a:rPr sz="2100" spc="75" baseline="-5952" dirty="0">
                <a:latin typeface="Times New Roman"/>
                <a:cs typeface="Times New Roman"/>
              </a:rPr>
              <a:t> </a:t>
            </a:r>
            <a:r>
              <a:rPr sz="1400" i="1" spc="235" dirty="0">
                <a:latin typeface="Times New Roman"/>
                <a:cs typeface="Times New Roman"/>
              </a:rPr>
              <a:t>B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285" dirty="0">
                <a:latin typeface="Times New Roman"/>
                <a:cs typeface="Times New Roman"/>
              </a:rPr>
              <a:t>B</a:t>
            </a:r>
            <a:r>
              <a:rPr sz="1400" i="1" spc="210" dirty="0">
                <a:latin typeface="Times New Roman"/>
                <a:cs typeface="Times New Roman"/>
              </a:rPr>
              <a:t> </a:t>
            </a:r>
            <a:r>
              <a:rPr sz="2100" spc="195" baseline="-5952" dirty="0">
                <a:latin typeface="Symbol"/>
                <a:cs typeface="Symbol"/>
              </a:rPr>
              <a:t></a:t>
            </a:r>
            <a:endParaRPr sz="2100" baseline="-5952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3539" y="2338323"/>
            <a:ext cx="93459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23215" algn="l"/>
              </a:tabLst>
            </a:pPr>
            <a:r>
              <a:rPr sz="1700" spc="-50" dirty="0">
                <a:solidFill>
                  <a:srgbClr val="0000BE"/>
                </a:solidFill>
                <a:latin typeface="Calibri"/>
                <a:cs typeface="Calibri"/>
              </a:rPr>
              <a:t>–</a:t>
            </a:r>
            <a:r>
              <a:rPr sz="1700" dirty="0">
                <a:solidFill>
                  <a:srgbClr val="0000BE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Pass</a:t>
            </a:r>
            <a:r>
              <a:rPr sz="2200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0:</a:t>
            </a:r>
            <a:r>
              <a:rPr sz="22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use</a:t>
            </a:r>
            <a:r>
              <a:rPr sz="2200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00BE"/>
                </a:solidFill>
                <a:latin typeface="Calibri"/>
                <a:cs typeface="Calibri"/>
              </a:rPr>
              <a:t>M/B</a:t>
            </a:r>
            <a:r>
              <a:rPr sz="2200" i="1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buffer</a:t>
            </a:r>
            <a:r>
              <a:rPr sz="2200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pages.</a:t>
            </a:r>
            <a:r>
              <a:rPr sz="2200" spc="-2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Produce</a:t>
            </a:r>
            <a:r>
              <a:rPr sz="2200" spc="35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100" spc="270" baseline="35714" dirty="0">
                <a:latin typeface="Symbol"/>
                <a:cs typeface="Symbol"/>
              </a:rPr>
              <a:t></a:t>
            </a:r>
            <a:r>
              <a:rPr sz="2100" spc="-112" baseline="35714" dirty="0">
                <a:latin typeface="Times New Roman"/>
                <a:cs typeface="Times New Roman"/>
              </a:rPr>
              <a:t> </a:t>
            </a:r>
            <a:r>
              <a:rPr sz="2100" i="1" spc="457" baseline="39682" dirty="0">
                <a:latin typeface="Times New Roman"/>
                <a:cs typeface="Times New Roman"/>
              </a:rPr>
              <a:t>N</a:t>
            </a:r>
            <a:r>
              <a:rPr sz="2100" i="1" spc="382" baseline="39682" dirty="0">
                <a:latin typeface="Times New Roman"/>
                <a:cs typeface="Times New Roman"/>
              </a:rPr>
              <a:t> </a:t>
            </a:r>
            <a:r>
              <a:rPr sz="2100" spc="195" baseline="3968" dirty="0">
                <a:latin typeface="Times New Roman"/>
                <a:cs typeface="Times New Roman"/>
              </a:rPr>
              <a:t>/</a:t>
            </a:r>
            <a:r>
              <a:rPr sz="2100" spc="209" baseline="3968" dirty="0">
                <a:latin typeface="Times New Roman"/>
                <a:cs typeface="Times New Roman"/>
              </a:rPr>
              <a:t> </a:t>
            </a:r>
            <a:r>
              <a:rPr sz="2100" i="1" spc="592" baseline="39682" dirty="0">
                <a:latin typeface="Times New Roman"/>
                <a:cs typeface="Times New Roman"/>
              </a:rPr>
              <a:t>M</a:t>
            </a:r>
            <a:r>
              <a:rPr sz="2100" i="1" spc="187" baseline="39682" dirty="0">
                <a:latin typeface="Times New Roman"/>
                <a:cs typeface="Times New Roman"/>
              </a:rPr>
              <a:t> </a:t>
            </a:r>
            <a:r>
              <a:rPr sz="2100" spc="270" baseline="35714" dirty="0">
                <a:latin typeface="Symbol"/>
                <a:cs typeface="Symbol"/>
              </a:rPr>
              <a:t></a:t>
            </a:r>
            <a:r>
              <a:rPr sz="2100" spc="120" baseline="35714" dirty="0"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sorted</a:t>
            </a:r>
            <a:r>
              <a:rPr sz="22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runs</a:t>
            </a:r>
            <a:r>
              <a:rPr sz="22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of</a:t>
            </a:r>
            <a:r>
              <a:rPr sz="2200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00BE"/>
                </a:solidFill>
                <a:latin typeface="Calibri"/>
                <a:cs typeface="Calibri"/>
              </a:rPr>
              <a:t>M/B</a:t>
            </a:r>
            <a:r>
              <a:rPr sz="2200" i="1" spc="-15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BE"/>
                </a:solidFill>
                <a:latin typeface="Calibri"/>
                <a:cs typeface="Calibri"/>
              </a:rPr>
              <a:t>pages</a:t>
            </a:r>
            <a:r>
              <a:rPr sz="2200" spc="-20" dirty="0">
                <a:solidFill>
                  <a:srgbClr val="0000B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BE"/>
                </a:solidFill>
                <a:latin typeface="Calibri"/>
                <a:cs typeface="Calibri"/>
              </a:rPr>
              <a:t>each.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0163" y="4090987"/>
            <a:ext cx="7190105" cy="1567180"/>
            <a:chOff x="2570163" y="4090987"/>
            <a:chExt cx="7190105" cy="1567180"/>
          </a:xfrm>
        </p:grpSpPr>
        <p:sp>
          <p:nvSpPr>
            <p:cNvPr id="10" name="object 10"/>
            <p:cNvSpPr/>
            <p:nvPr/>
          </p:nvSpPr>
          <p:spPr>
            <a:xfrm>
              <a:off x="8361363" y="4097337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29">
                  <a:moveTo>
                    <a:pt x="696912" y="0"/>
                  </a:move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61363" y="4097337"/>
              <a:ext cx="1392555" cy="252729"/>
            </a:xfrm>
            <a:custGeom>
              <a:avLst/>
              <a:gdLst/>
              <a:ahLst/>
              <a:cxnLst/>
              <a:rect l="l" t="t" r="r" b="b"/>
              <a:pathLst>
                <a:path w="1392554" h="252729">
                  <a:moveTo>
                    <a:pt x="1392237" y="128587"/>
                  </a:moveTo>
                  <a:lnTo>
                    <a:pt x="1338262" y="76200"/>
                  </a:lnTo>
                  <a:lnTo>
                    <a:pt x="1189037" y="38100"/>
                  </a:lnTo>
                  <a:lnTo>
                    <a:pt x="696912" y="0"/>
                  </a:lnTo>
                  <a:lnTo>
                    <a:pt x="204787" y="38100"/>
                  </a:lnTo>
                  <a:lnTo>
                    <a:pt x="55562" y="76200"/>
                  </a:lnTo>
                  <a:lnTo>
                    <a:pt x="0" y="128587"/>
                  </a:lnTo>
                  <a:lnTo>
                    <a:pt x="55562" y="177800"/>
                  </a:lnTo>
                  <a:lnTo>
                    <a:pt x="204787" y="215900"/>
                  </a:lnTo>
                  <a:lnTo>
                    <a:pt x="696912" y="252412"/>
                  </a:lnTo>
                  <a:lnTo>
                    <a:pt x="1189037" y="215900"/>
                  </a:lnTo>
                  <a:lnTo>
                    <a:pt x="1338262" y="177800"/>
                  </a:lnTo>
                  <a:lnTo>
                    <a:pt x="1392237" y="128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562" y="4486276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1096962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096962" y="180975"/>
                  </a:lnTo>
                  <a:lnTo>
                    <a:pt x="10969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22562" y="4486276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0" y="180975"/>
                  </a:moveTo>
                  <a:lnTo>
                    <a:pt x="0" y="0"/>
                  </a:lnTo>
                  <a:lnTo>
                    <a:pt x="1096962" y="0"/>
                  </a:lnTo>
                  <a:lnTo>
                    <a:pt x="1096962" y="180975"/>
                  </a:lnTo>
                  <a:lnTo>
                    <a:pt x="0" y="1809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22562" y="5486400"/>
              <a:ext cx="1127125" cy="165100"/>
            </a:xfrm>
            <a:custGeom>
              <a:avLst/>
              <a:gdLst/>
              <a:ahLst/>
              <a:cxnLst/>
              <a:rect l="l" t="t" r="r" b="b"/>
              <a:pathLst>
                <a:path w="1127125" h="165100">
                  <a:moveTo>
                    <a:pt x="1127125" y="0"/>
                  </a:moveTo>
                  <a:lnTo>
                    <a:pt x="0" y="0"/>
                  </a:lnTo>
                  <a:lnTo>
                    <a:pt x="0" y="165100"/>
                  </a:lnTo>
                  <a:lnTo>
                    <a:pt x="1127125" y="165100"/>
                  </a:lnTo>
                  <a:lnTo>
                    <a:pt x="112712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2562" y="5486400"/>
              <a:ext cx="1127125" cy="165100"/>
            </a:xfrm>
            <a:custGeom>
              <a:avLst/>
              <a:gdLst/>
              <a:ahLst/>
              <a:cxnLst/>
              <a:rect l="l" t="t" r="r" b="b"/>
              <a:pathLst>
                <a:path w="1127125" h="165100">
                  <a:moveTo>
                    <a:pt x="0" y="165100"/>
                  </a:moveTo>
                  <a:lnTo>
                    <a:pt x="0" y="0"/>
                  </a:lnTo>
                  <a:lnTo>
                    <a:pt x="1127124" y="0"/>
                  </a:lnTo>
                  <a:lnTo>
                    <a:pt x="1127124" y="165100"/>
                  </a:ln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6513" y="4132262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693737" y="0"/>
                  </a:moveTo>
                  <a:lnTo>
                    <a:pt x="203200" y="38100"/>
                  </a:lnTo>
                  <a:lnTo>
                    <a:pt x="53975" y="80962"/>
                  </a:lnTo>
                  <a:lnTo>
                    <a:pt x="0" y="133350"/>
                  </a:lnTo>
                  <a:lnTo>
                    <a:pt x="53975" y="182562"/>
                  </a:lnTo>
                  <a:lnTo>
                    <a:pt x="203200" y="225425"/>
                  </a:lnTo>
                  <a:lnTo>
                    <a:pt x="693737" y="263525"/>
                  </a:lnTo>
                  <a:lnTo>
                    <a:pt x="1182687" y="225425"/>
                  </a:lnTo>
                  <a:lnTo>
                    <a:pt x="1331912" y="182562"/>
                  </a:lnTo>
                  <a:lnTo>
                    <a:pt x="1385887" y="133350"/>
                  </a:lnTo>
                  <a:lnTo>
                    <a:pt x="1331912" y="80962"/>
                  </a:lnTo>
                  <a:lnTo>
                    <a:pt x="1182687" y="38100"/>
                  </a:lnTo>
                  <a:lnTo>
                    <a:pt x="69373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76513" y="4132262"/>
              <a:ext cx="1386205" cy="263525"/>
            </a:xfrm>
            <a:custGeom>
              <a:avLst/>
              <a:gdLst/>
              <a:ahLst/>
              <a:cxnLst/>
              <a:rect l="l" t="t" r="r" b="b"/>
              <a:pathLst>
                <a:path w="1386204" h="263525">
                  <a:moveTo>
                    <a:pt x="1385888" y="133349"/>
                  </a:moveTo>
                  <a:lnTo>
                    <a:pt x="1331912" y="80962"/>
                  </a:lnTo>
                  <a:lnTo>
                    <a:pt x="1182688" y="38099"/>
                  </a:lnTo>
                  <a:lnTo>
                    <a:pt x="693737" y="0"/>
                  </a:lnTo>
                  <a:lnTo>
                    <a:pt x="203200" y="38099"/>
                  </a:lnTo>
                  <a:lnTo>
                    <a:pt x="53975" y="80962"/>
                  </a:lnTo>
                  <a:lnTo>
                    <a:pt x="0" y="133349"/>
                  </a:lnTo>
                  <a:lnTo>
                    <a:pt x="53975" y="182562"/>
                  </a:lnTo>
                  <a:lnTo>
                    <a:pt x="203200" y="225424"/>
                  </a:lnTo>
                  <a:lnTo>
                    <a:pt x="693737" y="263524"/>
                  </a:lnTo>
                  <a:lnTo>
                    <a:pt x="1182688" y="225424"/>
                  </a:lnTo>
                  <a:lnTo>
                    <a:pt x="1331912" y="182562"/>
                  </a:lnTo>
                  <a:lnTo>
                    <a:pt x="1385888" y="1333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45012" y="6089396"/>
            <a:ext cx="3157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solidFill>
                  <a:srgbClr val="CF0E30"/>
                </a:solidFill>
                <a:latin typeface="Cambria"/>
                <a:cs typeface="Cambria"/>
              </a:rPr>
              <a:t>M/B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0" dirty="0">
                <a:solidFill>
                  <a:srgbClr val="CF0E30"/>
                </a:solidFill>
                <a:latin typeface="Cambria"/>
                <a:cs typeface="Cambria"/>
              </a:rPr>
              <a:t>Main</a:t>
            </a:r>
            <a:r>
              <a:rPr sz="1800" b="1" spc="235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114" dirty="0">
                <a:solidFill>
                  <a:srgbClr val="CF0E30"/>
                </a:solidFill>
                <a:latin typeface="Cambria"/>
                <a:cs typeface="Cambria"/>
              </a:rPr>
              <a:t>memory</a:t>
            </a:r>
            <a:r>
              <a:rPr sz="1800" b="1" spc="229" dirty="0">
                <a:solidFill>
                  <a:srgbClr val="CF0E30"/>
                </a:solidFill>
                <a:latin typeface="Cambria"/>
                <a:cs typeface="Cambria"/>
              </a:rPr>
              <a:t> </a:t>
            </a:r>
            <a:r>
              <a:rPr sz="1800" b="1" spc="55" dirty="0">
                <a:solidFill>
                  <a:srgbClr val="CF0E30"/>
                </a:solidFill>
                <a:latin typeface="Cambria"/>
                <a:cs typeface="Cambria"/>
              </a:rPr>
              <a:t>buffers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70900" y="4565651"/>
            <a:ext cx="1130300" cy="168275"/>
            <a:chOff x="8470900" y="4565651"/>
            <a:chExt cx="1130300" cy="168275"/>
          </a:xfrm>
        </p:grpSpPr>
        <p:sp>
          <p:nvSpPr>
            <p:cNvPr id="20" name="object 20"/>
            <p:cNvSpPr/>
            <p:nvPr/>
          </p:nvSpPr>
          <p:spPr>
            <a:xfrm>
              <a:off x="8477250" y="4572001"/>
              <a:ext cx="1117600" cy="155575"/>
            </a:xfrm>
            <a:custGeom>
              <a:avLst/>
              <a:gdLst/>
              <a:ahLst/>
              <a:cxnLst/>
              <a:rect l="l" t="t" r="r" b="b"/>
              <a:pathLst>
                <a:path w="1117600" h="155575">
                  <a:moveTo>
                    <a:pt x="1117600" y="0"/>
                  </a:moveTo>
                  <a:lnTo>
                    <a:pt x="0" y="0"/>
                  </a:lnTo>
                  <a:lnTo>
                    <a:pt x="0" y="155575"/>
                  </a:lnTo>
                  <a:lnTo>
                    <a:pt x="1117600" y="155575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77250" y="4572001"/>
              <a:ext cx="1117600" cy="155575"/>
            </a:xfrm>
            <a:custGeom>
              <a:avLst/>
              <a:gdLst/>
              <a:ahLst/>
              <a:cxnLst/>
              <a:rect l="l" t="t" r="r" b="b"/>
              <a:pathLst>
                <a:path w="1117600" h="155575">
                  <a:moveTo>
                    <a:pt x="0" y="155575"/>
                  </a:moveTo>
                  <a:lnTo>
                    <a:pt x="0" y="0"/>
                  </a:lnTo>
                  <a:lnTo>
                    <a:pt x="1117600" y="0"/>
                  </a:lnTo>
                  <a:lnTo>
                    <a:pt x="1117600" y="155575"/>
                  </a:lnTo>
                  <a:lnTo>
                    <a:pt x="0" y="1555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485189" y="4846638"/>
            <a:ext cx="1132205" cy="154305"/>
            <a:chOff x="8485189" y="4846638"/>
            <a:chExt cx="1132205" cy="154305"/>
          </a:xfrm>
        </p:grpSpPr>
        <p:sp>
          <p:nvSpPr>
            <p:cNvPr id="23" name="object 23"/>
            <p:cNvSpPr/>
            <p:nvPr/>
          </p:nvSpPr>
          <p:spPr>
            <a:xfrm>
              <a:off x="8491539" y="4852988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4">
                  <a:moveTo>
                    <a:pt x="1119187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119187" y="141287"/>
                  </a:lnTo>
                  <a:lnTo>
                    <a:pt x="111918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91539" y="4852988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4">
                  <a:moveTo>
                    <a:pt x="0" y="141287"/>
                  </a:moveTo>
                  <a:lnTo>
                    <a:pt x="0" y="0"/>
                  </a:lnTo>
                  <a:lnTo>
                    <a:pt x="1119188" y="0"/>
                  </a:lnTo>
                  <a:lnTo>
                    <a:pt x="1119188" y="141287"/>
                  </a:ln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305300" y="3879851"/>
            <a:ext cx="3637279" cy="2503805"/>
            <a:chOff x="4305300" y="3879851"/>
            <a:chExt cx="3637279" cy="2503805"/>
          </a:xfrm>
        </p:grpSpPr>
        <p:sp>
          <p:nvSpPr>
            <p:cNvPr id="26" name="object 26"/>
            <p:cNvSpPr/>
            <p:nvPr/>
          </p:nvSpPr>
          <p:spPr>
            <a:xfrm>
              <a:off x="4816475" y="5570537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1187450" y="0"/>
                  </a:moveTo>
                  <a:lnTo>
                    <a:pt x="0" y="0"/>
                  </a:lnTo>
                  <a:lnTo>
                    <a:pt x="0" y="538162"/>
                  </a:lnTo>
                  <a:lnTo>
                    <a:pt x="1187450" y="538162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16475" y="5570537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0" y="538162"/>
                  </a:moveTo>
                  <a:lnTo>
                    <a:pt x="0" y="0"/>
                  </a:lnTo>
                  <a:lnTo>
                    <a:pt x="1187451" y="0"/>
                  </a:lnTo>
                  <a:lnTo>
                    <a:pt x="1187451" y="538162"/>
                  </a:lnTo>
                  <a:lnTo>
                    <a:pt x="0" y="5381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11650" y="3886201"/>
              <a:ext cx="3624579" cy="2491105"/>
            </a:xfrm>
            <a:custGeom>
              <a:avLst/>
              <a:gdLst/>
              <a:ahLst/>
              <a:cxnLst/>
              <a:rect l="l" t="t" r="r" b="b"/>
              <a:pathLst>
                <a:path w="3624579" h="2491104">
                  <a:moveTo>
                    <a:pt x="0" y="2490787"/>
                  </a:moveTo>
                  <a:lnTo>
                    <a:pt x="0" y="0"/>
                  </a:lnTo>
                  <a:lnTo>
                    <a:pt x="3624262" y="0"/>
                  </a:lnTo>
                  <a:lnTo>
                    <a:pt x="3624262" y="2490787"/>
                  </a:lnTo>
                  <a:lnTo>
                    <a:pt x="0" y="24907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45050" y="3994151"/>
            <a:ext cx="1187450" cy="536575"/>
          </a:xfrm>
          <a:prstGeom prst="rect">
            <a:avLst/>
          </a:prstGeom>
          <a:solidFill>
            <a:srgbClr val="F6BF69"/>
          </a:solidFill>
          <a:ln w="1270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690"/>
              </a:spcBef>
            </a:pPr>
            <a:r>
              <a:rPr sz="1600" b="1" spc="80" dirty="0">
                <a:latin typeface="Cambria"/>
                <a:cs typeface="Cambria"/>
              </a:rPr>
              <a:t>INPUT</a:t>
            </a:r>
            <a:r>
              <a:rPr sz="1600" b="1" spc="19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26001" y="5645403"/>
            <a:ext cx="1421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0" dirty="0">
                <a:latin typeface="Cambria"/>
                <a:cs typeface="Cambria"/>
              </a:rPr>
              <a:t>INPUT</a:t>
            </a:r>
            <a:r>
              <a:rPr sz="1600" b="1" spc="21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M/B-</a:t>
            </a:r>
            <a:r>
              <a:rPr sz="1600" b="1" spc="50" dirty="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94487" y="4848226"/>
            <a:ext cx="1057275" cy="434975"/>
          </a:xfrm>
          <a:prstGeom prst="rect">
            <a:avLst/>
          </a:prstGeom>
          <a:solidFill>
            <a:srgbClr val="F6BF6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45"/>
              </a:spcBef>
            </a:pPr>
            <a:r>
              <a:rPr sz="1600" b="1" spc="85" dirty="0">
                <a:latin typeface="Cambria"/>
                <a:cs typeface="Cambria"/>
              </a:rPr>
              <a:t>OUTPUT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47137" y="5949188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84501" y="5982716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solidFill>
                  <a:srgbClr val="CF0E30"/>
                </a:solidFill>
                <a:latin typeface="Cambria"/>
                <a:cs typeface="Cambria"/>
              </a:rPr>
              <a:t>Disk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586037" y="4248150"/>
            <a:ext cx="7172325" cy="1681480"/>
            <a:chOff x="2586037" y="4248150"/>
            <a:chExt cx="7172325" cy="1681480"/>
          </a:xfrm>
        </p:grpSpPr>
        <p:sp>
          <p:nvSpPr>
            <p:cNvPr id="35" name="object 35"/>
            <p:cNvSpPr/>
            <p:nvPr/>
          </p:nvSpPr>
          <p:spPr>
            <a:xfrm>
              <a:off x="2592387" y="4254501"/>
              <a:ext cx="0" cy="1478280"/>
            </a:xfrm>
            <a:custGeom>
              <a:avLst/>
              <a:gdLst/>
              <a:ahLst/>
              <a:cxnLst/>
              <a:rect l="l" t="t" r="r" b="b"/>
              <a:pathLst>
                <a:path h="1478279">
                  <a:moveTo>
                    <a:pt x="0" y="0"/>
                  </a:moveTo>
                  <a:lnTo>
                    <a:pt x="1" y="14779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59225" y="4254501"/>
              <a:ext cx="0" cy="1478280"/>
            </a:xfrm>
            <a:custGeom>
              <a:avLst/>
              <a:gdLst/>
              <a:ahLst/>
              <a:cxnLst/>
              <a:rect l="l" t="t" r="r" b="b"/>
              <a:pathLst>
                <a:path h="1478279">
                  <a:moveTo>
                    <a:pt x="0" y="0"/>
                  </a:moveTo>
                  <a:lnTo>
                    <a:pt x="1" y="14779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95562" y="5732454"/>
              <a:ext cx="723900" cy="190500"/>
            </a:xfrm>
            <a:custGeom>
              <a:avLst/>
              <a:gdLst/>
              <a:ahLst/>
              <a:cxnLst/>
              <a:rect l="l" t="t" r="r" b="b"/>
              <a:pathLst>
                <a:path w="723900" h="190500">
                  <a:moveTo>
                    <a:pt x="402" y="0"/>
                  </a:moveTo>
                  <a:lnTo>
                    <a:pt x="134" y="2114"/>
                  </a:lnTo>
                  <a:lnTo>
                    <a:pt x="0" y="6351"/>
                  </a:lnTo>
                  <a:lnTo>
                    <a:pt x="3703" y="25093"/>
                  </a:lnTo>
                  <a:lnTo>
                    <a:pt x="32261" y="60876"/>
                  </a:lnTo>
                  <a:lnTo>
                    <a:pt x="86633" y="93780"/>
                  </a:lnTo>
                  <a:lnTo>
                    <a:pt x="122603" y="108923"/>
                  </a:lnTo>
                  <a:lnTo>
                    <a:pt x="163953" y="123071"/>
                  </a:lnTo>
                  <a:lnTo>
                    <a:pt x="210325" y="136132"/>
                  </a:lnTo>
                  <a:lnTo>
                    <a:pt x="261359" y="148015"/>
                  </a:lnTo>
                  <a:lnTo>
                    <a:pt x="316700" y="158628"/>
                  </a:lnTo>
                  <a:lnTo>
                    <a:pt x="375987" y="167879"/>
                  </a:lnTo>
                  <a:lnTo>
                    <a:pt x="438864" y="175677"/>
                  </a:lnTo>
                  <a:lnTo>
                    <a:pt x="504973" y="181929"/>
                  </a:lnTo>
                  <a:lnTo>
                    <a:pt x="573955" y="186545"/>
                  </a:lnTo>
                  <a:lnTo>
                    <a:pt x="645453" y="189432"/>
                  </a:lnTo>
                  <a:lnTo>
                    <a:pt x="719108" y="190500"/>
                  </a:lnTo>
                  <a:lnTo>
                    <a:pt x="723900" y="6351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95528" y="5732453"/>
              <a:ext cx="719455" cy="190500"/>
            </a:xfrm>
            <a:custGeom>
              <a:avLst/>
              <a:gdLst/>
              <a:ahLst/>
              <a:cxnLst/>
              <a:rect l="l" t="t" r="r" b="b"/>
              <a:pathLst>
                <a:path w="719454" h="190500">
                  <a:moveTo>
                    <a:pt x="719141" y="190500"/>
                  </a:moveTo>
                  <a:lnTo>
                    <a:pt x="645485" y="189433"/>
                  </a:lnTo>
                  <a:lnTo>
                    <a:pt x="573988" y="186545"/>
                  </a:lnTo>
                  <a:lnTo>
                    <a:pt x="505006" y="181930"/>
                  </a:lnTo>
                  <a:lnTo>
                    <a:pt x="438897" y="175677"/>
                  </a:lnTo>
                  <a:lnTo>
                    <a:pt x="376020" y="167880"/>
                  </a:lnTo>
                  <a:lnTo>
                    <a:pt x="316733" y="158628"/>
                  </a:lnTo>
                  <a:lnTo>
                    <a:pt x="261393" y="148016"/>
                  </a:lnTo>
                  <a:lnTo>
                    <a:pt x="210358" y="136133"/>
                  </a:lnTo>
                  <a:lnTo>
                    <a:pt x="163986" y="123072"/>
                  </a:lnTo>
                  <a:lnTo>
                    <a:pt x="122637" y="108924"/>
                  </a:lnTo>
                  <a:lnTo>
                    <a:pt x="86666" y="93781"/>
                  </a:lnTo>
                  <a:lnTo>
                    <a:pt x="32295" y="60877"/>
                  </a:lnTo>
                  <a:lnTo>
                    <a:pt x="3737" y="25094"/>
                  </a:lnTo>
                  <a:lnTo>
                    <a:pt x="0" y="4228"/>
                  </a:lnTo>
                  <a:lnTo>
                    <a:pt x="167" y="2114"/>
                  </a:lnTo>
                  <a:lnTo>
                    <a:pt x="43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35325" y="5732454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0" y="1602"/>
                  </a:lnTo>
                  <a:lnTo>
                    <a:pt x="0" y="185746"/>
                  </a:lnTo>
                  <a:lnTo>
                    <a:pt x="74012" y="184794"/>
                  </a:lnTo>
                  <a:lnTo>
                    <a:pt x="145887" y="182002"/>
                  </a:lnTo>
                  <a:lnTo>
                    <a:pt x="215261" y="177464"/>
                  </a:lnTo>
                  <a:lnTo>
                    <a:pt x="281769" y="171271"/>
                  </a:lnTo>
                  <a:lnTo>
                    <a:pt x="345048" y="163516"/>
                  </a:lnTo>
                  <a:lnTo>
                    <a:pt x="404734" y="154292"/>
                  </a:lnTo>
                  <a:lnTo>
                    <a:pt x="460462" y="143692"/>
                  </a:lnTo>
                  <a:lnTo>
                    <a:pt x="511870" y="131807"/>
                  </a:lnTo>
                  <a:lnTo>
                    <a:pt x="558592" y="118730"/>
                  </a:lnTo>
                  <a:lnTo>
                    <a:pt x="600266" y="104555"/>
                  </a:lnTo>
                  <a:lnTo>
                    <a:pt x="636526" y="89373"/>
                  </a:lnTo>
                  <a:lnTo>
                    <a:pt x="691353" y="56359"/>
                  </a:lnTo>
                  <a:lnTo>
                    <a:pt x="720162" y="20429"/>
                  </a:lnTo>
                  <a:lnTo>
                    <a:pt x="723900" y="1602"/>
                  </a:lnTo>
                  <a:lnTo>
                    <a:pt x="72386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5325" y="5732453"/>
              <a:ext cx="723900" cy="186055"/>
            </a:xfrm>
            <a:custGeom>
              <a:avLst/>
              <a:gdLst/>
              <a:ahLst/>
              <a:cxnLst/>
              <a:rect l="l" t="t" r="r" b="b"/>
              <a:pathLst>
                <a:path w="723900" h="186054">
                  <a:moveTo>
                    <a:pt x="723866" y="0"/>
                  </a:moveTo>
                  <a:lnTo>
                    <a:pt x="723866" y="537"/>
                  </a:lnTo>
                  <a:lnTo>
                    <a:pt x="723900" y="1065"/>
                  </a:lnTo>
                  <a:lnTo>
                    <a:pt x="723900" y="1602"/>
                  </a:lnTo>
                  <a:lnTo>
                    <a:pt x="709192" y="38712"/>
                  </a:lnTo>
                  <a:lnTo>
                    <a:pt x="667010" y="73277"/>
                  </a:lnTo>
                  <a:lnTo>
                    <a:pt x="600266" y="104555"/>
                  </a:lnTo>
                  <a:lnTo>
                    <a:pt x="558592" y="118731"/>
                  </a:lnTo>
                  <a:lnTo>
                    <a:pt x="511870" y="131807"/>
                  </a:lnTo>
                  <a:lnTo>
                    <a:pt x="460462" y="143692"/>
                  </a:lnTo>
                  <a:lnTo>
                    <a:pt x="404734" y="154293"/>
                  </a:lnTo>
                  <a:lnTo>
                    <a:pt x="345048" y="163516"/>
                  </a:lnTo>
                  <a:lnTo>
                    <a:pt x="281769" y="171271"/>
                  </a:lnTo>
                  <a:lnTo>
                    <a:pt x="215261" y="177464"/>
                  </a:lnTo>
                  <a:lnTo>
                    <a:pt x="145887" y="182002"/>
                  </a:lnTo>
                  <a:lnTo>
                    <a:pt x="74012" y="184794"/>
                  </a:lnTo>
                  <a:lnTo>
                    <a:pt x="0" y="1857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382000" y="5656263"/>
              <a:ext cx="727075" cy="179705"/>
            </a:xfrm>
            <a:custGeom>
              <a:avLst/>
              <a:gdLst/>
              <a:ahLst/>
              <a:cxnLst/>
              <a:rect l="l" t="t" r="r" b="b"/>
              <a:pathLst>
                <a:path w="727075" h="179704">
                  <a:moveTo>
                    <a:pt x="269" y="0"/>
                  </a:moveTo>
                  <a:lnTo>
                    <a:pt x="14641" y="39797"/>
                  </a:lnTo>
                  <a:lnTo>
                    <a:pt x="56647" y="72450"/>
                  </a:lnTo>
                  <a:lnTo>
                    <a:pt x="123141" y="102024"/>
                  </a:lnTo>
                  <a:lnTo>
                    <a:pt x="164672" y="115440"/>
                  </a:lnTo>
                  <a:lnTo>
                    <a:pt x="211247" y="127825"/>
                  </a:lnTo>
                  <a:lnTo>
                    <a:pt x="262505" y="139093"/>
                  </a:lnTo>
                  <a:lnTo>
                    <a:pt x="318088" y="149157"/>
                  </a:lnTo>
                  <a:lnTo>
                    <a:pt x="377636" y="157929"/>
                  </a:lnTo>
                  <a:lnTo>
                    <a:pt x="440789" y="165323"/>
                  </a:lnTo>
                  <a:lnTo>
                    <a:pt x="507187" y="171252"/>
                  </a:lnTo>
                  <a:lnTo>
                    <a:pt x="576472" y="175629"/>
                  </a:lnTo>
                  <a:lnTo>
                    <a:pt x="648283" y="178366"/>
                  </a:lnTo>
                  <a:lnTo>
                    <a:pt x="722261" y="179378"/>
                  </a:lnTo>
                  <a:lnTo>
                    <a:pt x="727075" y="4761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81966" y="5656263"/>
              <a:ext cx="722630" cy="179705"/>
            </a:xfrm>
            <a:custGeom>
              <a:avLst/>
              <a:gdLst/>
              <a:ahLst/>
              <a:cxnLst/>
              <a:rect l="l" t="t" r="r" b="b"/>
              <a:pathLst>
                <a:path w="722629" h="179704">
                  <a:moveTo>
                    <a:pt x="722295" y="179378"/>
                  </a:moveTo>
                  <a:lnTo>
                    <a:pt x="648317" y="178367"/>
                  </a:lnTo>
                  <a:lnTo>
                    <a:pt x="576505" y="175629"/>
                  </a:lnTo>
                  <a:lnTo>
                    <a:pt x="507221" y="171252"/>
                  </a:lnTo>
                  <a:lnTo>
                    <a:pt x="440822" y="165323"/>
                  </a:lnTo>
                  <a:lnTo>
                    <a:pt x="377670" y="157929"/>
                  </a:lnTo>
                  <a:lnTo>
                    <a:pt x="318122" y="149157"/>
                  </a:lnTo>
                  <a:lnTo>
                    <a:pt x="262539" y="139093"/>
                  </a:lnTo>
                  <a:lnTo>
                    <a:pt x="211280" y="127826"/>
                  </a:lnTo>
                  <a:lnTo>
                    <a:pt x="164706" y="115440"/>
                  </a:lnTo>
                  <a:lnTo>
                    <a:pt x="123174" y="102025"/>
                  </a:lnTo>
                  <a:lnTo>
                    <a:pt x="87046" y="87666"/>
                  </a:lnTo>
                  <a:lnTo>
                    <a:pt x="32436" y="56465"/>
                  </a:lnTo>
                  <a:lnTo>
                    <a:pt x="3753" y="22534"/>
                  </a:lnTo>
                  <a:lnTo>
                    <a:pt x="0" y="3169"/>
                  </a:lnTo>
                  <a:lnTo>
                    <a:pt x="100" y="1584"/>
                  </a:lnTo>
                  <a:lnTo>
                    <a:pt x="30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24938" y="5656256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0" y="0"/>
                  </a:moveTo>
                  <a:lnTo>
                    <a:pt x="0" y="1600"/>
                  </a:lnTo>
                  <a:lnTo>
                    <a:pt x="0" y="176220"/>
                  </a:lnTo>
                  <a:lnTo>
                    <a:pt x="74337" y="175317"/>
                  </a:lnTo>
                  <a:lnTo>
                    <a:pt x="146527" y="172669"/>
                  </a:lnTo>
                  <a:lnTo>
                    <a:pt x="216205" y="168365"/>
                  </a:lnTo>
                  <a:lnTo>
                    <a:pt x="283005" y="162493"/>
                  </a:lnTo>
                  <a:lnTo>
                    <a:pt x="346562" y="155139"/>
                  </a:lnTo>
                  <a:lnTo>
                    <a:pt x="406509" y="146392"/>
                  </a:lnTo>
                  <a:lnTo>
                    <a:pt x="462482" y="136340"/>
                  </a:lnTo>
                  <a:lnTo>
                    <a:pt x="514115" y="125070"/>
                  </a:lnTo>
                  <a:lnTo>
                    <a:pt x="561042" y="112670"/>
                  </a:lnTo>
                  <a:lnTo>
                    <a:pt x="602898" y="99227"/>
                  </a:lnTo>
                  <a:lnTo>
                    <a:pt x="639318" y="84830"/>
                  </a:lnTo>
                  <a:lnTo>
                    <a:pt x="694386" y="53524"/>
                  </a:lnTo>
                  <a:lnTo>
                    <a:pt x="723321" y="19453"/>
                  </a:lnTo>
                  <a:lnTo>
                    <a:pt x="727075" y="1600"/>
                  </a:lnTo>
                  <a:lnTo>
                    <a:pt x="72704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24938" y="5656255"/>
              <a:ext cx="727075" cy="176530"/>
            </a:xfrm>
            <a:custGeom>
              <a:avLst/>
              <a:gdLst/>
              <a:ahLst/>
              <a:cxnLst/>
              <a:rect l="l" t="t" r="r" b="b"/>
              <a:pathLst>
                <a:path w="727075" h="176529">
                  <a:moveTo>
                    <a:pt x="727041" y="0"/>
                  </a:moveTo>
                  <a:lnTo>
                    <a:pt x="727041" y="533"/>
                  </a:lnTo>
                  <a:lnTo>
                    <a:pt x="727075" y="1067"/>
                  </a:lnTo>
                  <a:lnTo>
                    <a:pt x="727075" y="1600"/>
                  </a:lnTo>
                  <a:lnTo>
                    <a:pt x="712302" y="36791"/>
                  </a:lnTo>
                  <a:lnTo>
                    <a:pt x="669936" y="69568"/>
                  </a:lnTo>
                  <a:lnTo>
                    <a:pt x="602898" y="99228"/>
                  </a:lnTo>
                  <a:lnTo>
                    <a:pt x="561042" y="112671"/>
                  </a:lnTo>
                  <a:lnTo>
                    <a:pt x="514115" y="125071"/>
                  </a:lnTo>
                  <a:lnTo>
                    <a:pt x="462482" y="136341"/>
                  </a:lnTo>
                  <a:lnTo>
                    <a:pt x="406509" y="146393"/>
                  </a:lnTo>
                  <a:lnTo>
                    <a:pt x="346561" y="155140"/>
                  </a:lnTo>
                  <a:lnTo>
                    <a:pt x="283005" y="162493"/>
                  </a:lnTo>
                  <a:lnTo>
                    <a:pt x="216205" y="168366"/>
                  </a:lnTo>
                  <a:lnTo>
                    <a:pt x="146527" y="172669"/>
                  </a:lnTo>
                  <a:lnTo>
                    <a:pt x="74337" y="175317"/>
                  </a:lnTo>
                  <a:lnTo>
                    <a:pt x="0" y="1762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85175" y="4254500"/>
              <a:ext cx="0" cy="1397000"/>
            </a:xfrm>
            <a:custGeom>
              <a:avLst/>
              <a:gdLst/>
              <a:ahLst/>
              <a:cxnLst/>
              <a:rect l="l" t="t" r="r" b="b"/>
              <a:pathLst>
                <a:path h="1397000">
                  <a:moveTo>
                    <a:pt x="0" y="0"/>
                  </a:moveTo>
                  <a:lnTo>
                    <a:pt x="1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752012" y="4254500"/>
              <a:ext cx="0" cy="1397000"/>
            </a:xfrm>
            <a:custGeom>
              <a:avLst/>
              <a:gdLst/>
              <a:ahLst/>
              <a:cxnLst/>
              <a:rect l="l" t="t" r="r" b="b"/>
              <a:pathLst>
                <a:path h="1397000">
                  <a:moveTo>
                    <a:pt x="0" y="0"/>
                  </a:moveTo>
                  <a:lnTo>
                    <a:pt x="1" y="139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91915" y="4322267"/>
              <a:ext cx="4593590" cy="1235710"/>
            </a:xfrm>
            <a:custGeom>
              <a:avLst/>
              <a:gdLst/>
              <a:ahLst/>
              <a:cxnLst/>
              <a:rect l="l" t="t" r="r" b="b"/>
              <a:pathLst>
                <a:path w="4593590" h="1235710">
                  <a:moveTo>
                    <a:pt x="1048372" y="24307"/>
                  </a:moveTo>
                  <a:lnTo>
                    <a:pt x="1035939" y="20612"/>
                  </a:lnTo>
                  <a:lnTo>
                    <a:pt x="966711" y="0"/>
                  </a:lnTo>
                  <a:lnTo>
                    <a:pt x="987793" y="22085"/>
                  </a:lnTo>
                  <a:lnTo>
                    <a:pt x="0" y="195961"/>
                  </a:lnTo>
                  <a:lnTo>
                    <a:pt x="4406" y="220967"/>
                  </a:lnTo>
                  <a:lnTo>
                    <a:pt x="992200" y="47091"/>
                  </a:lnTo>
                  <a:lnTo>
                    <a:pt x="979932" y="75044"/>
                  </a:lnTo>
                  <a:lnTo>
                    <a:pt x="1048372" y="24307"/>
                  </a:lnTo>
                  <a:close/>
                </a:path>
                <a:path w="4593590" h="1235710">
                  <a:moveTo>
                    <a:pt x="1053134" y="578358"/>
                  </a:moveTo>
                  <a:lnTo>
                    <a:pt x="1027734" y="565658"/>
                  </a:lnTo>
                  <a:lnTo>
                    <a:pt x="976934" y="540258"/>
                  </a:lnTo>
                  <a:lnTo>
                    <a:pt x="993863" y="565658"/>
                  </a:lnTo>
                  <a:lnTo>
                    <a:pt x="6972" y="565658"/>
                  </a:lnTo>
                  <a:lnTo>
                    <a:pt x="6972" y="591058"/>
                  </a:lnTo>
                  <a:lnTo>
                    <a:pt x="993863" y="591058"/>
                  </a:lnTo>
                  <a:lnTo>
                    <a:pt x="976934" y="616458"/>
                  </a:lnTo>
                  <a:lnTo>
                    <a:pt x="1027734" y="591058"/>
                  </a:lnTo>
                  <a:lnTo>
                    <a:pt x="1053134" y="578358"/>
                  </a:lnTo>
                  <a:close/>
                </a:path>
                <a:path w="4593590" h="1235710">
                  <a:moveTo>
                    <a:pt x="2861843" y="625525"/>
                  </a:moveTo>
                  <a:lnTo>
                    <a:pt x="2267039" y="198145"/>
                  </a:lnTo>
                  <a:lnTo>
                    <a:pt x="2252218" y="218782"/>
                  </a:lnTo>
                  <a:lnTo>
                    <a:pt x="2847022" y="646163"/>
                  </a:lnTo>
                  <a:lnTo>
                    <a:pt x="2861297" y="640791"/>
                  </a:lnTo>
                  <a:lnTo>
                    <a:pt x="2861843" y="625525"/>
                  </a:lnTo>
                  <a:close/>
                </a:path>
                <a:path w="4593590" h="1235710">
                  <a:moveTo>
                    <a:pt x="2897809" y="856157"/>
                  </a:moveTo>
                  <a:lnTo>
                    <a:pt x="2812745" y="860983"/>
                  </a:lnTo>
                  <a:lnTo>
                    <a:pt x="2840063" y="874598"/>
                  </a:lnTo>
                  <a:lnTo>
                    <a:pt x="2248560" y="1213446"/>
                  </a:lnTo>
                  <a:lnTo>
                    <a:pt x="2261184" y="1235481"/>
                  </a:lnTo>
                  <a:lnTo>
                    <a:pt x="2852686" y="896645"/>
                  </a:lnTo>
                  <a:lnTo>
                    <a:pt x="2850616" y="927100"/>
                  </a:lnTo>
                  <a:lnTo>
                    <a:pt x="2888335" y="870394"/>
                  </a:lnTo>
                  <a:lnTo>
                    <a:pt x="2897809" y="856157"/>
                  </a:lnTo>
                  <a:close/>
                </a:path>
                <a:path w="4593590" h="1235710">
                  <a:moveTo>
                    <a:pt x="2902572" y="670433"/>
                  </a:moveTo>
                  <a:lnTo>
                    <a:pt x="2892399" y="651103"/>
                  </a:lnTo>
                  <a:lnTo>
                    <a:pt x="2862910" y="595020"/>
                  </a:lnTo>
                  <a:lnTo>
                    <a:pt x="2861843" y="625525"/>
                  </a:lnTo>
                  <a:lnTo>
                    <a:pt x="2861310" y="640791"/>
                  </a:lnTo>
                  <a:lnTo>
                    <a:pt x="2847022" y="646163"/>
                  </a:lnTo>
                  <a:lnTo>
                    <a:pt x="2818447" y="656907"/>
                  </a:lnTo>
                  <a:lnTo>
                    <a:pt x="2902572" y="670433"/>
                  </a:lnTo>
                  <a:close/>
                </a:path>
                <a:path w="4593590" h="1235710">
                  <a:moveTo>
                    <a:pt x="4593260" y="762508"/>
                  </a:moveTo>
                  <a:lnTo>
                    <a:pt x="4567860" y="749808"/>
                  </a:lnTo>
                  <a:lnTo>
                    <a:pt x="4517060" y="724408"/>
                  </a:lnTo>
                  <a:lnTo>
                    <a:pt x="4533989" y="749808"/>
                  </a:lnTo>
                  <a:lnTo>
                    <a:pt x="3948734" y="749808"/>
                  </a:lnTo>
                  <a:lnTo>
                    <a:pt x="3948734" y="775208"/>
                  </a:lnTo>
                  <a:lnTo>
                    <a:pt x="4533989" y="775208"/>
                  </a:lnTo>
                  <a:lnTo>
                    <a:pt x="4517060" y="800608"/>
                  </a:lnTo>
                  <a:lnTo>
                    <a:pt x="4567860" y="775208"/>
                  </a:lnTo>
                  <a:lnTo>
                    <a:pt x="4593260" y="762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45050" y="4640262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1187450" y="0"/>
                  </a:moveTo>
                  <a:lnTo>
                    <a:pt x="0" y="0"/>
                  </a:lnTo>
                  <a:lnTo>
                    <a:pt x="0" y="538162"/>
                  </a:lnTo>
                  <a:lnTo>
                    <a:pt x="1187450" y="538162"/>
                  </a:lnTo>
                  <a:lnTo>
                    <a:pt x="1187450" y="0"/>
                  </a:lnTo>
                  <a:close/>
                </a:path>
              </a:pathLst>
            </a:custGeom>
            <a:solidFill>
              <a:srgbClr val="F6B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45050" y="4640262"/>
              <a:ext cx="1187450" cy="538480"/>
            </a:xfrm>
            <a:custGeom>
              <a:avLst/>
              <a:gdLst/>
              <a:ahLst/>
              <a:cxnLst/>
              <a:rect l="l" t="t" r="r" b="b"/>
              <a:pathLst>
                <a:path w="1187450" h="538479">
                  <a:moveTo>
                    <a:pt x="0" y="538162"/>
                  </a:moveTo>
                  <a:lnTo>
                    <a:pt x="0" y="0"/>
                  </a:lnTo>
                  <a:lnTo>
                    <a:pt x="1187451" y="0"/>
                  </a:lnTo>
                  <a:lnTo>
                    <a:pt x="1187451" y="538162"/>
                  </a:lnTo>
                  <a:lnTo>
                    <a:pt x="0" y="5381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905376" y="4715764"/>
            <a:ext cx="890269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30"/>
              </a:lnSpc>
              <a:spcBef>
                <a:spcPts val="100"/>
              </a:spcBef>
            </a:pPr>
            <a:r>
              <a:rPr sz="1600" b="1" spc="75" dirty="0">
                <a:latin typeface="Cambria"/>
                <a:cs typeface="Cambria"/>
              </a:rPr>
              <a:t>INPUT</a:t>
            </a:r>
            <a:r>
              <a:rPr sz="1600" b="1" spc="215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  <a:p>
            <a:pPr marL="33655" algn="ctr">
              <a:lnSpc>
                <a:spcPts val="4010"/>
              </a:lnSpc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-555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716212" y="4757737"/>
            <a:ext cx="6901180" cy="1082675"/>
            <a:chOff x="2716212" y="4757737"/>
            <a:chExt cx="6901180" cy="1082675"/>
          </a:xfrm>
        </p:grpSpPr>
        <p:sp>
          <p:nvSpPr>
            <p:cNvPr id="52" name="object 52"/>
            <p:cNvSpPr/>
            <p:nvPr/>
          </p:nvSpPr>
          <p:spPr>
            <a:xfrm>
              <a:off x="2722562" y="4764087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1096962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096962" y="180975"/>
                  </a:lnTo>
                  <a:lnTo>
                    <a:pt x="10969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22562" y="4764087"/>
              <a:ext cx="1097280" cy="180975"/>
            </a:xfrm>
            <a:custGeom>
              <a:avLst/>
              <a:gdLst/>
              <a:ahLst/>
              <a:cxnLst/>
              <a:rect l="l" t="t" r="r" b="b"/>
              <a:pathLst>
                <a:path w="1097279" h="180975">
                  <a:moveTo>
                    <a:pt x="0" y="180974"/>
                  </a:moveTo>
                  <a:lnTo>
                    <a:pt x="0" y="0"/>
                  </a:lnTo>
                  <a:lnTo>
                    <a:pt x="1096962" y="0"/>
                  </a:lnTo>
                  <a:lnTo>
                    <a:pt x="1096962" y="180974"/>
                  </a:lnTo>
                  <a:lnTo>
                    <a:pt x="0" y="1809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76332" y="4888407"/>
              <a:ext cx="2818765" cy="951865"/>
            </a:xfrm>
            <a:custGeom>
              <a:avLst/>
              <a:gdLst/>
              <a:ahLst/>
              <a:cxnLst/>
              <a:rect l="l" t="t" r="r" b="b"/>
              <a:pathLst>
                <a:path w="2818765" h="951864">
                  <a:moveTo>
                    <a:pt x="968717" y="936142"/>
                  </a:moveTo>
                  <a:lnTo>
                    <a:pt x="966711" y="934288"/>
                  </a:lnTo>
                  <a:lnTo>
                    <a:pt x="906018" y="878446"/>
                  </a:lnTo>
                  <a:lnTo>
                    <a:pt x="915263" y="907542"/>
                  </a:lnTo>
                  <a:lnTo>
                    <a:pt x="919886" y="922083"/>
                  </a:lnTo>
                  <a:lnTo>
                    <a:pt x="915263" y="907542"/>
                  </a:lnTo>
                  <a:lnTo>
                    <a:pt x="7023" y="646125"/>
                  </a:lnTo>
                  <a:lnTo>
                    <a:pt x="0" y="670534"/>
                  </a:lnTo>
                  <a:lnTo>
                    <a:pt x="908240" y="931951"/>
                  </a:lnTo>
                  <a:lnTo>
                    <a:pt x="884948" y="951674"/>
                  </a:lnTo>
                  <a:lnTo>
                    <a:pt x="968717" y="936142"/>
                  </a:lnTo>
                  <a:close/>
                </a:path>
                <a:path w="2818765" h="951864">
                  <a:moveTo>
                    <a:pt x="2818155" y="196354"/>
                  </a:moveTo>
                  <a:lnTo>
                    <a:pt x="2816212" y="194576"/>
                  </a:lnTo>
                  <a:lnTo>
                    <a:pt x="2755392" y="138747"/>
                  </a:lnTo>
                  <a:lnTo>
                    <a:pt x="2764675" y="167830"/>
                  </a:lnTo>
                  <a:lnTo>
                    <a:pt x="2178710" y="0"/>
                  </a:lnTo>
                  <a:lnTo>
                    <a:pt x="2171712" y="24422"/>
                  </a:lnTo>
                  <a:lnTo>
                    <a:pt x="2757678" y="192252"/>
                  </a:lnTo>
                  <a:lnTo>
                    <a:pt x="2734399" y="212001"/>
                  </a:lnTo>
                  <a:lnTo>
                    <a:pt x="2818155" y="196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491538" y="5407026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4">
                  <a:moveTo>
                    <a:pt x="1119187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119187" y="141287"/>
                  </a:lnTo>
                  <a:lnTo>
                    <a:pt x="111918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491538" y="5407026"/>
              <a:ext cx="1119505" cy="141605"/>
            </a:xfrm>
            <a:custGeom>
              <a:avLst/>
              <a:gdLst/>
              <a:ahLst/>
              <a:cxnLst/>
              <a:rect l="l" t="t" r="r" b="b"/>
              <a:pathLst>
                <a:path w="1119504" h="141604">
                  <a:moveTo>
                    <a:pt x="0" y="141287"/>
                  </a:moveTo>
                  <a:lnTo>
                    <a:pt x="0" y="0"/>
                  </a:lnTo>
                  <a:lnTo>
                    <a:pt x="1119188" y="0"/>
                  </a:lnTo>
                  <a:lnTo>
                    <a:pt x="1119188" y="141287"/>
                  </a:ln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689976" y="4666995"/>
            <a:ext cx="660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20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45</a:t>
            </a:fld>
            <a:endParaRPr spc="-25" dirty="0"/>
          </a:p>
        </p:txBody>
      </p:sp>
      <p:sp>
        <p:nvSpPr>
          <p:cNvPr id="58" name="object 58"/>
          <p:cNvSpPr txBox="1"/>
          <p:nvPr/>
        </p:nvSpPr>
        <p:spPr>
          <a:xfrm>
            <a:off x="2900363" y="4666995"/>
            <a:ext cx="660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14" dirty="0">
                <a:latin typeface="Cambria"/>
                <a:cs typeface="Cambria"/>
              </a:rPr>
              <a:t> </a:t>
            </a:r>
            <a:r>
              <a:rPr sz="4000" b="1" spc="70" dirty="0">
                <a:latin typeface="Cambria"/>
                <a:cs typeface="Cambria"/>
              </a:rPr>
              <a:t>.</a:t>
            </a:r>
            <a:r>
              <a:rPr sz="4000" b="1" spc="120" dirty="0">
                <a:latin typeface="Cambria"/>
                <a:cs typeface="Cambria"/>
              </a:rPr>
              <a:t> </a:t>
            </a:r>
            <a:r>
              <a:rPr sz="4000" b="1" spc="20" dirty="0">
                <a:latin typeface="Cambria"/>
                <a:cs typeface="Cambria"/>
              </a:rPr>
              <a:t>.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10515600" cy="683777"/>
          </a:xfrm>
          <a:prstGeom prst="rect">
            <a:avLst/>
          </a:prstGeom>
        </p:spPr>
        <p:txBody>
          <a:bodyPr vert="horz" wrap="square" lIns="0" tIns="1894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227836"/>
            <a:ext cx="3753485" cy="46659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108</a:t>
            </a:r>
            <a:r>
              <a:rPr sz="2400" spc="-20" dirty="0">
                <a:latin typeface="Calibri"/>
                <a:cs typeface="Calibri"/>
              </a:rPr>
              <a:t> pages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E"/>
              </a:buClr>
              <a:buFont typeface="Wingdings"/>
              <a:buChar char=""/>
            </a:pP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Clr>
                <a:srgbClr val="0000BE"/>
              </a:buClr>
              <a:buSzPct val="77272"/>
              <a:buChar char="–"/>
              <a:tabLst>
                <a:tab pos="7550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25" dirty="0">
                <a:latin typeface="Calibri"/>
                <a:cs typeface="Calibri"/>
              </a:rPr>
              <a:t> 0: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4"/>
              </a:spcBef>
              <a:buClr>
                <a:srgbClr val="0000BE"/>
              </a:buClr>
              <a:buSzPct val="75000"/>
              <a:buFont typeface="Arial MT"/>
              <a:buChar char="•"/>
              <a:tabLst>
                <a:tab pos="1155065" algn="l"/>
              </a:tabLst>
            </a:pPr>
            <a:r>
              <a:rPr sz="2400" dirty="0">
                <a:latin typeface="Calibri"/>
                <a:cs typeface="Calibri"/>
              </a:rPr>
              <a:t>Size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run?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15"/>
              </a:spcBef>
              <a:buClr>
                <a:srgbClr val="0000BE"/>
              </a:buClr>
              <a:buSzPct val="75000"/>
              <a:buFont typeface="Arial MT"/>
              <a:buChar char="•"/>
              <a:tabLst>
                <a:tab pos="1155065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runs?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295"/>
              </a:spcBef>
              <a:buClr>
                <a:srgbClr val="0000B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Clr>
                <a:srgbClr val="0000BE"/>
              </a:buClr>
              <a:buSzPct val="77272"/>
              <a:buChar char="–"/>
              <a:tabLst>
                <a:tab pos="7550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25" dirty="0">
                <a:latin typeface="Calibri"/>
                <a:cs typeface="Calibri"/>
              </a:rPr>
              <a:t> 1:</a:t>
            </a:r>
            <a:endParaRPr sz="22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4"/>
              </a:spcBef>
              <a:buClr>
                <a:srgbClr val="0000BE"/>
              </a:buClr>
              <a:buSzPct val="75000"/>
              <a:buFont typeface="Arial MT"/>
              <a:buChar char="•"/>
              <a:tabLst>
                <a:tab pos="1155065" algn="l"/>
              </a:tabLst>
            </a:pPr>
            <a:r>
              <a:rPr sz="2400" dirty="0">
                <a:latin typeface="Calibri"/>
                <a:cs typeface="Calibri"/>
              </a:rPr>
              <a:t>Size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run?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Clr>
                <a:srgbClr val="0000BE"/>
              </a:buClr>
              <a:buSzPct val="75000"/>
              <a:buFont typeface="Arial MT"/>
              <a:buChar char="•"/>
              <a:tabLst>
                <a:tab pos="1155065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runs?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75"/>
              </a:spcBef>
              <a:buClr>
                <a:srgbClr val="0000B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Clr>
                <a:srgbClr val="0000BE"/>
              </a:buClr>
              <a:buSzPct val="77272"/>
              <a:buChar char="–"/>
              <a:tabLst>
                <a:tab pos="7550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2:</a:t>
            </a:r>
            <a:r>
              <a:rPr sz="2200" spc="4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???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75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2940" y="1789356"/>
            <a:ext cx="9295765" cy="3465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72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pages</a:t>
            </a:r>
            <a:endParaRPr sz="2400" dirty="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62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File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108</a:t>
            </a:r>
            <a:r>
              <a:rPr sz="2400" spc="-20" dirty="0">
                <a:latin typeface="Calibri"/>
                <a:cs typeface="Calibri"/>
              </a:rPr>
              <a:t> pages</a:t>
            </a:r>
            <a:endParaRPr sz="2400" dirty="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515"/>
              </a:spcBef>
              <a:buClr>
                <a:srgbClr val="0000BE"/>
              </a:buClr>
              <a:buSzPct val="77272"/>
              <a:buChar char="–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0:</a:t>
            </a:r>
            <a:r>
              <a:rPr sz="2200" spc="-190" dirty="0">
                <a:latin typeface="Calibri"/>
                <a:cs typeface="Calibri"/>
              </a:rPr>
              <a:t> </a:t>
            </a:r>
            <a:r>
              <a:rPr sz="3150" spc="195" baseline="-15873" dirty="0">
                <a:latin typeface="Symbol"/>
                <a:cs typeface="Symbol"/>
              </a:rPr>
              <a:t></a:t>
            </a:r>
            <a:r>
              <a:rPr sz="3075" spc="195" baseline="-6775" dirty="0">
                <a:latin typeface="Times New Roman"/>
                <a:cs typeface="Times New Roman"/>
              </a:rPr>
              <a:t>108</a:t>
            </a:r>
            <a:r>
              <a:rPr sz="3075" spc="217" baseline="-6775" dirty="0">
                <a:latin typeface="Times New Roman"/>
                <a:cs typeface="Times New Roman"/>
              </a:rPr>
              <a:t> </a:t>
            </a:r>
            <a:r>
              <a:rPr sz="3075" spc="89" baseline="-6775" dirty="0">
                <a:latin typeface="Times New Roman"/>
                <a:cs typeface="Times New Roman"/>
              </a:rPr>
              <a:t>/</a:t>
            </a:r>
            <a:r>
              <a:rPr sz="3075" spc="270" baseline="-6775" dirty="0">
                <a:latin typeface="Times New Roman"/>
                <a:cs typeface="Times New Roman"/>
              </a:rPr>
              <a:t> </a:t>
            </a:r>
            <a:r>
              <a:rPr sz="3075" spc="150" baseline="-6775" dirty="0">
                <a:latin typeface="Times New Roman"/>
                <a:cs typeface="Times New Roman"/>
              </a:rPr>
              <a:t>5</a:t>
            </a:r>
            <a:r>
              <a:rPr sz="3150" spc="150" baseline="-15873" dirty="0">
                <a:latin typeface="Symbol"/>
                <a:cs typeface="Symbol"/>
              </a:rPr>
              <a:t></a:t>
            </a:r>
            <a:r>
              <a:rPr sz="3150" spc="187" baseline="-15873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22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(last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pages)</a:t>
            </a:r>
            <a:endParaRPr sz="2200" dirty="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200"/>
              </a:spcBef>
              <a:buClr>
                <a:srgbClr val="0000BE"/>
              </a:buClr>
              <a:buSzPct val="77272"/>
              <a:buChar char="–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10" dirty="0">
                <a:latin typeface="Calibri"/>
                <a:cs typeface="Calibri"/>
              </a:rPr>
              <a:t> 1:</a:t>
            </a:r>
            <a:r>
              <a:rPr sz="2200" spc="-175" dirty="0">
                <a:latin typeface="Calibri"/>
                <a:cs typeface="Calibri"/>
              </a:rPr>
              <a:t> </a:t>
            </a:r>
            <a:r>
              <a:rPr sz="3825" baseline="-13071" dirty="0">
                <a:latin typeface="Symbol"/>
                <a:cs typeface="Symbol"/>
              </a:rPr>
              <a:t></a:t>
            </a:r>
            <a:r>
              <a:rPr sz="3825" baseline="-3267" dirty="0">
                <a:latin typeface="Times New Roman"/>
                <a:cs typeface="Times New Roman"/>
              </a:rPr>
              <a:t>22</a:t>
            </a:r>
            <a:r>
              <a:rPr sz="3825" spc="97" baseline="-3267" dirty="0">
                <a:latin typeface="Times New Roman"/>
                <a:cs typeface="Times New Roman"/>
              </a:rPr>
              <a:t> </a:t>
            </a:r>
            <a:r>
              <a:rPr sz="3825" baseline="-3267" dirty="0">
                <a:latin typeface="Times New Roman"/>
                <a:cs typeface="Times New Roman"/>
              </a:rPr>
              <a:t>/</a:t>
            </a:r>
            <a:r>
              <a:rPr sz="3825" spc="157" baseline="-3267" dirty="0">
                <a:latin typeface="Times New Roman"/>
                <a:cs typeface="Times New Roman"/>
              </a:rPr>
              <a:t> </a:t>
            </a:r>
            <a:r>
              <a:rPr sz="3825" baseline="-3267" dirty="0">
                <a:latin typeface="Times New Roman"/>
                <a:cs typeface="Times New Roman"/>
              </a:rPr>
              <a:t>4</a:t>
            </a:r>
            <a:r>
              <a:rPr sz="3825" baseline="-13071" dirty="0">
                <a:latin typeface="Symbol"/>
                <a:cs typeface="Symbol"/>
              </a:rPr>
              <a:t></a:t>
            </a:r>
            <a:r>
              <a:rPr sz="2200" dirty="0">
                <a:latin typeface="Calibri"/>
                <a:cs typeface="Calibri"/>
              </a:rPr>
              <a:t>= 6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20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(last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pages)</a:t>
            </a:r>
            <a:endParaRPr sz="2200" dirty="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505"/>
              </a:spcBef>
              <a:buClr>
                <a:srgbClr val="0000BE"/>
              </a:buClr>
              <a:buSzPct val="77272"/>
              <a:buChar char="–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2: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28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</a:t>
            </a:r>
            <a:endParaRPr sz="2200" dirty="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459"/>
              </a:spcBef>
              <a:buClr>
                <a:srgbClr val="0000BE"/>
              </a:buClr>
              <a:buSzPct val="77272"/>
              <a:buChar char="–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3: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108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</a:t>
            </a:r>
            <a:endParaRPr sz="22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94"/>
              </a:spcBef>
              <a:buClr>
                <a:srgbClr val="0000BE"/>
              </a:buClr>
              <a:buFont typeface="Calibri"/>
              <a:buChar char="–"/>
            </a:pPr>
            <a:endParaRPr sz="2200" dirty="0">
              <a:latin typeface="Calibri"/>
              <a:cs typeface="Calibri"/>
            </a:endParaRPr>
          </a:p>
          <a:p>
            <a:pPr marL="950594" lvl="2" indent="-266065">
              <a:lnSpc>
                <a:spcPct val="100000"/>
              </a:lnSpc>
              <a:buSzPct val="87500"/>
              <a:buFont typeface="Tahoma"/>
              <a:buChar char="•"/>
              <a:tabLst>
                <a:tab pos="950594" algn="l"/>
                <a:tab pos="4643755" algn="l"/>
              </a:tabLst>
            </a:pP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Total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I/O</a:t>
            </a:r>
            <a:r>
              <a:rPr sz="3200" b="1" spc="-35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costs: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	</a:t>
            </a:r>
            <a:r>
              <a:rPr sz="3200" b="1" spc="-50" dirty="0">
                <a:solidFill>
                  <a:srgbClr val="CF0E30"/>
                </a:solidFill>
                <a:latin typeface="Tahoma"/>
                <a:cs typeface="Tahoma"/>
              </a:rPr>
              <a:t>?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4641"/>
            <a:ext cx="10515600" cy="1325563"/>
          </a:xfrm>
          <a:prstGeom prst="rect">
            <a:avLst/>
          </a:prstGeom>
        </p:spPr>
        <p:txBody>
          <a:bodyPr vert="horz" wrap="square" lIns="0" tIns="1894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62940" y="6478736"/>
            <a:ext cx="257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425"/>
                </a:lnSpc>
              </a:pPr>
              <a:t>48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197355"/>
            <a:ext cx="9270365" cy="29679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725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67665" algn="l"/>
              </a:tabLst>
            </a:pP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620"/>
              </a:spcBef>
              <a:buClr>
                <a:srgbClr val="0000BE"/>
              </a:buClr>
              <a:buSzPct val="75000"/>
              <a:buFont typeface="Wingdings"/>
              <a:buChar char=""/>
              <a:tabLst>
                <a:tab pos="367665" algn="l"/>
              </a:tabLst>
            </a:pPr>
            <a:r>
              <a:rPr sz="2400" dirty="0">
                <a:latin typeface="Calibri"/>
                <a:cs typeface="Calibri"/>
              </a:rPr>
              <a:t>File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108</a:t>
            </a:r>
            <a:r>
              <a:rPr sz="2400" spc="-20" dirty="0">
                <a:latin typeface="Calibri"/>
                <a:cs typeface="Calibri"/>
              </a:rPr>
              <a:t> pages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0000BE"/>
              </a:buClr>
              <a:buFont typeface="Wingdings"/>
              <a:buChar char=""/>
            </a:pPr>
            <a:endParaRPr sz="2400">
              <a:latin typeface="Calibri"/>
              <a:cs typeface="Calibri"/>
            </a:endParaRPr>
          </a:p>
          <a:p>
            <a:pPr marL="767715" lvl="1" indent="-285115">
              <a:lnSpc>
                <a:spcPct val="100000"/>
              </a:lnSpc>
              <a:spcBef>
                <a:spcPts val="5"/>
              </a:spcBef>
              <a:buClr>
                <a:srgbClr val="0000BE"/>
              </a:buClr>
              <a:buSzPct val="77272"/>
              <a:buChar char="–"/>
              <a:tabLst>
                <a:tab pos="767715" algn="l"/>
                <a:tab pos="2750820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0:</a:t>
            </a:r>
            <a:r>
              <a:rPr sz="2200" spc="-195" dirty="0">
                <a:latin typeface="Calibri"/>
                <a:cs typeface="Calibri"/>
              </a:rPr>
              <a:t> </a:t>
            </a:r>
            <a:r>
              <a:rPr sz="3750" spc="-142" baseline="-14444" dirty="0">
                <a:latin typeface="Symbol"/>
                <a:cs typeface="Symbol"/>
              </a:rPr>
              <a:t></a:t>
            </a:r>
            <a:r>
              <a:rPr sz="3675" spc="-142" baseline="-5668" dirty="0">
                <a:latin typeface="Times New Roman"/>
                <a:cs typeface="Times New Roman"/>
              </a:rPr>
              <a:t>108</a:t>
            </a:r>
            <a:r>
              <a:rPr sz="3675" spc="-37" baseline="-5668" dirty="0">
                <a:latin typeface="Times New Roman"/>
                <a:cs typeface="Times New Roman"/>
              </a:rPr>
              <a:t> </a:t>
            </a:r>
            <a:r>
              <a:rPr sz="3675" baseline="-5668" dirty="0">
                <a:latin typeface="Times New Roman"/>
                <a:cs typeface="Times New Roman"/>
              </a:rPr>
              <a:t>/</a:t>
            </a:r>
            <a:r>
              <a:rPr sz="3675" spc="22" baseline="-5668" dirty="0">
                <a:latin typeface="Times New Roman"/>
                <a:cs typeface="Times New Roman"/>
              </a:rPr>
              <a:t> </a:t>
            </a:r>
            <a:r>
              <a:rPr sz="3675" spc="-52" baseline="-5668" dirty="0">
                <a:latin typeface="Times New Roman"/>
                <a:cs typeface="Times New Roman"/>
              </a:rPr>
              <a:t>5</a:t>
            </a:r>
            <a:r>
              <a:rPr sz="3750" spc="-52" baseline="-14444" dirty="0">
                <a:latin typeface="Symbol"/>
                <a:cs typeface="Symbol"/>
              </a:rPr>
              <a:t></a:t>
            </a:r>
            <a:r>
              <a:rPr sz="3750" baseline="-14444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22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(last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pages)</a:t>
            </a:r>
            <a:endParaRPr sz="2200">
              <a:latin typeface="Calibri"/>
              <a:cs typeface="Calibri"/>
            </a:endParaRPr>
          </a:p>
          <a:p>
            <a:pPr marL="767715" lvl="1" indent="-285115">
              <a:lnSpc>
                <a:spcPct val="100000"/>
              </a:lnSpc>
              <a:spcBef>
                <a:spcPts val="45"/>
              </a:spcBef>
              <a:buClr>
                <a:srgbClr val="0000BE"/>
              </a:buClr>
              <a:buSzPct val="77272"/>
              <a:buChar char="–"/>
              <a:tabLst>
                <a:tab pos="7677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10" dirty="0">
                <a:latin typeface="Calibri"/>
                <a:cs typeface="Calibri"/>
              </a:rPr>
              <a:t> 1:</a:t>
            </a:r>
            <a:r>
              <a:rPr sz="2200" spc="-190" dirty="0">
                <a:latin typeface="Calibri"/>
                <a:cs typeface="Calibri"/>
              </a:rPr>
              <a:t> </a:t>
            </a:r>
            <a:r>
              <a:rPr sz="3825" baseline="-11982" dirty="0">
                <a:latin typeface="Symbol"/>
                <a:cs typeface="Symbol"/>
              </a:rPr>
              <a:t></a:t>
            </a:r>
            <a:r>
              <a:rPr sz="3825" baseline="-2178" dirty="0">
                <a:latin typeface="Times New Roman"/>
                <a:cs typeface="Times New Roman"/>
              </a:rPr>
              <a:t>22</a:t>
            </a:r>
            <a:r>
              <a:rPr sz="3825" spc="104" baseline="-2178" dirty="0">
                <a:latin typeface="Times New Roman"/>
                <a:cs typeface="Times New Roman"/>
              </a:rPr>
              <a:t> </a:t>
            </a:r>
            <a:r>
              <a:rPr sz="3825" baseline="-2178" dirty="0">
                <a:latin typeface="Times New Roman"/>
                <a:cs typeface="Times New Roman"/>
              </a:rPr>
              <a:t>/</a:t>
            </a:r>
            <a:r>
              <a:rPr sz="3825" spc="157" baseline="-2178" dirty="0">
                <a:latin typeface="Times New Roman"/>
                <a:cs typeface="Times New Roman"/>
              </a:rPr>
              <a:t> </a:t>
            </a:r>
            <a:r>
              <a:rPr sz="3825" baseline="-2178" dirty="0">
                <a:latin typeface="Times New Roman"/>
                <a:cs typeface="Times New Roman"/>
              </a:rPr>
              <a:t>4</a:t>
            </a:r>
            <a:r>
              <a:rPr sz="3825" baseline="-11982" dirty="0">
                <a:latin typeface="Symbol"/>
                <a:cs typeface="Symbol"/>
              </a:rPr>
              <a:t></a:t>
            </a:r>
            <a:r>
              <a:rPr sz="2200" dirty="0">
                <a:latin typeface="Calibri"/>
                <a:cs typeface="Calibri"/>
              </a:rPr>
              <a:t>= 6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20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(last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 8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pages)</a:t>
            </a:r>
            <a:endParaRPr sz="2200">
              <a:latin typeface="Calibri"/>
              <a:cs typeface="Calibri"/>
            </a:endParaRPr>
          </a:p>
          <a:p>
            <a:pPr marL="767715" lvl="1" indent="-285115">
              <a:lnSpc>
                <a:spcPct val="100000"/>
              </a:lnSpc>
              <a:spcBef>
                <a:spcPts val="505"/>
              </a:spcBef>
              <a:buClr>
                <a:srgbClr val="0000BE"/>
              </a:buClr>
              <a:buSzPct val="77272"/>
              <a:buChar char="–"/>
              <a:tabLst>
                <a:tab pos="7677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2: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28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</a:t>
            </a:r>
            <a:endParaRPr sz="2200">
              <a:latin typeface="Calibri"/>
              <a:cs typeface="Calibri"/>
            </a:endParaRPr>
          </a:p>
          <a:p>
            <a:pPr marL="767715" lvl="1" indent="-285115">
              <a:lnSpc>
                <a:spcPct val="100000"/>
              </a:lnSpc>
              <a:spcBef>
                <a:spcPts val="550"/>
              </a:spcBef>
              <a:buClr>
                <a:srgbClr val="0000BE"/>
              </a:buClr>
              <a:buSzPct val="77272"/>
              <a:buChar char="–"/>
              <a:tabLst>
                <a:tab pos="767715" algn="l"/>
              </a:tabLst>
            </a:pPr>
            <a:r>
              <a:rPr sz="2200" dirty="0">
                <a:latin typeface="Calibri"/>
                <a:cs typeface="Calibri"/>
              </a:rPr>
              <a:t>Pass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3: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108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5125211"/>
            <a:ext cx="35090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SzPct val="87500"/>
              <a:buFont typeface="Tahoma"/>
              <a:buChar char="•"/>
              <a:tabLst>
                <a:tab pos="278765" algn="l"/>
              </a:tabLst>
            </a:pP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Total</a:t>
            </a:r>
            <a:r>
              <a:rPr sz="3200" b="1" spc="-4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I/O</a:t>
            </a:r>
            <a:r>
              <a:rPr sz="3200" b="1" spc="-35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costs: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9195" y="5125211"/>
            <a:ext cx="40506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4120" algn="l"/>
              </a:tabLst>
            </a:pP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2*108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*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CF0E30"/>
                </a:solidFill>
                <a:latin typeface="Tahoma"/>
                <a:cs typeface="Tahoma"/>
              </a:rPr>
              <a:t>(4</a:t>
            </a:r>
            <a:r>
              <a:rPr sz="3200" b="1" dirty="0">
                <a:solidFill>
                  <a:srgbClr val="CF0E30"/>
                </a:solidFill>
                <a:latin typeface="Tahoma"/>
                <a:cs typeface="Tahoma"/>
              </a:rPr>
              <a:t>	</a:t>
            </a:r>
            <a:r>
              <a:rPr sz="3200" b="1" spc="-10" dirty="0">
                <a:solidFill>
                  <a:srgbClr val="CF0E30"/>
                </a:solidFill>
                <a:latin typeface="Tahoma"/>
                <a:cs typeface="Tahoma"/>
              </a:rPr>
              <a:t>passes)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FA44E60-4B72-F46A-E034-2067736374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2AA99338-EA6C-7CBD-DA63-C70F4B65C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A54E5BC-5F2E-38AE-EC87-C524BC6E5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3DABCF1-8D8B-4590-A678-13F7AB34F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05568"/>
            <a:ext cx="10515600" cy="1325563"/>
          </a:xfrm>
          <a:noFill/>
          <a:ln/>
        </p:spPr>
        <p:txBody>
          <a:bodyPr/>
          <a:lstStyle/>
          <a:p>
            <a:r>
              <a:rPr lang="en-US" altLang="en-US" dirty="0"/>
              <a:t>Sorting Records!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C214CFDE-6F4B-41C1-B46E-3A8EAFBFC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0767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Sorting has become a blood sport!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Parallel sorting is the name of the game ...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Minute Sort: how many 100-byte records can you sort in a minute?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Typical DBMS: 10MB (~100,000 records)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Current World record: 21.8 </a:t>
            </a:r>
            <a:r>
              <a:rPr lang="en-US" altLang="en-US" sz="2000" b="1" i="1" dirty="0">
                <a:solidFill>
                  <a:schemeClr val="accent2"/>
                </a:solidFill>
              </a:rPr>
              <a:t>GB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olidFill>
                  <a:schemeClr val="tx2"/>
                </a:solidFill>
              </a:rPr>
              <a:t>64 dual-processor Pentium-III PCs (1999)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Penny Sort: how many can you sort for a penny?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Current world record: </a:t>
            </a:r>
            <a:r>
              <a:rPr lang="en-US" altLang="en-US" sz="2000" dirty="0">
                <a:solidFill>
                  <a:srgbClr val="000000"/>
                </a:solidFill>
                <a:latin typeface="TimesNewRomanPS-BoldMT" charset="0"/>
              </a:rPr>
              <a:t>12GB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olidFill>
                  <a:srgbClr val="000000"/>
                </a:solidFill>
                <a:latin typeface="LucidaGrande" charset="0"/>
              </a:rPr>
              <a:t>1380 seconds on a $672 Linux/Intel system (2001)</a:t>
            </a:r>
            <a:endParaRPr lang="en-US" altLang="en-US" sz="1800" dirty="0"/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$672 spread over 3 years = 1404 seconds/penny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tx2"/>
                </a:solidFill>
              </a:rPr>
              <a:t>See </a:t>
            </a:r>
            <a:r>
              <a:rPr lang="en-US" altLang="en-US" sz="2000" dirty="0"/>
              <a:t>http://research.microsoft.com/barc/SortBenchmark/</a:t>
            </a:r>
            <a:endParaRPr lang="en-US" altLang="en-US" sz="2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6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6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6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D4DDEDF-1A74-DB12-0FC9-B3AEDE46B9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308D83B-1865-67F1-FE86-BCA422E3F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AC19173-BFC6-43F9-E088-9820B68FF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2CEE774C-8906-0C8F-C4AA-A89333EA0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74074"/>
            <a:ext cx="7772400" cy="1104900"/>
          </a:xfrm>
          <a:noFill/>
          <a:ln/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E7F974D0-70D6-1954-5DD4-B79AEFFB1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01775"/>
            <a:ext cx="8610600" cy="4800600"/>
          </a:xfrm>
          <a:noFill/>
          <a:ln/>
        </p:spPr>
        <p:txBody>
          <a:bodyPr/>
          <a:lstStyle/>
          <a:p>
            <a:r>
              <a:rPr lang="en-US" altLang="en-US" dirty="0"/>
              <a:t>External sorting is important; DBMS may dedicate part of buffer pool for sorting!</a:t>
            </a:r>
          </a:p>
          <a:p>
            <a:r>
              <a:rPr lang="en-US" altLang="en-US" dirty="0"/>
              <a:t>External merge sort minimizes disk I/O cost:</a:t>
            </a:r>
          </a:p>
          <a:p>
            <a:pPr lvl="1"/>
            <a:r>
              <a:rPr lang="en-US" altLang="en-US" dirty="0"/>
              <a:t>Pass 0: Produces sorted </a:t>
            </a:r>
            <a:r>
              <a:rPr lang="en-US" altLang="en-US" b="1" i="1" dirty="0"/>
              <a:t>runs</a:t>
            </a:r>
            <a:r>
              <a:rPr lang="en-US" altLang="en-US" dirty="0"/>
              <a:t> of size </a:t>
            </a:r>
            <a:r>
              <a:rPr lang="en-US" altLang="en-US" b="1" i="1" dirty="0"/>
              <a:t>B</a:t>
            </a:r>
            <a:r>
              <a:rPr lang="en-US" altLang="en-US" i="1" dirty="0"/>
              <a:t> </a:t>
            </a:r>
            <a:r>
              <a:rPr lang="en-US" altLang="en-US" dirty="0"/>
              <a:t>(# buffer pages). Later passes: </a:t>
            </a:r>
            <a:r>
              <a:rPr lang="en-US" altLang="en-US" b="1" i="1" dirty="0"/>
              <a:t>merge</a:t>
            </a:r>
            <a:r>
              <a:rPr lang="en-US" altLang="en-US" dirty="0"/>
              <a:t> runs.</a:t>
            </a:r>
          </a:p>
          <a:p>
            <a:pPr lvl="1"/>
            <a:r>
              <a:rPr lang="en-US" altLang="en-US" dirty="0"/>
              <a:t># of runs merged at a time depends on </a:t>
            </a:r>
            <a:r>
              <a:rPr lang="en-US" altLang="en-US" b="1" i="1" dirty="0"/>
              <a:t>B</a:t>
            </a:r>
            <a:r>
              <a:rPr lang="en-US" altLang="en-US" i="1" dirty="0"/>
              <a:t>, </a:t>
            </a:r>
            <a:r>
              <a:rPr lang="en-US" altLang="en-US" dirty="0"/>
              <a:t>and </a:t>
            </a:r>
            <a:r>
              <a:rPr lang="en-US" altLang="en-US" b="1" i="1" dirty="0"/>
              <a:t>block size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/>
            <a:r>
              <a:rPr lang="en-US" altLang="en-US" dirty="0"/>
              <a:t>Larger block size means less I/O cost per page.</a:t>
            </a:r>
          </a:p>
          <a:p>
            <a:pPr lvl="1"/>
            <a:r>
              <a:rPr lang="en-US" altLang="en-US" dirty="0"/>
              <a:t>Larger block size means smaller # runs merged.</a:t>
            </a:r>
          </a:p>
          <a:p>
            <a:pPr lvl="1"/>
            <a:r>
              <a:rPr lang="en-US" altLang="en-US" dirty="0"/>
              <a:t>In practice, # of passes rarely more than 2 or 3.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B096E51-CD9B-3FCA-0CB2-D6DBDB19F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1E82DCE1-1FF9-8FC5-3404-0D84FF8C3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FE32467-ADE1-D88C-E6EC-C350B70D9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B7AC439B-C43E-9575-E0D7-E51ED4387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BE8FEC24-2C63-263B-04C4-65D598E7B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Choice of internal sort algorithm may matter:</a:t>
            </a:r>
          </a:p>
          <a:p>
            <a:pPr lvl="1"/>
            <a:r>
              <a:rPr lang="en-US" altLang="en-US" dirty="0"/>
              <a:t>Quicksort: Quick!</a:t>
            </a:r>
          </a:p>
          <a:p>
            <a:pPr lvl="1"/>
            <a:r>
              <a:rPr lang="en-US" altLang="en-US" dirty="0"/>
              <a:t>Heap/tournament sort: slower (2x), longer runs</a:t>
            </a:r>
          </a:p>
          <a:p>
            <a:r>
              <a:rPr lang="en-US" altLang="en-US" dirty="0"/>
              <a:t>The best sorts are wildly fast:</a:t>
            </a:r>
          </a:p>
          <a:p>
            <a:pPr lvl="1"/>
            <a:r>
              <a:rPr lang="en-US" altLang="en-US" dirty="0"/>
              <a:t>Despite 40+ years of research, we’re still improving!</a:t>
            </a:r>
          </a:p>
          <a:p>
            <a:r>
              <a:rPr lang="en-US" altLang="en-US" dirty="0"/>
              <a:t>Clustered B+ tree is good for sorting; </a:t>
            </a:r>
            <a:r>
              <a:rPr lang="en-US" altLang="en-US" dirty="0" err="1"/>
              <a:t>unclustered</a:t>
            </a:r>
            <a:r>
              <a:rPr lang="en-US" altLang="en-US" dirty="0"/>
              <a:t> tree is usually very bad.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DFD3-BE39-1049-7A45-D1716A4A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6BDBDA-81F0-581F-81D3-21F1329F4A30}"/>
              </a:ext>
            </a:extLst>
          </p:cNvPr>
          <p:cNvSpPr/>
          <p:nvPr/>
        </p:nvSpPr>
        <p:spPr>
          <a:xfrm>
            <a:off x="4486554" y="2967335"/>
            <a:ext cx="32188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33CC33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798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A4ACF-FADA-1B64-3AA5-CB198671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868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6F65-EA8D-8062-323D-8DF80DE2A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1544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9BD8-2E41-358B-4AB6-DAECC8E0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6012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B52D-E53B-F427-E3D7-D927BEB0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9247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346F-D4C8-C881-12B1-0A0347E0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1047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A0D7-7DBB-3395-C45A-064C7B69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1392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49E8-E65F-8E9B-E326-EA292F11C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7499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F1F3-882C-E319-0EBA-1076D35E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2444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9048-B592-E548-4627-541BE52D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790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E074-99F3-40F7-7EA9-D286B74C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1704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34C5-CA15-D542-0912-38807847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0223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4188-9DAA-B6D9-8364-9B554182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5142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70E4-58FD-0546-B782-DF82EA42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5352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5874-6EC9-E20E-46C4-21165C5E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5354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789D5-7167-5C6B-6855-BD5D5B45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8843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281-0239-3E81-5015-940928BE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52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3396</Words>
  <Application>Microsoft Office PowerPoint</Application>
  <PresentationFormat>Widescreen</PresentationFormat>
  <Paragraphs>542</Paragraphs>
  <Slides>78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78</vt:i4>
      </vt:variant>
    </vt:vector>
  </HeadingPairs>
  <TitlesOfParts>
    <vt:vector size="102" baseType="lpstr">
      <vt:lpstr>Aldhabi</vt:lpstr>
      <vt:lpstr>Aptos</vt:lpstr>
      <vt:lpstr>Aptos Display</vt:lpstr>
      <vt:lpstr>Arial</vt:lpstr>
      <vt:lpstr>Arial MT</vt:lpstr>
      <vt:lpstr>Bookman Old Style</vt:lpstr>
      <vt:lpstr>Calibri</vt:lpstr>
      <vt:lpstr>Cambria</vt:lpstr>
      <vt:lpstr>Google Sans</vt:lpstr>
      <vt:lpstr>LucidaGrande</vt:lpstr>
      <vt:lpstr>Monotype Sorts</vt:lpstr>
      <vt:lpstr>Nunito</vt:lpstr>
      <vt:lpstr>Palatino Linotype</vt:lpstr>
      <vt:lpstr>Symbol</vt:lpstr>
      <vt:lpstr>Tahoma</vt:lpstr>
      <vt:lpstr>Times New Roman</vt:lpstr>
      <vt:lpstr>TimesNewRomanPS-BoldMT</vt:lpstr>
      <vt:lpstr>ui-sans-serif</vt:lpstr>
      <vt:lpstr>Verdana</vt:lpstr>
      <vt:lpstr>Wingdings</vt:lpstr>
      <vt:lpstr>Office Theme</vt:lpstr>
      <vt:lpstr>Clip</vt:lpstr>
      <vt:lpstr>Equation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external sorting?</vt:lpstr>
      <vt:lpstr>Using secondary storage effectively</vt:lpstr>
      <vt:lpstr>Streaming Data Through RAM</vt:lpstr>
      <vt:lpstr>2-Way Sort</vt:lpstr>
      <vt:lpstr>Two-Way External Merge Sort</vt:lpstr>
      <vt:lpstr>Two-Way External Merge Sort</vt:lpstr>
      <vt:lpstr>Two-Way External Merge Sort</vt:lpstr>
      <vt:lpstr>Two-Way External Merge Sort</vt:lpstr>
      <vt:lpstr>Cost of External Merge Sort</vt:lpstr>
      <vt:lpstr>General External Merge Sort</vt:lpstr>
      <vt:lpstr>Cost of External Merge Sort</vt:lpstr>
      <vt:lpstr>Number of Passes of External Sort</vt:lpstr>
      <vt:lpstr>External Merge Sort</vt:lpstr>
      <vt:lpstr>Phase 1 : Prepare</vt:lpstr>
      <vt:lpstr>Phase 2 : Merge</vt:lpstr>
      <vt:lpstr>General External Merge Sort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Sorting Records!</vt:lpstr>
      <vt:lpstr>Conclusion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Pranab Roy</dc:creator>
  <cp:lastModifiedBy>Pranab Roy</cp:lastModifiedBy>
  <cp:revision>23</cp:revision>
  <dcterms:created xsi:type="dcterms:W3CDTF">2025-10-11T16:44:20Z</dcterms:created>
  <dcterms:modified xsi:type="dcterms:W3CDTF">2025-10-31T05:28:38Z</dcterms:modified>
</cp:coreProperties>
</file>