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01" r:id="rId2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53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94331" y="3010915"/>
            <a:ext cx="6269736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14548" y="4259376"/>
            <a:ext cx="3829303" cy="1781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3051" y="474980"/>
            <a:ext cx="6430009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794763"/>
            <a:ext cx="8420735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2476" y="7056573"/>
            <a:ext cx="253365" cy="221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8147" y="2736596"/>
            <a:ext cx="717930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1280" marR="5080" indent="-260921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omic Sans MS"/>
                <a:cs typeface="Comic Sans MS"/>
              </a:rPr>
              <a:t>P,</a:t>
            </a:r>
            <a:r>
              <a:rPr sz="3600" b="1" spc="-40" dirty="0">
                <a:latin typeface="Comic Sans MS"/>
                <a:cs typeface="Comic Sans MS"/>
              </a:rPr>
              <a:t> </a:t>
            </a:r>
            <a:r>
              <a:rPr sz="3600" b="1" dirty="0">
                <a:latin typeface="Comic Sans MS"/>
                <a:cs typeface="Comic Sans MS"/>
              </a:rPr>
              <a:t>NP,</a:t>
            </a:r>
            <a:r>
              <a:rPr sz="3600" b="1" spc="-15" dirty="0">
                <a:latin typeface="Comic Sans MS"/>
                <a:cs typeface="Comic Sans MS"/>
              </a:rPr>
              <a:t> </a:t>
            </a:r>
            <a:r>
              <a:rPr sz="3600" b="1" spc="-5" dirty="0">
                <a:latin typeface="Comic Sans MS"/>
                <a:cs typeface="Comic Sans MS"/>
              </a:rPr>
              <a:t>NP-Hard</a:t>
            </a:r>
            <a:r>
              <a:rPr sz="3600" b="1" spc="-35" dirty="0">
                <a:latin typeface="Comic Sans MS"/>
                <a:cs typeface="Comic Sans MS"/>
              </a:rPr>
              <a:t> </a:t>
            </a:r>
            <a:r>
              <a:rPr sz="3600" b="1" spc="-5" dirty="0">
                <a:latin typeface="Comic Sans MS"/>
                <a:cs typeface="Comic Sans MS"/>
              </a:rPr>
              <a:t>&amp;</a:t>
            </a:r>
            <a:r>
              <a:rPr sz="3600" b="1" spc="-25" dirty="0">
                <a:latin typeface="Comic Sans MS"/>
                <a:cs typeface="Comic Sans MS"/>
              </a:rPr>
              <a:t> </a:t>
            </a:r>
            <a:r>
              <a:rPr sz="3600" b="1" dirty="0">
                <a:latin typeface="Comic Sans MS"/>
                <a:cs typeface="Comic Sans MS"/>
              </a:rPr>
              <a:t>NP-complete </a:t>
            </a:r>
            <a:r>
              <a:rPr sz="3600" b="1" spc="-1545" dirty="0">
                <a:latin typeface="Comic Sans MS"/>
                <a:cs typeface="Comic Sans MS"/>
              </a:rPr>
              <a:t> </a:t>
            </a:r>
            <a:r>
              <a:rPr sz="3600" b="1" spc="-5" dirty="0">
                <a:latin typeface="Comic Sans MS"/>
                <a:cs typeface="Comic Sans MS"/>
              </a:rPr>
              <a:t>problems</a:t>
            </a:r>
            <a:endParaRPr sz="36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A20F0-5106-43B3-9D29-0ECB273EB533}"/>
              </a:ext>
            </a:extLst>
          </p:cNvPr>
          <p:cNvSpPr/>
          <p:nvPr/>
        </p:nvSpPr>
        <p:spPr>
          <a:xfrm rot="20525548">
            <a:off x="5867400" y="4800600"/>
            <a:ext cx="21720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Lecture 4a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3020" y="602995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11376"/>
            <a:ext cx="6581140" cy="1199046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P,</a:t>
            </a:r>
            <a:r>
              <a:rPr sz="32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NP,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NP-Complete</a:t>
            </a:r>
            <a:endParaRPr sz="32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Solving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3-CNF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Sat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endParaRPr sz="32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0539" y="602995"/>
            <a:ext cx="3957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Types</a:t>
            </a:r>
            <a:r>
              <a:rPr spc="-45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11376"/>
            <a:ext cx="8199120" cy="54025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Trackable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Intrackable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Decision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Optimization</a:t>
            </a:r>
            <a:endParaRPr sz="3200">
              <a:latin typeface="Comic Sans MS"/>
              <a:cs typeface="Comic Sans MS"/>
            </a:endParaRPr>
          </a:p>
          <a:p>
            <a:pPr marL="317500" marR="5080">
              <a:lnSpc>
                <a:spcPct val="100000"/>
              </a:lnSpc>
              <a:spcBef>
                <a:spcPts val="3940"/>
              </a:spcBef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Trackable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: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solvable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reasonable(polynomial)</a:t>
            </a:r>
            <a:r>
              <a:rPr sz="3200" spc="1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time.</a:t>
            </a:r>
            <a:endParaRPr sz="3200">
              <a:latin typeface="Comic Sans MS"/>
              <a:cs typeface="Comic Sans MS"/>
            </a:endParaRPr>
          </a:p>
          <a:p>
            <a:pPr marL="317500" marR="321310">
              <a:lnSpc>
                <a:spcPct val="100000"/>
              </a:lnSpc>
              <a:spcBef>
                <a:spcPts val="765"/>
              </a:spcBef>
              <a:tabLst>
                <a:tab pos="277685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Intrackable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: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Some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are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i="1" spc="-5" dirty="0">
                <a:latin typeface="Comic Sans MS"/>
                <a:cs typeface="Comic Sans MS"/>
              </a:rPr>
              <a:t>intractable,	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as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they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grow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large,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we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are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unable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 solve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them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reasonable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time.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0140" y="621283"/>
            <a:ext cx="2583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Trac</a:t>
            </a:r>
            <a:r>
              <a:rPr dirty="0"/>
              <a:t>ta</a:t>
            </a:r>
            <a:r>
              <a:rPr spc="-5" dirty="0"/>
              <a:t>bili</a:t>
            </a:r>
            <a:r>
              <a:rPr dirty="0"/>
              <a:t>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239" y="1363870"/>
            <a:ext cx="8444865" cy="57340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69570" indent="-344805">
              <a:lnSpc>
                <a:spcPct val="100000"/>
              </a:lnSpc>
              <a:spcBef>
                <a:spcPts val="484"/>
              </a:spcBef>
              <a:buChar char="•"/>
              <a:tabLst>
                <a:tab pos="369570" algn="l"/>
                <a:tab pos="3702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What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constitutes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reasonable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time?</a:t>
            </a:r>
            <a:endParaRPr sz="3200">
              <a:latin typeface="Comic Sans MS"/>
              <a:cs typeface="Comic Sans MS"/>
            </a:endParaRPr>
          </a:p>
          <a:p>
            <a:pPr marL="768985" lvl="1" indent="-287020">
              <a:lnSpc>
                <a:spcPct val="100000"/>
              </a:lnSpc>
              <a:spcBef>
                <a:spcPts val="350"/>
              </a:spcBef>
              <a:buChar char="–"/>
              <a:tabLst>
                <a:tab pos="7696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Standard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working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definition: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spc="5" dirty="0">
                <a:solidFill>
                  <a:srgbClr val="339966"/>
                </a:solidFill>
                <a:latin typeface="Comic Sans MS"/>
                <a:cs typeface="Comic Sans MS"/>
              </a:rPr>
              <a:t>polynomial</a:t>
            </a:r>
            <a:r>
              <a:rPr sz="2800" i="1" spc="-70" dirty="0">
                <a:solidFill>
                  <a:srgbClr val="339966"/>
                </a:solidFill>
                <a:latin typeface="Comic Sans MS"/>
                <a:cs typeface="Comic Sans MS"/>
              </a:rPr>
              <a:t> </a:t>
            </a:r>
            <a:r>
              <a:rPr sz="2800" i="1" spc="5" dirty="0">
                <a:solidFill>
                  <a:srgbClr val="339966"/>
                </a:solidFill>
                <a:latin typeface="Comic Sans MS"/>
                <a:cs typeface="Comic Sans MS"/>
              </a:rPr>
              <a:t>time</a:t>
            </a:r>
            <a:endParaRPr sz="2800">
              <a:latin typeface="Comic Sans MS"/>
              <a:cs typeface="Comic Sans MS"/>
            </a:endParaRPr>
          </a:p>
          <a:p>
            <a:pPr marL="768985" marR="341630" lvl="1" indent="-287020">
              <a:lnSpc>
                <a:spcPts val="3020"/>
              </a:lnSpc>
              <a:spcBef>
                <a:spcPts val="720"/>
              </a:spcBef>
              <a:buChar char="–"/>
              <a:tabLst>
                <a:tab pos="769620" algn="l"/>
              </a:tabLst>
            </a:pP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On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input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size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i="1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worst-case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running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775" i="1" baseline="25525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some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constant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endParaRPr sz="280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–</a:t>
            </a:r>
            <a:r>
              <a:rPr sz="2800" spc="1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2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3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O(1),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lg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n),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O(2</a:t>
            </a:r>
            <a:r>
              <a:rPr sz="2775" i="1" baseline="2552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!)</a:t>
            </a:r>
            <a:endParaRPr sz="2800">
              <a:latin typeface="Comic Sans MS"/>
              <a:cs typeface="Comic Sans MS"/>
            </a:endParaRPr>
          </a:p>
          <a:p>
            <a:pPr marL="7689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696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800" spc="-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time: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2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3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O(1),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O(n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lg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n)</a:t>
            </a:r>
            <a:endParaRPr sz="2800">
              <a:latin typeface="Comic Sans MS"/>
              <a:cs typeface="Comic Sans MS"/>
            </a:endParaRPr>
          </a:p>
          <a:p>
            <a:pPr marL="768985" lvl="1" indent="-287020">
              <a:lnSpc>
                <a:spcPct val="100000"/>
              </a:lnSpc>
              <a:spcBef>
                <a:spcPts val="340"/>
              </a:spcBef>
              <a:buChar char="–"/>
              <a:tabLst>
                <a:tab pos="7696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Not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time: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O(2</a:t>
            </a:r>
            <a:r>
              <a:rPr sz="2775" i="1" baseline="2552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775" baseline="2552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O(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!)</a:t>
            </a:r>
            <a:endParaRPr sz="2800">
              <a:latin typeface="Comic Sans MS"/>
              <a:cs typeface="Comic Sans MS"/>
            </a:endParaRPr>
          </a:p>
          <a:p>
            <a:pPr marL="369570" marR="846455" indent="-344805">
              <a:lnSpc>
                <a:spcPct val="100000"/>
              </a:lnSpc>
              <a:spcBef>
                <a:spcPts val="750"/>
              </a:spcBef>
              <a:buChar char="•"/>
              <a:tabLst>
                <a:tab pos="369570" algn="l"/>
                <a:tab pos="3702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32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solvable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time?</a:t>
            </a:r>
            <a:endParaRPr sz="3200">
              <a:latin typeface="Comic Sans MS"/>
              <a:cs typeface="Comic Sans MS"/>
            </a:endParaRPr>
          </a:p>
          <a:p>
            <a:pPr marL="768985" marR="180975" lvl="1" indent="-287020" algn="just">
              <a:lnSpc>
                <a:spcPct val="100000"/>
              </a:lnSpc>
              <a:spcBef>
                <a:spcPts val="690"/>
              </a:spcBef>
              <a:buChar char="–"/>
              <a:tabLst>
                <a:tab pos="7696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No: Turing’s “Halting Problem”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not solvable </a:t>
            </a:r>
            <a:r>
              <a:rPr sz="2800" spc="-8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by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any computer,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no</a:t>
            </a:r>
            <a:r>
              <a:rPr sz="2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matter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how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much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 </a:t>
            </a:r>
            <a:r>
              <a:rPr sz="2800" spc="-8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given.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108" y="883411"/>
            <a:ext cx="6831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Optimization/Decision</a:t>
            </a:r>
            <a:r>
              <a:rPr spc="-145" dirty="0"/>
              <a:t> </a:t>
            </a: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539" y="2060726"/>
            <a:ext cx="7869302" cy="42545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59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Optimization</a:t>
            </a:r>
            <a:r>
              <a:rPr sz="2800" spc="-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endParaRPr sz="2800" dirty="0">
              <a:latin typeface="Comic Sans MS"/>
              <a:cs typeface="Comic Sans MS"/>
            </a:endParaRPr>
          </a:p>
          <a:p>
            <a:pPr marL="756285" marR="236854" lvl="1" indent="-287020">
              <a:lnSpc>
                <a:spcPts val="2590"/>
              </a:lnSpc>
              <a:spcBef>
                <a:spcPts val="63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An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optimization problem is one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which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asks, </a:t>
            </a:r>
            <a:r>
              <a:rPr sz="24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“What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optimal</a:t>
            </a:r>
            <a:r>
              <a:rPr sz="24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to problem</a:t>
            </a:r>
            <a:r>
              <a:rPr sz="24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X?”</a:t>
            </a:r>
            <a:endParaRPr sz="24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Examples:</a:t>
            </a:r>
            <a:endParaRPr sz="2400" dirty="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0-1</a:t>
            </a:r>
            <a:r>
              <a:rPr sz="20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Knapsack</a:t>
            </a:r>
            <a:endParaRPr sz="2000" dirty="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Fractional</a:t>
            </a:r>
            <a:r>
              <a:rPr sz="20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Knapsack</a:t>
            </a:r>
            <a:endParaRPr sz="2000" dirty="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Minimum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Spanning</a:t>
            </a:r>
            <a:r>
              <a:rPr sz="2000" spc="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Tree</a:t>
            </a:r>
            <a:endParaRPr sz="20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0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Decision</a:t>
            </a:r>
            <a:r>
              <a:rPr sz="2800" spc="-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endParaRPr sz="28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3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4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decision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one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with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yes/no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answer</a:t>
            </a:r>
            <a:endParaRPr sz="24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8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Examples:</a:t>
            </a:r>
            <a:endParaRPr sz="2400" dirty="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D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g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ap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G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av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Comic Sans MS"/>
                <a:cs typeface="Comic Sans MS"/>
              </a:rPr>
              <a:t>M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f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30" dirty="0">
                <a:solidFill>
                  <a:srgbClr val="3333CC"/>
                </a:solidFill>
                <a:latin typeface="Comic Sans MS"/>
                <a:cs typeface="Comic Sans MS"/>
              </a:rPr>
              <a:t>w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ght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2000" spc="35" dirty="0">
                <a:solidFill>
                  <a:srgbClr val="3333CC"/>
                </a:solidFill>
                <a:latin typeface="Comic Sans MS"/>
                <a:cs typeface="Comic Sans MS"/>
              </a:rPr>
              <a:t>less than </a:t>
            </a:r>
            <a:r>
              <a:rPr sz="2000" spc="-40" dirty="0">
                <a:solidFill>
                  <a:srgbClr val="3333CC"/>
                </a:solidFill>
                <a:latin typeface="Comic Sans MS"/>
                <a:cs typeface="Comic Sans MS"/>
              </a:rPr>
              <a:t>W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?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483" y="959611"/>
            <a:ext cx="6831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Optimization/Decision</a:t>
            </a:r>
            <a:r>
              <a:rPr spc="-145" dirty="0"/>
              <a:t> </a:t>
            </a: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539" y="2092248"/>
            <a:ext cx="7303770" cy="281359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000" spc="-20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optimization</a:t>
            </a:r>
            <a:r>
              <a:rPr sz="2000" spc="7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problem</a:t>
            </a:r>
            <a:r>
              <a:rPr sz="2000" spc="35" dirty="0"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tries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find</a:t>
            </a:r>
            <a:r>
              <a:rPr sz="20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optimal</a:t>
            </a:r>
            <a:r>
              <a:rPr sz="2000" spc="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endParaRPr sz="20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480"/>
              </a:spcBef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decision</a:t>
            </a:r>
            <a:r>
              <a:rPr sz="2000" spc="3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problem</a:t>
            </a:r>
            <a:r>
              <a:rPr sz="2000" spc="35" dirty="0"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tries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answer</a:t>
            </a:r>
            <a:r>
              <a:rPr sz="2000" spc="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yes/no</a:t>
            </a:r>
            <a:r>
              <a:rPr sz="2000" spc="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question</a:t>
            </a:r>
            <a:endParaRPr sz="20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480"/>
              </a:spcBef>
              <a:buChar char="•"/>
              <a:tabLst>
                <a:tab pos="356870" algn="l"/>
                <a:tab pos="357505" algn="l"/>
              </a:tabLst>
            </a:pP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Many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20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will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have</a:t>
            </a:r>
            <a:r>
              <a:rPr sz="20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decision</a:t>
            </a:r>
            <a:r>
              <a:rPr sz="20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optimization</a:t>
            </a:r>
            <a:r>
              <a:rPr sz="2000" spc="9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versions</a:t>
            </a:r>
            <a:endParaRPr sz="20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440"/>
              </a:spcBef>
              <a:buChar char="–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Eg:</a:t>
            </a:r>
            <a:r>
              <a:rPr sz="1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Traveling</a:t>
            </a:r>
            <a:r>
              <a:rPr sz="18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salesman</a:t>
            </a:r>
            <a:r>
              <a:rPr sz="1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endParaRPr sz="1800" dirty="0">
              <a:latin typeface="Comic Sans MS"/>
              <a:cs typeface="Comic Sans MS"/>
            </a:endParaRPr>
          </a:p>
          <a:p>
            <a:pPr marL="1155065" marR="561975" lvl="2" indent="-228600">
              <a:lnSpc>
                <a:spcPct val="100000"/>
              </a:lnSpc>
              <a:spcBef>
                <a:spcPts val="47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optimization:</a:t>
            </a:r>
            <a:r>
              <a:rPr sz="2000" spc="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find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hamiltonian</a:t>
            </a:r>
            <a:r>
              <a:rPr sz="20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cycle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minimum </a:t>
            </a:r>
            <a:r>
              <a:rPr sz="2000" spc="-5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weight</a:t>
            </a:r>
            <a:endParaRPr sz="2000" dirty="0">
              <a:latin typeface="Comic Sans MS"/>
              <a:cs typeface="Comic Sans MS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decision:</a:t>
            </a:r>
            <a:r>
              <a:rPr sz="20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there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hamiltonian</a:t>
            </a:r>
            <a:r>
              <a:rPr sz="2000" spc="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cycle of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weight</a:t>
            </a:r>
            <a:r>
              <a:rPr sz="20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910" dirty="0">
                <a:solidFill>
                  <a:srgbClr val="3333CC"/>
                </a:solidFill>
                <a:latin typeface="Cambria"/>
                <a:cs typeface="Cambria"/>
              </a:rPr>
              <a:t></a:t>
            </a:r>
            <a:r>
              <a:rPr lang="en-IN" sz="2000" spc="170" dirty="0">
                <a:solidFill>
                  <a:srgbClr val="3333CC"/>
                </a:solidFill>
                <a:latin typeface="Cambria"/>
                <a:cs typeface="Cambria"/>
              </a:rPr>
              <a:t>less than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P,</a:t>
            </a:r>
            <a:r>
              <a:rPr spc="-20" dirty="0"/>
              <a:t> </a:t>
            </a:r>
            <a:r>
              <a:rPr dirty="0"/>
              <a:t>NP,</a:t>
            </a:r>
            <a:r>
              <a:rPr spc="-20" dirty="0"/>
              <a:t> </a:t>
            </a:r>
            <a:r>
              <a:rPr spc="-5" dirty="0"/>
              <a:t>NP-Hard,</a:t>
            </a:r>
            <a:r>
              <a:rPr spc="-15" dirty="0"/>
              <a:t> </a:t>
            </a:r>
            <a:r>
              <a:rPr spc="-5" dirty="0"/>
              <a:t>NP-Complete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0091" y="3824731"/>
            <a:ext cx="228346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De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f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0891" y="990091"/>
            <a:ext cx="243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5" dirty="0"/>
              <a:t>Class</a:t>
            </a:r>
            <a:r>
              <a:rPr spc="-45" dirty="0"/>
              <a:t> </a:t>
            </a:r>
            <a:r>
              <a:rPr i="1" dirty="0">
                <a:latin typeface="Comic Sans MS"/>
                <a:cs typeface="Comic Sans MS"/>
              </a:rPr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539" y="2151379"/>
            <a:ext cx="7506970" cy="2099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354330" indent="-344805">
              <a:lnSpc>
                <a:spcPct val="100000"/>
              </a:lnSpc>
              <a:spcBef>
                <a:spcPts val="100"/>
              </a:spcBef>
            </a:pPr>
            <a:r>
              <a:rPr sz="2400" b="1" i="1" u="heavy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Comic Sans MS"/>
                <a:cs typeface="Comic Sans MS"/>
              </a:rPr>
              <a:t>P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: the class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problems that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have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polynomial-time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deterministic</a:t>
            </a:r>
            <a:r>
              <a:rPr sz="2400" spc="-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algorithms.</a:t>
            </a:r>
            <a:endParaRPr sz="2400">
              <a:latin typeface="Comic Sans MS"/>
              <a:cs typeface="Comic Sans MS"/>
            </a:endParaRPr>
          </a:p>
          <a:p>
            <a:pPr marL="756285" marR="654050" indent="-287020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is,</a:t>
            </a:r>
            <a:r>
              <a:rPr sz="20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they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solvable</a:t>
            </a:r>
            <a:r>
              <a:rPr sz="2000" spc="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i="1" spc="-1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(</a:t>
            </a:r>
            <a:r>
              <a:rPr sz="2000" i="1" spc="-15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(</a:t>
            </a:r>
            <a:r>
              <a:rPr sz="2000" i="1" spc="-1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)),</a:t>
            </a:r>
            <a:r>
              <a:rPr sz="2000" spc="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where</a:t>
            </a:r>
            <a:r>
              <a:rPr sz="20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i="1" spc="-15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(</a:t>
            </a:r>
            <a:r>
              <a:rPr sz="2000" i="1" spc="-1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)</a:t>
            </a:r>
            <a:r>
              <a:rPr sz="20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000" spc="-5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0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on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i="1" spc="-1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endParaRPr sz="2000">
              <a:latin typeface="Comic Sans MS"/>
              <a:cs typeface="Comic Sans MS"/>
            </a:endParaRPr>
          </a:p>
          <a:p>
            <a:pPr marL="756285" marR="5080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A deterministic</a:t>
            </a:r>
            <a:r>
              <a:rPr sz="2000" spc="11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(essentially)</a:t>
            </a:r>
            <a:r>
              <a:rPr sz="2000" spc="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one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20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always </a:t>
            </a:r>
            <a:r>
              <a:rPr sz="2000" spc="-5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computes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correct</a:t>
            </a:r>
            <a:r>
              <a:rPr sz="20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answer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5364" y="602995"/>
            <a:ext cx="4488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Sample</a:t>
            </a:r>
            <a:r>
              <a:rPr spc="-35" dirty="0"/>
              <a:t> </a:t>
            </a:r>
            <a:r>
              <a:rPr spc="-5" dirty="0"/>
              <a:t>Problems</a:t>
            </a:r>
            <a:r>
              <a:rPr spc="-30"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11376"/>
            <a:ext cx="4116704" cy="236664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Fractional</a:t>
            </a:r>
            <a:r>
              <a:rPr sz="32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Knapsack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MST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Sorting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Others?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7947" y="602995"/>
            <a:ext cx="2762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class</a:t>
            </a:r>
            <a:r>
              <a:rPr spc="-70" dirty="0"/>
              <a:t> </a:t>
            </a:r>
            <a:r>
              <a:rPr i="1" spc="5" dirty="0">
                <a:latin typeface="Comic Sans MS"/>
                <a:cs typeface="Comic Sans MS"/>
              </a:rPr>
              <a:t>NP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57603"/>
            <a:ext cx="8114030" cy="45186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</a:pPr>
            <a:r>
              <a:rPr sz="2400" b="1" i="1" u="heavy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Comic Sans MS"/>
                <a:cs typeface="Comic Sans MS"/>
              </a:rPr>
              <a:t>NP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: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the class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decision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problems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that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are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solvable in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polynomial time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on a </a:t>
            </a:r>
            <a:r>
              <a:rPr sz="2400" i="1" spc="-5" dirty="0">
                <a:solidFill>
                  <a:srgbClr val="3333CC"/>
                </a:solidFill>
                <a:latin typeface="Comic Sans MS"/>
                <a:cs typeface="Comic Sans MS"/>
              </a:rPr>
              <a:t>nondeterministic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machine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(or with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nondeterministic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algorithm)</a:t>
            </a:r>
            <a:endParaRPr sz="2400">
              <a:latin typeface="Comic Sans MS"/>
              <a:cs typeface="Comic Sans MS"/>
            </a:endParaRPr>
          </a:p>
          <a:p>
            <a:pPr marL="756285" indent="-287020">
              <a:lnSpc>
                <a:spcPct val="100000"/>
              </a:lnSpc>
              <a:spcBef>
                <a:spcPts val="22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(A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i="1" u="sng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Comic Sans MS"/>
                <a:cs typeface="Comic Sans MS"/>
              </a:rPr>
              <a:t>determinstic</a:t>
            </a:r>
            <a:r>
              <a:rPr sz="2000" i="1" spc="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computer</a:t>
            </a:r>
            <a:r>
              <a:rPr sz="20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what</a:t>
            </a:r>
            <a:r>
              <a:rPr sz="20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we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know)</a:t>
            </a:r>
            <a:endParaRPr sz="2000">
              <a:latin typeface="Comic Sans MS"/>
              <a:cs typeface="Comic Sans MS"/>
            </a:endParaRPr>
          </a:p>
          <a:p>
            <a:pPr marL="756285" marR="19685" indent="-287020">
              <a:lnSpc>
                <a:spcPts val="2160"/>
              </a:lnSpc>
              <a:spcBef>
                <a:spcPts val="509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000" i="1" u="sng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Comic Sans MS"/>
                <a:cs typeface="Comic Sans MS"/>
              </a:rPr>
              <a:t>nondeterministic</a:t>
            </a:r>
            <a:r>
              <a:rPr sz="2000" i="1" spc="1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computer</a:t>
            </a:r>
            <a:r>
              <a:rPr sz="2000" spc="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one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“guess”</a:t>
            </a:r>
            <a:r>
              <a:rPr sz="2000" spc="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right </a:t>
            </a:r>
            <a:r>
              <a:rPr sz="2000" spc="-5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answer</a:t>
            </a:r>
            <a:r>
              <a:rPr sz="20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or</a:t>
            </a:r>
            <a:r>
              <a:rPr sz="20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endParaRPr sz="2000">
              <a:latin typeface="Comic Sans MS"/>
              <a:cs typeface="Comic Sans MS"/>
            </a:endParaRPr>
          </a:p>
          <a:p>
            <a:pPr marL="356870" marR="257175" indent="-344805">
              <a:lnSpc>
                <a:spcPts val="2590"/>
              </a:lnSpc>
              <a:spcBef>
                <a:spcPts val="57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Think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 a nondeterministic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computer as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parallel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machine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4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freely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spawn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400" b="1" i="1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i="1" spc="-5" dirty="0">
                <a:solidFill>
                  <a:srgbClr val="3333CC"/>
                </a:solidFill>
                <a:latin typeface="Comic Sans MS"/>
                <a:cs typeface="Comic Sans MS"/>
              </a:rPr>
              <a:t>infinite</a:t>
            </a:r>
            <a:r>
              <a:rPr sz="2400" b="1" i="1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i="1" spc="-5" dirty="0">
                <a:solidFill>
                  <a:srgbClr val="3333CC"/>
                </a:solidFill>
                <a:latin typeface="Comic Sans MS"/>
                <a:cs typeface="Comic Sans MS"/>
              </a:rPr>
              <a:t>number</a:t>
            </a:r>
            <a:r>
              <a:rPr sz="2400" b="1" i="1" spc="-3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400" spc="-7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processes</a:t>
            </a:r>
            <a:endParaRPr sz="2400">
              <a:latin typeface="Comic Sans MS"/>
              <a:cs typeface="Comic Sans MS"/>
            </a:endParaRPr>
          </a:p>
          <a:p>
            <a:pPr marL="356870" marR="208915" indent="-344805">
              <a:lnSpc>
                <a:spcPts val="259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  <a:tab pos="1821814" algn="l"/>
              </a:tabLst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Thus </a:t>
            </a:r>
            <a:r>
              <a:rPr sz="2400" i="1" dirty="0">
                <a:solidFill>
                  <a:srgbClr val="FF0000"/>
                </a:solidFill>
                <a:latin typeface="Comic Sans MS"/>
                <a:cs typeface="Comic Sans MS"/>
              </a:rPr>
              <a:t>NP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can </a:t>
            </a:r>
            <a:r>
              <a:rPr sz="2400" spc="-5" dirty="0">
                <a:solidFill>
                  <a:srgbClr val="FF0000"/>
                </a:solidFill>
                <a:latin typeface="Comic Sans MS"/>
                <a:cs typeface="Comic Sans MS"/>
              </a:rPr>
              <a:t>also be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thought of </a:t>
            </a:r>
            <a:r>
              <a:rPr sz="2400" spc="-5" dirty="0">
                <a:solidFill>
                  <a:srgbClr val="FF0000"/>
                </a:solidFill>
                <a:latin typeface="Comic Sans MS"/>
                <a:cs typeface="Comic Sans MS"/>
              </a:rPr>
              <a:t>as the class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of </a:t>
            </a:r>
            <a:r>
              <a:rPr sz="2400" spc="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problems	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“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whose</a:t>
            </a:r>
            <a:r>
              <a:rPr sz="20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solutions</a:t>
            </a:r>
            <a:r>
              <a:rPr sz="20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20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verified</a:t>
            </a:r>
            <a:r>
              <a:rPr sz="200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in</a:t>
            </a:r>
            <a:r>
              <a:rPr sz="2000" spc="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polynomial</a:t>
            </a:r>
            <a:r>
              <a:rPr sz="2000" spc="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omic Sans MS"/>
                <a:cs typeface="Comic Sans MS"/>
              </a:rPr>
              <a:t>time”</a:t>
            </a:r>
            <a:endParaRPr sz="2000">
              <a:latin typeface="Comic Sans MS"/>
              <a:cs typeface="Comic Sans MS"/>
            </a:endParaRPr>
          </a:p>
          <a:p>
            <a:pPr marL="356870" marR="1583055" indent="-344805">
              <a:lnSpc>
                <a:spcPts val="259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Note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i="1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400" i="1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stands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“Nondeterministic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Polynomial-time”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483" y="602995"/>
            <a:ext cx="4852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Sample</a:t>
            </a:r>
            <a:r>
              <a:rPr spc="-35" dirty="0"/>
              <a:t> </a:t>
            </a:r>
            <a:r>
              <a:rPr spc="-5" dirty="0"/>
              <a:t>Problems</a:t>
            </a:r>
            <a:r>
              <a:rPr spc="-30" dirty="0"/>
              <a:t> </a:t>
            </a:r>
            <a:r>
              <a:rPr spc="-5" dirty="0"/>
              <a:t>in </a:t>
            </a:r>
            <a:r>
              <a:rPr spc="5" dirty="0"/>
              <a:t>NP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11376"/>
            <a:ext cx="6885940" cy="419989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Fractional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Knapsack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MST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Others?</a:t>
            </a:r>
            <a:endParaRPr sz="32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Traveling</a:t>
            </a:r>
            <a:r>
              <a:rPr sz="2800" spc="-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Salesman</a:t>
            </a:r>
            <a:endParaRPr sz="28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Graph</a:t>
            </a:r>
            <a:r>
              <a:rPr sz="2800" spc="-1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Coloring</a:t>
            </a:r>
            <a:endParaRPr sz="28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Satisfiability</a:t>
            </a:r>
            <a:r>
              <a:rPr sz="2800" spc="-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(SAT)</a:t>
            </a:r>
            <a:endParaRPr sz="2800">
              <a:latin typeface="Comic Sans MS"/>
              <a:cs typeface="Comic Sans MS"/>
            </a:endParaRPr>
          </a:p>
          <a:p>
            <a:pPr marL="1195070" marR="5080" lvl="2" indent="-268605">
              <a:lnSpc>
                <a:spcPct val="120000"/>
              </a:lnSpc>
              <a:spcBef>
                <a:spcPts val="15"/>
              </a:spcBef>
              <a:buChar char="•"/>
              <a:tabLst>
                <a:tab pos="115570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deciding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whether</a:t>
            </a: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given </a:t>
            </a:r>
            <a:r>
              <a:rPr sz="2400" spc="-7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Boolean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formula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satisfiable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9579" y="602995"/>
            <a:ext cx="4075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NP</a:t>
            </a:r>
            <a:r>
              <a:rPr spc="-20" dirty="0"/>
              <a:t> </a:t>
            </a: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539" y="2114803"/>
            <a:ext cx="7235825" cy="384015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1116330" indent="-344805">
              <a:lnSpc>
                <a:spcPts val="2590"/>
              </a:lnSpc>
              <a:spcBef>
                <a:spcPts val="425"/>
              </a:spcBef>
              <a:buFont typeface="Comic Sans MS"/>
              <a:buChar char="•"/>
              <a:tabLst>
                <a:tab pos="356870" algn="l"/>
                <a:tab pos="357505" algn="l"/>
              </a:tabLst>
            </a:pPr>
            <a:r>
              <a:rPr sz="2400" b="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400" b="1" spc="-3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se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f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bl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em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at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e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so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v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d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in  polynomial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endParaRPr sz="24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Examples: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Fractional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Knapsack,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…</a:t>
            </a:r>
            <a:endParaRPr sz="2400" dirty="0">
              <a:latin typeface="Comic Sans MS"/>
              <a:cs typeface="Comic Sans MS"/>
            </a:endParaRPr>
          </a:p>
          <a:p>
            <a:pPr marL="356870" marR="5080" indent="-344805">
              <a:lnSpc>
                <a:spcPts val="2590"/>
              </a:lnSpc>
              <a:spcBef>
                <a:spcPts val="615"/>
              </a:spcBef>
              <a:buFont typeface="Comic Sans MS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400" b="1" spc="-3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set</a:t>
            </a: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which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 solution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2400" spc="-7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verified</a:t>
            </a:r>
            <a:r>
              <a:rPr sz="2400" spc="-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endParaRPr sz="2400" dirty="0">
              <a:latin typeface="Comic Sans MS"/>
              <a:cs typeface="Comic Sans MS"/>
            </a:endParaRPr>
          </a:p>
          <a:p>
            <a:pPr marL="756285" marR="324485" lvl="1" indent="-287020">
              <a:lnSpc>
                <a:spcPts val="2590"/>
              </a:lnSpc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Examples: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Fractional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Knapsack,…, TSP, CNF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SAT,</a:t>
            </a:r>
            <a:r>
              <a:rPr sz="24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3-CNF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SAT</a:t>
            </a:r>
            <a:endParaRPr sz="24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2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y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400" b="1" spc="-3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2400" b="1" spc="-690" dirty="0">
                <a:solidFill>
                  <a:srgbClr val="3333CC"/>
                </a:solidFill>
                <a:latin typeface="Cambria"/>
                <a:cs typeface="Comic Sans MS"/>
              </a:rPr>
              <a:t>≠</a:t>
            </a:r>
            <a:r>
              <a:rPr sz="2400" spc="18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lang="en-IN" sz="2400" spc="18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400" b="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endParaRPr sz="2400" dirty="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26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Open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question: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Does</a:t>
            </a:r>
            <a:r>
              <a:rPr sz="2400" spc="3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400" b="1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2400" b="1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b="1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?</a:t>
            </a:r>
            <a:endParaRPr sz="2400" dirty="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≠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endParaRPr sz="2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5523" y="602995"/>
            <a:ext cx="1927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omic Sans MS"/>
                <a:cs typeface="Comic Sans MS"/>
              </a:rPr>
              <a:t>NP-hard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2762" y="6043676"/>
            <a:ext cx="68135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HC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993804"/>
            <a:ext cx="8601710" cy="50742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9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What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does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 mean?</a:t>
            </a:r>
            <a:endParaRPr sz="2800">
              <a:latin typeface="Comic Sans MS"/>
              <a:cs typeface="Comic Sans MS"/>
            </a:endParaRPr>
          </a:p>
          <a:p>
            <a:pPr marL="756285" marR="5080" indent="-287020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3843654" algn="l"/>
                <a:tab pos="572135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–	A lot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times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you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solve a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by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reducing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it to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different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problem.	I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reduce Problem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B to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Problem A if, given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 solution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to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Problem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A,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easily </a:t>
            </a:r>
            <a:r>
              <a:rPr sz="2400" spc="-7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construct</a:t>
            </a:r>
            <a:r>
              <a:rPr sz="24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B.	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(In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this case,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"easily"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means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"in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time.“).</a:t>
            </a:r>
            <a:endParaRPr sz="2400">
              <a:latin typeface="Comic Sans MS"/>
              <a:cs typeface="Comic Sans MS"/>
            </a:endParaRPr>
          </a:p>
          <a:p>
            <a:pPr marL="356870" marR="196215" indent="-344805">
              <a:lnSpc>
                <a:spcPct val="100000"/>
              </a:lnSpc>
              <a:spcBef>
                <a:spcPts val="73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sz="3200" b="1" spc="-10" dirty="0">
                <a:solidFill>
                  <a:srgbClr val="3333CC"/>
                </a:solidFill>
                <a:latin typeface="Comic Sans MS"/>
                <a:cs typeface="Comic Sans MS"/>
              </a:rPr>
              <a:t>hard</a:t>
            </a:r>
            <a:r>
              <a:rPr sz="3200" b="1" spc="-3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32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3200" spc="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it,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...</a:t>
            </a:r>
            <a:endParaRPr sz="3200">
              <a:latin typeface="Comic Sans MS"/>
              <a:cs typeface="Comic Sans MS"/>
            </a:endParaRPr>
          </a:p>
          <a:p>
            <a:pPr marL="1079500" indent="-1066800">
              <a:lnSpc>
                <a:spcPts val="3815"/>
              </a:lnSpc>
              <a:spcBef>
                <a:spcPts val="815"/>
              </a:spcBef>
              <a:buChar char="•"/>
              <a:tabLst>
                <a:tab pos="1078865" algn="l"/>
                <a:tab pos="1079500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Ex:-</a:t>
            </a:r>
            <a:r>
              <a:rPr sz="32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Hamiltonian</a:t>
            </a:r>
            <a:r>
              <a:rPr sz="3200" spc="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Cycle</a:t>
            </a:r>
            <a:endParaRPr sz="3200">
              <a:latin typeface="Comic Sans MS"/>
              <a:cs typeface="Comic Sans MS"/>
            </a:endParaRPr>
          </a:p>
          <a:p>
            <a:pPr marL="356870" marR="438150">
              <a:lnSpc>
                <a:spcPts val="3840"/>
              </a:lnSpc>
              <a:spcBef>
                <a:spcPts val="75"/>
              </a:spcBef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Every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problem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HC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time.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Ex:-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TSP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3200" spc="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7876" y="7037323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13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39" y="6720331"/>
            <a:ext cx="726630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Example: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lcm(m,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n)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m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*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/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n),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2540" y="6263132"/>
            <a:ext cx="28130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2540" y="6287515"/>
            <a:ext cx="32194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9916" y="602995"/>
            <a:ext cx="4798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Comic Sans MS"/>
                <a:cs typeface="Comic Sans MS"/>
              </a:rPr>
              <a:t>NP</a:t>
            </a:r>
            <a:r>
              <a:rPr spc="-5" dirty="0"/>
              <a:t>-complete</a:t>
            </a:r>
            <a:r>
              <a:rPr spc="-50" dirty="0"/>
              <a:t> </a:t>
            </a:r>
            <a:r>
              <a:rPr spc="-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10131"/>
            <a:ext cx="8655050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ob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3200" b="1" spc="-15" dirty="0">
                <a:solidFill>
                  <a:srgbClr val="3333CC"/>
                </a:solidFill>
                <a:latin typeface="Comic Sans MS"/>
                <a:cs typeface="Comic Sans MS"/>
              </a:rPr>
              <a:t>-c</a:t>
            </a:r>
            <a:r>
              <a:rPr sz="3200" b="1" spc="-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3200" b="1" spc="-20" dirty="0">
                <a:solidFill>
                  <a:srgbClr val="3333CC"/>
                </a:solidFill>
                <a:latin typeface="Comic Sans MS"/>
                <a:cs typeface="Comic Sans MS"/>
              </a:rPr>
              <a:t>m</a:t>
            </a:r>
            <a:r>
              <a:rPr sz="3200" b="1" spc="-10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3200" b="1" spc="-15" dirty="0">
                <a:solidFill>
                  <a:srgbClr val="3333CC"/>
                </a:solidFill>
                <a:latin typeface="Comic Sans MS"/>
                <a:cs typeface="Comic Sans MS"/>
              </a:rPr>
              <a:t>le</a:t>
            </a:r>
            <a:r>
              <a:rPr sz="3200" b="1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3200" b="1" spc="-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3200" b="1" spc="-3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f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he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ob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  both</a:t>
            </a:r>
            <a:endParaRPr sz="32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NP-hard,</a:t>
            </a:r>
            <a:r>
              <a:rPr sz="2800" spc="-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endParaRPr sz="28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NP.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4940" y="602995"/>
            <a:ext cx="2127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14931"/>
            <a:ext cx="8502015" cy="570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13335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 problem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 can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i="1" spc="-10" dirty="0">
                <a:latin typeface="Comic Sans MS"/>
                <a:cs typeface="Comic Sans MS"/>
              </a:rPr>
              <a:t>reduced</a:t>
            </a:r>
            <a:r>
              <a:rPr sz="3200" i="1" spc="25" dirty="0"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 another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any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instance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rephrased</a:t>
            </a:r>
            <a:r>
              <a:rPr sz="3200" spc="11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1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3200" spc="1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instance</a:t>
            </a:r>
            <a:r>
              <a:rPr sz="3200" spc="1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spc="1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Q,</a:t>
            </a:r>
            <a:r>
              <a:rPr sz="3200" spc="1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which</a:t>
            </a:r>
            <a:r>
              <a:rPr sz="3200" spc="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provides</a:t>
            </a:r>
            <a:r>
              <a:rPr sz="3200" spc="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3200" spc="6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instance of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endParaRPr sz="3200">
              <a:latin typeface="Comic Sans MS"/>
              <a:cs typeface="Comic Sans MS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–</a:t>
            </a:r>
            <a:r>
              <a:rPr sz="2800" spc="18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This</a:t>
            </a:r>
            <a:r>
              <a:rPr sz="2800" spc="-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rephrasing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 called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transformation</a:t>
            </a:r>
            <a:endParaRPr sz="2800">
              <a:latin typeface="Comic Sans MS"/>
              <a:cs typeface="Comic Sans MS"/>
            </a:endParaRPr>
          </a:p>
          <a:p>
            <a:pPr marL="356870" marR="5080" indent="-344805">
              <a:lnSpc>
                <a:spcPct val="100000"/>
              </a:lnSpc>
              <a:spcBef>
                <a:spcPts val="75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Intuitively: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reduces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3200" spc="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 </a:t>
            </a:r>
            <a:r>
              <a:rPr sz="3200" spc="-9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Q,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“no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harder to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solve”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than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Example: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lcm(m,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n)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m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*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/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n),</a:t>
            </a:r>
            <a:endParaRPr sz="3200">
              <a:latin typeface="Comic Sans MS"/>
              <a:cs typeface="Comic Sans MS"/>
            </a:endParaRPr>
          </a:p>
          <a:p>
            <a:pPr marL="356870" marR="307975" indent="139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lcm(m,n)</a:t>
            </a:r>
            <a:r>
              <a:rPr sz="3200" spc="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32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reduced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n) </a:t>
            </a:r>
            <a:r>
              <a:rPr sz="3200" spc="-9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3195" y="602995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NP-Hard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5" dirty="0"/>
              <a:t>NP-Complete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339" y="2072131"/>
            <a:ext cx="7952740" cy="5076903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2270" marR="251460" indent="-344805">
              <a:lnSpc>
                <a:spcPct val="100600"/>
              </a:lnSpc>
              <a:spcBef>
                <a:spcPts val="65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R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i="1" spc="-10" dirty="0">
                <a:latin typeface="Comic Sans MS"/>
                <a:cs typeface="Comic Sans MS"/>
              </a:rPr>
              <a:t>polynomial-time</a:t>
            </a:r>
            <a:r>
              <a:rPr sz="3200" i="1" spc="95" dirty="0">
                <a:latin typeface="Comic Sans MS"/>
                <a:cs typeface="Comic Sans MS"/>
              </a:rPr>
              <a:t> </a:t>
            </a:r>
            <a:r>
              <a:rPr sz="3200" i="1" spc="-10" dirty="0">
                <a:latin typeface="Comic Sans MS"/>
                <a:cs typeface="Comic Sans MS"/>
              </a:rPr>
              <a:t>reducible</a:t>
            </a:r>
            <a:r>
              <a:rPr sz="3200" i="1" spc="60" dirty="0"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Q, </a:t>
            </a:r>
            <a:r>
              <a:rPr sz="3200" spc="-9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we</a:t>
            </a:r>
            <a:r>
              <a:rPr sz="32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de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t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hi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lang="en-IN"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3200" dirty="0">
                <a:solidFill>
                  <a:srgbClr val="3333CC"/>
                </a:solidFill>
                <a:latin typeface="Comic Sans MS"/>
                <a:cs typeface="Comic Sans MS"/>
              </a:rPr>
              <a:t>≤</a:t>
            </a:r>
            <a:r>
              <a:rPr lang="en-IN" sz="3200" baseline="-25000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lang="en-IN"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3200" spc="-1450" dirty="0">
                <a:solidFill>
                  <a:srgbClr val="3333CC"/>
                </a:solidFill>
                <a:latin typeface="Cambria"/>
                <a:cs typeface="Comic Sans MS"/>
              </a:rPr>
              <a:t> 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endParaRPr sz="3200" dirty="0">
              <a:latin typeface="Comic Sans MS"/>
              <a:cs typeface="Comic Sans MS"/>
            </a:endParaRPr>
          </a:p>
          <a:p>
            <a:pPr marL="382270" marR="1739264" indent="-344805">
              <a:lnSpc>
                <a:spcPct val="100000"/>
              </a:lnSpc>
              <a:spcBef>
                <a:spcPts val="745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Definition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NP-Hard</a:t>
            </a:r>
            <a:r>
              <a:rPr sz="3200" spc="30" dirty="0"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NP- </a:t>
            </a:r>
            <a:r>
              <a:rPr sz="3200" spc="-940" dirty="0"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Complete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:</a:t>
            </a:r>
            <a:endParaRPr sz="3200" dirty="0">
              <a:latin typeface="Comic Sans MS"/>
              <a:cs typeface="Comic Sans MS"/>
            </a:endParaRPr>
          </a:p>
          <a:p>
            <a:pPr marL="781685" lvl="1" indent="-287655">
              <a:lnSpc>
                <a:spcPts val="3350"/>
              </a:lnSpc>
              <a:spcBef>
                <a:spcPts val="715"/>
              </a:spcBef>
              <a:buChar char="–"/>
              <a:tabLst>
                <a:tab pos="7823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lang="en-IN" sz="28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az-Cyrl-AZ" sz="2800" dirty="0">
                <a:solidFill>
                  <a:srgbClr val="3333CC"/>
                </a:solidFill>
                <a:latin typeface="Comic Sans MS"/>
                <a:cs typeface="Comic Sans MS"/>
              </a:rPr>
              <a:t>Є</a:t>
            </a:r>
            <a:r>
              <a:rPr lang="en-IN" sz="28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b="1" dirty="0">
                <a:solidFill>
                  <a:srgbClr val="3333CC"/>
                </a:solidFill>
                <a:latin typeface="Comic Sans MS"/>
                <a:cs typeface="Comic Sans MS"/>
              </a:rPr>
              <a:t>NP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polynomial-time</a:t>
            </a:r>
            <a:endParaRPr sz="2800" dirty="0">
              <a:latin typeface="Comic Sans MS"/>
              <a:cs typeface="Comic Sans MS"/>
            </a:endParaRPr>
          </a:p>
          <a:p>
            <a:pPr marL="781685">
              <a:lnSpc>
                <a:spcPts val="3350"/>
              </a:lnSpc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Q,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then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spc="-5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endParaRPr sz="2800" dirty="0">
              <a:latin typeface="Comic Sans MS"/>
              <a:cs typeface="Comic Sans MS"/>
            </a:endParaRPr>
          </a:p>
          <a:p>
            <a:pPr marL="781685" marR="165735" lvl="1" indent="-287020">
              <a:lnSpc>
                <a:spcPct val="100699"/>
              </a:lnSpc>
              <a:spcBef>
                <a:spcPts val="645"/>
              </a:spcBef>
              <a:buChar char="–"/>
              <a:tabLst>
                <a:tab pos="782320" algn="l"/>
              </a:tabLst>
            </a:pP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We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say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NP-Complete</a:t>
            </a:r>
            <a:r>
              <a:rPr sz="2800" i="1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NP-Hard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800" spc="-5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sz="28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az-Cyrl-AZ" sz="2800" dirty="0">
                <a:solidFill>
                  <a:srgbClr val="3333CC"/>
                </a:solidFill>
                <a:latin typeface="Comic Sans MS"/>
                <a:cs typeface="Comic Sans MS"/>
              </a:rPr>
              <a:t>Є </a:t>
            </a:r>
            <a:r>
              <a:rPr sz="2800" b="1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endParaRPr sz="2800" dirty="0">
              <a:latin typeface="Comic Sans MS"/>
              <a:cs typeface="Comic Sans MS"/>
            </a:endParaRPr>
          </a:p>
          <a:p>
            <a:pPr marL="382270" marR="539750" indent="-344805">
              <a:lnSpc>
                <a:spcPts val="3820"/>
              </a:lnSpc>
              <a:spcBef>
                <a:spcPts val="870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R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3200" dirty="0">
                <a:solidFill>
                  <a:srgbClr val="3333CC"/>
                </a:solidFill>
                <a:latin typeface="Comic Sans MS"/>
                <a:cs typeface="Comic Sans MS"/>
              </a:rPr>
              <a:t>≤</a:t>
            </a:r>
            <a:r>
              <a:rPr lang="en-IN" sz="3200" baseline="-25000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lang="en-IN"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Q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-H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ard,</a:t>
            </a:r>
            <a:r>
              <a:rPr sz="3200" spc="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Q i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3200" spc="-15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so 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endParaRPr sz="32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735" y="2145792"/>
            <a:ext cx="5141975" cy="34838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5044" y="602995"/>
            <a:ext cx="1985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</a:t>
            </a:r>
            <a:r>
              <a:rPr spc="5" dirty="0"/>
              <a:t>mm</a:t>
            </a:r>
            <a:r>
              <a:rPr dirty="0"/>
              <a:t>a</a:t>
            </a:r>
            <a:r>
              <a:rPr spc="-5" dirty="0"/>
              <a:t>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10131"/>
            <a:ext cx="8620760" cy="4998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32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set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solved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by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3200" spc="-9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deterministic</a:t>
            </a:r>
            <a:r>
              <a:rPr sz="32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Turing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machine</a:t>
            </a:r>
            <a:r>
              <a:rPr sz="3200" spc="6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in</a:t>
            </a:r>
            <a:r>
              <a:rPr sz="32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olynomial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time.</a:t>
            </a:r>
            <a:endParaRPr sz="3200">
              <a:latin typeface="Comic Sans MS"/>
              <a:cs typeface="Comic Sans MS"/>
            </a:endParaRPr>
          </a:p>
          <a:p>
            <a:pPr marL="356870" marR="8255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 is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set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3200" spc="6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solved</a:t>
            </a:r>
            <a:r>
              <a:rPr sz="320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by </a:t>
            </a:r>
            <a:r>
              <a:rPr sz="3200" spc="-9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32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on-deterministic</a:t>
            </a:r>
            <a:r>
              <a:rPr sz="3200" spc="9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Turing</a:t>
            </a:r>
            <a:r>
              <a:rPr sz="32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32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in </a:t>
            </a:r>
            <a:r>
              <a:rPr sz="32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olynomial</a:t>
            </a:r>
            <a:r>
              <a:rPr sz="32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/>
                <a:cs typeface="Comic Sans MS"/>
              </a:rPr>
              <a:t>time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subset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(any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3200" spc="1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that</a:t>
            </a:r>
            <a:r>
              <a:rPr sz="3200" spc="1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1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3200" spc="1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solved</a:t>
            </a:r>
            <a:r>
              <a:rPr sz="3200" spc="1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by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deterministic</a:t>
            </a:r>
            <a:r>
              <a:rPr sz="3200" spc="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machine</a:t>
            </a:r>
            <a:r>
              <a:rPr sz="3200" spc="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3200" spc="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also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solved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by</a:t>
            </a:r>
            <a:r>
              <a:rPr sz="32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non-deterministic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machine</a:t>
            </a:r>
            <a:r>
              <a:rPr sz="32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32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3200" spc="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time)</a:t>
            </a:r>
            <a:r>
              <a:rPr sz="32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but</a:t>
            </a:r>
            <a:r>
              <a:rPr sz="32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3200" dirty="0">
                <a:solidFill>
                  <a:srgbClr val="3333CC"/>
                </a:solidFill>
                <a:latin typeface="Cambria"/>
                <a:cs typeface="Cambria"/>
              </a:rPr>
              <a:t>≠NP</a:t>
            </a:r>
            <a:r>
              <a:rPr sz="3200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993139" y="773683"/>
            <a:ext cx="8060690" cy="55416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6870" marR="308610" indent="-344805" algn="just">
              <a:lnSpc>
                <a:spcPts val="2590"/>
              </a:lnSpc>
              <a:spcBef>
                <a:spcPts val="740"/>
              </a:spcBef>
              <a:buChar char="•"/>
              <a:tabLst>
                <a:tab pos="356870" algn="l"/>
                <a:tab pos="357505" algn="l"/>
              </a:tabLst>
            </a:pP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Some problems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can be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translated into one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another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in such a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way that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fast solution to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one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7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would automatically</a:t>
            </a:r>
            <a:r>
              <a:rPr sz="27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give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us</a:t>
            </a:r>
            <a:r>
              <a:rPr sz="27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fast </a:t>
            </a:r>
            <a:r>
              <a:rPr sz="2700" spc="-79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7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7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other.</a:t>
            </a:r>
            <a:endParaRPr sz="2700" dirty="0">
              <a:latin typeface="Comic Sans MS"/>
              <a:cs typeface="Comic Sans MS"/>
            </a:endParaRPr>
          </a:p>
          <a:p>
            <a:pPr marL="356870" indent="-344805" algn="just">
              <a:lnSpc>
                <a:spcPts val="2915"/>
              </a:lnSpc>
              <a:spcBef>
                <a:spcPts val="25"/>
              </a:spcBef>
              <a:buChar char="•"/>
              <a:tabLst>
                <a:tab pos="356870" algn="l"/>
                <a:tab pos="357505" algn="l"/>
              </a:tabLst>
            </a:pP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There</a:t>
            </a:r>
            <a:r>
              <a:rPr sz="27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some</a:t>
            </a:r>
            <a:r>
              <a:rPr sz="27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problems</a:t>
            </a:r>
            <a:r>
              <a:rPr sz="27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that every</a:t>
            </a:r>
            <a:r>
              <a:rPr sz="27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single</a:t>
            </a:r>
            <a:endParaRPr sz="2700" dirty="0">
              <a:latin typeface="Comic Sans MS"/>
              <a:cs typeface="Comic Sans MS"/>
            </a:endParaRPr>
          </a:p>
          <a:p>
            <a:pPr marL="356870" marR="38735" algn="just">
              <a:lnSpc>
                <a:spcPts val="2590"/>
              </a:lnSpc>
              <a:spcBef>
                <a:spcPts val="305"/>
              </a:spcBef>
            </a:pP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problem</a:t>
            </a:r>
            <a:r>
              <a:rPr sz="27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in</a:t>
            </a:r>
            <a:r>
              <a:rPr sz="27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NP</a:t>
            </a:r>
            <a:r>
              <a:rPr sz="27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translated</a:t>
            </a:r>
            <a:r>
              <a:rPr sz="27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into,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 fast </a:t>
            </a:r>
            <a:r>
              <a:rPr sz="2700" spc="-79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7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to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such</a:t>
            </a:r>
            <a:r>
              <a:rPr sz="27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7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7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would</a:t>
            </a:r>
            <a:r>
              <a:rPr sz="27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automatically</a:t>
            </a:r>
            <a:endParaRPr sz="2700" dirty="0">
              <a:latin typeface="Comic Sans MS"/>
              <a:cs typeface="Comic Sans MS"/>
            </a:endParaRPr>
          </a:p>
          <a:p>
            <a:pPr marL="356870" marR="372110" algn="just">
              <a:lnSpc>
                <a:spcPct val="80000"/>
              </a:lnSpc>
              <a:spcBef>
                <a:spcPts val="25"/>
              </a:spcBef>
            </a:pP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give</a:t>
            </a:r>
            <a:r>
              <a:rPr sz="27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us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7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fast solution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7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every</a:t>
            </a:r>
            <a:r>
              <a:rPr sz="27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7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in NP. </a:t>
            </a:r>
            <a:r>
              <a:rPr sz="2700" spc="-79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This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group of problems are known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as </a:t>
            </a:r>
            <a:r>
              <a:rPr sz="2700" b="1" spc="5" dirty="0">
                <a:solidFill>
                  <a:srgbClr val="3333CC"/>
                </a:solidFill>
                <a:latin typeface="Comic Sans MS"/>
                <a:cs typeface="Comic Sans MS"/>
              </a:rPr>
              <a:t>NP- </a:t>
            </a:r>
            <a:r>
              <a:rPr sz="2700" b="1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b="1" dirty="0">
                <a:solidFill>
                  <a:srgbClr val="3333CC"/>
                </a:solidFill>
                <a:latin typeface="Comic Sans MS"/>
                <a:cs typeface="Comic Sans MS"/>
              </a:rPr>
              <a:t>Complete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r>
              <a:rPr sz="27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Ex:-</a:t>
            </a:r>
            <a:r>
              <a:rPr sz="27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Clique</a:t>
            </a:r>
            <a:endParaRPr sz="2700" dirty="0">
              <a:latin typeface="Comic Sans MS"/>
              <a:cs typeface="Comic Sans MS"/>
            </a:endParaRPr>
          </a:p>
          <a:p>
            <a:pPr marL="356870" indent="-344805" algn="just">
              <a:lnSpc>
                <a:spcPts val="2915"/>
              </a:lnSpc>
              <a:buChar char="•"/>
              <a:tabLst>
                <a:tab pos="356870" algn="l"/>
                <a:tab pos="357505" algn="l"/>
              </a:tabLst>
            </a:pP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7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7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7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r>
              <a:rPr sz="27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7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an</a:t>
            </a:r>
            <a:r>
              <a:rPr sz="27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algorithm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-5" dirty="0">
                <a:solidFill>
                  <a:srgbClr val="006FBF"/>
                </a:solidFill>
                <a:latin typeface="Comic Sans MS"/>
                <a:cs typeface="Comic Sans MS"/>
              </a:rPr>
              <a:t>for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solving</a:t>
            </a:r>
            <a:endParaRPr sz="2700" dirty="0">
              <a:latin typeface="Comic Sans MS"/>
              <a:cs typeface="Comic Sans MS"/>
            </a:endParaRPr>
          </a:p>
          <a:p>
            <a:pPr marL="356870" algn="just">
              <a:lnSpc>
                <a:spcPts val="2590"/>
              </a:lnSpc>
            </a:pP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it</a:t>
            </a:r>
            <a:r>
              <a:rPr sz="2700" spc="-1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can</a:t>
            </a:r>
            <a:r>
              <a:rPr sz="2700" spc="-1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be</a:t>
            </a:r>
            <a:r>
              <a:rPr sz="2700" spc="-1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translated</a:t>
            </a:r>
            <a:r>
              <a:rPr sz="2700" spc="-2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into</a:t>
            </a:r>
            <a:r>
              <a:rPr sz="2700" spc="-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one</a:t>
            </a:r>
            <a:r>
              <a:rPr sz="2700" spc="-1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-5" dirty="0">
                <a:solidFill>
                  <a:srgbClr val="006FBF"/>
                </a:solidFill>
                <a:latin typeface="Comic Sans MS"/>
                <a:cs typeface="Comic Sans MS"/>
              </a:rPr>
              <a:t>for </a:t>
            </a: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solving</a:t>
            </a:r>
            <a:r>
              <a:rPr sz="27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any</a:t>
            </a:r>
            <a:r>
              <a:rPr sz="27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Comic Sans MS"/>
                <a:cs typeface="Comic Sans MS"/>
              </a:rPr>
              <a:t>NP-</a:t>
            </a:r>
            <a:endParaRPr sz="2700" dirty="0">
              <a:latin typeface="Comic Sans MS"/>
              <a:cs typeface="Comic Sans MS"/>
            </a:endParaRPr>
          </a:p>
          <a:p>
            <a:pPr marL="356870" marR="177800" algn="just">
              <a:lnSpc>
                <a:spcPts val="2590"/>
              </a:lnSpc>
              <a:spcBef>
                <a:spcPts val="305"/>
              </a:spcBef>
            </a:pPr>
            <a:r>
              <a:rPr sz="2700" dirty="0">
                <a:solidFill>
                  <a:srgbClr val="FF0000"/>
                </a:solidFill>
                <a:latin typeface="Comic Sans MS"/>
                <a:cs typeface="Comic Sans MS"/>
              </a:rPr>
              <a:t>problem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(nondeterministic polynomial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time) </a:t>
            </a:r>
            <a:r>
              <a:rPr sz="2700" spc="1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problem.</a:t>
            </a:r>
            <a:r>
              <a:rPr sz="2700" spc="-5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NP-hard</a:t>
            </a:r>
            <a:r>
              <a:rPr sz="2700" spc="-2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therefore</a:t>
            </a:r>
            <a:r>
              <a:rPr sz="2700" spc="-2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means</a:t>
            </a:r>
            <a:r>
              <a:rPr sz="2700" spc="-4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"at</a:t>
            </a:r>
            <a:r>
              <a:rPr sz="2700" spc="-1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least</a:t>
            </a:r>
            <a:r>
              <a:rPr sz="2700" spc="-2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as </a:t>
            </a:r>
            <a:r>
              <a:rPr sz="2700" spc="-79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hard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as any </a:t>
            </a:r>
            <a:r>
              <a:rPr sz="2700" u="heavy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Comic Sans MS"/>
                <a:cs typeface="Comic Sans MS"/>
              </a:rPr>
              <a:t>NP-problem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," although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it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might,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in </a:t>
            </a:r>
            <a:r>
              <a:rPr sz="2700" spc="10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fact,</a:t>
            </a:r>
            <a:r>
              <a:rPr sz="2700" spc="-2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spc="5" dirty="0">
                <a:solidFill>
                  <a:srgbClr val="006FBF"/>
                </a:solidFill>
                <a:latin typeface="Comic Sans MS"/>
                <a:cs typeface="Comic Sans MS"/>
              </a:rPr>
              <a:t>be</a:t>
            </a:r>
            <a:r>
              <a:rPr sz="2700" spc="-15" dirty="0">
                <a:solidFill>
                  <a:srgbClr val="006FBF"/>
                </a:solidFill>
                <a:latin typeface="Comic Sans MS"/>
                <a:cs typeface="Comic Sans MS"/>
              </a:rPr>
              <a:t> </a:t>
            </a:r>
            <a:r>
              <a:rPr sz="2700" dirty="0">
                <a:solidFill>
                  <a:srgbClr val="006FBF"/>
                </a:solidFill>
                <a:latin typeface="Comic Sans MS"/>
                <a:cs typeface="Comic Sans MS"/>
              </a:rPr>
              <a:t>harder.</a:t>
            </a:r>
            <a:endParaRPr sz="27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1" y="474980"/>
            <a:ext cx="88370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First NP-complete problem— </a:t>
            </a:r>
            <a:r>
              <a:rPr dirty="0"/>
              <a:t> </a:t>
            </a:r>
            <a:r>
              <a:rPr spc="-5" dirty="0"/>
              <a:t>Circuit</a:t>
            </a:r>
            <a:r>
              <a:rPr spc="10" dirty="0"/>
              <a:t> </a:t>
            </a:r>
            <a:r>
              <a:rPr spc="-5" dirty="0"/>
              <a:t>Satisfiability</a:t>
            </a:r>
            <a:r>
              <a:rPr spc="5" dirty="0"/>
              <a:t> </a:t>
            </a:r>
            <a:r>
              <a:rPr spc="-5" dirty="0"/>
              <a:t>(problem </a:t>
            </a:r>
            <a:r>
              <a:rPr spc="-1060" dirty="0"/>
              <a:t> </a:t>
            </a:r>
            <a:r>
              <a:rPr dirty="0"/>
              <a:t>definition)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49670"/>
            <a:ext cx="8061959" cy="53867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84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Boolean</a:t>
            </a:r>
            <a:r>
              <a:rPr sz="32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combinational</a:t>
            </a:r>
            <a:r>
              <a:rPr sz="3200" spc="8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Comic Sans MS"/>
                <a:cs typeface="Comic Sans MS"/>
              </a:rPr>
              <a:t>circuit</a:t>
            </a:r>
            <a:endParaRPr sz="3200">
              <a:latin typeface="Comic Sans MS"/>
              <a:cs typeface="Comic Sans MS"/>
            </a:endParaRPr>
          </a:p>
          <a:p>
            <a:pPr marL="756285" marR="972185" lvl="1" indent="-287020">
              <a:lnSpc>
                <a:spcPts val="3020"/>
              </a:lnSpc>
              <a:spcBef>
                <a:spcPts val="735"/>
              </a:spcBef>
              <a:buChar char="–"/>
              <a:tabLst>
                <a:tab pos="756920" algn="l"/>
              </a:tabLst>
            </a:pP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Boolean</a:t>
            </a:r>
            <a:r>
              <a:rPr sz="2800" spc="-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combinational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elements,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wired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together</a:t>
            </a:r>
            <a:endParaRPr sz="280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9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Each</a:t>
            </a:r>
            <a:r>
              <a:rPr sz="28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element,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inputs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and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outputs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(binary)</a:t>
            </a:r>
            <a:endParaRPr sz="280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33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Limit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number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outputs</a:t>
            </a:r>
            <a:r>
              <a:rPr sz="2800" spc="-5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1.</a:t>
            </a:r>
            <a:endParaRPr sz="2800">
              <a:latin typeface="Comic Sans MS"/>
              <a:cs typeface="Comic Sans MS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20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Called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00CC99"/>
                </a:solidFill>
                <a:latin typeface="Comic Sans MS"/>
                <a:cs typeface="Comic Sans MS"/>
              </a:rPr>
              <a:t>logic</a:t>
            </a:r>
            <a:r>
              <a:rPr sz="2800" i="1" spc="-25" dirty="0">
                <a:solidFill>
                  <a:srgbClr val="00CC99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00CC99"/>
                </a:solidFill>
                <a:latin typeface="Comic Sans MS"/>
                <a:cs typeface="Comic Sans MS"/>
              </a:rPr>
              <a:t>gates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: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NOT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gate,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gate,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OR </a:t>
            </a:r>
            <a:r>
              <a:rPr sz="2800" spc="-8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gate.</a:t>
            </a:r>
            <a:endParaRPr sz="2800">
              <a:latin typeface="Comic Sans MS"/>
              <a:cs typeface="Comic Sans MS"/>
            </a:endParaRPr>
          </a:p>
          <a:p>
            <a:pPr marL="756285" marR="915669" lvl="1" indent="-287020">
              <a:lnSpc>
                <a:spcPts val="3020"/>
              </a:lnSpc>
              <a:spcBef>
                <a:spcPts val="680"/>
              </a:spcBef>
              <a:buFont typeface="Comic Sans MS"/>
              <a:buChar char="–"/>
              <a:tabLst>
                <a:tab pos="756920" algn="l"/>
              </a:tabLst>
            </a:pPr>
            <a:r>
              <a:rPr sz="2800" i="1" dirty="0">
                <a:solidFill>
                  <a:srgbClr val="00CC99"/>
                </a:solidFill>
                <a:latin typeface="Comic Sans MS"/>
                <a:cs typeface="Comic Sans MS"/>
              </a:rPr>
              <a:t>true</a:t>
            </a:r>
            <a:r>
              <a:rPr sz="2800" i="1" spc="-25" dirty="0">
                <a:solidFill>
                  <a:srgbClr val="00CC99"/>
                </a:solidFill>
                <a:latin typeface="Comic Sans MS"/>
                <a:cs typeface="Comic Sans MS"/>
              </a:rPr>
              <a:t> </a:t>
            </a:r>
            <a:r>
              <a:rPr sz="2800" i="1" spc="-5" dirty="0">
                <a:solidFill>
                  <a:srgbClr val="00CC99"/>
                </a:solidFill>
                <a:latin typeface="Comic Sans MS"/>
                <a:cs typeface="Comic Sans MS"/>
              </a:rPr>
              <a:t>table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: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giving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outputs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each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setting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inputs</a:t>
            </a:r>
            <a:endParaRPr sz="2800">
              <a:latin typeface="Comic Sans MS"/>
              <a:cs typeface="Comic Sans MS"/>
            </a:endParaRPr>
          </a:p>
          <a:p>
            <a:pPr marL="756285" lvl="1" indent="-287655">
              <a:lnSpc>
                <a:spcPct val="100000"/>
              </a:lnSpc>
              <a:spcBef>
                <a:spcPts val="295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00CC99"/>
                </a:solidFill>
                <a:latin typeface="Comic Sans MS"/>
                <a:cs typeface="Comic Sans MS"/>
              </a:rPr>
              <a:t>true</a:t>
            </a:r>
            <a:r>
              <a:rPr sz="2800" spc="-25" dirty="0">
                <a:solidFill>
                  <a:srgbClr val="00CC99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CC99"/>
                </a:solidFill>
                <a:latin typeface="Comic Sans MS"/>
                <a:cs typeface="Comic Sans MS"/>
              </a:rPr>
              <a:t>assignment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: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set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boolean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inputs</a:t>
            </a:r>
            <a:r>
              <a:rPr sz="2800" dirty="0">
                <a:solidFill>
                  <a:srgbClr val="00CC99"/>
                </a:solidFill>
                <a:latin typeface="Comic Sans MS"/>
                <a:cs typeface="Comic Sans MS"/>
              </a:rPr>
              <a:t>.</a:t>
            </a:r>
            <a:endParaRPr sz="2800">
              <a:latin typeface="Comic Sans MS"/>
              <a:cs typeface="Comic Sans MS"/>
            </a:endParaRPr>
          </a:p>
          <a:p>
            <a:pPr marL="756285" marR="567055" lvl="1" indent="-287020">
              <a:lnSpc>
                <a:spcPts val="3020"/>
              </a:lnSpc>
              <a:spcBef>
                <a:spcPts val="720"/>
              </a:spcBef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00CC99"/>
                </a:solidFill>
                <a:latin typeface="Comic Sans MS"/>
                <a:cs typeface="Comic Sans MS"/>
              </a:rPr>
              <a:t>satisfying</a:t>
            </a:r>
            <a:r>
              <a:rPr sz="2800" spc="-50" dirty="0">
                <a:solidFill>
                  <a:srgbClr val="00CC99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CC99"/>
                </a:solidFill>
                <a:latin typeface="Comic Sans MS"/>
                <a:cs typeface="Comic Sans MS"/>
              </a:rPr>
              <a:t>assignment:</a:t>
            </a:r>
            <a:r>
              <a:rPr sz="2800" spc="-30" dirty="0">
                <a:solidFill>
                  <a:srgbClr val="00CC99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 true assignment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causing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output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1.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0276" y="6732525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294876" y="6751774"/>
            <a:ext cx="25336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21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275" y="304800"/>
            <a:ext cx="10378949" cy="809964"/>
          </a:xfrm>
          <a:prstGeom prst="rect">
            <a:avLst/>
          </a:prstGeom>
        </p:spPr>
        <p:txBody>
          <a:bodyPr vert="horz" wrap="square" lIns="0" tIns="253491" rIns="0" bIns="0" rtlCol="0">
            <a:spAutoFit/>
          </a:bodyPr>
          <a:lstStyle/>
          <a:p>
            <a:pPr marL="1423670" marR="5080" indent="-17716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Circuit Satisfiability </a:t>
            </a:r>
            <a:r>
              <a:rPr spc="-1060" dirty="0"/>
              <a:t> </a:t>
            </a:r>
            <a:r>
              <a:rPr spc="-5" dirty="0"/>
              <a:t>Problem:</a:t>
            </a:r>
            <a:r>
              <a:rPr spc="-50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6870" marR="65405" indent="-344805">
              <a:lnSpc>
                <a:spcPts val="3460"/>
              </a:lnSpc>
              <a:spcBef>
                <a:spcPts val="525"/>
              </a:spcBef>
              <a:buChar char="•"/>
              <a:tabLst>
                <a:tab pos="356870" algn="l"/>
                <a:tab pos="357505" algn="l"/>
              </a:tabLst>
            </a:pPr>
            <a:r>
              <a:rPr spc="-10" dirty="0"/>
              <a:t>Circuit</a:t>
            </a:r>
            <a:r>
              <a:rPr spc="20" dirty="0"/>
              <a:t> </a:t>
            </a:r>
            <a:r>
              <a:rPr spc="-5" dirty="0"/>
              <a:t>satisfying</a:t>
            </a:r>
            <a:r>
              <a:rPr spc="50" dirty="0"/>
              <a:t> </a:t>
            </a:r>
            <a:r>
              <a:rPr spc="-10" dirty="0"/>
              <a:t>problem:</a:t>
            </a:r>
            <a:r>
              <a:rPr spc="45" dirty="0"/>
              <a:t> </a:t>
            </a:r>
            <a:r>
              <a:rPr spc="-5" dirty="0"/>
              <a:t>given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15" dirty="0"/>
              <a:t> </a:t>
            </a:r>
            <a:r>
              <a:rPr spc="-10" dirty="0"/>
              <a:t>boolean </a:t>
            </a:r>
            <a:r>
              <a:rPr spc="-940" dirty="0"/>
              <a:t> </a:t>
            </a:r>
            <a:r>
              <a:rPr spc="-10" dirty="0"/>
              <a:t>combinational</a:t>
            </a:r>
            <a:r>
              <a:rPr spc="60" dirty="0"/>
              <a:t> </a:t>
            </a:r>
            <a:r>
              <a:rPr spc="-10" dirty="0"/>
              <a:t>circuit</a:t>
            </a:r>
            <a:r>
              <a:rPr spc="80" dirty="0"/>
              <a:t> </a:t>
            </a:r>
            <a:r>
              <a:rPr spc="-10" dirty="0"/>
              <a:t>composed</a:t>
            </a:r>
            <a:r>
              <a:rPr spc="45" dirty="0"/>
              <a:t> </a:t>
            </a:r>
            <a:r>
              <a:rPr spc="-5" dirty="0"/>
              <a:t>of</a:t>
            </a:r>
            <a:r>
              <a:rPr spc="35" dirty="0"/>
              <a:t> </a:t>
            </a:r>
            <a:r>
              <a:rPr spc="-10" dirty="0"/>
              <a:t>AND, </a:t>
            </a:r>
            <a:r>
              <a:rPr spc="-5" dirty="0"/>
              <a:t> </a:t>
            </a:r>
            <a:r>
              <a:rPr spc="-10" dirty="0"/>
              <a:t>OR,</a:t>
            </a:r>
            <a:r>
              <a:rPr spc="-20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10" dirty="0"/>
              <a:t>NOT,</a:t>
            </a:r>
            <a:r>
              <a:rPr spc="45" dirty="0"/>
              <a:t> </a:t>
            </a:r>
            <a:r>
              <a:rPr spc="-10" dirty="0"/>
              <a:t>is</a:t>
            </a:r>
            <a:r>
              <a:rPr dirty="0"/>
              <a:t> </a:t>
            </a:r>
            <a:r>
              <a:rPr spc="-10" dirty="0"/>
              <a:t>it</a:t>
            </a:r>
            <a:r>
              <a:rPr spc="30" dirty="0"/>
              <a:t> </a:t>
            </a:r>
            <a:r>
              <a:rPr spc="-5" dirty="0"/>
              <a:t>stisfiable?</a:t>
            </a:r>
          </a:p>
          <a:p>
            <a:pPr marL="356870" marR="969010" indent="-344805">
              <a:lnSpc>
                <a:spcPts val="3460"/>
              </a:lnSpc>
              <a:spcBef>
                <a:spcPts val="755"/>
              </a:spcBef>
              <a:buChar char="•"/>
              <a:tabLst>
                <a:tab pos="356870" algn="l"/>
                <a:tab pos="357505" algn="l"/>
              </a:tabLst>
            </a:pPr>
            <a:r>
              <a:rPr spc="-10" dirty="0"/>
              <a:t>CIRCUIT-SAT={&lt;C&gt;:</a:t>
            </a:r>
            <a:r>
              <a:rPr spc="65" dirty="0"/>
              <a:t> </a:t>
            </a:r>
            <a:r>
              <a:rPr spc="-5" dirty="0"/>
              <a:t>C</a:t>
            </a:r>
            <a:r>
              <a:rPr spc="15" dirty="0"/>
              <a:t> </a:t>
            </a:r>
            <a:r>
              <a:rPr spc="-10" dirty="0"/>
              <a:t>is</a:t>
            </a:r>
            <a:r>
              <a:rPr spc="-5" dirty="0"/>
              <a:t> a</a:t>
            </a:r>
            <a:r>
              <a:rPr spc="25" dirty="0"/>
              <a:t> </a:t>
            </a:r>
            <a:r>
              <a:rPr spc="-5" dirty="0"/>
              <a:t>satisfiable </a:t>
            </a:r>
            <a:r>
              <a:rPr spc="-944" dirty="0"/>
              <a:t> </a:t>
            </a:r>
            <a:r>
              <a:rPr spc="-10" dirty="0"/>
              <a:t>boolean</a:t>
            </a:r>
            <a:r>
              <a:rPr spc="15" dirty="0"/>
              <a:t> </a:t>
            </a:r>
            <a:r>
              <a:rPr spc="-10" dirty="0"/>
              <a:t>circuit}</a:t>
            </a:r>
          </a:p>
          <a:p>
            <a:pPr marL="356870" marR="5080" indent="-344805">
              <a:lnSpc>
                <a:spcPts val="3460"/>
              </a:lnSpc>
              <a:spcBef>
                <a:spcPts val="760"/>
              </a:spcBef>
              <a:buChar char="•"/>
              <a:tabLst>
                <a:tab pos="356870" algn="l"/>
                <a:tab pos="357505" algn="l"/>
              </a:tabLst>
            </a:pPr>
            <a:r>
              <a:rPr spc="-10" dirty="0"/>
              <a:t>Implication:</a:t>
            </a:r>
            <a:r>
              <a:rPr spc="75" dirty="0"/>
              <a:t> </a:t>
            </a:r>
            <a:r>
              <a:rPr spc="-10" dirty="0"/>
              <a:t>in</a:t>
            </a:r>
            <a:r>
              <a:rPr spc="1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area</a:t>
            </a:r>
            <a:r>
              <a:rPr spc="3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10" dirty="0"/>
              <a:t>computer-aided </a:t>
            </a:r>
            <a:r>
              <a:rPr spc="-940" dirty="0"/>
              <a:t> </a:t>
            </a:r>
            <a:r>
              <a:rPr spc="-5" dirty="0"/>
              <a:t>hardware</a:t>
            </a:r>
            <a:r>
              <a:rPr spc="-10" dirty="0"/>
              <a:t> </a:t>
            </a:r>
            <a:r>
              <a:rPr spc="-5" dirty="0"/>
              <a:t>optimization,</a:t>
            </a:r>
            <a:r>
              <a:rPr spc="70" dirty="0"/>
              <a:t> </a:t>
            </a:r>
            <a:r>
              <a:rPr spc="-10" dirty="0"/>
              <a:t>if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20" dirty="0"/>
              <a:t> </a:t>
            </a:r>
            <a:r>
              <a:rPr spc="-10" dirty="0"/>
              <a:t>subcircuit </a:t>
            </a:r>
            <a:r>
              <a:rPr spc="-5" dirty="0"/>
              <a:t> </a:t>
            </a:r>
            <a:r>
              <a:rPr spc="-10" dirty="0"/>
              <a:t>always</a:t>
            </a:r>
            <a:r>
              <a:rPr spc="25" dirty="0"/>
              <a:t> </a:t>
            </a:r>
            <a:r>
              <a:rPr spc="-10" dirty="0"/>
              <a:t>produces</a:t>
            </a:r>
            <a:r>
              <a:rPr spc="45" dirty="0"/>
              <a:t> </a:t>
            </a:r>
            <a:r>
              <a:rPr spc="-5" dirty="0"/>
              <a:t>0, then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25" dirty="0"/>
              <a:t> </a:t>
            </a:r>
            <a:r>
              <a:rPr spc="-10" dirty="0"/>
              <a:t>subcircuit</a:t>
            </a:r>
            <a:r>
              <a:rPr spc="75" dirty="0"/>
              <a:t> </a:t>
            </a:r>
            <a:r>
              <a:rPr spc="-10" dirty="0"/>
              <a:t>can </a:t>
            </a:r>
            <a:r>
              <a:rPr spc="-940" dirty="0"/>
              <a:t> </a:t>
            </a:r>
            <a:r>
              <a:rPr spc="-5" dirty="0"/>
              <a:t>be</a:t>
            </a:r>
            <a:r>
              <a:rPr spc="-25" dirty="0"/>
              <a:t> </a:t>
            </a:r>
            <a:r>
              <a:rPr spc="-10" dirty="0"/>
              <a:t>replaced</a:t>
            </a:r>
            <a:r>
              <a:rPr spc="40" dirty="0"/>
              <a:t> </a:t>
            </a:r>
            <a:r>
              <a:rPr spc="-5" dirty="0"/>
              <a:t>by</a:t>
            </a:r>
            <a:r>
              <a:rPr spc="15" dirty="0"/>
              <a:t> </a:t>
            </a:r>
            <a:r>
              <a:rPr spc="-5" dirty="0"/>
              <a:t>a </a:t>
            </a:r>
            <a:r>
              <a:rPr spc="-10" dirty="0"/>
              <a:t>simpler</a:t>
            </a:r>
            <a:r>
              <a:rPr spc="60" dirty="0"/>
              <a:t> </a:t>
            </a:r>
            <a:r>
              <a:rPr spc="-10" dirty="0"/>
              <a:t>subcircuit</a:t>
            </a:r>
            <a:r>
              <a:rPr spc="100" dirty="0"/>
              <a:t> </a:t>
            </a:r>
            <a:r>
              <a:rPr spc="-5" dirty="0"/>
              <a:t>that </a:t>
            </a:r>
            <a:r>
              <a:rPr dirty="0"/>
              <a:t> </a:t>
            </a:r>
            <a:r>
              <a:rPr spc="-10" dirty="0"/>
              <a:t>omits</a:t>
            </a:r>
            <a:r>
              <a:rPr spc="25" dirty="0"/>
              <a:t> </a:t>
            </a:r>
            <a:r>
              <a:rPr spc="-10" dirty="0"/>
              <a:t>all</a:t>
            </a:r>
            <a:r>
              <a:rPr spc="15" dirty="0"/>
              <a:t> </a:t>
            </a:r>
            <a:r>
              <a:rPr spc="-5" dirty="0"/>
              <a:t>gates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just</a:t>
            </a:r>
            <a:r>
              <a:rPr spc="30" dirty="0"/>
              <a:t> </a:t>
            </a:r>
            <a:r>
              <a:rPr spc="-10" dirty="0"/>
              <a:t>output</a:t>
            </a:r>
            <a:r>
              <a:rPr spc="2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011427"/>
            <a:ext cx="76257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80" dirty="0">
                <a:latin typeface="Times New Roman"/>
                <a:cs typeface="Times New Roman"/>
              </a:rPr>
              <a:t>Two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instances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circuit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satisfiability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problems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669" y="1930553"/>
            <a:ext cx="8449151" cy="39939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94876" y="6751774"/>
            <a:ext cx="25336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22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294876" y="6751774"/>
            <a:ext cx="25336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23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9769349" cy="766876"/>
          </a:xfrm>
          <a:prstGeom prst="rect">
            <a:avLst/>
          </a:prstGeom>
        </p:spPr>
        <p:txBody>
          <a:bodyPr vert="horz" wrap="square" lIns="0" tIns="210819" rIns="0" bIns="0" rtlCol="0">
            <a:spAutoFit/>
          </a:bodyPr>
          <a:lstStyle/>
          <a:p>
            <a:pPr marL="2362200" marR="5080" indent="-2127885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-40" dirty="0"/>
              <a:t> </a:t>
            </a:r>
            <a:r>
              <a:rPr spc="-5" dirty="0"/>
              <a:t>circuit-satisfiability </a:t>
            </a:r>
            <a:r>
              <a:rPr spc="-1060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44" y="2438400"/>
            <a:ext cx="9154161" cy="377062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69570" indent="-344805">
              <a:lnSpc>
                <a:spcPct val="100000"/>
              </a:lnSpc>
              <a:spcBef>
                <a:spcPts val="865"/>
              </a:spcBef>
              <a:buChar char="•"/>
              <a:tabLst>
                <a:tab pos="369570" algn="l"/>
                <a:tab pos="370205" algn="l"/>
              </a:tabLst>
            </a:pP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Intuitive</a:t>
            </a:r>
            <a:r>
              <a:rPr sz="32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Comic Sans MS"/>
                <a:cs typeface="Comic Sans MS"/>
              </a:rPr>
              <a:t>solution:</a:t>
            </a:r>
            <a:endParaRPr sz="3200" dirty="0">
              <a:latin typeface="Comic Sans MS"/>
              <a:cs typeface="Comic Sans MS"/>
            </a:endParaRPr>
          </a:p>
          <a:p>
            <a:pPr marL="768985" marR="593090" lvl="1" indent="-287020" algn="just">
              <a:lnSpc>
                <a:spcPct val="100000"/>
              </a:lnSpc>
              <a:spcBef>
                <a:spcPts val="690"/>
              </a:spcBef>
              <a:buChar char="–"/>
              <a:tabLst>
                <a:tab pos="769620" algn="l"/>
              </a:tabLst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each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possible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assignment,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check </a:t>
            </a:r>
            <a:r>
              <a:rPr sz="2800" spc="-81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whether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it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generates</a:t>
            </a:r>
            <a:r>
              <a:rPr sz="28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1.</a:t>
            </a:r>
            <a:endParaRPr sz="2800" dirty="0">
              <a:latin typeface="Comic Sans MS"/>
              <a:cs typeface="Comic Sans MS"/>
            </a:endParaRPr>
          </a:p>
          <a:p>
            <a:pPr marL="768985" marR="17780" lvl="1" indent="-287020" algn="just">
              <a:lnSpc>
                <a:spcPct val="100000"/>
              </a:lnSpc>
              <a:spcBef>
                <a:spcPts val="670"/>
              </a:spcBef>
              <a:buChar char="–"/>
              <a:tabLst>
                <a:tab pos="769620" algn="l"/>
              </a:tabLst>
            </a:pP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suppose</a:t>
            </a:r>
            <a:r>
              <a:rPr sz="2800" spc="-1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number</a:t>
            </a:r>
            <a:r>
              <a:rPr sz="2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inputs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i="1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,</a:t>
            </a:r>
            <a:r>
              <a:rPr sz="28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then </a:t>
            </a:r>
            <a:r>
              <a:rPr sz="2800" spc="-8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total possible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assignments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are 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2</a:t>
            </a:r>
            <a:r>
              <a:rPr sz="2775" i="1" spc="-7" baseline="25525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endParaRPr sz="2800" dirty="0">
              <a:latin typeface="Comic Sans MS"/>
              <a:cs typeface="Comic Sans MS"/>
            </a:endParaRPr>
          </a:p>
          <a:p>
            <a:pPr marL="768985" marR="81915" algn="just">
              <a:lnSpc>
                <a:spcPct val="99600"/>
              </a:lnSpc>
              <a:spcBef>
                <a:spcPts val="40"/>
              </a:spcBef>
            </a:pP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So</a:t>
            </a:r>
            <a:r>
              <a:rPr sz="28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8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running</a:t>
            </a:r>
            <a:r>
              <a:rPr sz="28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IN" sz="2800" spc="-110" dirty="0">
                <a:solidFill>
                  <a:srgbClr val="3333CC"/>
                </a:solidFill>
                <a:latin typeface="Cambria"/>
                <a:cs typeface="Comic Sans MS"/>
              </a:rPr>
              <a:t>Ω</a:t>
            </a:r>
            <a:r>
              <a:rPr sz="2800" spc="-110" dirty="0">
                <a:solidFill>
                  <a:srgbClr val="3333CC"/>
                </a:solidFill>
                <a:latin typeface="Comic Sans MS"/>
                <a:cs typeface="Comic Sans MS"/>
              </a:rPr>
              <a:t>(2</a:t>
            </a:r>
            <a:r>
              <a:rPr sz="2775" i="1" spc="-165" baseline="25525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r>
              <a:rPr sz="2800" spc="-110" dirty="0">
                <a:solidFill>
                  <a:srgbClr val="3333CC"/>
                </a:solidFill>
                <a:latin typeface="Comic Sans MS"/>
                <a:cs typeface="Comic Sans MS"/>
              </a:rPr>
              <a:t>).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When</a:t>
            </a:r>
            <a:r>
              <a:rPr sz="28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2800" spc="-8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size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of the </a:t>
            </a:r>
            <a:r>
              <a:rPr sz="2800" dirty="0">
                <a:solidFill>
                  <a:srgbClr val="3333CC"/>
                </a:solidFill>
                <a:latin typeface="Comic Sans MS"/>
                <a:cs typeface="Comic Sans MS"/>
              </a:rPr>
              <a:t>problem </a:t>
            </a:r>
            <a:r>
              <a:rPr sz="2800" spc="5" dirty="0">
                <a:solidFill>
                  <a:srgbClr val="3333CC"/>
                </a:solidFill>
                <a:latin typeface="Comic Sans MS"/>
                <a:cs typeface="Comic Sans MS"/>
              </a:rPr>
              <a:t>is </a:t>
            </a:r>
            <a:r>
              <a:rPr lang="el-GR" sz="2800" spc="20" dirty="0">
                <a:solidFill>
                  <a:srgbClr val="3333CC"/>
                </a:solidFill>
                <a:latin typeface="Comic Sans MS"/>
                <a:cs typeface="Comic Sans MS"/>
              </a:rPr>
              <a:t>Θ</a:t>
            </a:r>
            <a:r>
              <a:rPr sz="2800" spc="-145" dirty="0">
                <a:solidFill>
                  <a:srgbClr val="3333CC"/>
                </a:solidFill>
                <a:latin typeface="Comic Sans MS"/>
                <a:cs typeface="Comic Sans MS"/>
              </a:rPr>
              <a:t>(</a:t>
            </a:r>
            <a:r>
              <a:rPr sz="2800" i="1" spc="-145" dirty="0">
                <a:solidFill>
                  <a:srgbClr val="3333CC"/>
                </a:solidFill>
                <a:latin typeface="Comic Sans MS"/>
                <a:cs typeface="Comic Sans MS"/>
              </a:rPr>
              <a:t>k</a:t>
            </a:r>
            <a:r>
              <a:rPr sz="2800" spc="-145" dirty="0">
                <a:solidFill>
                  <a:srgbClr val="3333CC"/>
                </a:solidFill>
                <a:latin typeface="Comic Sans MS"/>
                <a:cs typeface="Comic Sans MS"/>
              </a:rPr>
              <a:t>), </a:t>
            </a:r>
            <a:r>
              <a:rPr sz="2800" spc="5" dirty="0">
                <a:solidFill>
                  <a:srgbClr val="FF0000"/>
                </a:solidFill>
                <a:latin typeface="Comic Sans MS"/>
                <a:cs typeface="Comic Sans MS"/>
              </a:rPr>
              <a:t>then the </a:t>
            </a:r>
            <a:r>
              <a:rPr sz="2800" spc="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running</a:t>
            </a:r>
            <a:r>
              <a:rPr sz="28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Comic Sans MS"/>
                <a:cs typeface="Comic Sans MS"/>
              </a:rPr>
              <a:t>time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not</a:t>
            </a:r>
            <a:r>
              <a:rPr sz="28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polynomial.</a:t>
            </a:r>
            <a:endParaRPr sz="28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875" y="478027"/>
            <a:ext cx="77654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5" dirty="0">
                <a:latin typeface="Times New Roman"/>
                <a:cs typeface="Times New Roman"/>
              </a:rPr>
              <a:t>Example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reduction 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CIRCUIT-SAT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130" dirty="0">
                <a:latin typeface="Times New Roman"/>
                <a:cs typeface="Times New Roman"/>
              </a:rPr>
              <a:t>SAT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838" y="2172404"/>
            <a:ext cx="8176450" cy="33980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28640" y="1080313"/>
            <a:ext cx="2726055" cy="25857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sz="2000" spc="-975" dirty="0">
                <a:solidFill>
                  <a:srgbClr val="3333CC"/>
                </a:solidFill>
                <a:latin typeface="Cambria"/>
                <a:cs typeface="Cambria"/>
              </a:rPr>
              <a:t>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sz="2000" spc="8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-1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3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9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55955">
              <a:lnSpc>
                <a:spcPct val="100000"/>
              </a:lnSpc>
              <a:spcBef>
                <a:spcPts val="480"/>
              </a:spcBef>
            </a:pP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9</a:t>
            </a:r>
            <a:r>
              <a:rPr sz="2000" spc="8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6</a:t>
            </a:r>
            <a:r>
              <a:rPr sz="2025" spc="-44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55955">
              <a:lnSpc>
                <a:spcPct val="100000"/>
              </a:lnSpc>
              <a:spcBef>
                <a:spcPts val="480"/>
              </a:spcBef>
            </a:pP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sz="2000" spc="8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sz="2025" spc="-44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6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480"/>
              </a:spcBef>
            </a:pP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r>
              <a:rPr sz="2000" spc="8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1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480"/>
              </a:spcBef>
            </a:pP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6</a:t>
            </a:r>
            <a:r>
              <a:rPr sz="2000" spc="7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spc="5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585" dirty="0">
                <a:solidFill>
                  <a:srgbClr val="3333CC"/>
                </a:solidFill>
                <a:latin typeface="Cambria"/>
                <a:cs typeface="Cambria"/>
              </a:rPr>
              <a:t>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480"/>
              </a:spcBef>
            </a:pPr>
            <a:r>
              <a:rPr sz="2000" spc="-80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sz="2000" spc="85" dirty="0">
                <a:solidFill>
                  <a:srgbClr val="3333CC"/>
                </a:solidFill>
                <a:latin typeface="Cambria"/>
                <a:cs typeface="Cambria"/>
              </a:rPr>
              <a:t>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25" spc="-44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3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  <a:spcBef>
                <a:spcPts val="480"/>
              </a:spcBef>
            </a:pPr>
            <a:r>
              <a:rPr sz="2000" spc="-15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-15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15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22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spc="-150" dirty="0">
                <a:solidFill>
                  <a:srgbClr val="3333CC"/>
                </a:solidFill>
                <a:latin typeface="Cambria"/>
                <a:cs typeface="Cambria"/>
              </a:rPr>
              <a:t></a:t>
            </a:r>
            <a:r>
              <a:rPr sz="2000" i="1" spc="-15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22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3</a:t>
            </a:r>
            <a:r>
              <a:rPr sz="2000" spc="-15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4876" y="6751774"/>
            <a:ext cx="25336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24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300" y="5711767"/>
            <a:ext cx="7079615" cy="9931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0"/>
              </a:spcBef>
            </a:pP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REDUCTION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sz="3200" spc="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490" dirty="0">
                <a:solidFill>
                  <a:srgbClr val="3333CC"/>
                </a:solidFill>
                <a:latin typeface="Cambria"/>
                <a:cs typeface="Cambria"/>
              </a:rPr>
              <a:t></a:t>
            </a:r>
            <a:r>
              <a:rPr sz="2000" spc="-490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000" spc="-3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0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i="1" spc="-27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0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r>
              <a:rPr sz="2000" spc="-27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3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27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0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sz="2000" spc="-27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12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179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9</a:t>
            </a:r>
            <a:r>
              <a:rPr sz="2000" spc="-120" dirty="0">
                <a:solidFill>
                  <a:srgbClr val="3333CC"/>
                </a:solidFill>
                <a:latin typeface="Times New Roman"/>
                <a:cs typeface="Times New Roman"/>
              </a:rPr>
              <a:t>=(</a:t>
            </a:r>
            <a:r>
              <a:rPr sz="2000" i="1" spc="-12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179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00" spc="-12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1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27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0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spc="-27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6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sz="2025" spc="-44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204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30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6</a:t>
            </a:r>
            <a:r>
              <a:rPr sz="2000" spc="-204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204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4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6</a:t>
            </a:r>
            <a:r>
              <a:rPr sz="2025" spc="-44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7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2000" spc="-165" dirty="0">
                <a:solidFill>
                  <a:srgbClr val="3333CC"/>
                </a:solidFill>
                <a:latin typeface="Times New Roman"/>
                <a:cs typeface="Times New Roman"/>
              </a:rPr>
              <a:t>=(</a:t>
            </a:r>
            <a:r>
              <a:rPr sz="2000" i="1" spc="-16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24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00" spc="-165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1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27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0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spc="-27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-13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((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25" spc="-3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1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280" dirty="0">
                <a:solidFill>
                  <a:srgbClr val="3333CC"/>
                </a:solidFill>
                <a:latin typeface="Cambria"/>
                <a:cs typeface="Cambria"/>
              </a:rPr>
              <a:t></a:t>
            </a:r>
            <a:r>
              <a:rPr sz="2000" i="1" spc="-28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19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spc="-28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000" spc="-28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-12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150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spc="-150" dirty="0">
                <a:solidFill>
                  <a:srgbClr val="3333CC"/>
                </a:solidFill>
                <a:latin typeface="Cambria"/>
                <a:cs typeface="Cambria"/>
              </a:rPr>
              <a:t></a:t>
            </a:r>
            <a:r>
              <a:rPr sz="2000" i="1" spc="-15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22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2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800" dirty="0">
                <a:solidFill>
                  <a:srgbClr val="3333CC"/>
                </a:solidFill>
                <a:latin typeface="Cambria"/>
                <a:cs typeface="Cambria"/>
              </a:rPr>
              <a:t></a:t>
            </a:r>
            <a:r>
              <a:rPr sz="2000" spc="6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204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000" i="1" spc="-204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30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000" spc="-204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3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270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405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000" spc="-270" dirty="0">
                <a:solidFill>
                  <a:srgbClr val="3333CC"/>
                </a:solidFill>
                <a:latin typeface="Cambria"/>
                <a:cs typeface="Cambria"/>
              </a:rPr>
              <a:t></a:t>
            </a:r>
            <a:r>
              <a:rPr sz="2000" spc="4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2025" spc="-7" baseline="-20576" dirty="0">
                <a:solidFill>
                  <a:srgbClr val="3333CC"/>
                </a:solidFill>
                <a:latin typeface="Times New Roman"/>
                <a:cs typeface="Times New Roman"/>
              </a:rPr>
              <a:t>4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))=….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323" y="602995"/>
            <a:ext cx="4360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</a:t>
            </a:r>
            <a:r>
              <a:rPr spc="-5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5" dirty="0"/>
              <a:t>3 CNF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0039" y="1279652"/>
            <a:ext cx="7677150" cy="6086282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53365" marR="661670" indent="-228600" algn="just">
              <a:lnSpc>
                <a:spcPts val="2570"/>
              </a:lnSpc>
              <a:spcBef>
                <a:spcPts val="440"/>
              </a:spcBef>
              <a:buChar char="•"/>
              <a:tabLst>
                <a:tab pos="254000" algn="l"/>
              </a:tabLst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4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u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at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lang="en-IN" sz="24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l-GR" sz="2400" spc="-5" dirty="0">
                <a:solidFill>
                  <a:srgbClr val="3333CC"/>
                </a:solidFill>
                <a:latin typeface="Comic Sans MS"/>
                <a:cs typeface="Comic Sans MS"/>
              </a:rPr>
              <a:t>φ</a:t>
            </a:r>
            <a:r>
              <a:rPr lang="en-IN" sz="2400" spc="-5" baseline="30000" dirty="0">
                <a:solidFill>
                  <a:srgbClr val="3333CC"/>
                </a:solidFill>
                <a:latin typeface="Comic Sans MS"/>
                <a:cs typeface="Comic Sans MS"/>
              </a:rPr>
              <a:t>’</a:t>
            </a:r>
            <a:r>
              <a:rPr sz="24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cl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use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at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mos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 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three</a:t>
            </a:r>
            <a:r>
              <a:rPr sz="2400" spc="-7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literals.</a:t>
            </a:r>
            <a:endParaRPr sz="2400" dirty="0">
              <a:latin typeface="Comic Sans MS"/>
              <a:cs typeface="Comic Sans MS"/>
            </a:endParaRPr>
          </a:p>
          <a:p>
            <a:pPr marL="253365" marR="139700" indent="-228600" algn="just">
              <a:lnSpc>
                <a:spcPts val="2590"/>
              </a:lnSpc>
              <a:spcBef>
                <a:spcPts val="580"/>
              </a:spcBef>
              <a:buChar char="•"/>
              <a:tabLst>
                <a:tab pos="25400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Change each clause into conjunctive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normal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form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as </a:t>
            </a:r>
            <a:r>
              <a:rPr sz="2400" spc="-70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follows:</a:t>
            </a:r>
            <a:endParaRPr sz="2400" dirty="0">
              <a:latin typeface="Comic Sans MS"/>
              <a:cs typeface="Comic Sans MS"/>
            </a:endParaRPr>
          </a:p>
          <a:p>
            <a:pPr marL="711200" lvl="1" indent="-229235" algn="just">
              <a:lnSpc>
                <a:spcPct val="100000"/>
              </a:lnSpc>
              <a:spcBef>
                <a:spcPts val="204"/>
              </a:spcBef>
              <a:buChar char="–"/>
              <a:tabLst>
                <a:tab pos="710565" algn="l"/>
                <a:tab pos="711200" algn="l"/>
              </a:tabLst>
            </a:pP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Construct</a:t>
            </a:r>
            <a:r>
              <a:rPr sz="18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true</a:t>
            </a:r>
            <a:r>
              <a:rPr sz="18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table, (small,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at</a:t>
            </a:r>
            <a:r>
              <a:rPr sz="1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most</a:t>
            </a:r>
            <a:r>
              <a:rPr sz="1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8</a:t>
            </a:r>
            <a:r>
              <a:rPr sz="18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by</a:t>
            </a:r>
            <a:r>
              <a:rPr sz="1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4)</a:t>
            </a:r>
            <a:endParaRPr sz="1800" dirty="0">
              <a:latin typeface="Comic Sans MS"/>
              <a:cs typeface="Comic Sans MS"/>
            </a:endParaRPr>
          </a:p>
          <a:p>
            <a:pPr marL="710565" marR="732155" lvl="1" indent="-228600" algn="just">
              <a:lnSpc>
                <a:spcPts val="1939"/>
              </a:lnSpc>
              <a:spcBef>
                <a:spcPts val="465"/>
              </a:spcBef>
              <a:buChar char="–"/>
              <a:tabLst>
                <a:tab pos="710565" algn="l"/>
                <a:tab pos="711200" algn="l"/>
              </a:tabLst>
            </a:pP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Write</a:t>
            </a:r>
            <a:r>
              <a:rPr sz="18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18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disjunctive</a:t>
            </a:r>
            <a:r>
              <a:rPr sz="18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normal</a:t>
            </a:r>
            <a:r>
              <a:rPr sz="18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form</a:t>
            </a:r>
            <a:r>
              <a:rPr sz="1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sz="18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1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true-table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 items </a:t>
            </a:r>
            <a:r>
              <a:rPr sz="1800" spc="-5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evaluating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 to</a:t>
            </a:r>
            <a:r>
              <a:rPr sz="18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0</a:t>
            </a:r>
            <a:endParaRPr sz="1800" dirty="0">
              <a:latin typeface="Comic Sans MS"/>
              <a:cs typeface="Comic Sans MS"/>
            </a:endParaRPr>
          </a:p>
          <a:p>
            <a:pPr marL="711200" lvl="1" indent="-229235" algn="just">
              <a:lnSpc>
                <a:spcPct val="100000"/>
              </a:lnSpc>
              <a:spcBef>
                <a:spcPts val="195"/>
              </a:spcBef>
              <a:buChar char="–"/>
              <a:tabLst>
                <a:tab pos="710565" algn="l"/>
                <a:tab pos="711200" algn="l"/>
              </a:tabLst>
            </a:pP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Using</a:t>
            </a:r>
            <a:r>
              <a:rPr sz="18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DeMorgan</a:t>
            </a:r>
            <a:r>
              <a:rPr sz="1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law</a:t>
            </a:r>
            <a:r>
              <a:rPr sz="18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Comic Sans MS"/>
                <a:cs typeface="Comic Sans MS"/>
              </a:rPr>
              <a:t>change</a:t>
            </a:r>
            <a:r>
              <a:rPr sz="1800" spc="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1800" dirty="0">
                <a:solidFill>
                  <a:srgbClr val="3333CC"/>
                </a:solidFill>
                <a:latin typeface="Comic Sans MS"/>
                <a:cs typeface="Comic Sans MS"/>
              </a:rPr>
              <a:t> CNF.</a:t>
            </a:r>
            <a:endParaRPr sz="1800" dirty="0">
              <a:latin typeface="Comic Sans MS"/>
              <a:cs typeface="Comic Sans MS"/>
            </a:endParaRPr>
          </a:p>
          <a:p>
            <a:pPr marL="253365" marR="150495" indent="-228600" algn="just">
              <a:lnSpc>
                <a:spcPts val="2570"/>
              </a:lnSpc>
              <a:spcBef>
                <a:spcPts val="630"/>
              </a:spcBef>
              <a:buChar char="•"/>
              <a:tabLst>
                <a:tab pos="254000" algn="l"/>
              </a:tabLst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The</a:t>
            </a:r>
            <a:r>
              <a:rPr sz="24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15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u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ti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g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l-GR" sz="2400" spc="-5" dirty="0">
                <a:solidFill>
                  <a:srgbClr val="3333CC"/>
                </a:solidFill>
                <a:latin typeface="Comic Sans MS"/>
                <a:cs typeface="Comic Sans MS"/>
              </a:rPr>
              <a:t>φ</a:t>
            </a:r>
            <a:r>
              <a:rPr lang="en-IN" sz="2400" spc="-5" baseline="30000" dirty="0">
                <a:solidFill>
                  <a:srgbClr val="3333CC"/>
                </a:solidFill>
                <a:latin typeface="Comic Sans MS"/>
                <a:cs typeface="Comic Sans MS"/>
              </a:rPr>
              <a:t>’’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in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NF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ut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 e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cl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use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h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3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r  less</a:t>
            </a:r>
            <a:r>
              <a:rPr sz="24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literals.</a:t>
            </a:r>
            <a:endParaRPr sz="2400" dirty="0">
              <a:latin typeface="Comic Sans MS"/>
              <a:cs typeface="Comic Sans MS"/>
            </a:endParaRPr>
          </a:p>
          <a:p>
            <a:pPr marL="253365" marR="297815" indent="-228600" algn="just">
              <a:lnSpc>
                <a:spcPts val="2590"/>
              </a:lnSpc>
              <a:spcBef>
                <a:spcPts val="580"/>
              </a:spcBef>
              <a:buChar char="•"/>
              <a:tabLst>
                <a:tab pos="254000" algn="l"/>
              </a:tabLst>
            </a:pP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Change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1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or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2-literal</a:t>
            </a:r>
            <a:r>
              <a:rPr sz="24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clause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into</a:t>
            </a:r>
            <a:r>
              <a:rPr sz="2400" spc="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3-literal</a:t>
            </a:r>
            <a:r>
              <a:rPr sz="24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clause as </a:t>
            </a:r>
            <a:r>
              <a:rPr sz="2400" spc="-7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follows:</a:t>
            </a:r>
            <a:endParaRPr sz="2400" dirty="0">
              <a:latin typeface="Comic Sans MS"/>
              <a:cs typeface="Comic Sans MS"/>
            </a:endParaRPr>
          </a:p>
          <a:p>
            <a:pPr marL="710565" marR="17780" lvl="1" indent="-228600" algn="just">
              <a:lnSpc>
                <a:spcPts val="2160"/>
              </a:lnSpc>
              <a:spcBef>
                <a:spcPts val="515"/>
              </a:spcBef>
              <a:buChar char="–"/>
              <a:tabLst>
                <a:tab pos="7112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 clause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has</a:t>
            </a:r>
            <a:r>
              <a:rPr sz="2000" spc="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one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literal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l,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change</a:t>
            </a:r>
            <a:r>
              <a:rPr sz="20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it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lang="en-IN" sz="2000" spc="-10" dirty="0">
              <a:solidFill>
                <a:srgbClr val="3333CC"/>
              </a:solidFill>
              <a:latin typeface="Comic Sans MS"/>
              <a:cs typeface="Comic Sans MS"/>
            </a:endParaRPr>
          </a:p>
          <a:p>
            <a:pPr marL="481965" marR="17780" lvl="1" algn="just">
              <a:lnSpc>
                <a:spcPts val="2160"/>
              </a:lnSpc>
              <a:spcBef>
                <a:spcPts val="515"/>
              </a:spcBef>
              <a:tabLst>
                <a:tab pos="711200" algn="l"/>
              </a:tabLst>
            </a:pPr>
            <a:endParaRPr sz="2000" dirty="0">
              <a:latin typeface="Comic Sans MS"/>
              <a:cs typeface="Comic Sans MS"/>
            </a:endParaRPr>
          </a:p>
          <a:p>
            <a:pPr marL="711200" lvl="1" indent="-229235" algn="just">
              <a:lnSpc>
                <a:spcPts val="2280"/>
              </a:lnSpc>
              <a:spcBef>
                <a:spcPts val="209"/>
              </a:spcBef>
              <a:buChar char="–"/>
              <a:tabLst>
                <a:tab pos="711200" algn="l"/>
              </a:tabLst>
            </a:pPr>
            <a:endParaRPr lang="en-IN" sz="2000" spc="-10" dirty="0">
              <a:solidFill>
                <a:srgbClr val="3333CC"/>
              </a:solidFill>
              <a:latin typeface="Comic Sans MS"/>
              <a:cs typeface="Comic Sans MS"/>
            </a:endParaRPr>
          </a:p>
          <a:p>
            <a:pPr marL="711200" lvl="1" indent="-229235" algn="just">
              <a:lnSpc>
                <a:spcPts val="2280"/>
              </a:lnSpc>
              <a:spcBef>
                <a:spcPts val="209"/>
              </a:spcBef>
              <a:buChar char="–"/>
              <a:tabLst>
                <a:tab pos="711200" algn="l"/>
              </a:tabLst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a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clause</a:t>
            </a:r>
            <a:r>
              <a:rPr sz="2000" spc="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has</a:t>
            </a:r>
            <a:r>
              <a:rPr sz="2000" spc="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5" dirty="0">
                <a:solidFill>
                  <a:srgbClr val="3333CC"/>
                </a:solidFill>
                <a:latin typeface="Comic Sans MS"/>
                <a:cs typeface="Comic Sans MS"/>
              </a:rPr>
              <a:t>two</a:t>
            </a:r>
            <a:r>
              <a:rPr sz="2000" spc="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Comic Sans MS"/>
                <a:cs typeface="Comic Sans MS"/>
              </a:rPr>
              <a:t>literals</a:t>
            </a:r>
            <a:r>
              <a:rPr sz="20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210" dirty="0">
                <a:solidFill>
                  <a:srgbClr val="3333CC"/>
                </a:solidFill>
                <a:latin typeface="Comic Sans MS"/>
                <a:cs typeface="Comic Sans MS"/>
              </a:rPr>
              <a:t>(l</a:t>
            </a:r>
            <a:r>
              <a:rPr sz="2025" spc="-315" baseline="-20576" dirty="0">
                <a:solidFill>
                  <a:srgbClr val="3333CC"/>
                </a:solidFill>
                <a:latin typeface="Comic Sans MS"/>
                <a:cs typeface="Comic Sans MS"/>
              </a:rPr>
              <a:t>1</a:t>
            </a:r>
            <a:r>
              <a:rPr lang="en-IN" sz="2000" spc="-210" baseline="-20576" dirty="0">
                <a:solidFill>
                  <a:srgbClr val="3333CC"/>
                </a:solidFill>
                <a:latin typeface="Cambria"/>
                <a:cs typeface="Comic Sans MS"/>
              </a:rPr>
              <a:t> </a:t>
            </a:r>
            <a:r>
              <a:rPr lang="en-IN" sz="2000" spc="-210" dirty="0">
                <a:solidFill>
                  <a:srgbClr val="3333CC"/>
                </a:solidFill>
                <a:latin typeface="Cambria"/>
                <a:cs typeface="Comic Sans MS"/>
              </a:rPr>
              <a:t> v</a:t>
            </a:r>
            <a:r>
              <a:rPr sz="2000" spc="-65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025" spc="-15" baseline="-20576" dirty="0">
                <a:solidFill>
                  <a:srgbClr val="3333CC"/>
                </a:solidFill>
                <a:latin typeface="Comic Sans MS"/>
                <a:cs typeface="Comic Sans MS"/>
              </a:rPr>
              <a:t>2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),</a:t>
            </a:r>
            <a:r>
              <a:rPr sz="2000" spc="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change</a:t>
            </a:r>
            <a:r>
              <a:rPr sz="20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it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lang="en-IN" sz="2000" spc="-10" dirty="0">
              <a:solidFill>
                <a:srgbClr val="3333CC"/>
              </a:solidFill>
              <a:latin typeface="Comic Sans MS"/>
              <a:cs typeface="Comic Sans MS"/>
            </a:endParaRPr>
          </a:p>
          <a:p>
            <a:pPr marL="711200" lvl="1" indent="-229235" algn="just">
              <a:lnSpc>
                <a:spcPts val="2280"/>
              </a:lnSpc>
              <a:spcBef>
                <a:spcPts val="209"/>
              </a:spcBef>
              <a:buChar char="–"/>
              <a:tabLst>
                <a:tab pos="711200" algn="l"/>
              </a:tabLst>
            </a:pPr>
            <a:endParaRPr lang="en-IN" sz="2000" spc="-10" dirty="0">
              <a:solidFill>
                <a:srgbClr val="3333CC"/>
              </a:solidFill>
              <a:latin typeface="Comic Sans MS"/>
              <a:cs typeface="Comic Sans MS"/>
            </a:endParaRPr>
          </a:p>
          <a:p>
            <a:pPr marL="711200" lvl="1" indent="-229235" algn="just">
              <a:lnSpc>
                <a:spcPts val="2280"/>
              </a:lnSpc>
              <a:spcBef>
                <a:spcPts val="209"/>
              </a:spcBef>
              <a:buChar char="–"/>
              <a:tabLst>
                <a:tab pos="711200" algn="l"/>
              </a:tabLst>
            </a:pPr>
            <a:endParaRPr sz="2000" dirty="0">
              <a:latin typeface="Comic Sans MS"/>
              <a:cs typeface="Comic Sans M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C6792C-9986-B7D1-497C-57D631355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5715000"/>
            <a:ext cx="2318197" cy="440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43FA36-06D5-D3F5-EC01-466CA9B7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765" y="5715000"/>
            <a:ext cx="2756079" cy="3112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AC674-C88B-0FE0-21C1-8452AEE6E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6726393"/>
            <a:ext cx="1468192" cy="440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1F351-26CE-3541-0092-D291C426C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01" y="6827670"/>
            <a:ext cx="1468192" cy="4020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6171" y="3010915"/>
            <a:ext cx="2222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20" dirty="0"/>
              <a:t> </a:t>
            </a:r>
            <a:r>
              <a:rPr spc="-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1587</Words>
  <Application>Microsoft Office PowerPoint</Application>
  <PresentationFormat>Custom</PresentationFormat>
  <Paragraphs>174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Cambria</vt:lpstr>
      <vt:lpstr>Comic Sans MS</vt:lpstr>
      <vt:lpstr>Times New Roman</vt:lpstr>
      <vt:lpstr>Office Theme</vt:lpstr>
      <vt:lpstr>PowerPoint Presentation</vt:lpstr>
      <vt:lpstr>Objectives</vt:lpstr>
      <vt:lpstr>Types of Problems</vt:lpstr>
      <vt:lpstr>Tractability</vt:lpstr>
      <vt:lpstr>Optimization/Decision Problems</vt:lpstr>
      <vt:lpstr>Optimization/Decision Problems</vt:lpstr>
      <vt:lpstr>P, NP, NP-Hard, NP-Complete</vt:lpstr>
      <vt:lpstr>The Class P</vt:lpstr>
      <vt:lpstr>Sample Problems in P</vt:lpstr>
      <vt:lpstr>The class NP</vt:lpstr>
      <vt:lpstr>Sample Problems in NP</vt:lpstr>
      <vt:lpstr>P And NP Summary</vt:lpstr>
      <vt:lpstr>NP-hard</vt:lpstr>
      <vt:lpstr>NP-complete problems</vt:lpstr>
      <vt:lpstr>Reduction</vt:lpstr>
      <vt:lpstr>NP-Hard and NP-Complete</vt:lpstr>
      <vt:lpstr>PowerPoint Presentation</vt:lpstr>
      <vt:lpstr>Summary</vt:lpstr>
      <vt:lpstr>PowerPoint Presentation</vt:lpstr>
      <vt:lpstr>First NP-complete problem—  Circuit Satisfiability (problem  definition)</vt:lpstr>
      <vt:lpstr>Circuit Satisfiability  Problem: definition</vt:lpstr>
      <vt:lpstr>Two instances of circuit satisfiability problems</vt:lpstr>
      <vt:lpstr>Solving circuit-satisfiability  problem</vt:lpstr>
      <vt:lpstr>Example of reduction of CIRCUIT-SAT to SAT</vt:lpstr>
      <vt:lpstr>Conversion to 3 CNF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Pranab Roy</cp:lastModifiedBy>
  <cp:revision>4</cp:revision>
  <dcterms:created xsi:type="dcterms:W3CDTF">2024-04-16T04:36:31Z</dcterms:created>
  <dcterms:modified xsi:type="dcterms:W3CDTF">2025-09-14T18:16:40Z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2020-06-19T00:00:00Z</vt:filetime>
  </property>
  <property fmtid="{D5CDD505-2E9C-101B-9397-08002B2CF9AE}" pid="3" name="LastSaved">
    <vt:filetime>2020-06-19T00:00:00Z</vt:filetime>
  </property>
</Properties>
</file>